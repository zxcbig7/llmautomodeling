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TUNING SKILL · 技術分享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30480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CF6B62"/>
                </a:solidFill>
                <a:latin typeface="Consolas"/>
                <a:ea typeface="Microsoft JhengHei"/>
                <a:cs typeface="Microsoft JhengHei"/>
              </a:rPr>
              <a:t>自動調校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09800"/>
            <a:ext cx="990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sz="6000" b="0" i="0" spc="-2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讓機器自己調參數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810000"/>
            <a:ext cx="91440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084320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1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把「調 solver 參數」從一件靠經驗的事，改寫成一套</a:t>
            </a:r>
            <a:r>
              <a:rPr sz="1140" b="1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每一步都有明確判準</a:t>
            </a:r>
            <a:r>
              <a:rPr sz="11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的實驗流程。因為不需要人的品味，所以它可以自己跑到自己停下來。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5029200"/>
            <a:ext cx="10972800" cy="7620"/>
          </a:xfrm>
          <a:prstGeom prst="rect">
            <a:avLst/>
          </a:prstGeom>
          <a:solidFill>
            <a:srgbClr val="3A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5257800"/>
            <a:ext cx="3048000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93"/>
              </a:lnSpc>
            </a:pPr>
            <a:r>
              <a:rPr sz="228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5.62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654040"/>
            <a:ext cx="3048000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0"/>
              </a:lnSpc>
            </a:pPr>
            <a:r>
              <a:rPr sz="8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同一題最快的一次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0" y="5257800"/>
            <a:ext cx="3048000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93"/>
              </a:lnSpc>
            </a:pPr>
            <a:r>
              <a:rPr sz="228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17.40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0" y="5654040"/>
            <a:ext cx="3048000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0"/>
              </a:lnSpc>
            </a:pPr>
            <a:r>
              <a:rPr sz="8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同一題最慢的一次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5257800"/>
            <a:ext cx="3048000" cy="492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93"/>
              </a:lnSpc>
            </a:pPr>
            <a:r>
              <a:rPr sz="228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完全一樣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5654040"/>
            <a:ext cx="3048000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0"/>
              </a:lnSpc>
            </a:pPr>
            <a:r>
              <a:rPr sz="8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兩次算出來的答案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19800"/>
            <a:ext cx="7620000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0"/>
              </a:lnSpc>
            </a:pPr>
            <a:r>
              <a:rPr sz="840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這三個數字先擺著，最後一幕會回來收。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6598920"/>
            <a:ext cx="378372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B8ADA2"/>
                </a:solidFill>
                <a:latin typeface="Consolas"/>
                <a:ea typeface="Microsoft JhengHei"/>
                <a:cs typeface="Microsoft JhengHei"/>
              </a:rPr>
              <a:t>02 /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4"/>
              </a:lnSpc>
            </a:pPr>
            <a:r>
              <a:rPr sz="7200" b="0" i="0">
                <a:solidFill>
                  <a:srgbClr val="CF6B62"/>
                </a:solidFill>
                <a:latin typeface="Segoe UI Light"/>
                <a:ea typeface="Microsoft JhengHei Light"/>
                <a:cs typeface="Microsoft JhengHei Light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44240"/>
            <a:ext cx="73152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33799"/>
            <a:ext cx="8381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sz="4320" b="0" i="0" spc="-1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這是接力的第三棒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調校不是一件獨立的事。它接在前面兩棒後面，而且只有在前兩棒都交清楚了，它才有意義。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756744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03 / 29 · 這是接力的第三棒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第一幕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一條路線，三次交棒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自然語言的題目 → 跑得動的程式。三棒依序推進，每一棒之間有一道關卡。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1135117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07920"/>
            <a:ext cx="3373120" cy="25146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2575560"/>
            <a:ext cx="29768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第一棒 · 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" y="2773680"/>
            <a:ext cx="297688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一段人話變成數學式子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" y="34899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720" y="362712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進來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3960" y="360426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題目原文（一段話）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" y="402336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出去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960" y="400050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數學模型文件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720" y="44043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720" y="4541520"/>
            <a:ext cx="297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把「排班要公平一點」這種話，變成有數字、能計算的式子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9440" y="2407920"/>
            <a:ext cx="3373120" cy="25146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7560" y="2575560"/>
            <a:ext cx="29768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第二棒 · 寫程式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7560" y="2773680"/>
            <a:ext cx="297688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數學式子變成會跑的程式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7560" y="34899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7560" y="362712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進來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3800" y="360426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確認過的數學模型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7560" y="402336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出去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3800" y="400050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會跑、答案驗過的程式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7560" y="44043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7560" y="4541520"/>
            <a:ext cx="297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一條式子對一段程式碼，不做任何自由發揮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74160" y="3658362"/>
            <a:ext cx="182880" cy="13716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4234332" y="3630930"/>
            <a:ext cx="98755" cy="6858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09280" y="2407920"/>
            <a:ext cx="3373120" cy="251460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7400" y="2575560"/>
            <a:ext cx="29768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第三棒 · 調校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7400" y="2773680"/>
            <a:ext cx="297688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會跑但太慢變成跑得動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07400" y="34899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7400" y="362712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進來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3640" y="360426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驗過的程式 ＋ 一句「太慢」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7400" y="4023360"/>
            <a:ext cx="3505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出去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3640" y="4000500"/>
            <a:ext cx="258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新的設定 ＋ 調校紀錄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07400" y="4404360"/>
            <a:ext cx="297688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7400" y="4541520"/>
            <a:ext cx="297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不改式子、不改答案，只改「用什麼方法去找」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74000" y="3658362"/>
            <a:ext cx="182880" cy="13716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5400000">
            <a:off x="8034172" y="3630930"/>
            <a:ext cx="98755" cy="6858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5059680"/>
            <a:ext cx="337312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關卡：人看過、說「模型確認」才往下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9440" y="5059680"/>
            <a:ext cx="337312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關卡：算出來的答案逐條驗過才往下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9280" y="5059680"/>
            <a:ext cx="337312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關卡：改完要重跑一次、驗收通過才算數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前兩棒是必經的；第三棒是</a:t>
            </a: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選配</a:t>
            </a: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的——只有使用者說「太慢」的時候才會啟動。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04 / 29 · 這是接力的第三棒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第一幕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交棒契約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第三棒的入場券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前一棒交過來的，不只是「一個會跑的程式」。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1513489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6553200" cy="2286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7000"/>
            <a:ext cx="594360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還附帶一份保證：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7086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002280"/>
            <a:ext cx="579120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式子和資料都凍結了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192399"/>
            <a:ext cx="5791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限制式、目標函數、輸入資料，調校階段一個字都不會動。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44443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" y="3475863"/>
            <a:ext cx="579120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答案已經驗過是對的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3665981"/>
            <a:ext cx="5791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解出來的數字有逐條代回去檢查，不是「看到 Optimal 就收工」。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18025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6800" y="3949445"/>
            <a:ext cx="579120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實驗用的分支已經備好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139565"/>
            <a:ext cx="5791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接手的人不用改任何一行程式，直接就能開始跑實驗。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0" y="2438400"/>
            <a:ext cx="3962399" cy="2286000"/>
          </a:xfrm>
          <a:prstGeom prst="rect">
            <a:avLst/>
          </a:prstGeom>
          <a:noFill/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799" y="2682240"/>
            <a:ext cx="335280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為什麼這件事這麼重要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99" y="2987040"/>
            <a:ext cx="3352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調校做的每一件事，都建立在「答案是對的」這個前提上。　如果模型本來就錯，調校只會讓它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更快地算出錯答案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——而且因為「我們還做了效能調校」，那個錯答案看起來會更可信。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沒有這份保證，後面每一個數字都不可信。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B8ADA2"/>
                </a:solidFill>
                <a:latin typeface="Consolas"/>
                <a:ea typeface="Microsoft JhengHei"/>
                <a:cs typeface="Microsoft JhengHei"/>
              </a:rPr>
              <a:t>05 /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4"/>
              </a:lnSpc>
            </a:pPr>
            <a:r>
              <a:rPr sz="7200" b="0" i="0">
                <a:solidFill>
                  <a:srgbClr val="CF6B62"/>
                </a:solidFill>
                <a:latin typeface="Segoe UI Light"/>
                <a:ea typeface="Microsoft JhengHei Light"/>
                <a:cs typeface="Microsoft JhengHei Light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44240"/>
            <a:ext cx="73152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33799"/>
            <a:ext cx="8381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sz="4320" b="0" i="0" spc="-1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到底在調什麼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先看懂電腦求解的時候在做什麼，才知道有哪些地方可以動。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1891862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06 / 29 · 到底在調什麼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機制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電腦不是一步算出答案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它同時維護兩個數字，一路往中間逼近。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2270234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524000" y="4617720"/>
            <a:ext cx="5791200" cy="579120"/>
          </a:xfrm>
          <a:custGeom>
            <a:avLst/>
            <a:gdLst/>
            <a:ahLst/>
            <a:cxnLst/>
            <a:rect l="l" t="t" r="r" b="b"/>
            <a:pathLst>
              <a:path w="5791200" h="579120">
                <a:moveTo>
                  <a:pt x="0" y="579120"/>
                </a:moveTo>
                <a:lnTo>
                  <a:pt x="441960" y="502920"/>
                </a:lnTo>
                <a:lnTo>
                  <a:pt x="868680" y="365760"/>
                </a:lnTo>
                <a:lnTo>
                  <a:pt x="1295400" y="228600"/>
                </a:lnTo>
                <a:lnTo>
                  <a:pt x="1737360" y="121920"/>
                </a:lnTo>
                <a:lnTo>
                  <a:pt x="2209799" y="60960"/>
                </a:lnTo>
                <a:lnTo>
                  <a:pt x="2743200" y="30480"/>
                </a:lnTo>
                <a:lnTo>
                  <a:pt x="3352800" y="15240"/>
                </a:lnTo>
                <a:lnTo>
                  <a:pt x="4038600" y="7620"/>
                </a:lnTo>
                <a:lnTo>
                  <a:pt x="4876800" y="0"/>
                </a:lnTo>
                <a:lnTo>
                  <a:pt x="5791200" y="0"/>
                </a:lnTo>
              </a:path>
            </a:pathLst>
          </a:custGeom>
          <a:noFill/>
          <a:ln w="19812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524000" y="2651760"/>
            <a:ext cx="5791200" cy="1889760"/>
          </a:xfrm>
          <a:custGeom>
            <a:avLst/>
            <a:gdLst/>
            <a:ahLst/>
            <a:cxnLst/>
            <a:rect l="l" t="t" r="r" b="b"/>
            <a:pathLst>
              <a:path w="5791200" h="1889760">
                <a:moveTo>
                  <a:pt x="0" y="0"/>
                </a:moveTo>
                <a:lnTo>
                  <a:pt x="381000" y="0"/>
                </a:lnTo>
                <a:lnTo>
                  <a:pt x="381000" y="426720"/>
                </a:lnTo>
                <a:lnTo>
                  <a:pt x="838200" y="426720"/>
                </a:lnTo>
                <a:lnTo>
                  <a:pt x="838200" y="716280"/>
                </a:lnTo>
                <a:lnTo>
                  <a:pt x="1295400" y="716280"/>
                </a:lnTo>
                <a:lnTo>
                  <a:pt x="1295400" y="1097279"/>
                </a:lnTo>
                <a:lnTo>
                  <a:pt x="1828800" y="1097279"/>
                </a:lnTo>
                <a:lnTo>
                  <a:pt x="1828800" y="1310639"/>
                </a:lnTo>
                <a:lnTo>
                  <a:pt x="2438399" y="1310639"/>
                </a:lnTo>
                <a:lnTo>
                  <a:pt x="2438399" y="1508760"/>
                </a:lnTo>
                <a:lnTo>
                  <a:pt x="3200400" y="1508760"/>
                </a:lnTo>
                <a:lnTo>
                  <a:pt x="3200400" y="1630680"/>
                </a:lnTo>
                <a:lnTo>
                  <a:pt x="4114800" y="1630680"/>
                </a:lnTo>
                <a:lnTo>
                  <a:pt x="4114800" y="1691640"/>
                </a:lnTo>
                <a:lnTo>
                  <a:pt x="5334000" y="1691640"/>
                </a:lnTo>
                <a:lnTo>
                  <a:pt x="5334000" y="1889760"/>
                </a:lnTo>
                <a:lnTo>
                  <a:pt x="5791200" y="1889760"/>
                </a:lnTo>
              </a:path>
            </a:pathLst>
          </a:custGeom>
          <a:noFill/>
          <a:ln w="19812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5257800"/>
            <a:ext cx="6477000" cy="76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49240"/>
            <a:ext cx="2286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求解時間 →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1470660" y="2590800"/>
            <a:ext cx="106680" cy="76200"/>
          </a:xfrm>
          <a:prstGeom prst="triangle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499360"/>
            <a:ext cx="2286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第一個答案出現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00" y="2590800"/>
            <a:ext cx="35052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黑線 · 目前找到最好的答案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2834640"/>
            <a:ext cx="350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「我已經有一個可行的做法了，成本是這麼多。」隨著搜尋進行，會找到更好的，所以這條線一路往下修。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3657600"/>
            <a:ext cx="35052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紅線 · 不可能比這更好的極限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7200" y="3901440"/>
            <a:ext cx="350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「我可以證明，答案再怎麼好也好不過這個數。」隨著證明累積，這條線一路往上推。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4724400"/>
            <a:ext cx="3505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左邊那個箭頭是第一個答案出現的時刻——</a:t>
            </a:r>
            <a:r>
              <a:rPr sz="900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在那之前，手上什麼都沒有</a:t>
            </a: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求解的過程，就是這兩條線互相逼近的過程。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07 / 29 · 到底在調什麼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機制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什麼叫「解完了」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不是把所有可能都算完，是兩條線夾得夠近就收工。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2648606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524000" y="2651760"/>
            <a:ext cx="5791200" cy="2545080"/>
          </a:xfrm>
          <a:custGeom>
            <a:avLst/>
            <a:gdLst/>
            <a:ahLst/>
            <a:cxnLst/>
            <a:rect l="l" t="t" r="r" b="b"/>
            <a:pathLst>
              <a:path w="5791200" h="2545080">
                <a:moveTo>
                  <a:pt x="0" y="0"/>
                </a:moveTo>
                <a:lnTo>
                  <a:pt x="381000" y="0"/>
                </a:lnTo>
                <a:lnTo>
                  <a:pt x="381000" y="426720"/>
                </a:lnTo>
                <a:lnTo>
                  <a:pt x="838200" y="426720"/>
                </a:lnTo>
                <a:lnTo>
                  <a:pt x="838200" y="716280"/>
                </a:lnTo>
                <a:lnTo>
                  <a:pt x="1295400" y="716280"/>
                </a:lnTo>
                <a:lnTo>
                  <a:pt x="1295400" y="1097279"/>
                </a:lnTo>
                <a:lnTo>
                  <a:pt x="1828800" y="1097279"/>
                </a:lnTo>
                <a:lnTo>
                  <a:pt x="1828800" y="1310639"/>
                </a:lnTo>
                <a:lnTo>
                  <a:pt x="2438399" y="1310639"/>
                </a:lnTo>
                <a:lnTo>
                  <a:pt x="2438399" y="1508760"/>
                </a:lnTo>
                <a:lnTo>
                  <a:pt x="3200400" y="1508760"/>
                </a:lnTo>
                <a:lnTo>
                  <a:pt x="3200400" y="1630680"/>
                </a:lnTo>
                <a:lnTo>
                  <a:pt x="4114800" y="1630680"/>
                </a:lnTo>
                <a:lnTo>
                  <a:pt x="4114800" y="1691640"/>
                </a:lnTo>
                <a:lnTo>
                  <a:pt x="5334000" y="1691640"/>
                </a:lnTo>
                <a:lnTo>
                  <a:pt x="5334000" y="1889760"/>
                </a:lnTo>
                <a:lnTo>
                  <a:pt x="5791200" y="1889760"/>
                </a:lnTo>
                <a:lnTo>
                  <a:pt x="5791200" y="1965960"/>
                </a:lnTo>
                <a:lnTo>
                  <a:pt x="4876800" y="1965960"/>
                </a:lnTo>
                <a:lnTo>
                  <a:pt x="4038600" y="1973580"/>
                </a:lnTo>
                <a:lnTo>
                  <a:pt x="3352800" y="1981200"/>
                </a:lnTo>
                <a:lnTo>
                  <a:pt x="2743200" y="1996440"/>
                </a:lnTo>
                <a:lnTo>
                  <a:pt x="2209799" y="2026920"/>
                </a:lnTo>
                <a:lnTo>
                  <a:pt x="1737360" y="2087880"/>
                </a:lnTo>
                <a:lnTo>
                  <a:pt x="1295400" y="2194560"/>
                </a:lnTo>
                <a:lnTo>
                  <a:pt x="868680" y="2331720"/>
                </a:lnTo>
                <a:lnTo>
                  <a:pt x="441960" y="2468880"/>
                </a:lnTo>
                <a:lnTo>
                  <a:pt x="0" y="2545080"/>
                </a:lnTo>
                <a:close/>
              </a:path>
            </a:pathLst>
          </a:cu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524000" y="4617720"/>
            <a:ext cx="5791200" cy="579120"/>
          </a:xfrm>
          <a:custGeom>
            <a:avLst/>
            <a:gdLst/>
            <a:ahLst/>
            <a:cxnLst/>
            <a:rect l="l" t="t" r="r" b="b"/>
            <a:pathLst>
              <a:path w="5791200" h="579120">
                <a:moveTo>
                  <a:pt x="0" y="579120"/>
                </a:moveTo>
                <a:lnTo>
                  <a:pt x="441960" y="502920"/>
                </a:lnTo>
                <a:lnTo>
                  <a:pt x="868680" y="365760"/>
                </a:lnTo>
                <a:lnTo>
                  <a:pt x="1295400" y="228600"/>
                </a:lnTo>
                <a:lnTo>
                  <a:pt x="1737360" y="121920"/>
                </a:lnTo>
                <a:lnTo>
                  <a:pt x="2209799" y="60960"/>
                </a:lnTo>
                <a:lnTo>
                  <a:pt x="2743200" y="30480"/>
                </a:lnTo>
                <a:lnTo>
                  <a:pt x="3352800" y="15240"/>
                </a:lnTo>
                <a:lnTo>
                  <a:pt x="4038600" y="7620"/>
                </a:lnTo>
                <a:lnTo>
                  <a:pt x="4876800" y="0"/>
                </a:lnTo>
                <a:lnTo>
                  <a:pt x="5791200" y="0"/>
                </a:lnTo>
              </a:path>
            </a:pathLst>
          </a:custGeom>
          <a:noFill/>
          <a:ln w="19812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2651760"/>
            <a:ext cx="5791200" cy="1889760"/>
          </a:xfrm>
          <a:custGeom>
            <a:avLst/>
            <a:gdLst/>
            <a:ahLst/>
            <a:cxnLst/>
            <a:rect l="l" t="t" r="r" b="b"/>
            <a:pathLst>
              <a:path w="5791200" h="1889760">
                <a:moveTo>
                  <a:pt x="0" y="0"/>
                </a:moveTo>
                <a:lnTo>
                  <a:pt x="381000" y="0"/>
                </a:lnTo>
                <a:lnTo>
                  <a:pt x="381000" y="426720"/>
                </a:lnTo>
                <a:lnTo>
                  <a:pt x="838200" y="426720"/>
                </a:lnTo>
                <a:lnTo>
                  <a:pt x="838200" y="716280"/>
                </a:lnTo>
                <a:lnTo>
                  <a:pt x="1295400" y="716280"/>
                </a:lnTo>
                <a:lnTo>
                  <a:pt x="1295400" y="1097279"/>
                </a:lnTo>
                <a:lnTo>
                  <a:pt x="1828800" y="1097279"/>
                </a:lnTo>
                <a:lnTo>
                  <a:pt x="1828800" y="1310639"/>
                </a:lnTo>
                <a:lnTo>
                  <a:pt x="2438399" y="1310639"/>
                </a:lnTo>
                <a:lnTo>
                  <a:pt x="2438399" y="1508760"/>
                </a:lnTo>
                <a:lnTo>
                  <a:pt x="3200400" y="1508760"/>
                </a:lnTo>
                <a:lnTo>
                  <a:pt x="3200400" y="1630680"/>
                </a:lnTo>
                <a:lnTo>
                  <a:pt x="4114800" y="1630680"/>
                </a:lnTo>
                <a:lnTo>
                  <a:pt x="4114800" y="1691640"/>
                </a:lnTo>
                <a:lnTo>
                  <a:pt x="5334000" y="1691640"/>
                </a:lnTo>
                <a:lnTo>
                  <a:pt x="5334000" y="1889760"/>
                </a:lnTo>
                <a:lnTo>
                  <a:pt x="5791200" y="1889760"/>
                </a:lnTo>
              </a:path>
            </a:pathLst>
          </a:custGeom>
          <a:noFill/>
          <a:ln w="19812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5257800"/>
            <a:ext cx="6477000" cy="76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349240"/>
            <a:ext cx="2286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求解時間 →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1470660" y="2590800"/>
            <a:ext cx="106680" cy="76200"/>
          </a:xfrm>
          <a:prstGeom prst="triangle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499360"/>
            <a:ext cx="2286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第一個答案出現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8480" y="3413760"/>
            <a:ext cx="12192" cy="128016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3040380" y="3383280"/>
            <a:ext cx="91440" cy="6858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3040380" y="4655820"/>
            <a:ext cx="91440" cy="6858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931920"/>
            <a:ext cx="15240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兩條線的差距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560320"/>
            <a:ext cx="0" cy="2697480"/>
          </a:xfrm>
          <a:prstGeom prst="line">
            <a:avLst/>
          </a:prstGeom>
          <a:ln w="7620">
            <a:solidFill>
              <a:srgbClr val="CF6B6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0" y="5349240"/>
            <a:ext cx="2286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63"/>
              </a:lnSpc>
            </a:pPr>
            <a:r>
              <a:rPr sz="78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差距夠小 → 收工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2590800"/>
            <a:ext cx="35052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中間那片灰 = 差距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7200" y="2849880"/>
            <a:ext cx="350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「我手上的答案，最多可能比真正的最佳差這麼多。」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77200" y="3368040"/>
            <a:ext cx="3505200" cy="975360"/>
          </a:xfrm>
          <a:prstGeom prst="rect">
            <a:avLst/>
          </a:prstGeom>
          <a:solidFill>
            <a:srgbClr val="EEDFDB"/>
          </a:solidFill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0080" y="3535680"/>
            <a:ext cx="313944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差距 ≤ 3% 就停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0080" y="3779520"/>
            <a:ext cx="313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這條規則要事先講好。它的意思是：我接受答案最多差 3%，換取不用把所有可能都算完。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7200" y="4541520"/>
            <a:ext cx="3505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所以同一個題目，把 3% 改成 1%，時間會差很多——但那是</a:t>
            </a:r>
            <a:r>
              <a:rPr sz="900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兩件不同的事</a:t>
            </a: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，不能拿來比誰快。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「解完了」不是找到最佳解，是</a:t>
            </a: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兩條線夾得夠近</a:t>
            </a: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08 / 29 · 到底在調什麼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調校只動一件事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三樣東西凍結，只有一樣可以改。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3026979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438400"/>
            <a:ext cx="533400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凍結（碰都不能碰）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743200"/>
            <a:ext cx="5334000" cy="57912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865120"/>
            <a:ext cx="496824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題目本身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" y="3063240"/>
            <a:ext cx="496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限制式、目標函數——「什麼算合法、什麼算比較好」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413760"/>
            <a:ext cx="5334000" cy="57912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3535680"/>
            <a:ext cx="496824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輸入資料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3733799"/>
            <a:ext cx="496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所有數字，一個都不改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84320"/>
            <a:ext cx="5334000" cy="57912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" y="4206240"/>
            <a:ext cx="496824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什麼叫解完了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" y="4404360"/>
            <a:ext cx="496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差距門檻、時間上限——終點線的位置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2438400"/>
            <a:ext cx="502920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可以動（唯一的一樣）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2743200"/>
            <a:ext cx="5029200" cy="192024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7040" y="2987040"/>
            <a:ext cx="454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solver 用什麼方法去找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7040" y="3444240"/>
            <a:ext cx="454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先往哪個方向搜、要不要多花力氣做前處理、要不要加輔助推論、碰到岔路先走哪一邊……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97040" y="3992879"/>
            <a:ext cx="45415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7040" y="4145280"/>
            <a:ext cx="454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這些全部不影響「哪個答案算合法、哪個算比較好」</a:t>
            </a:r>
            <a:r>
              <a:rPr sz="92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——只影響找到它要花多久。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答案不會變，變的只有「花多久找到」。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09 / 29 · 到底在調什麼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四種旋鈕，只有一種能拿來實驗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動手之前先分類。歸錯類，後面所有比較都無效。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3405351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14600"/>
            <a:ext cx="2606040" cy="1676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67000"/>
            <a:ext cx="2270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終點線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270760" cy="253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差距門檻、時間上限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34106"/>
            <a:ext cx="2270760" cy="911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改了就是換一場比賽。</a:t>
            </a: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不能進候選池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——要改得由使用者拍板。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8520" y="2514600"/>
            <a:ext cx="2606040" cy="1676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667000"/>
            <a:ext cx="2270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跑道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270760" cy="253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用幾個核心、平行模式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34106"/>
            <a:ext cx="2270760" cy="911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開跑前定版一次，之後全程凍結。它改的是量尺，不是選手。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440" y="2514600"/>
            <a:ext cx="2606040" cy="1676400"/>
          </a:xfrm>
          <a:prstGeom prst="rect">
            <a:avLst/>
          </a:prstGeom>
          <a:solidFill>
            <a:srgbClr val="EEDFDB"/>
          </a:solidFill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67000"/>
            <a:ext cx="2270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找法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34640"/>
            <a:ext cx="2270760" cy="253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搜尋順序、輔助推論、前處理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34106"/>
            <a:ext cx="2270760" cy="911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唯一能拿來做實驗的一類。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改的是「怎麼找」，不是「找什麼」。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6360" y="2514600"/>
            <a:ext cx="2606040" cy="1676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667000"/>
            <a:ext cx="2270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碼錶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34640"/>
            <a:ext cx="2270760" cy="2537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隨機起手（seed）、計時方式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34106"/>
            <a:ext cx="2270760" cy="911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5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是量測工具，不是候選。換一個碼錶跑比較快，不代表跑者變強。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495800"/>
            <a:ext cx="10972800" cy="10668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440" y="4678680"/>
            <a:ext cx="50292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兩個最常見的錯誤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3440" y="502158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53000"/>
            <a:ext cx="48768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把「終點線」當速度旋鈕調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7688"/>
            <a:ext cx="4876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等於兩個人跑不同長度的賽道，然後比秒數。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8400" y="502158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53000"/>
            <a:ext cx="48768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把「碼錶」的結果當贏家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7688"/>
            <a:ext cx="4876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它只是同一個方法的第二次抽樣，不是新方法。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先分類，再動手。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10 / 29 · 到底在調什麼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第二幕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診斷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調哪一顆？先看哪條線卡住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不憑印象翻手冊。看那兩條線的形狀，就知道力氣該花在哪。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3783724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77440"/>
            <a:ext cx="2606040" cy="2438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2480" y="3368040"/>
            <a:ext cx="2240280" cy="9144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859688" y="2654808"/>
            <a:ext cx="2173072" cy="681532"/>
          </a:xfrm>
          <a:custGeom>
            <a:avLst/>
            <a:gdLst/>
            <a:ahLst/>
            <a:cxnLst/>
            <a:rect l="l" t="t" r="r" b="b"/>
            <a:pathLst>
              <a:path w="2173072" h="681532">
                <a:moveTo>
                  <a:pt x="0" y="0"/>
                </a:moveTo>
                <a:lnTo>
                  <a:pt x="1276960" y="15849"/>
                </a:lnTo>
                <a:lnTo>
                  <a:pt x="1411376" y="332841"/>
                </a:lnTo>
                <a:lnTo>
                  <a:pt x="1725016" y="523036"/>
                </a:lnTo>
                <a:lnTo>
                  <a:pt x="2173072" y="538886"/>
                </a:lnTo>
                <a:lnTo>
                  <a:pt x="2173072" y="578510"/>
                </a:lnTo>
                <a:lnTo>
                  <a:pt x="940918" y="586435"/>
                </a:lnTo>
                <a:lnTo>
                  <a:pt x="425653" y="602284"/>
                </a:lnTo>
                <a:lnTo>
                  <a:pt x="0" y="681532"/>
                </a:lnTo>
                <a:close/>
              </a:path>
            </a:pathLst>
          </a:cu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59688" y="3233318"/>
            <a:ext cx="2173072" cy="103022"/>
          </a:xfrm>
          <a:custGeom>
            <a:avLst/>
            <a:gdLst/>
            <a:ahLst/>
            <a:cxnLst/>
            <a:rect l="l" t="t" r="r" b="b"/>
            <a:pathLst>
              <a:path w="2173072" h="103022">
                <a:moveTo>
                  <a:pt x="0" y="103022"/>
                </a:moveTo>
                <a:lnTo>
                  <a:pt x="425653" y="23774"/>
                </a:lnTo>
                <a:lnTo>
                  <a:pt x="940918" y="7925"/>
                </a:lnTo>
                <a:lnTo>
                  <a:pt x="2173072" y="0"/>
                </a:lnTo>
              </a:path>
            </a:pathLst>
          </a:custGeom>
          <a:noFill/>
          <a:ln w="16764">
            <a:solidFill>
              <a:srgbClr val="CF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59688" y="2654808"/>
            <a:ext cx="2173072" cy="538886"/>
          </a:xfrm>
          <a:custGeom>
            <a:avLst/>
            <a:gdLst/>
            <a:ahLst/>
            <a:cxnLst/>
            <a:rect l="l" t="t" r="r" b="b"/>
            <a:pathLst>
              <a:path w="2173072" h="538886">
                <a:moveTo>
                  <a:pt x="0" y="0"/>
                </a:moveTo>
                <a:lnTo>
                  <a:pt x="1276960" y="15849"/>
                </a:lnTo>
                <a:lnTo>
                  <a:pt x="1411376" y="332841"/>
                </a:lnTo>
                <a:lnTo>
                  <a:pt x="1725016" y="523036"/>
                </a:lnTo>
                <a:lnTo>
                  <a:pt x="2173072" y="538886"/>
                </a:lnTo>
              </a:path>
            </a:pathLst>
          </a:custGeom>
          <a:noFill/>
          <a:ln w="16764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80" y="3566160"/>
            <a:ext cx="224028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上面那條下不來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" y="3825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好答案找不到。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力氣要花在「怎麼更快找到好答案」——換搜尋方向、多用快速找解的小技巧。這時候</a:t>
            </a: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先別加輔助推論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，那是幫忙證明用的。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8520" y="2377440"/>
            <a:ext cx="2606040" cy="2438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81400" y="3368040"/>
            <a:ext cx="2240280" cy="9144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648608" y="2638958"/>
            <a:ext cx="2173072" cy="705307"/>
          </a:xfrm>
          <a:custGeom>
            <a:avLst/>
            <a:gdLst/>
            <a:ahLst/>
            <a:cxnLst/>
            <a:rect l="l" t="t" r="r" b="b"/>
            <a:pathLst>
              <a:path w="2173072" h="705307">
                <a:moveTo>
                  <a:pt x="0" y="0"/>
                </a:moveTo>
                <a:lnTo>
                  <a:pt x="156819" y="206045"/>
                </a:lnTo>
                <a:lnTo>
                  <a:pt x="336042" y="364541"/>
                </a:lnTo>
                <a:lnTo>
                  <a:pt x="560070" y="412090"/>
                </a:lnTo>
                <a:lnTo>
                  <a:pt x="2173072" y="427939"/>
                </a:lnTo>
                <a:lnTo>
                  <a:pt x="2173072" y="657758"/>
                </a:lnTo>
                <a:lnTo>
                  <a:pt x="1164946" y="665683"/>
                </a:lnTo>
                <a:lnTo>
                  <a:pt x="492862" y="673608"/>
                </a:lnTo>
                <a:lnTo>
                  <a:pt x="0" y="705307"/>
                </a:lnTo>
                <a:close/>
              </a:path>
            </a:pathLst>
          </a:cu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648608" y="3296716"/>
            <a:ext cx="2173072" cy="47549"/>
          </a:xfrm>
          <a:custGeom>
            <a:avLst/>
            <a:gdLst/>
            <a:ahLst/>
            <a:cxnLst/>
            <a:rect l="l" t="t" r="r" b="b"/>
            <a:pathLst>
              <a:path w="2173072" h="47549">
                <a:moveTo>
                  <a:pt x="0" y="47549"/>
                </a:moveTo>
                <a:lnTo>
                  <a:pt x="492862" y="15850"/>
                </a:lnTo>
                <a:lnTo>
                  <a:pt x="1164946" y="7925"/>
                </a:lnTo>
                <a:lnTo>
                  <a:pt x="2173072" y="0"/>
                </a:lnTo>
              </a:path>
            </a:pathLst>
          </a:custGeom>
          <a:noFill/>
          <a:ln w="16764">
            <a:solidFill>
              <a:srgbClr val="CF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648608" y="2638958"/>
            <a:ext cx="2173072" cy="427939"/>
          </a:xfrm>
          <a:custGeom>
            <a:avLst/>
            <a:gdLst/>
            <a:ahLst/>
            <a:cxnLst/>
            <a:rect l="l" t="t" r="r" b="b"/>
            <a:pathLst>
              <a:path w="2173072" h="427939">
                <a:moveTo>
                  <a:pt x="0" y="0"/>
                </a:moveTo>
                <a:lnTo>
                  <a:pt x="156819" y="206045"/>
                </a:lnTo>
                <a:lnTo>
                  <a:pt x="336042" y="364541"/>
                </a:lnTo>
                <a:lnTo>
                  <a:pt x="560070" y="412090"/>
                </a:lnTo>
                <a:lnTo>
                  <a:pt x="2173072" y="427939"/>
                </a:lnTo>
              </a:path>
            </a:pathLst>
          </a:custGeom>
          <a:noFill/>
          <a:ln w="16764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1400" y="3566160"/>
            <a:ext cx="224028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下面那條上不去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400" y="3825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答案早就有了，但證不完。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力氣要花在「怎麼更快證明」——加輔助推論（cuts）、換證明導向的策略。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40" y="2377440"/>
            <a:ext cx="2606040" cy="24384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0320" y="3368040"/>
            <a:ext cx="2240280" cy="9144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6437528" y="2638958"/>
            <a:ext cx="2173072" cy="705307"/>
          </a:xfrm>
          <a:custGeom>
            <a:avLst/>
            <a:gdLst/>
            <a:ahLst/>
            <a:cxnLst/>
            <a:rect l="l" t="t" r="r" b="b"/>
            <a:pathLst>
              <a:path w="2173072" h="705307">
                <a:moveTo>
                  <a:pt x="0" y="0"/>
                </a:moveTo>
                <a:lnTo>
                  <a:pt x="560070" y="142646"/>
                </a:lnTo>
                <a:lnTo>
                  <a:pt x="1164946" y="253594"/>
                </a:lnTo>
                <a:lnTo>
                  <a:pt x="1725016" y="316992"/>
                </a:lnTo>
                <a:lnTo>
                  <a:pt x="2173072" y="364541"/>
                </a:lnTo>
                <a:lnTo>
                  <a:pt x="2173072" y="507187"/>
                </a:lnTo>
                <a:lnTo>
                  <a:pt x="1321765" y="570586"/>
                </a:lnTo>
                <a:lnTo>
                  <a:pt x="604876" y="633984"/>
                </a:lnTo>
                <a:lnTo>
                  <a:pt x="0" y="705307"/>
                </a:lnTo>
                <a:close/>
              </a:path>
            </a:pathLst>
          </a:cu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6437528" y="3146145"/>
            <a:ext cx="2173072" cy="198120"/>
          </a:xfrm>
          <a:custGeom>
            <a:avLst/>
            <a:gdLst/>
            <a:ahLst/>
            <a:cxnLst/>
            <a:rect l="l" t="t" r="r" b="b"/>
            <a:pathLst>
              <a:path w="2173072" h="198120">
                <a:moveTo>
                  <a:pt x="0" y="198120"/>
                </a:moveTo>
                <a:lnTo>
                  <a:pt x="604876" y="126797"/>
                </a:lnTo>
                <a:lnTo>
                  <a:pt x="1321765" y="63399"/>
                </a:lnTo>
                <a:lnTo>
                  <a:pt x="2173072" y="0"/>
                </a:lnTo>
              </a:path>
            </a:pathLst>
          </a:custGeom>
          <a:noFill/>
          <a:ln w="16764">
            <a:solidFill>
              <a:srgbClr val="CF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437528" y="2638958"/>
            <a:ext cx="2173072" cy="364541"/>
          </a:xfrm>
          <a:custGeom>
            <a:avLst/>
            <a:gdLst/>
            <a:ahLst/>
            <a:cxnLst/>
            <a:rect l="l" t="t" r="r" b="b"/>
            <a:pathLst>
              <a:path w="2173072" h="364541">
                <a:moveTo>
                  <a:pt x="0" y="0"/>
                </a:moveTo>
                <a:lnTo>
                  <a:pt x="560070" y="142646"/>
                </a:lnTo>
                <a:lnTo>
                  <a:pt x="1164946" y="253594"/>
                </a:lnTo>
                <a:lnTo>
                  <a:pt x="1725016" y="316992"/>
                </a:lnTo>
                <a:lnTo>
                  <a:pt x="2173072" y="364541"/>
                </a:lnTo>
              </a:path>
            </a:pathLst>
          </a:custGeom>
          <a:noFill/>
          <a:ln w="16764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320" y="3566160"/>
            <a:ext cx="224028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兩條都在動，但很慢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20" y="3825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每一步都太貴。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該做的是減負擔——少加點輔助推論、換底層解法、加強前處理。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6360" y="2377440"/>
            <a:ext cx="2606040" cy="243840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59240" y="3368040"/>
            <a:ext cx="2240280" cy="9144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226448" y="2654808"/>
            <a:ext cx="2173072" cy="507187"/>
          </a:xfrm>
          <a:custGeom>
            <a:avLst/>
            <a:gdLst/>
            <a:ahLst/>
            <a:cxnLst/>
            <a:rect l="l" t="t" r="r" b="b"/>
            <a:pathLst>
              <a:path w="2173072" h="507187">
                <a:moveTo>
                  <a:pt x="0" y="0"/>
                </a:moveTo>
                <a:lnTo>
                  <a:pt x="336042" y="332841"/>
                </a:lnTo>
                <a:lnTo>
                  <a:pt x="1164946" y="348691"/>
                </a:lnTo>
                <a:lnTo>
                  <a:pt x="2173072" y="507187"/>
                </a:lnTo>
              </a:path>
            </a:pathLst>
          </a:custGeom>
          <a:noFill/>
          <a:ln w="12192">
            <a:solidFill>
              <a:srgbClr val="D3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226448" y="2654808"/>
            <a:ext cx="2173072" cy="443788"/>
          </a:xfrm>
          <a:custGeom>
            <a:avLst/>
            <a:gdLst/>
            <a:ahLst/>
            <a:cxnLst/>
            <a:rect l="l" t="t" r="r" b="b"/>
            <a:pathLst>
              <a:path w="2173072" h="443788">
                <a:moveTo>
                  <a:pt x="0" y="0"/>
                </a:moveTo>
                <a:lnTo>
                  <a:pt x="1008126" y="63398"/>
                </a:lnTo>
                <a:lnTo>
                  <a:pt x="1545793" y="443788"/>
                </a:lnTo>
                <a:lnTo>
                  <a:pt x="2173072" y="364540"/>
                </a:lnTo>
              </a:path>
            </a:pathLst>
          </a:custGeom>
          <a:noFill/>
          <a:ln w="12192">
            <a:solidFill>
              <a:srgbClr val="D3C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9226448" y="3241243"/>
            <a:ext cx="2173072" cy="95097"/>
          </a:xfrm>
          <a:custGeom>
            <a:avLst/>
            <a:gdLst/>
            <a:ahLst/>
            <a:cxnLst/>
            <a:rect l="l" t="t" r="r" b="b"/>
            <a:pathLst>
              <a:path w="2173072" h="95097">
                <a:moveTo>
                  <a:pt x="0" y="95097"/>
                </a:moveTo>
                <a:lnTo>
                  <a:pt x="940918" y="31699"/>
                </a:lnTo>
                <a:lnTo>
                  <a:pt x="2173072" y="0"/>
                </a:lnTo>
              </a:path>
            </a:pathLst>
          </a:custGeom>
          <a:noFill/>
          <a:ln w="16764">
            <a:solidFill>
              <a:srgbClr val="CF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226448" y="2654808"/>
            <a:ext cx="2173072" cy="380390"/>
          </a:xfrm>
          <a:custGeom>
            <a:avLst/>
            <a:gdLst/>
            <a:ahLst/>
            <a:cxnLst/>
            <a:rect l="l" t="t" r="r" b="b"/>
            <a:pathLst>
              <a:path w="2173072" h="380390">
                <a:moveTo>
                  <a:pt x="0" y="0"/>
                </a:moveTo>
                <a:lnTo>
                  <a:pt x="604876" y="158496"/>
                </a:lnTo>
                <a:lnTo>
                  <a:pt x="1321765" y="206044"/>
                </a:lnTo>
                <a:lnTo>
                  <a:pt x="2173072" y="380390"/>
                </a:lnTo>
              </a:path>
            </a:pathLst>
          </a:custGeom>
          <a:noFill/>
          <a:ln w="16764">
            <a:solidFill>
              <a:srgbClr val="1E1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9240" y="3566160"/>
            <a:ext cx="224028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每次跑差很多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240" y="38252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86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量不準。</a:t>
            </a:r>
            <a:r>
              <a:rPr sz="86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同一組設定重跑，結果就飄成這樣。這個規模量不出可靠差異，</a:t>
            </a:r>
            <a:r>
              <a:rPr sz="86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該做的是停手</a:t>
            </a:r>
            <a:r>
              <a:rPr sz="86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5013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能調的組合有 </a:t>
            </a:r>
            <a:r>
              <a:rPr sz="101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926 億種</a:t>
            </a: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（而且這還只算取值離散的那些）。診斷的作用不是把它們跑完，是把它縮小到</a:t>
            </a:r>
            <a:r>
              <a:rPr sz="101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這一輪值得試的那幾顆</a:t>
            </a: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先診斷，再選旋鈕。跳過診斷就是盲搜。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B8ADA2"/>
                </a:solidFill>
                <a:latin typeface="Consolas"/>
                <a:ea typeface="Microsoft JhengHei"/>
                <a:cs typeface="Microsoft JhengHei"/>
              </a:rPr>
              <a:t>11 /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4"/>
              </a:lnSpc>
            </a:pPr>
            <a:r>
              <a:rPr sz="7200" b="0" i="0">
                <a:solidFill>
                  <a:srgbClr val="CF6B62"/>
                </a:solidFill>
                <a:latin typeface="Segoe UI Light"/>
                <a:ea typeface="Microsoft JhengHei Light"/>
                <a:cs typeface="Microsoft JhengHei Light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44240"/>
            <a:ext cx="73152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33799"/>
            <a:ext cx="8381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sz="4320" b="0" i="0" spc="-1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三條規矩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這三條決定了「可以放心讓它自己跑」——每一條都在擋掉一種會讓結論失真的做法。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4162096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12 / 29 · 三條規矩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第三幕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規矩一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79"/>
              </a:lnSpc>
            </a:pPr>
            <a:r>
              <a:rPr sz="4320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先驗正確，再調效能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4540468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286000"/>
            <a:ext cx="10363200" cy="871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sz="264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對錯的模型調參數，只會</a:t>
            </a:r>
            <a:r>
              <a:rPr sz="2640" b="1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更快地得到錯答案</a:t>
            </a:r>
            <a:r>
              <a:rPr sz="264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76600"/>
            <a:ext cx="9144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1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而且更糟的是：因為「我們還做了效能調校」，那個錯答案看起來會</a:t>
            </a:r>
            <a:r>
              <a:rPr sz="114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更可信</a:t>
            </a:r>
            <a:r>
              <a:rPr sz="11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870960"/>
            <a:ext cx="1097280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416814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099560"/>
            <a:ext cx="48768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所以進場前，模型與資料必須先凍結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299966"/>
            <a:ext cx="4876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式子不會再變，資料不會再改。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68249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4613910"/>
            <a:ext cx="48768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所以進場前，答案必須先驗過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814316"/>
            <a:ext cx="4876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解出來的數字逐條代回去檢查過，不是看到「最佳」兩個字就算數。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53200" y="4023360"/>
            <a:ext cx="5029200" cy="1524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7040" y="4206240"/>
            <a:ext cx="454152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這條規矩擋掉的是什麼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7040" y="4450080"/>
            <a:ext cx="454152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「先讓它跑得動，正確性之後再說」——這是最常見、也最貴的順序錯誤。調校會把一堆時間投在一個註定要重寫的模型上，而且調校期間累積的所有實驗數據，模型一改就全部作廢。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調快一個錯模型，沒有任何價值。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13 / 29 · 三條規矩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第三幕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規矩二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什麼情況要做調校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三種。</a:t>
            </a:r>
            <a:r>
              <a:rPr sz="101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「跑不完」不是拒絕受理的原因——它反而是最常見的那一種。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4918841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14600"/>
            <a:ext cx="3535680" cy="1524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" y="2697480"/>
            <a:ext cx="313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狀況一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" y="2895600"/>
            <a:ext cx="3139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解完了，但想更快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720" y="3307080"/>
            <a:ext cx="313944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720" y="3459480"/>
            <a:ext cx="3139440" cy="57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已經證明是最佳解，時間也還可以接受，只是希望更快。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514600"/>
            <a:ext cx="3535680" cy="1524000"/>
          </a:xfrm>
          <a:prstGeom prst="rect">
            <a:avLst/>
          </a:prstGeom>
          <a:solidFill>
            <a:srgbClr val="EEDFDB"/>
          </a:solidFill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697480"/>
            <a:ext cx="313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狀況二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95600"/>
            <a:ext cx="3139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有答案，但證不完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3307080"/>
            <a:ext cx="313944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459480"/>
            <a:ext cx="3139440" cy="57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時間到了，手上有一個可用的答案，只是還沒辦法證明它夠好。</a:t>
            </a:r>
            <a:r>
              <a:rPr sz="90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最常見的一種。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514600"/>
            <a:ext cx="3535680" cy="1524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4840" y="2697480"/>
            <a:ext cx="3139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狀況三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4840" y="2895600"/>
            <a:ext cx="31394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連一個答案都沒有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4840" y="3307080"/>
            <a:ext cx="313944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4840" y="3459480"/>
            <a:ext cx="3139440" cy="57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跑了很久，什麼都沒生出來。</a:t>
            </a:r>
            <a:r>
              <a:rPr sz="90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這種也做——那正是要打的目標。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4404360"/>
            <a:ext cx="10972800" cy="1143000"/>
          </a:xfrm>
          <a:prstGeom prst="rect">
            <a:avLst/>
          </a:prstGeom>
          <a:noFill/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40" y="4587240"/>
            <a:ext cx="104851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最常見的誤判：因為狀態不是「最佳解」就退回上一棒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" y="4846320"/>
            <a:ext cx="1048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退回去只會卡死——</a:t>
            </a:r>
            <a:r>
              <a:rPr sz="96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上一棒手上根本沒有任何能修「太慢」的工具</a:t>
            </a: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，那顆旋鈕就在這一棒。狀況二和狀況三看起來像「還沒做完」，其實它們是</a:t>
            </a:r>
            <a:r>
              <a:rPr sz="96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這一棒的標準進場狀態</a:t>
            </a: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，不是失敗。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太慢、甚至完全跑不出來，本來就是這一棒要處理的事。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14 / 29 · 三條規矩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第三幕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規矩三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終點線不能自己動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把「可接受誤差」從 3% 放寬到 5%，程式當然變快——但那不是調快。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5297213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438400"/>
            <a:ext cx="990600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sz="240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那是換了一條</a:t>
            </a:r>
            <a:r>
              <a:rPr sz="2400" b="1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比較短的賽道</a:t>
            </a:r>
            <a:r>
              <a:rPr sz="240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7754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3108960"/>
            <a:ext cx="51816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動它 = 決定要不要為了速度接受更差的答案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309366"/>
            <a:ext cx="518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這是品質決定，屬於使用者，不屬於調校。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73761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669030"/>
            <a:ext cx="51816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動它 = 之前所有實驗數據全部作廢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869436"/>
            <a:ext cx="518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終點線一改，前後的數字就不是同一件事，沒辦法比較。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3200" y="3048000"/>
            <a:ext cx="5029200" cy="17526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7040" y="3230880"/>
            <a:ext cx="454152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實際遇到的例子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7040" y="3474720"/>
            <a:ext cx="454152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某個題目把誤差門檻從 3% 收到 1%，時間從 10.2 秒變成 17.4 秒，答案從 3.7 變成 3.6。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7040" y="3962399"/>
            <a:ext cx="4541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這不是「變慢了」，是「多花 7 秒買到 2.7% 的品質」。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要不要買，是使用者的決定；調校能做的只是把價目表算給他看。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它可以改，但要人拍板——而且改完前面的實驗要重來。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15 / 29 · 三條規矩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第三幕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它能寫的，只有五個地方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其餘全部唯讀。交完工用 git 逐檔比對，多出任何一個檔就是越界。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5675586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5334000" cy="243840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621280"/>
            <a:ext cx="48463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可以寫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440" y="299466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4693920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5"/>
              </a:lnSpc>
            </a:pPr>
            <a:r>
              <a:rPr sz="9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正式跑的那一組設定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93720"/>
            <a:ext cx="4693920" cy="17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81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調完的贏家寫回這裡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3440" y="336042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693920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5"/>
              </a:lnSpc>
            </a:pPr>
            <a:r>
              <a:rPr sz="9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實驗分支裡的候選設定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9480"/>
            <a:ext cx="4693920" cy="17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81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這一輪要比的幾組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372618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4693920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5"/>
              </a:lnSpc>
            </a:pPr>
            <a:r>
              <a:rPr sz="9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調校紀錄檔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25240"/>
            <a:ext cx="4693920" cy="17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81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每一輪的猜測、預測、實測、結論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3440" y="4091939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4693920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5"/>
              </a:lnSpc>
            </a:pPr>
            <a:r>
              <a:rPr sz="9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每一輪的實驗數據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90999"/>
            <a:ext cx="4693920" cy="17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81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原始數字，留著備查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440" y="445770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389120"/>
            <a:ext cx="4693920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5"/>
              </a:lnSpc>
            </a:pPr>
            <a:r>
              <a:rPr sz="9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進度狀態檔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56760"/>
            <a:ext cx="4693920" cy="17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81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跑到第幾輪、有沒有升版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2438400"/>
            <a:ext cx="5029200" cy="243840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7040" y="2621280"/>
            <a:ext cx="45415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碰都不能碰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97040" y="300990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94132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模型的組裝流程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83040" y="300990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94132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限制式（一條一檔）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97040" y="334518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27660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目標函數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83040" y="334518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27660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資料載入程式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97040" y="368046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61188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所有輸入資料檔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83040" y="368046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61188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模型設計文件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97040" y="401574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94716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專案設定檔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83040" y="4015740"/>
            <a:ext cx="45720" cy="4572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947160"/>
            <a:ext cx="205740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外部函式庫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7040" y="4404360"/>
            <a:ext cx="454152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模型長什麼樣、答案怎麼算，</a:t>
            </a:r>
            <a:r>
              <a:rPr sz="929" b="1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調校完全碰不到</a:t>
            </a: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越界就是全部還原——沒有「順手改一下」這個選項。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B8ADA2"/>
                </a:solidFill>
                <a:latin typeface="Consolas"/>
                <a:ea typeface="Microsoft JhengHei"/>
                <a:cs typeface="Microsoft JhengHei"/>
              </a:rPr>
              <a:t>16 /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4"/>
              </a:lnSpc>
            </a:pPr>
            <a:r>
              <a:rPr sz="7200" b="0" i="0">
                <a:solidFill>
                  <a:srgbClr val="CF6B62"/>
                </a:solidFill>
                <a:latin typeface="Segoe UI Light"/>
                <a:ea typeface="Microsoft JhengHei Light"/>
                <a:cs typeface="Microsoft JhengHei Light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44240"/>
            <a:ext cx="73152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33799"/>
            <a:ext cx="8381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sz="4320" b="0" i="0" spc="-1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它怎麼跑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從收案到上線，六個步驟、四道關卡。啟動之後中途不需要人介入。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6053958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17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啟動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它不會自己開口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上一幕那三種情況成立，還要有人開口，才會啟動。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6432331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33172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使用者實際會說的話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545080"/>
            <a:ext cx="822960" cy="5029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2667000"/>
            <a:ext cx="8229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太慢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4960" y="2545080"/>
            <a:ext cx="1805635" cy="5029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4960" y="2667000"/>
            <a:ext cx="180563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一直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2995" y="2545080"/>
            <a:ext cx="1021080" cy="5029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2995" y="2667000"/>
            <a:ext cx="1021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跑不完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6475" y="2545080"/>
            <a:ext cx="1813560" cy="5029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6475" y="2667000"/>
            <a:ext cx="181356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差距一直下不去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82435" y="2545080"/>
            <a:ext cx="2209800" cy="5029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2435" y="2667000"/>
            <a:ext cx="2209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7"/>
              </a:lnSpc>
            </a:pPr>
            <a:r>
              <a:rPr sz="15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連一個答案都找不到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383280"/>
            <a:ext cx="5334000" cy="1524000"/>
          </a:xfrm>
          <a:prstGeom prst="rect">
            <a:avLst/>
          </a:prstGeom>
          <a:noFill/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40" y="3581400"/>
            <a:ext cx="484632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使用者提出才做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40" y="3870960"/>
            <a:ext cx="48463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它不會主動建議你調參數。因為「還可以更快」這件事永遠成立，主動調校會沒完沒了，而且每一輪都要花掉實際的機器時間。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383280"/>
            <a:ext cx="5029200" cy="1524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7040" y="3581400"/>
            <a:ext cx="454152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先確認這真的是調校問題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7040" y="3870960"/>
            <a:ext cx="45415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如果要動的是資料、模型結構，或某條限制式該放寬——那不是調校，是退回前面兩棒。這件事在收案的第一步就會判掉。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情況成立 ＋ 有人開口 ＋ 病因對了，三個都到齊才開工。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18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分診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同樣叫「太慢」，其實是三種病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三種病要比的東西完全不同。比錯，整輪實驗白跑。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6810703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3535680" cy="13716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260604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狀況一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804160"/>
            <a:ext cx="316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解完了，想更快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" y="315468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3307080"/>
            <a:ext cx="31699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要比什麼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3474720"/>
            <a:ext cx="316992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比誰</a:t>
            </a: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花的時間短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8160" y="2438400"/>
            <a:ext cx="3535680" cy="1371600"/>
          </a:xfrm>
          <a:prstGeom prst="rect">
            <a:avLst/>
          </a:prstGeom>
          <a:solidFill>
            <a:srgbClr val="EEDFDB"/>
          </a:solidFill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260604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狀況二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2804160"/>
            <a:ext cx="316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有答案，證不完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1040" y="315468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1040" y="3307080"/>
            <a:ext cx="31699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要比什麼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1040" y="3474720"/>
            <a:ext cx="316992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比同樣時間內</a:t>
            </a: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還差多少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438400"/>
            <a:ext cx="3535680" cy="13716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60604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狀況三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04160"/>
            <a:ext cx="316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32"/>
              </a:lnSpc>
            </a:pPr>
            <a:r>
              <a:rPr sz="143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連答案都沒有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15468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307080"/>
            <a:ext cx="316992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要比什麼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74720"/>
            <a:ext cx="316992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比誰</a:t>
            </a: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找得到、誰先找到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8160" y="3870960"/>
            <a:ext cx="353568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75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最常見的一種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206240"/>
            <a:ext cx="10972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440" y="4404360"/>
            <a:ext cx="104851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為什麼不能通通比時間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40" y="4663440"/>
            <a:ext cx="5334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狀況二的每一次執行</a:t>
            </a:r>
            <a:r>
              <a:rPr sz="96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都會跑滿時間上限</a:t>
            </a: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才停。所以拿時間去比，每一組的數字都一樣——結論是「全部平手」，一點資訊都沒有。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4663440"/>
            <a:ext cx="5334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真正的差別藏在「時間到的時候，還差多少」。同樣跑 3 分鐘，A 組還差 8%、B 組還差 3%——</a:t>
            </a:r>
            <a:r>
              <a:rPr sz="96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這才是有意義的比較。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先分診，再選比較的基準。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19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六個步驟，四道關卡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啟動之後一路跑到停止條件命中，中途不回頭問人。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7189075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53640"/>
            <a:ext cx="1701800" cy="1417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收案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確認真的是調校問題把三份規則寫死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627120"/>
            <a:ext cx="335280" cy="152400"/>
          </a:xfrm>
          <a:prstGeom prst="roundRect">
            <a:avLst>
              <a:gd name="adj" fmla="val 50000"/>
            </a:avLst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634740"/>
            <a:ext cx="3352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 spc="12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關卡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3800" y="2453640"/>
            <a:ext cx="1701800" cy="1417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62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62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定跑道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62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核心數、平行模式定版之後不再動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6640" y="315696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2383485" y="313563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8000" y="2453640"/>
            <a:ext cx="1701800" cy="1417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04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04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暖身輪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04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什麼都不調，先量「重跑會差多少」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0400" y="3627120"/>
            <a:ext cx="335280" cy="152400"/>
          </a:xfrm>
          <a:prstGeom prst="roundRect">
            <a:avLst>
              <a:gd name="adj" fmla="val 50000"/>
            </a:avLst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0400" y="3634740"/>
            <a:ext cx="3352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 spc="12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關卡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0840" y="315696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4237685" y="313563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453640"/>
            <a:ext cx="1701800" cy="141732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6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一輪一輪試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每輪只改一顆跑完就判、判完就記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15696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6091885" y="313563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6400" y="2453640"/>
            <a:ext cx="1701800" cy="1417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88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88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重考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88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用沒調過的隨機起手複驗一次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78800" y="3627120"/>
            <a:ext cx="335280" cy="152400"/>
          </a:xfrm>
          <a:prstGeom prst="roundRect">
            <a:avLst>
              <a:gd name="adj" fmla="val 50000"/>
            </a:avLst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8800" y="3634740"/>
            <a:ext cx="3352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 spc="12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關卡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9240" y="315696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5400000">
            <a:off x="7946085" y="313563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80600" y="2453640"/>
            <a:ext cx="1701800" cy="1417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33000" y="2606040"/>
            <a:ext cx="228600" cy="284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0" y="2895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上線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33000" y="316992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寫回正式設定重跑一次驗收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33000" y="3627120"/>
            <a:ext cx="335280" cy="152400"/>
          </a:xfrm>
          <a:prstGeom prst="roundRect">
            <a:avLst>
              <a:gd name="adj" fmla="val 50000"/>
            </a:avLst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33000" y="3634740"/>
            <a:ext cx="3352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 spc="12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關卡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43440" y="315696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 rot="5400000">
            <a:off x="9800285" y="313563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85785" y="3901440"/>
            <a:ext cx="10667" cy="3200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216146"/>
            <a:ext cx="1336039" cy="10667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49745" y="3947160"/>
            <a:ext cx="10667" cy="2743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316675" y="3901440"/>
            <a:ext cx="76809" cy="53340"/>
          </a:xfrm>
          <a:prstGeom prst="triangle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95919" y="4130040"/>
            <a:ext cx="3810000" cy="181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0"/>
              </a:lnSpc>
            </a:pPr>
            <a:r>
              <a:rPr sz="84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沒理由停就再來一輪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600" y="4511040"/>
            <a:ext cx="10972800" cy="10363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3440" y="4678680"/>
            <a:ext cx="381000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四道關卡，沒過就退回或撤銷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440" y="4953000"/>
            <a:ext cx="3048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40" y="4953000"/>
            <a:ext cx="50292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不是調校問題 → 退回前面兩棒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87440" y="4953000"/>
            <a:ext cx="3048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6040" y="4953000"/>
            <a:ext cx="50292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量不準 → 直接收尾，不進實驗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440" y="5212080"/>
            <a:ext cx="3048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2040" y="5212080"/>
            <a:ext cx="50292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改善消失 → 判定調過頭，不升版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7440" y="5212080"/>
            <a:ext cx="3048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6040" y="5212080"/>
            <a:ext cx="50292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驗收沒過 → 撤銷，還原成原本的設定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每一道關卡都是機械可判的——不需要人在旁邊決定「這樣算不算過」。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20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暖身輪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先量「同一組設定重跑會差多少」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這是全套流程裡最容易被跳過、也最不能跳過的一步。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7567448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362200"/>
            <a:ext cx="5334000" cy="1722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" y="2545080"/>
            <a:ext cx="48463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先解釋一個詞：隨機起手（seed）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2819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solver 一路上會碰到很多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平手的岔路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——兩個變數看起來一樣好、兩條分支評分一樣、快速找解的技巧要從哪裡開始試。它用一串亂數來決定先走哪邊。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3440" y="3520440"/>
            <a:ext cx="48463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" y="3657600"/>
            <a:ext cx="484632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那串亂數的起始值，就是「隨機起手」。</a:t>
            </a:r>
            <a:r>
              <a:rPr sz="92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同一個起手 → 走完全同一條路，結果一模一樣；換一個起手 → 換一條路。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200" y="2362200"/>
            <a:ext cx="5029200" cy="1722120"/>
          </a:xfrm>
          <a:prstGeom prst="rect">
            <a:avLst/>
          </a:prstGeom>
          <a:noFill/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7040" y="2545080"/>
            <a:ext cx="45415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所以同一組設定，每次跑不一樣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819400"/>
            <a:ext cx="4541520" cy="85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同一份程式、同一份資料、同一組設定，只換隨機起手，跑出來的時間本來就會不一樣。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有時候差 5%，有時候差 45%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——但答案在同一個誤差門檻下是等價的。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97040" y="3520440"/>
            <a:ext cx="45415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7040" y="3657600"/>
            <a:ext cx="454152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所以</a:t>
            </a:r>
            <a:r>
              <a:rPr sz="92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換一個起手再跑一次，是同一個方法的第二次抽樣，不是新方法。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312920"/>
            <a:ext cx="10363200" cy="336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92"/>
              </a:lnSpc>
            </a:pPr>
            <a:r>
              <a:rPr sz="2039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暖身輪什麼都不調，只換起手跑五次。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75488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08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目的不是變快，是量出這個題目「</a:t>
            </a:r>
            <a:r>
              <a:rPr sz="108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本來就會有的差距</a:t>
            </a:r>
            <a:r>
              <a:rPr sz="108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」有多大。之後每一輪的改善幅度沒超過它 → </a:t>
            </a:r>
            <a:r>
              <a:rPr sz="108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當成平手，不升版</a:t>
            </a:r>
            <a:r>
              <a:rPr sz="108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5227320"/>
            <a:ext cx="10972800" cy="47244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480" y="5364480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順帶還會留下三個「從頭到尾不參與調校」的隨機起手，留到最後一關拿來複驗——像期末考的保留題。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沒有這個數字，後面每一句「變快了」都是猜的。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21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迴圈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一輪長什麼樣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六個步驟固定不變，跑完檢查要不要再來一輪。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7945820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先寫下猜測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我認為瓶頸在哪、改了會發生什麼事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38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62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62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只改一顆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62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從診斷對應的那一類裡挑一顆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26640" y="307314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2383485" y="305181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80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04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4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跑五次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04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同一組設定，五個不同的隨機起手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0840" y="307314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4237685" y="305181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收數據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6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只抓需要的欄位，不整份讀進來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07314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6091885" y="305181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64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88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88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照順序判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88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答案有沒有變差 → 有沒有贏過重跑誤差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89240" y="307314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5400000">
            <a:off x="7946085" y="305181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80600" y="2407920"/>
            <a:ext cx="1701800" cy="1341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3000" y="2560320"/>
            <a:ext cx="228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0" y="28194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44"/>
              </a:lnSpc>
            </a:pPr>
            <a:r>
              <a:rPr sz="12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寫進紀錄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3000" y="3108960"/>
            <a:ext cx="1397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4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猜測、預測、實測、結論，全部留檔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43440" y="3073146"/>
            <a:ext cx="76200" cy="10667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5400000">
            <a:off x="9800285" y="3051810"/>
            <a:ext cx="76809" cy="53340"/>
          </a:xfrm>
          <a:prstGeom prst="triangle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26166" y="3779520"/>
            <a:ext cx="10667" cy="30480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60500" y="4078985"/>
            <a:ext cx="9271000" cy="10667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55166" y="3825240"/>
            <a:ext cx="10667" cy="25908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1422095" y="3779520"/>
            <a:ext cx="76809" cy="53340"/>
          </a:xfrm>
          <a:prstGeom prst="triangle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12900" y="4175760"/>
            <a:ext cx="762000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沒有理由停 → 換下一顆旋鈕，再來一輪</a:t>
            </a:r>
            <a:r>
              <a:rPr sz="90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（已經否掉的方向不再重試）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4541520"/>
            <a:ext cx="5334000" cy="1005840"/>
          </a:xfrm>
          <a:prstGeom prst="rect">
            <a:avLst/>
          </a:prstGeom>
          <a:noFill/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709160"/>
            <a:ext cx="490728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為什麼一輪只改一顆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953000"/>
            <a:ext cx="490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一次改三顆然後變快了，你不知道是哪一顆的功勞——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等於什麼也沒學到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，下一輪只能重新亂試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53200" y="4541520"/>
            <a:ext cx="5029200" cy="100584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97040" y="4709160"/>
            <a:ext cx="454152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為什麼預測要寫在跑之前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7040" y="4953000"/>
            <a:ext cx="454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跑完再補寫「我本來就覺得會這樣」是人的天性。先寫死，是防止事後合理化的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唯一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方法。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固定形狀，所以每一輪的結論都可以互相比較、可以累積。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22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把關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三道關卡，擋掉三種自欺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每一道都在擋一種「看起來變好了，其實沒有」。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8324193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3535680" cy="1981199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" y="262128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第一道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" y="2819400"/>
            <a:ext cx="316992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38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誤差門檻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480" y="339852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80" y="3550920"/>
            <a:ext cx="316992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自欺：這次快了 45%，升版！</a:t>
            </a: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改善沒超過「重跑本來就會差多少」→ 一律當平手，不升版。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438400"/>
            <a:ext cx="3535680" cy="1981199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1040" y="262128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第二道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1040" y="2819400"/>
            <a:ext cx="316992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38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留一組沒調過的複驗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11040" y="339852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1040" y="3550920"/>
            <a:ext cx="316992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自欺：我調出了一組神奇參數。</a:t>
            </a: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用三個從沒參與調校的隨機起手重跑。改善消失 = 調過頭，只是剛好合那幾次的胃口。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38400"/>
            <a:ext cx="3535680" cy="1981199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621280"/>
            <a:ext cx="31699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第三道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19400"/>
            <a:ext cx="3169920" cy="518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38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寫回去、重跑、驗收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398520"/>
            <a:ext cx="316992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550920"/>
            <a:ext cx="316992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900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自欺：實驗報表很漂亮，收工。</a:t>
            </a: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報表漂亮但正式跑的還是舊設定，不算完成。要寫回去、重新編譯、實際跑一次、驗收通過。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4648200"/>
            <a:ext cx="10972800" cy="899160"/>
          </a:xfrm>
          <a:prstGeom prst="rect">
            <a:avLst/>
          </a:prstGeom>
          <a:solidFill>
            <a:srgbClr val="EEDFDB"/>
          </a:solidFill>
          <a:ln w="9144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440" y="4831080"/>
            <a:ext cx="1048512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sz="108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複驗只能用來確認，不能用來挑贏家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" y="5074920"/>
            <a:ext cx="1048512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如果拿那三個保留的隨機起手去挑「哪一組表現最好」，等於偷看考題——它就不再是獨立的驗證了。它只回答一個問題：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剛才選出來的贏家，換一批題目還贏嗎？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三道都過了，才叫「真的變快了」。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23 / 29 · 它怎麼跑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第四幕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停損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它自己知道什麼時候該停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九條停止條件，全部機械可判。命中任何一條就收尾。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8702565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3535680" cy="18288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21280"/>
            <a:ext cx="31089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sz="126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沒得比了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60" y="295656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量不準——這個規模量不出可靠差異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1376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35280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這一整類旋鈕已經被否掉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1000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3749039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該類的候選試完了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8160" y="2438400"/>
            <a:ext cx="3535680" cy="18288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1520" y="2621280"/>
            <a:ext cx="31089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sz="126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沒進展了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1520" y="301752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3920" y="295656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連續三輪沒有改善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1520" y="341376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3920" y="335280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升版連續兩次驗收失敗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1520" y="381000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3920" y="3749039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預算（時間 / 次數）用完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438400"/>
            <a:ext cx="3535680" cy="18288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0080" y="2621280"/>
            <a:ext cx="3108960" cy="2720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sz="126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出事了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0080" y="301752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95656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答案變差了——結果被調壞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0080" y="341376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352800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判定根本不是調校問題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0080" y="3810000"/>
            <a:ext cx="45720" cy="45720"/>
          </a:xfrm>
          <a:prstGeom prst="rect">
            <a:avLst/>
          </a:prstGeom>
          <a:solidFill>
            <a:srgbClr val="7A6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49039"/>
            <a:ext cx="28498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全部試過還是找不到答案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4495800"/>
            <a:ext cx="10972800" cy="1051560"/>
          </a:xfrm>
          <a:prstGeom prst="rect">
            <a:avLst/>
          </a:prstGeom>
          <a:noFill/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440" y="4678680"/>
            <a:ext cx="1048512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這就是它能無人值守跑完的原因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40" y="4937760"/>
            <a:ext cx="104851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96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「還要不要再試一輪」如果需要人的判斷，這件事就自動化不了。把停止條件寫成九條可以逐條檢查的規則之後，每一輪結束它自己對一次表——沒命中就繼續，命中就收尾。中途完全不用有人盯著。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會停，比會跑更重要。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B8ADA2"/>
                </a:solidFill>
                <a:latin typeface="Consolas"/>
                <a:ea typeface="Microsoft JhengHei"/>
                <a:cs typeface="Microsoft JhengHei"/>
              </a:rPr>
              <a:t>24 /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2286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64"/>
              </a:lnSpc>
            </a:pPr>
            <a:r>
              <a:rPr sz="7200" b="0" i="0">
                <a:solidFill>
                  <a:srgbClr val="CF6B62"/>
                </a:solidFill>
                <a:latin typeface="Segoe UI Light"/>
                <a:ea typeface="Microsoft JhengHei Light"/>
                <a:cs typeface="Microsoft JhengHei Light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3444240"/>
            <a:ext cx="731520" cy="2286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733799"/>
            <a:ext cx="838199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sz="4320" b="0" i="0" spc="-10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走一輪給你看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24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一組真實資料。七個設定跑同一個題目，答案完全一樣——但這一輪的正確結論是「沒有人勝出」。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9080937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25 / 29 · 走一輪給你看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第五幕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步驟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先寫下猜測，再開始跑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猜測來自暖身輪讀到的三個數字。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9459310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38400"/>
            <a:ext cx="3535680" cy="115824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10896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sz="2400" b="0" i="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0.66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800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第一個答案出現的時間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3088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很快——找答案不是問題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160" y="2438400"/>
            <a:ext cx="3535680" cy="115824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520" y="2606040"/>
            <a:ext cx="310896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sz="2400" b="0" i="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520" y="304800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花在找答案的時間比例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520" y="323088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其餘 93.5% 都花在證明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438400"/>
            <a:ext cx="3535680" cy="115824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0080" y="2606040"/>
            <a:ext cx="310896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sz="2400" b="0" i="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80" y="304800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整跑下來下界只推了這麼多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0080" y="3230880"/>
            <a:ext cx="3108960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而且 2.59 秒之後就再也沒動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825240"/>
            <a:ext cx="5334000" cy="172212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440" y="4008120"/>
            <a:ext cx="48463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猜測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40" y="4190999"/>
            <a:ext cx="48463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瓶頸在</a:t>
            </a:r>
            <a:r>
              <a:rPr sz="12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證明</a:t>
            </a: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那一側，不在找答案那一側。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" y="4709160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所以這一輪要試的，應該是「幫忙證明」的那一類旋鈕；「怎麼更快找到答案」的那一類理論上沒有用武之地。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3825240"/>
            <a:ext cx="5029200" cy="17221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7040" y="4008120"/>
            <a:ext cx="45415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預測 · 寫在跑之前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7040" y="4190999"/>
            <a:ext cx="454152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改「怎麼找答案」的旋鈕，</a:t>
            </a:r>
            <a:r>
              <a:rPr sz="126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不會有效果</a:t>
            </a:r>
            <a:r>
              <a:rPr sz="126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7040" y="4709160"/>
            <a:ext cx="4541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而且會留下一個很好認的證據：七組設定的下界軌跡，起點和終點應該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完全相同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這兩句話寫在跑之前，跑完就不能改口了。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26 / 29 · 走一輪給你看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第五幕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步驟 3–4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七組設定，答案完全一樣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答案全是 3.7、還差多少全是 2.70%。唯一的差別是花多久。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9837682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377440"/>
            <a:ext cx="3048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這一組改了什麼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77440"/>
            <a:ext cx="9905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花多久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9905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答案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2377440"/>
            <a:ext cx="9905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還差多少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237744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19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讀出什麼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2575560"/>
            <a:ext cx="10972800" cy="10667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271272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原本的設定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127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10.16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127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7127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4799" y="2712720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這一輪的基準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160" y="2971800"/>
            <a:ext cx="11064240" cy="320040"/>
          </a:xfrm>
          <a:prstGeom prst="rect">
            <a:avLst/>
          </a:prstGeom>
          <a:solidFill>
            <a:srgbClr val="EE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03276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什麼都沒改，只換隨機起手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0327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5.62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327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200" y="30327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99" y="3032760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快了 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35280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核心數 10 →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35280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10.26 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35280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1200" y="335280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4799" y="3352800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差 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367284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岔路先走哪邊 → 換一種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67284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10.81 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67284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1200" y="367284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3992879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挑變數的方式 → 換一種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3992879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12.42 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992879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1200" y="3992879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4799" y="3992879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第一個答案反而延後到 2.14 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431292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整體策略 → 偏重找好答案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3129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15.27 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3129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3.7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91200" y="431292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1E1A18"/>
                </a:solidFill>
                <a:latin typeface="Consolas"/>
                <a:ea typeface="Microsoft JhengHei"/>
                <a:cs typeface="Microsoft JhengHei"/>
              </a:rPr>
              <a:t>2.70%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4799" y="4312920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方向就選錯了，這類幫不了證明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632960"/>
            <a:ext cx="3048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誤差門檻 3% → 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6329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17.40 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6329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3.6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1200" y="4632960"/>
            <a:ext cx="990599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2"/>
              </a:lnSpc>
            </a:pPr>
            <a:r>
              <a:rPr sz="1019" b="0" i="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799" y="4632960"/>
            <a:ext cx="3657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改的是終點線，不可比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983480"/>
            <a:ext cx="1097280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5151120"/>
            <a:ext cx="533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最後一列是灰的，因為它不可比。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它改的是終點線——終點在 3.6，其他六列的終點在 3.7，不是同一場比賽。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3200" y="5151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其他六列的答案完全一樣。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這正好說明調校在做什麼：不改答案，只改花多久找到。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先看清楚哪幾列可以比，才輪到比誰快。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27 / 29 · 走一輪給你看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第五幕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步驟 5 · 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0"/>
              </a:lnSpc>
            </a:pPr>
            <a:r>
              <a:rPr sz="3840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最快的那一組，什麼都沒改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216055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286000"/>
            <a:ext cx="10972800" cy="73152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40" y="2453640"/>
            <a:ext cx="38100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什麼都沒改，只換隨機起手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2682240"/>
            <a:ext cx="3810000" cy="187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9"/>
              </a:lnSpc>
            </a:pPr>
            <a:r>
              <a:rPr sz="86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它就是原本的設定再跑一次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53640"/>
            <a:ext cx="18288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3304"/>
              </a:lnSpc>
            </a:pPr>
            <a:r>
              <a:rPr sz="2039" b="0" i="0">
                <a:solidFill>
                  <a:srgbClr val="8C2230"/>
                </a:solidFill>
                <a:latin typeface="Segoe UI Light"/>
                <a:ea typeface="Microsoft JhengHei Light"/>
                <a:cs typeface="Microsoft JhengHei Light"/>
              </a:rPr>
              <a:t>5.62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0" y="2453640"/>
            <a:ext cx="22860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46"/>
              </a:lnSpc>
            </a:pPr>
            <a:r>
              <a:rPr sz="1140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比基準快 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276600"/>
            <a:ext cx="10363200" cy="752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sz="228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所以那 45% 不是改善，是這個題目</a:t>
            </a:r>
            <a:r>
              <a:rPr sz="2280" b="1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本來就會有的差距</a:t>
            </a:r>
            <a:r>
              <a:rPr sz="2280" b="0" i="0" spc="-4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06240"/>
            <a:ext cx="10972800" cy="7620"/>
          </a:xfrm>
          <a:prstGeom prst="rect">
            <a:avLst/>
          </a:prstGeom>
          <a:solidFill>
            <a:srgbClr val="E0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50342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434840"/>
            <a:ext cx="518160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既然重跑本來就會差 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4624959"/>
            <a:ext cx="518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其他組那些 +1% ~ +50%，全部落在誤差裡 → 這一輪</a:t>
            </a: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沒有人勝出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22723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4954143"/>
            <a:ext cx="518160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如果當時直接升版呢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144262"/>
            <a:ext cx="51816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92"/>
              </a:lnSpc>
            </a:pP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下週正式跑照樣是 10 秒——升上去的是一個</a:t>
            </a:r>
            <a:r>
              <a:rPr sz="86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雜訊樣本</a:t>
            </a:r>
            <a:r>
              <a:rPr sz="86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3200" y="4358640"/>
            <a:ext cx="5029200" cy="118872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7040" y="4541520"/>
            <a:ext cx="4541520" cy="220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sz="1019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第二條線索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7040" y="4785360"/>
            <a:ext cx="45415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七組設定裡下面那條線的起點和終點完全相同（3.300 → 3.600）——跟跑之前寫下的預測一模一樣。這說明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這一整類旋鈕對證明那一側免疫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，可以整類否掉。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快一次是觀察，不是結論。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28 / 29 · 走一輪給你看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第五幕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38200"/>
            <a:ext cx="10972800" cy="167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步驟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36320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4"/>
              </a:lnSpc>
            </a:pPr>
            <a:r>
              <a:rPr sz="4079" b="0" i="0" spc="-100">
                <a:solidFill>
                  <a:srgbClr val="1E1A18"/>
                </a:solidFill>
                <a:latin typeface="Segoe UI Light"/>
                <a:ea typeface="Microsoft JhengHei Light"/>
                <a:cs typeface="Microsoft JhengHei Light"/>
              </a:rPr>
              <a:t>「沒有人勝出」也是一個結論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23339"/>
            <a:ext cx="89916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01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這一輪不升版。但它留下來的東西，讓下一輪不用從零開始。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D3C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598920"/>
            <a:ext cx="10594427" cy="1524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407920"/>
            <a:ext cx="3505200" cy="152400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90800"/>
            <a:ext cx="30784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裁決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3680"/>
            <a:ext cx="30784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sz="1560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維持原狀，不升版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69920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7A6E62"/>
                </a:solidFill>
                <a:latin typeface="Segoe UI"/>
                <a:ea typeface="Microsoft JhengHei"/>
                <a:cs typeface="Microsoft JhengHei"/>
              </a:rPr>
              <a:t>沒有任何一組的改善超過「重跑本來就會差多少」。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9600" y="2407920"/>
            <a:ext cx="7162800" cy="1524000"/>
          </a:xfrm>
          <a:prstGeom prst="rect">
            <a:avLst/>
          </a:prstGeom>
          <a:solidFill>
            <a:srgbClr val="EEDFDB"/>
          </a:solidFill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590800"/>
            <a:ext cx="667512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50">
                <a:solidFill>
                  <a:srgbClr val="8C2230"/>
                </a:solidFill>
                <a:latin typeface="Consolas"/>
                <a:ea typeface="Microsoft JhengHei"/>
                <a:cs typeface="Microsoft JhengHei"/>
              </a:rPr>
              <a:t>留下來的東西 · 已經否掉的方向 +5 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88798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819400"/>
            <a:ext cx="3200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整體策略偏重找好答案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798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819400"/>
            <a:ext cx="3200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挑變數的方式換成強力挑選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14706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078480"/>
            <a:ext cx="3200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岔路先走界限最好的那邊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14706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078480"/>
            <a:ext cx="3200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核心數 10 →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406140"/>
            <a:ext cx="45720" cy="45720"/>
          </a:xfrm>
          <a:prstGeom prst="rect">
            <a:avLst/>
          </a:prstGeom>
          <a:solidFill>
            <a:srgbClr val="8C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337560"/>
            <a:ext cx="3200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900" b="0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「怎麼更快找到答案」整類，對證明側無效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42360"/>
            <a:ext cx="6675120" cy="200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6"/>
              </a:lnSpc>
            </a:pPr>
            <a:r>
              <a:rPr sz="92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下一輪直接跳過這五個方向，改試「幫忙證明」的那一類。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206240"/>
            <a:ext cx="10972800" cy="10667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4358640"/>
            <a:ext cx="304800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兩種結局，都算完成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0000" y="4312920"/>
            <a:ext cx="3962399" cy="1143000"/>
          </a:xfrm>
          <a:prstGeom prst="rect">
            <a:avLst/>
          </a:prstGeom>
          <a:solidFill>
            <a:srgbClr val="E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8120" y="4480560"/>
            <a:ext cx="356616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1E1A18"/>
                </a:solidFill>
                <a:latin typeface="Segoe UI"/>
                <a:ea typeface="Microsoft JhengHei"/>
                <a:cs typeface="Microsoft JhengHei"/>
              </a:rPr>
              <a:t>升版上線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8120" y="47244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贏家寫回正式設定，附上「哪一輪、哪一組實驗選出來的」註解，重跑驗收通過。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7200" y="4312920"/>
            <a:ext cx="3962399" cy="1143000"/>
          </a:xfrm>
          <a:prstGeom prst="rect">
            <a:avLst/>
          </a:prstGeom>
          <a:noFill/>
          <a:ln w="10668">
            <a:solidFill>
              <a:srgbClr val="8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480560"/>
            <a:ext cx="3566160" cy="2461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140" b="1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維持原狀 + 證據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72440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沒有可靠的贏家。</a:t>
            </a:r>
            <a:r>
              <a:rPr sz="929" b="1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一樣是合法交付</a:t>
            </a:r>
            <a:r>
              <a:rPr sz="929" b="0" i="0">
                <a:solidFill>
                  <a:srgbClr val="514840"/>
                </a:solidFill>
                <a:latin typeface="Segoe UI"/>
                <a:ea typeface="Microsoft JhengHei"/>
                <a:cs typeface="Microsoft JhengHei"/>
              </a:rPr>
              <a:t>——它告訴下一個人：這個方向已經試過了，不用再試。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5913120"/>
            <a:ext cx="10972800" cy="12192"/>
          </a:xfrm>
          <a:prstGeom prst="rect">
            <a:avLst/>
          </a:prstGeom>
          <a:solidFill>
            <a:srgbClr val="1E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6035040"/>
            <a:ext cx="10972800" cy="401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sz="1019" b="0" i="0">
                <a:solidFill>
                  <a:srgbClr val="8C2230"/>
                </a:solidFill>
                <a:latin typeface="Segoe UI"/>
                <a:ea typeface="Microsoft JhengHei"/>
                <a:cs typeface="Microsoft JhengHei"/>
              </a:rPr>
              <a:t>「這個方向沒用」本身就是有價值的交付。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29 / 29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98720" y="396240"/>
            <a:ext cx="658368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 i="0" spc="140">
                <a:solidFill>
                  <a:srgbClr val="7A6E62"/>
                </a:solidFill>
                <a:latin typeface="Consolas"/>
                <a:ea typeface="Microsoft JhengHei"/>
                <a:cs typeface="Microsoft JhengHei"/>
              </a:rPr>
              <a:t>三句話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3048000" cy="168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3"/>
              </a:lnSpc>
            </a:pPr>
            <a:r>
              <a:rPr sz="780" b="0" i="0">
                <a:solidFill>
                  <a:srgbClr val="CF6B62"/>
                </a:solidFill>
                <a:latin typeface="Consolas"/>
                <a:ea typeface="Microsoft JhengHei"/>
                <a:cs typeface="Microsoft JhengHe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52600"/>
            <a:ext cx="457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CF6B62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676400"/>
            <a:ext cx="990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sz="264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先驗正確，再調效能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164080"/>
            <a:ext cx="990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對錯的模型調參數，只會更快地得到錯答案。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51760"/>
            <a:ext cx="10972800" cy="7620"/>
          </a:xfrm>
          <a:prstGeom prst="rect">
            <a:avLst/>
          </a:prstGeom>
          <a:solidFill>
            <a:srgbClr val="3A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093720"/>
            <a:ext cx="457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CF6B62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017520"/>
            <a:ext cx="990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sz="264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先證明量得準，再開始比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505200"/>
            <a:ext cx="990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沒量出「重跑本來就會差多少」，所有的「變快了」都是猜的。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992879"/>
            <a:ext cx="10972800" cy="7620"/>
          </a:xfrm>
          <a:prstGeom prst="rect">
            <a:avLst/>
          </a:prstGeom>
          <a:solidFill>
            <a:srgbClr val="3A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434840"/>
            <a:ext cx="457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sz="1320" b="0" i="0">
                <a:solidFill>
                  <a:srgbClr val="CF6B62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358640"/>
            <a:ext cx="990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sz="2640" b="0" i="0">
                <a:solidFill>
                  <a:srgbClr val="F5F0E8"/>
                </a:solidFill>
                <a:latin typeface="Segoe UI Light"/>
                <a:ea typeface="Microsoft JhengHei Light"/>
                <a:cs typeface="Microsoft JhengHei Light"/>
              </a:rPr>
              <a:t>交付的是紀錄，不是參數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846320"/>
            <a:ext cx="990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1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已經否掉的方向留在紀錄裡，換人接手不用從頭再試一遍。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198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29" b="0" i="0">
                <a:solidFill>
                  <a:srgbClr val="B8ADA2"/>
                </a:solidFill>
                <a:latin typeface="Segoe UI"/>
                <a:ea typeface="Microsoft JhengHei"/>
                <a:cs typeface="Microsoft JhengHei"/>
              </a:rPr>
              <a:t>封面那三個數字：5.62 秒、17.40 秒、答案完全一樣——那就是同一個題目、同一份程式，什麼都沒改的兩次執行。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B8A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6598920"/>
            <a:ext cx="10972800" cy="15240"/>
          </a:xfrm>
          <a:prstGeom prst="rect">
            <a:avLst/>
          </a:prstGeom>
          <a:solidFill>
            <a:srgbClr val="CF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