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  <p:sldMasterId id="2147483728" r:id="rId2"/>
    <p:sldMasterId id="2147483712" r:id="rId3"/>
  </p:sldMasterIdLst>
  <p:notesMasterIdLst>
    <p:notesMasterId r:id="rId36"/>
  </p:notesMasterIdLst>
  <p:handoutMasterIdLst>
    <p:handoutMasterId r:id="rId37"/>
  </p:handoutMasterIdLst>
  <p:sldIdLst>
    <p:sldId id="256" r:id="rId4"/>
    <p:sldId id="258" r:id="rId5"/>
    <p:sldId id="305" r:id="rId6"/>
    <p:sldId id="294" r:id="rId7"/>
    <p:sldId id="337" r:id="rId8"/>
    <p:sldId id="268" r:id="rId9"/>
    <p:sldId id="288" r:id="rId10"/>
    <p:sldId id="292" r:id="rId11"/>
    <p:sldId id="291" r:id="rId12"/>
    <p:sldId id="341" r:id="rId13"/>
    <p:sldId id="297" r:id="rId14"/>
    <p:sldId id="295" r:id="rId15"/>
    <p:sldId id="340" r:id="rId16"/>
    <p:sldId id="357" r:id="rId17"/>
    <p:sldId id="349" r:id="rId18"/>
    <p:sldId id="343" r:id="rId19"/>
    <p:sldId id="348" r:id="rId20"/>
    <p:sldId id="350" r:id="rId21"/>
    <p:sldId id="351" r:id="rId22"/>
    <p:sldId id="352" r:id="rId23"/>
    <p:sldId id="355" r:id="rId24"/>
    <p:sldId id="354" r:id="rId25"/>
    <p:sldId id="356" r:id="rId26"/>
    <p:sldId id="347" r:id="rId27"/>
    <p:sldId id="358" r:id="rId28"/>
    <p:sldId id="293" r:id="rId29"/>
    <p:sldId id="363" r:id="rId30"/>
    <p:sldId id="317" r:id="rId31"/>
    <p:sldId id="307" r:id="rId32"/>
    <p:sldId id="267" r:id="rId33"/>
    <p:sldId id="296" r:id="rId34"/>
    <p:sldId id="346" r:id="rId35"/>
  </p:sldIdLst>
  <p:sldSz cx="9144000" cy="5143500" type="screen16x9"/>
  <p:notesSz cx="7315200" cy="96012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B8CB7326-A8C4-4B7C-B3CA-BB611C27A9B2}">
          <p14:sldIdLst>
            <p14:sldId id="256"/>
            <p14:sldId id="258"/>
            <p14:sldId id="305"/>
            <p14:sldId id="294"/>
            <p14:sldId id="337"/>
            <p14:sldId id="268"/>
            <p14:sldId id="288"/>
            <p14:sldId id="292"/>
            <p14:sldId id="291"/>
            <p14:sldId id="341"/>
            <p14:sldId id="297"/>
            <p14:sldId id="295"/>
            <p14:sldId id="340"/>
            <p14:sldId id="357"/>
            <p14:sldId id="349"/>
            <p14:sldId id="343"/>
            <p14:sldId id="348"/>
            <p14:sldId id="350"/>
            <p14:sldId id="351"/>
            <p14:sldId id="352"/>
            <p14:sldId id="355"/>
            <p14:sldId id="354"/>
            <p14:sldId id="356"/>
            <p14:sldId id="347"/>
            <p14:sldId id="358"/>
            <p14:sldId id="293"/>
            <p14:sldId id="363"/>
            <p14:sldId id="317"/>
            <p14:sldId id="307"/>
            <p14:sldId id="267"/>
            <p14:sldId id="296"/>
          </p14:sldIdLst>
        </p14:section>
        <p14:section name="backup" id="{BAED964F-7291-405E-83D7-C96977CA59C3}">
          <p14:sldIdLst>
            <p14:sldId id="34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xc big7" initials="zb" lastIdx="52" clrIdx="0">
    <p:extLst>
      <p:ext uri="{19B8F6BF-5375-455C-9EA6-DF929625EA0E}">
        <p15:presenceInfo xmlns:p15="http://schemas.microsoft.com/office/powerpoint/2012/main" userId="5e6d909f4bd2cc1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2987"/>
    <a:srgbClr val="2F528F"/>
    <a:srgbClr val="F1F1FD"/>
    <a:srgbClr val="CBCBF5"/>
    <a:srgbClr val="3E9282"/>
    <a:srgbClr val="E9E9FB"/>
    <a:srgbClr val="D8D8F8"/>
    <a:srgbClr val="BF9000"/>
    <a:srgbClr val="B9B9F1"/>
    <a:srgbClr val="F5F5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 autoAdjust="0"/>
    <p:restoredTop sz="88361" autoAdjust="0"/>
  </p:normalViewPr>
  <p:slideViewPr>
    <p:cSldViewPr showGuides="1">
      <p:cViewPr>
        <p:scale>
          <a:sx n="125" d="100"/>
          <a:sy n="125" d="100"/>
        </p:scale>
        <p:origin x="1428" y="126"/>
      </p:cViewPr>
      <p:guideLst/>
    </p:cSldViewPr>
  </p:slideViewPr>
  <p:outlineViewPr>
    <p:cViewPr>
      <p:scale>
        <a:sx n="33" d="100"/>
        <a:sy n="33" d="100"/>
      </p:scale>
      <p:origin x="0" y="-16728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380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4024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1728"/>
          </a:xfrm>
          <a:prstGeom prst="rect">
            <a:avLst/>
          </a:prstGeom>
        </p:spPr>
        <p:txBody>
          <a:bodyPr vert="horz" lIns="96632" tIns="48317" rIns="96632" bIns="48317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143588" y="1"/>
            <a:ext cx="3169920" cy="481728"/>
          </a:xfrm>
          <a:prstGeom prst="rect">
            <a:avLst/>
          </a:prstGeom>
        </p:spPr>
        <p:txBody>
          <a:bodyPr vert="horz" lIns="96632" tIns="48317" rIns="96632" bIns="48317" rtlCol="0"/>
          <a:lstStyle>
            <a:lvl1pPr algn="r">
              <a:defRPr sz="1300"/>
            </a:lvl1pPr>
          </a:lstStyle>
          <a:p>
            <a:fld id="{2CC20998-D27E-49AD-A846-29433AB49256}" type="datetimeFigureOut">
              <a:rPr lang="en-US" smtClean="0"/>
              <a:t>7/11/2026</a:t>
            </a:fld>
            <a:endParaRPr lang="en-US" dirty="0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774700" y="1198563"/>
            <a:ext cx="5765800" cy="32432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2" tIns="48317" rIns="96632" bIns="48317" rtlCol="0" anchor="ctr"/>
          <a:lstStyle/>
          <a:p>
            <a:endParaRPr lang="en-US" dirty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31521" y="4620580"/>
            <a:ext cx="5852160" cy="3780472"/>
          </a:xfrm>
          <a:prstGeom prst="rect">
            <a:avLst/>
          </a:prstGeom>
        </p:spPr>
        <p:txBody>
          <a:bodyPr vert="horz" lIns="96632" tIns="48317" rIns="96632" bIns="48317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32" tIns="48317" rIns="96632" bIns="48317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143588" y="9119475"/>
            <a:ext cx="3169920" cy="481726"/>
          </a:xfrm>
          <a:prstGeom prst="rect">
            <a:avLst/>
          </a:prstGeom>
        </p:spPr>
        <p:txBody>
          <a:bodyPr vert="horz" lIns="96632" tIns="48317" rIns="96632" bIns="48317" rtlCol="0" anchor="b"/>
          <a:lstStyle>
            <a:lvl1pPr algn="r">
              <a:defRPr sz="1300"/>
            </a:lvl1pPr>
          </a:lstStyle>
          <a:p>
            <a:fld id="{5B49B736-9D47-4B7E-9D53-4FA46E3FC2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396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各位老師同學好， 我是交大工工碩士班的賴春伸 論文指導教授 是陳勝一老師</a:t>
            </a:r>
            <a:endParaRPr lang="en-US" altLang="zh-TW" dirty="0"/>
          </a:p>
          <a:p>
            <a:r>
              <a:rPr lang="zh-TW" altLang="en-US" dirty="0"/>
              <a:t>首先我要感謝林東盈老師與劉建良老師擔任今天的口試委員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今天要報告的論文是 代數建模語言與大型語言模型之數學規劃開發框架</a:t>
            </a:r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123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今天口試的投影片會依照論文架構進行報告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402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379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zh-TW" altLang="en-US" dirty="0"/>
              <a:t>為了建構一個數學規劃模型，我們先從現實問題定義開始。</a:t>
            </a:r>
            <a:endParaRPr lang="en-US" altLang="zh-TW" dirty="0"/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altLang="zh-TW" dirty="0"/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zh-TW" altLang="en-US" dirty="0"/>
              <a:t>接著建立數學規劃模型，設計相對應的目標式、限制式還有決策變數。</a:t>
            </a:r>
            <a:endParaRPr lang="en-US" altLang="zh-TW" dirty="0"/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zh-TW" altLang="en-US" dirty="0"/>
              <a:t>然後開發求解器程式進行求解，</a:t>
            </a:r>
            <a:endParaRPr lang="en-US" altLang="zh-TW" dirty="0"/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zh-TW" altLang="en-US" dirty="0"/>
              <a:t>最後產出決策資訊提供使用者進行參考。</a:t>
            </a:r>
            <a:endParaRPr lang="en-US" altLang="zh-TW" dirty="0"/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當求解結果不符合現實需求，就必須要進行調整，重複這個循環。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如果一個循環所需的時間過長，可能會降低整體決策的效益。</a:t>
            </a:r>
            <a:endParaRPr lang="en-US" altLang="zh-TW" dirty="0"/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04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zh-TW" altLang="en-US" dirty="0"/>
              <a:t>為了加速這個建模循環，</a:t>
            </a:r>
            <a:r>
              <a:rPr lang="zh-TW" altLang="en-US" b="1" dirty="0"/>
              <a:t>本研究的核心想法是自動化模型與程式開發的流程</a:t>
            </a:r>
            <a:r>
              <a:rPr lang="zh-TW" altLang="en-US" dirty="0"/>
              <a:t>，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目標則是希望只需要提供自然語言的問題描述，經過這個框架，就可以自動生成輸出決策結果。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402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那以開發角度去分析這個流程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可以看到一個數開發流程有兩個主要角色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使用者主要負責問題定義與各個開發階段的結果驗證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開發者主要負責模型設計與程式開發與維護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367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在模型開發階段</a:t>
            </a:r>
            <a:endParaRPr lang="en-US" altLang="zh-TW" dirty="0"/>
          </a:p>
          <a:p>
            <a:r>
              <a:rPr lang="zh-TW" altLang="en-US" dirty="0"/>
              <a:t>使用者具備產業知識，但沒有建模的經驗，可能在問題定義中用模糊的敘述來表達需求。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而開發者剛好相反，他們懂模型開發但缺乏產業知識，可能在需求分析過程中造成誤解。</a:t>
            </a:r>
            <a:endParaRPr lang="en-US" altLang="zh-TW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6988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dirty="0"/>
              <a:t>在程是開發中，尤其是團隊合作的開發環境，如果缺乏統一的開發標準，可能會影響整體效率。</a:t>
            </a:r>
            <a:br>
              <a:rPr lang="zh-TW" altLang="en-US" dirty="0"/>
            </a:br>
            <a:endParaRPr lang="en-US" altLang="zh-TW" dirty="0"/>
          </a:p>
          <a:p>
            <a:pPr>
              <a:buFont typeface="Arial" panose="020B0604020202020204" pitchFamily="34" charset="0"/>
              <a:buNone/>
            </a:pPr>
            <a:r>
              <a:rPr lang="zh-TW" altLang="en-US" dirty="0"/>
              <a:t>舉個例子，</a:t>
            </a:r>
            <a:endParaRPr lang="en-US" altLang="zh-TW" dirty="0"/>
          </a:p>
          <a:p>
            <a:pPr>
              <a:buFont typeface="Arial" panose="020B0604020202020204" pitchFamily="34" charset="0"/>
              <a:buNone/>
            </a:pPr>
            <a:r>
              <a:rPr lang="zh-TW" altLang="en-US" dirty="0"/>
              <a:t>不同專案之間多少會有相似的限制式，但是因為架構不同，程式碼無法跨專案之間重複使用，基本上都需要重新撰寫。</a:t>
            </a:r>
            <a:endParaRPr lang="en-US" altLang="zh-TW" dirty="0"/>
          </a:p>
          <a:p>
            <a:pPr>
              <a:buFont typeface="Arial" panose="020B0604020202020204" pitchFamily="34" charset="0"/>
              <a:buNone/>
            </a:pPr>
            <a:endParaRPr lang="en-US" altLang="zh-TW" dirty="0"/>
          </a:p>
          <a:p>
            <a:pPr>
              <a:buFont typeface="Arial" panose="020B0604020202020204" pitchFamily="34" charset="0"/>
              <a:buNone/>
            </a:pPr>
            <a:r>
              <a:rPr lang="zh-TW" altLang="en-US" dirty="0"/>
              <a:t>我相信不管在開發維護甚至是交接，應該要有一個開發工具或者框架來減少這些工作的壓力。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407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03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459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這張圖展示的是本研究所提出的整體開發框架流程。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可以看到，流程從自然語言問題敘述開始，經過模型建置流程後，會自動生成完整的專案程式碼；</a:t>
            </a:r>
            <a:endParaRPr lang="en-US" altLang="zh-TW" dirty="0"/>
          </a:p>
          <a:p>
            <a:r>
              <a:rPr lang="zh-TW" altLang="en-US" dirty="0"/>
              <a:t>執行這些程式碼經過後，便能求解出該問題的最佳解。</a:t>
            </a:r>
            <a:endParaRPr lang="en-US" altLang="zh-TW" dirty="0"/>
          </a:p>
          <a:p>
            <a:endParaRPr lang="en-US" altLang="zh-TW" dirty="0"/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整體流程應用了語言模型的推理能力，來達到模型建置流程的自動化。</a:t>
            </a:r>
            <a:br>
              <a:rPr lang="zh-TW" altLang="en-US" dirty="0"/>
            </a:br>
            <a:r>
              <a:rPr lang="zh-TW" altLang="en-US" dirty="0"/>
              <a:t>程式碼的生成則是按照本研究設計的數學規劃模型開發 </a:t>
            </a:r>
            <a:r>
              <a:rPr lang="en-US" altLang="zh-TW" dirty="0"/>
              <a:t>API</a:t>
            </a:r>
            <a:r>
              <a:rPr lang="zh-TW" altLang="en-US" dirty="0"/>
              <a:t> 框架規則。</a:t>
            </a:r>
            <a:endParaRPr lang="en-US" altLang="zh-TW" dirty="0"/>
          </a:p>
          <a:p>
            <a:endParaRPr lang="zh-TW" altLang="en-US" dirty="0"/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9268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9242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1896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9507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016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3370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0556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7937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2044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668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依照清辰學長的開發調教策略開發實驗流程開發規範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8625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0906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9643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2333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4155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7986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57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8854" y="427411"/>
            <a:ext cx="7605553" cy="264977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1600" b="1" baseline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29" name="文字版面配置區 28">
            <a:extLst>
              <a:ext uri="{FF2B5EF4-FFF2-40B4-BE49-F238E27FC236}">
                <a16:creationId xmlns:a16="http://schemas.microsoft.com/office/drawing/2014/main" id="{2403BD32-AD2B-4ECA-9F9E-AFDD6DF0F6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175" y="212009"/>
            <a:ext cx="5904507" cy="1689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zh-TW" altLang="en-US" dirty="0"/>
              <a:t>章節標題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D784E79-15C7-44BF-8673-4AAFB91539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415908"/>
            <a:ext cx="504800" cy="28798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rgbClr val="005087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altLang="zh-TW" dirty="0"/>
              <a:t>00</a:t>
            </a:r>
            <a:endParaRPr lang="zh-TW" altLang="en-US" dirty="0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54AB4BA-8DF0-4350-8881-121E4F794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855534"/>
            <a:ext cx="717094" cy="274637"/>
          </a:xfrm>
        </p:spPr>
        <p:txBody>
          <a:bodyPr/>
          <a:lstStyle/>
          <a:p>
            <a:fld id="{16BB1EDA-9669-4099-AA83-49C2D8E17945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72FC885-DCFB-4AB6-BEF3-5D15E592BE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512" y="4855534"/>
            <a:ext cx="7657256" cy="27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TW" altLang="en-US" sz="1200" b="1" kern="1200" baseline="0" dirty="0" smtClean="0">
                <a:solidFill>
                  <a:srgbClr val="222A3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>
              <a:defRPr lang="zh-TW" altLang="en-US" sz="1200" kern="1200" baseline="0" dirty="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>
              <a:defRPr lang="zh-TW" altLang="en-US" sz="1200" kern="1200" baseline="0" dirty="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>
              <a:defRPr lang="zh-TW" altLang="en-US" sz="1200" kern="1200" baseline="0" dirty="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>
              <a:defRPr lang="zh-TW" altLang="en-US" sz="1200" kern="1200" baseline="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補充：</a:t>
            </a:r>
          </a:p>
        </p:txBody>
      </p:sp>
    </p:spTree>
    <p:extLst>
      <p:ext uri="{BB962C8B-B14F-4D97-AF65-F5344CB8AC3E}">
        <p14:creationId xmlns:p14="http://schemas.microsoft.com/office/powerpoint/2010/main" val="2275268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">
          <p15:clr>
            <a:srgbClr val="FBAE40"/>
          </p15:clr>
        </p15:guide>
        <p15:guide id="2" orient="horz" pos="123">
          <p15:clr>
            <a:srgbClr val="FBAE40"/>
          </p15:clr>
        </p15:guide>
        <p15:guide id="3" pos="385" userDrawn="1">
          <p15:clr>
            <a:srgbClr val="FBAE40"/>
          </p15:clr>
        </p15:guide>
        <p15:guide id="4" orient="horz" pos="453" userDrawn="1">
          <p15:clr>
            <a:srgbClr val="A4A3A4"/>
          </p15:clr>
        </p15:guide>
        <p15:guide id="5" orient="horz" pos="3049" userDrawn="1">
          <p15:clr>
            <a:srgbClr val="A4A3A4"/>
          </p15:clr>
        </p15:guide>
        <p15:guide id="6" orient="horz" pos="1756" userDrawn="1">
          <p15:clr>
            <a:srgbClr val="A4A3A4"/>
          </p15:clr>
        </p15:guide>
        <p15:guide id="7" pos="2880" userDrawn="1">
          <p15:clr>
            <a:srgbClr val="A4A3A4"/>
          </p15:clr>
        </p15:guide>
        <p15:guide id="8" pos="4332" userDrawn="1">
          <p15:clr>
            <a:srgbClr val="FBAE40"/>
          </p15:clr>
        </p15:guide>
        <p15:guide id="9" pos="1429" userDrawn="1">
          <p15:clr>
            <a:srgbClr val="FBAE40"/>
          </p15:clr>
        </p15:guide>
        <p15:guide id="10" pos="537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9B7934E3-3C08-4703-B0A2-ACC4B58806AF}"/>
              </a:ext>
            </a:extLst>
          </p:cNvPr>
          <p:cNvSpPr txBox="1"/>
          <p:nvPr userDrawn="1"/>
        </p:nvSpPr>
        <p:spPr>
          <a:xfrm>
            <a:off x="2343632" y="383735"/>
            <a:ext cx="2156360" cy="4759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 sz="33700" kern="1200" dirty="0">
                <a:ln>
                  <a:noFill/>
                </a:ln>
                <a:solidFill>
                  <a:srgbClr val="FFFFFF"/>
                </a:solidFill>
                <a:latin typeface="Arial Narrow" panose="020B0606020202030204" pitchFamily="34" charset="0"/>
                <a:ea typeface="+mn-ea"/>
                <a:cs typeface="+mn-cs"/>
              </a:rPr>
              <a:t>I.</a:t>
            </a:r>
            <a:endParaRPr lang="zh-TW" altLang="en-US" sz="33700" kern="1200" dirty="0">
              <a:ln>
                <a:noFill/>
              </a:ln>
              <a:solidFill>
                <a:srgbClr val="FFFFFF"/>
              </a:solidFill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7" name="平行四邊形 6">
            <a:extLst>
              <a:ext uri="{FF2B5EF4-FFF2-40B4-BE49-F238E27FC236}">
                <a16:creationId xmlns:a16="http://schemas.microsoft.com/office/drawing/2014/main" id="{27D749A6-1E79-42C1-A50D-54DDF4D1E4EE}"/>
              </a:ext>
            </a:extLst>
          </p:cNvPr>
          <p:cNvSpPr/>
          <p:nvPr userDrawn="1"/>
        </p:nvSpPr>
        <p:spPr>
          <a:xfrm rot="5400000">
            <a:off x="533709" y="493498"/>
            <a:ext cx="3026213" cy="4119033"/>
          </a:xfrm>
          <a:prstGeom prst="parallelogram">
            <a:avLst>
              <a:gd name="adj" fmla="val 10750"/>
            </a:avLst>
          </a:prstGeom>
          <a:noFill/>
          <a:ln w="25400">
            <a:gradFill>
              <a:gsLst>
                <a:gs pos="100000">
                  <a:srgbClr val="2D4CA3"/>
                </a:gs>
                <a:gs pos="0">
                  <a:srgbClr val="203776"/>
                </a:gs>
              </a:gsLst>
              <a:lin ang="64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>
              <a:ln>
                <a:solidFill>
                  <a:sysClr val="windowText" lastClr="000000"/>
                </a:solidFill>
              </a:ln>
              <a:noFill/>
            </a:endParaRP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B8AC8B5A-0791-4C01-8429-CD6F6D5B99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3968" y="1380952"/>
            <a:ext cx="4668270" cy="115319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 smtClean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 smtClean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 smtClean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 smtClean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9" name="文字版面配置區 7">
            <a:extLst>
              <a:ext uri="{FF2B5EF4-FFF2-40B4-BE49-F238E27FC236}">
                <a16:creationId xmlns:a16="http://schemas.microsoft.com/office/drawing/2014/main" id="{656E9FAA-8B07-473E-A52F-AFE5170FDE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83968" y="3075807"/>
            <a:ext cx="4668270" cy="990314"/>
          </a:xfrm>
          <a:prstGeom prst="rect">
            <a:avLst/>
          </a:prstGeom>
        </p:spPr>
        <p:txBody>
          <a:bodyPr anchor="b"/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副標</a:t>
            </a:r>
          </a:p>
        </p:txBody>
      </p:sp>
    </p:spTree>
    <p:extLst>
      <p:ext uri="{BB962C8B-B14F-4D97-AF65-F5344CB8AC3E}">
        <p14:creationId xmlns:p14="http://schemas.microsoft.com/office/powerpoint/2010/main" val="1905791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9B7934E3-3C08-4703-B0A2-ACC4B58806AF}"/>
              </a:ext>
            </a:extLst>
          </p:cNvPr>
          <p:cNvSpPr txBox="1"/>
          <p:nvPr userDrawn="1"/>
        </p:nvSpPr>
        <p:spPr>
          <a:xfrm>
            <a:off x="1357785" y="383735"/>
            <a:ext cx="3142207" cy="4759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 sz="33700" kern="1200" dirty="0">
                <a:ln>
                  <a:noFill/>
                </a:ln>
                <a:solidFill>
                  <a:srgbClr val="FFFFFF"/>
                </a:solidFill>
                <a:latin typeface="Arial Narrow" panose="020B0606020202030204" pitchFamily="34" charset="0"/>
                <a:ea typeface="+mn-ea"/>
                <a:cs typeface="+mn-cs"/>
              </a:rPr>
              <a:t>II.</a:t>
            </a:r>
            <a:endParaRPr lang="zh-TW" altLang="en-US" sz="33700" kern="1200" dirty="0">
              <a:ln>
                <a:noFill/>
              </a:ln>
              <a:solidFill>
                <a:srgbClr val="FFFFFF"/>
              </a:solidFill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7" name="平行四邊形 6">
            <a:extLst>
              <a:ext uri="{FF2B5EF4-FFF2-40B4-BE49-F238E27FC236}">
                <a16:creationId xmlns:a16="http://schemas.microsoft.com/office/drawing/2014/main" id="{95809D27-67A2-4F95-A39C-62B0BCFE9DEF}"/>
              </a:ext>
            </a:extLst>
          </p:cNvPr>
          <p:cNvSpPr/>
          <p:nvPr userDrawn="1"/>
        </p:nvSpPr>
        <p:spPr>
          <a:xfrm rot="5400000">
            <a:off x="533709" y="493498"/>
            <a:ext cx="3026213" cy="4119033"/>
          </a:xfrm>
          <a:prstGeom prst="parallelogram">
            <a:avLst>
              <a:gd name="adj" fmla="val 10750"/>
            </a:avLst>
          </a:prstGeom>
          <a:noFill/>
          <a:ln w="25400">
            <a:gradFill>
              <a:gsLst>
                <a:gs pos="100000">
                  <a:srgbClr val="2D4CA3"/>
                </a:gs>
                <a:gs pos="0">
                  <a:srgbClr val="203776"/>
                </a:gs>
              </a:gsLst>
              <a:lin ang="64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>
              <a:ln>
                <a:solidFill>
                  <a:sysClr val="windowText" lastClr="000000"/>
                </a:solidFill>
              </a:ln>
              <a:noFill/>
            </a:endParaRPr>
          </a:p>
        </p:txBody>
      </p:sp>
      <p:sp>
        <p:nvSpPr>
          <p:cNvPr id="6" name="文字版面配置區 7">
            <a:extLst>
              <a:ext uri="{FF2B5EF4-FFF2-40B4-BE49-F238E27FC236}">
                <a16:creationId xmlns:a16="http://schemas.microsoft.com/office/drawing/2014/main" id="{9D447533-E944-4441-947E-D36DDDFC49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3968" y="1380952"/>
            <a:ext cx="4668270" cy="115319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 smtClean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 smtClean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 smtClean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 smtClean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0B240EE3-C544-44F5-BAC7-43EEF45825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83968" y="3075807"/>
            <a:ext cx="4668270" cy="990314"/>
          </a:xfrm>
          <a:prstGeom prst="rect">
            <a:avLst/>
          </a:prstGeom>
        </p:spPr>
        <p:txBody>
          <a:bodyPr anchor="b"/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副標</a:t>
            </a:r>
          </a:p>
        </p:txBody>
      </p:sp>
    </p:spTree>
    <p:extLst>
      <p:ext uri="{BB962C8B-B14F-4D97-AF65-F5344CB8AC3E}">
        <p14:creationId xmlns:p14="http://schemas.microsoft.com/office/powerpoint/2010/main" val="1190438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9B7934E3-3C08-4703-B0A2-ACC4B58806AF}"/>
              </a:ext>
            </a:extLst>
          </p:cNvPr>
          <p:cNvSpPr txBox="1"/>
          <p:nvPr userDrawn="1"/>
        </p:nvSpPr>
        <p:spPr>
          <a:xfrm>
            <a:off x="371939" y="383735"/>
            <a:ext cx="4128053" cy="4759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 sz="33700" kern="1200" dirty="0">
                <a:ln>
                  <a:noFill/>
                </a:ln>
                <a:solidFill>
                  <a:srgbClr val="FFFFFF"/>
                </a:solidFill>
                <a:latin typeface="Arial Narrow" panose="020B0606020202030204" pitchFamily="34" charset="0"/>
                <a:ea typeface="+mn-ea"/>
                <a:cs typeface="+mn-cs"/>
              </a:rPr>
              <a:t>III.</a:t>
            </a:r>
            <a:endParaRPr lang="zh-TW" altLang="en-US" sz="33700" kern="1200" dirty="0">
              <a:ln>
                <a:noFill/>
              </a:ln>
              <a:solidFill>
                <a:srgbClr val="FFFFFF"/>
              </a:solidFill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7" name="平行四邊形 6">
            <a:extLst>
              <a:ext uri="{FF2B5EF4-FFF2-40B4-BE49-F238E27FC236}">
                <a16:creationId xmlns:a16="http://schemas.microsoft.com/office/drawing/2014/main" id="{F28EE63D-BCE8-4CEE-932A-6B92DD6B3CAE}"/>
              </a:ext>
            </a:extLst>
          </p:cNvPr>
          <p:cNvSpPr/>
          <p:nvPr userDrawn="1"/>
        </p:nvSpPr>
        <p:spPr>
          <a:xfrm rot="5400000">
            <a:off x="533709" y="493498"/>
            <a:ext cx="3026213" cy="4119033"/>
          </a:xfrm>
          <a:prstGeom prst="parallelogram">
            <a:avLst>
              <a:gd name="adj" fmla="val 10750"/>
            </a:avLst>
          </a:prstGeom>
          <a:noFill/>
          <a:ln w="25400">
            <a:gradFill>
              <a:gsLst>
                <a:gs pos="100000">
                  <a:srgbClr val="2D4CA3"/>
                </a:gs>
                <a:gs pos="0">
                  <a:srgbClr val="203776"/>
                </a:gs>
              </a:gsLst>
              <a:lin ang="64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>
              <a:ln>
                <a:solidFill>
                  <a:sysClr val="windowText" lastClr="000000"/>
                </a:solidFill>
              </a:ln>
              <a:noFill/>
            </a:endParaRPr>
          </a:p>
        </p:txBody>
      </p:sp>
      <p:sp>
        <p:nvSpPr>
          <p:cNvPr id="6" name="文字版面配置區 7">
            <a:extLst>
              <a:ext uri="{FF2B5EF4-FFF2-40B4-BE49-F238E27FC236}">
                <a16:creationId xmlns:a16="http://schemas.microsoft.com/office/drawing/2014/main" id="{7C82831A-128C-4BA1-9035-2289DF1949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3968" y="1380952"/>
            <a:ext cx="4668270" cy="115319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 smtClean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 smtClean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 smtClean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 smtClean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91E0299E-D54B-4FDA-AD26-BE0CA0C23E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83968" y="3075807"/>
            <a:ext cx="4668270" cy="990314"/>
          </a:xfrm>
          <a:prstGeom prst="rect">
            <a:avLst/>
          </a:prstGeom>
        </p:spPr>
        <p:txBody>
          <a:bodyPr anchor="b"/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副標</a:t>
            </a:r>
          </a:p>
        </p:txBody>
      </p:sp>
    </p:spTree>
    <p:extLst>
      <p:ext uri="{BB962C8B-B14F-4D97-AF65-F5344CB8AC3E}">
        <p14:creationId xmlns:p14="http://schemas.microsoft.com/office/powerpoint/2010/main" val="780622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9B7934E3-3C08-4703-B0A2-ACC4B58806AF}"/>
              </a:ext>
            </a:extLst>
          </p:cNvPr>
          <p:cNvSpPr txBox="1"/>
          <p:nvPr userDrawn="1"/>
        </p:nvSpPr>
        <p:spPr>
          <a:xfrm>
            <a:off x="305766" y="383735"/>
            <a:ext cx="4194226" cy="4759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 sz="33700" kern="1200" dirty="0">
                <a:ln>
                  <a:noFill/>
                </a:ln>
                <a:solidFill>
                  <a:srgbClr val="FFFFFF"/>
                </a:solidFill>
                <a:latin typeface="Arial Narrow" panose="020B0606020202030204" pitchFamily="34" charset="0"/>
                <a:ea typeface="+mn-ea"/>
                <a:cs typeface="+mn-cs"/>
              </a:rPr>
              <a:t>IV.</a:t>
            </a:r>
            <a:endParaRPr lang="zh-TW" altLang="en-US" sz="33700" kern="1200" dirty="0">
              <a:ln>
                <a:noFill/>
              </a:ln>
              <a:solidFill>
                <a:srgbClr val="FFFFFF"/>
              </a:solidFill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7" name="平行四邊形 6">
            <a:extLst>
              <a:ext uri="{FF2B5EF4-FFF2-40B4-BE49-F238E27FC236}">
                <a16:creationId xmlns:a16="http://schemas.microsoft.com/office/drawing/2014/main" id="{EFC1C0F7-F616-40CC-868D-95EEBCF328CE}"/>
              </a:ext>
            </a:extLst>
          </p:cNvPr>
          <p:cNvSpPr/>
          <p:nvPr userDrawn="1"/>
        </p:nvSpPr>
        <p:spPr>
          <a:xfrm rot="5400000">
            <a:off x="533709" y="493498"/>
            <a:ext cx="3026213" cy="4119033"/>
          </a:xfrm>
          <a:prstGeom prst="parallelogram">
            <a:avLst>
              <a:gd name="adj" fmla="val 10750"/>
            </a:avLst>
          </a:prstGeom>
          <a:noFill/>
          <a:ln w="25400">
            <a:gradFill>
              <a:gsLst>
                <a:gs pos="100000">
                  <a:srgbClr val="2D4CA3"/>
                </a:gs>
                <a:gs pos="0">
                  <a:srgbClr val="203776"/>
                </a:gs>
              </a:gsLst>
              <a:lin ang="64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>
              <a:ln>
                <a:solidFill>
                  <a:sysClr val="windowText" lastClr="000000"/>
                </a:solidFill>
              </a:ln>
              <a:noFill/>
            </a:endParaRPr>
          </a:p>
        </p:txBody>
      </p:sp>
      <p:sp>
        <p:nvSpPr>
          <p:cNvPr id="6" name="文字版面配置區 7">
            <a:extLst>
              <a:ext uri="{FF2B5EF4-FFF2-40B4-BE49-F238E27FC236}">
                <a16:creationId xmlns:a16="http://schemas.microsoft.com/office/drawing/2014/main" id="{F394C130-D865-4F0C-8224-B5A81B1633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3968" y="1380952"/>
            <a:ext cx="4668270" cy="115319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 smtClean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 smtClean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 smtClean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 smtClean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CFFD4A58-5C53-49FC-9C47-8EB2F755B3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83968" y="3075807"/>
            <a:ext cx="4668270" cy="990314"/>
          </a:xfrm>
          <a:prstGeom prst="rect">
            <a:avLst/>
          </a:prstGeom>
        </p:spPr>
        <p:txBody>
          <a:bodyPr anchor="b"/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副標</a:t>
            </a:r>
          </a:p>
        </p:txBody>
      </p:sp>
    </p:spTree>
    <p:extLst>
      <p:ext uri="{BB962C8B-B14F-4D97-AF65-F5344CB8AC3E}">
        <p14:creationId xmlns:p14="http://schemas.microsoft.com/office/powerpoint/2010/main" val="3379070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9B7934E3-3C08-4703-B0A2-ACC4B58806AF}"/>
              </a:ext>
            </a:extLst>
          </p:cNvPr>
          <p:cNvSpPr txBox="1"/>
          <p:nvPr userDrawn="1"/>
        </p:nvSpPr>
        <p:spPr>
          <a:xfrm>
            <a:off x="1291613" y="383735"/>
            <a:ext cx="3208379" cy="4759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TW" sz="33700" kern="1200" dirty="0">
                <a:ln>
                  <a:noFill/>
                </a:ln>
                <a:solidFill>
                  <a:srgbClr val="FFFFFF"/>
                </a:solidFill>
                <a:latin typeface="Arial Narrow" panose="020B0606020202030204" pitchFamily="34" charset="0"/>
                <a:ea typeface="+mn-ea"/>
                <a:cs typeface="+mn-cs"/>
              </a:rPr>
              <a:t>V.</a:t>
            </a:r>
            <a:endParaRPr lang="zh-TW" altLang="en-US" sz="33700" kern="1200" dirty="0">
              <a:ln>
                <a:noFill/>
              </a:ln>
              <a:solidFill>
                <a:srgbClr val="FFFFFF"/>
              </a:solidFill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7" name="平行四邊形 6">
            <a:extLst>
              <a:ext uri="{FF2B5EF4-FFF2-40B4-BE49-F238E27FC236}">
                <a16:creationId xmlns:a16="http://schemas.microsoft.com/office/drawing/2014/main" id="{29F3EC6B-6F61-4ABE-9656-40C79C14E79F}"/>
              </a:ext>
            </a:extLst>
          </p:cNvPr>
          <p:cNvSpPr/>
          <p:nvPr userDrawn="1"/>
        </p:nvSpPr>
        <p:spPr>
          <a:xfrm rot="5400000">
            <a:off x="533709" y="493498"/>
            <a:ext cx="3026213" cy="4119033"/>
          </a:xfrm>
          <a:prstGeom prst="parallelogram">
            <a:avLst>
              <a:gd name="adj" fmla="val 10750"/>
            </a:avLst>
          </a:prstGeom>
          <a:noFill/>
          <a:ln w="25400">
            <a:gradFill>
              <a:gsLst>
                <a:gs pos="100000">
                  <a:srgbClr val="2D4CA3"/>
                </a:gs>
                <a:gs pos="0">
                  <a:srgbClr val="203776"/>
                </a:gs>
              </a:gsLst>
              <a:lin ang="64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>
              <a:ln>
                <a:solidFill>
                  <a:sysClr val="windowText" lastClr="000000"/>
                </a:solidFill>
              </a:ln>
              <a:noFill/>
            </a:endParaRPr>
          </a:p>
        </p:txBody>
      </p:sp>
      <p:sp>
        <p:nvSpPr>
          <p:cNvPr id="6" name="文字版面配置區 7">
            <a:extLst>
              <a:ext uri="{FF2B5EF4-FFF2-40B4-BE49-F238E27FC236}">
                <a16:creationId xmlns:a16="http://schemas.microsoft.com/office/drawing/2014/main" id="{CF8108F8-B41B-41FA-8FBE-8E63D36E74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3968" y="1380952"/>
            <a:ext cx="4668270" cy="115319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 smtClean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 smtClean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 smtClean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 smtClean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TW" altLang="en-US" sz="2400" b="1" kern="1200" dirty="0">
                <a:solidFill>
                  <a:srgbClr val="20377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標題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9F1AA22D-C4A1-4A6D-93EA-C24440AC0C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83968" y="3075807"/>
            <a:ext cx="4668270" cy="990314"/>
          </a:xfrm>
          <a:prstGeom prst="rect">
            <a:avLst/>
          </a:prstGeom>
        </p:spPr>
        <p:txBody>
          <a:bodyPr anchor="b"/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1714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─"/>
              <a:defRPr lang="zh-TW" altLang="en-US" sz="1050" b="0" kern="1200" baseline="0" dirty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副標</a:t>
            </a:r>
          </a:p>
        </p:txBody>
      </p:sp>
    </p:spTree>
    <p:extLst>
      <p:ext uri="{BB962C8B-B14F-4D97-AF65-F5344CB8AC3E}">
        <p14:creationId xmlns:p14="http://schemas.microsoft.com/office/powerpoint/2010/main" val="3353545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8854" y="427411"/>
            <a:ext cx="7605553" cy="264977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1600" b="1" baseline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29" name="文字版面配置區 28">
            <a:extLst>
              <a:ext uri="{FF2B5EF4-FFF2-40B4-BE49-F238E27FC236}">
                <a16:creationId xmlns:a16="http://schemas.microsoft.com/office/drawing/2014/main" id="{2403BD32-AD2B-4ECA-9F9E-AFDD6DF0F6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175" y="212009"/>
            <a:ext cx="5904507" cy="1689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zh-TW" altLang="en-US" dirty="0"/>
              <a:t>章節標題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D784E79-15C7-44BF-8673-4AAFB91539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415908"/>
            <a:ext cx="504800" cy="28798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rgbClr val="005087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altLang="zh-TW" dirty="0"/>
              <a:t>00</a:t>
            </a:r>
            <a:endParaRPr lang="zh-TW" altLang="en-US" dirty="0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54AB4BA-8DF0-4350-8881-121E4F794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855534"/>
            <a:ext cx="717094" cy="274637"/>
          </a:xfrm>
        </p:spPr>
        <p:txBody>
          <a:bodyPr/>
          <a:lstStyle/>
          <a:p>
            <a:fld id="{16BB1EDA-9669-4099-AA83-49C2D8E17945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72FC885-DCFB-4AB6-BEF3-5D15E592BE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512" y="4855534"/>
            <a:ext cx="7657256" cy="27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TW" altLang="en-US" sz="1200" b="1" kern="1200" baseline="0" dirty="0" smtClean="0">
                <a:solidFill>
                  <a:srgbClr val="222A35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>
              <a:defRPr lang="zh-TW" altLang="en-US" sz="1200" kern="1200" baseline="0" dirty="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>
              <a:defRPr lang="zh-TW" altLang="en-US" sz="1200" kern="1200" baseline="0" dirty="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>
              <a:defRPr lang="zh-TW" altLang="en-US" sz="1200" kern="1200" baseline="0" dirty="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>
              <a:defRPr lang="zh-TW" altLang="en-US" sz="1200" kern="1200" baseline="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補充：</a:t>
            </a:r>
          </a:p>
        </p:txBody>
      </p:sp>
    </p:spTree>
    <p:extLst>
      <p:ext uri="{BB962C8B-B14F-4D97-AF65-F5344CB8AC3E}">
        <p14:creationId xmlns:p14="http://schemas.microsoft.com/office/powerpoint/2010/main" val="713178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">
          <p15:clr>
            <a:srgbClr val="FBAE40"/>
          </p15:clr>
        </p15:guide>
        <p15:guide id="2" orient="horz" pos="123">
          <p15:clr>
            <a:srgbClr val="FBAE40"/>
          </p15:clr>
        </p15:guide>
        <p15:guide id="3" pos="385">
          <p15:clr>
            <a:srgbClr val="FBAE40"/>
          </p15:clr>
        </p15:guide>
        <p15:guide id="4" orient="horz" pos="453">
          <p15:clr>
            <a:srgbClr val="A4A3A4"/>
          </p15:clr>
        </p15:guide>
        <p15:guide id="5" orient="horz" pos="3049">
          <p15:clr>
            <a:srgbClr val="A4A3A4"/>
          </p15:clr>
        </p15:guide>
        <p15:guide id="6" orient="horz" pos="1756">
          <p15:clr>
            <a:srgbClr val="A4A3A4"/>
          </p15:clr>
        </p15:guide>
        <p15:guide id="7" pos="2880">
          <p15:clr>
            <a:srgbClr val="A4A3A4"/>
          </p15:clr>
        </p15:guide>
        <p15:guide id="8" pos="4332">
          <p15:clr>
            <a:srgbClr val="FBAE40"/>
          </p15:clr>
        </p15:guide>
        <p15:guide id="9" pos="1429">
          <p15:clr>
            <a:srgbClr val="FBAE40"/>
          </p15:clr>
        </p15:guide>
        <p15:guide id="10" pos="537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訂版面配置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3CF6C126-2091-442A-8707-73E506485F1A}"/>
              </a:ext>
            </a:extLst>
          </p:cNvPr>
          <p:cNvSpPr/>
          <p:nvPr userDrawn="1"/>
        </p:nvSpPr>
        <p:spPr>
          <a:xfrm>
            <a:off x="0" y="3997762"/>
            <a:ext cx="9144000" cy="11540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C951A8-A593-4DDA-8C3F-9EA5701026AF}"/>
              </a:ext>
            </a:extLst>
          </p:cNvPr>
          <p:cNvSpPr/>
          <p:nvPr userDrawn="1"/>
        </p:nvSpPr>
        <p:spPr>
          <a:xfrm>
            <a:off x="0" y="0"/>
            <a:ext cx="9144000" cy="3997762"/>
          </a:xfrm>
          <a:prstGeom prst="rect">
            <a:avLst/>
          </a:prstGeom>
          <a:gradFill>
            <a:gsLst>
              <a:gs pos="0">
                <a:srgbClr val="2D4CA3"/>
              </a:gs>
              <a:gs pos="100000">
                <a:srgbClr val="20377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文字版面配置區 12">
            <a:extLst>
              <a:ext uri="{FF2B5EF4-FFF2-40B4-BE49-F238E27FC236}">
                <a16:creationId xmlns:a16="http://schemas.microsoft.com/office/drawing/2014/main" id="{2E2F49E4-11F3-4F32-8FF5-BD22448CBD9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39552" y="4458774"/>
            <a:ext cx="3312368" cy="2154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TW" altLang="en-US" dirty="0"/>
              <a:t>小說明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A3D41407-D0F9-4A7E-A3A3-FF69A65CB865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27584" y="2655390"/>
            <a:ext cx="7488832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1">
                <a:solidFill>
                  <a:srgbClr val="EBF0EC"/>
                </a:solidFill>
              </a:defRPr>
            </a:lvl1pPr>
          </a:lstStyle>
          <a:p>
            <a:pPr lvl="0"/>
            <a:r>
              <a:rPr lang="zh-TW" altLang="en-US" dirty="0"/>
              <a:t>大標題</a:t>
            </a:r>
            <a:endParaRPr lang="en-US" altLang="zh-TW" dirty="0"/>
          </a:p>
        </p:txBody>
      </p:sp>
      <p:sp>
        <p:nvSpPr>
          <p:cNvPr id="17" name="文字版面配置區 15">
            <a:extLst>
              <a:ext uri="{FF2B5EF4-FFF2-40B4-BE49-F238E27FC236}">
                <a16:creationId xmlns:a16="http://schemas.microsoft.com/office/drawing/2014/main" id="{3740C271-FFCE-4A58-8CC9-1C8539C19FF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827584" y="2221164"/>
            <a:ext cx="7488832" cy="26305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1">
                <a:solidFill>
                  <a:srgbClr val="EBF0EC"/>
                </a:solidFill>
              </a:defRPr>
            </a:lvl1pPr>
          </a:lstStyle>
          <a:p>
            <a:pPr lvl="0"/>
            <a:r>
              <a:rPr lang="zh-TW" altLang="en-US" dirty="0"/>
              <a:t>小標題</a:t>
            </a:r>
            <a:endParaRPr lang="en-US" altLang="zh-TW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57C9A6-E8D3-4DE4-A72B-ED720C68A9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2510"/>
            <a:ext cx="9144000" cy="236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0" name="直線接點 199">
            <a:extLst>
              <a:ext uri="{FF2B5EF4-FFF2-40B4-BE49-F238E27FC236}">
                <a16:creationId xmlns:a16="http://schemas.microsoft.com/office/drawing/2014/main" id="{94077BF5-4C53-47CB-86CE-5FDD242EAE8F}"/>
              </a:ext>
            </a:extLst>
          </p:cNvPr>
          <p:cNvCxnSpPr>
            <a:cxnSpLocks/>
          </p:cNvCxnSpPr>
          <p:nvPr userDrawn="1"/>
        </p:nvCxnSpPr>
        <p:spPr>
          <a:xfrm>
            <a:off x="3392826" y="2583382"/>
            <a:ext cx="2358348" cy="0"/>
          </a:xfrm>
          <a:prstGeom prst="line">
            <a:avLst/>
          </a:prstGeom>
          <a:ln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247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EF2C413-4E90-406C-9E05-C8F630E0A157}"/>
              </a:ext>
            </a:extLst>
          </p:cNvPr>
          <p:cNvSpPr/>
          <p:nvPr userDrawn="1"/>
        </p:nvSpPr>
        <p:spPr>
          <a:xfrm>
            <a:off x="0" y="0"/>
            <a:ext cx="3128963" cy="5143500"/>
          </a:xfrm>
          <a:prstGeom prst="rect">
            <a:avLst/>
          </a:prstGeom>
          <a:gradFill>
            <a:gsLst>
              <a:gs pos="0">
                <a:srgbClr val="203775"/>
              </a:gs>
              <a:gs pos="100000">
                <a:srgbClr val="27428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/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89C55968-CAC0-4FFE-8546-06564D46AA6C}"/>
              </a:ext>
            </a:extLst>
          </p:cNvPr>
          <p:cNvCxnSpPr/>
          <p:nvPr userDrawn="1"/>
        </p:nvCxnSpPr>
        <p:spPr>
          <a:xfrm>
            <a:off x="1346298" y="3178969"/>
            <a:ext cx="1585913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B4495625-5509-489F-B701-99E603FB5CDE}"/>
              </a:ext>
            </a:extLst>
          </p:cNvPr>
          <p:cNvSpPr/>
          <p:nvPr userDrawn="1"/>
        </p:nvSpPr>
        <p:spPr>
          <a:xfrm>
            <a:off x="1059135" y="2105466"/>
            <a:ext cx="2160240" cy="9449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TW" sz="2700" b="1" kern="1200" dirty="0">
                <a:solidFill>
                  <a:srgbClr val="203775"/>
                </a:solidFill>
                <a:latin typeface="+mj-lt"/>
                <a:ea typeface="+mj-ea"/>
                <a:cs typeface="+mj-cs"/>
              </a:rPr>
              <a:t>Contents</a:t>
            </a:r>
            <a:endParaRPr lang="zh-TW" altLang="en-US" sz="2700" b="1" kern="1200" dirty="0">
              <a:solidFill>
                <a:srgbClr val="203775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246B12-A54A-4DB8-863E-F9F20D81D3F9}"/>
              </a:ext>
            </a:extLst>
          </p:cNvPr>
          <p:cNvSpPr/>
          <p:nvPr userDrawn="1"/>
        </p:nvSpPr>
        <p:spPr>
          <a:xfrm>
            <a:off x="4512469" y="642937"/>
            <a:ext cx="716756" cy="716756"/>
          </a:xfrm>
          <a:prstGeom prst="rect">
            <a:avLst/>
          </a:prstGeom>
          <a:solidFill>
            <a:srgbClr val="27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solidFill>
                  <a:srgbClr val="EAEAEA"/>
                </a:solidFill>
              </a:rPr>
              <a:t>01</a:t>
            </a:r>
            <a:endParaRPr lang="zh-TW" altLang="en-US" sz="1100" b="1" dirty="0">
              <a:solidFill>
                <a:srgbClr val="EAEAEA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2EC642-0650-4C90-9014-1D340E6D94EB}"/>
              </a:ext>
            </a:extLst>
          </p:cNvPr>
          <p:cNvSpPr/>
          <p:nvPr userDrawn="1"/>
        </p:nvSpPr>
        <p:spPr>
          <a:xfrm>
            <a:off x="4512469" y="1688281"/>
            <a:ext cx="716756" cy="716756"/>
          </a:xfrm>
          <a:prstGeom prst="rect">
            <a:avLst/>
          </a:prstGeom>
          <a:solidFill>
            <a:srgbClr val="27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solidFill>
                  <a:srgbClr val="EAEAEA"/>
                </a:solidFill>
              </a:rPr>
              <a:t>02</a:t>
            </a:r>
            <a:endParaRPr lang="zh-TW" altLang="en-US" sz="1100" b="1" dirty="0">
              <a:solidFill>
                <a:srgbClr val="EAEAEA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D70D20E-7762-4D53-BC10-74D52FF3FF10}"/>
              </a:ext>
            </a:extLst>
          </p:cNvPr>
          <p:cNvSpPr/>
          <p:nvPr userDrawn="1"/>
        </p:nvSpPr>
        <p:spPr>
          <a:xfrm>
            <a:off x="4512469" y="2733628"/>
            <a:ext cx="716756" cy="716756"/>
          </a:xfrm>
          <a:prstGeom prst="rect">
            <a:avLst/>
          </a:prstGeom>
          <a:solidFill>
            <a:srgbClr val="27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solidFill>
                  <a:srgbClr val="EAEAEA"/>
                </a:solidFill>
              </a:rPr>
              <a:t>03</a:t>
            </a:r>
            <a:endParaRPr lang="zh-TW" altLang="en-US" sz="1100" b="1" dirty="0">
              <a:solidFill>
                <a:srgbClr val="EAEAEA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97A0DEA-ACF4-42FF-9246-574B819D8D18}"/>
              </a:ext>
            </a:extLst>
          </p:cNvPr>
          <p:cNvSpPr/>
          <p:nvPr userDrawn="1"/>
        </p:nvSpPr>
        <p:spPr>
          <a:xfrm>
            <a:off x="4512469" y="3778973"/>
            <a:ext cx="716756" cy="716756"/>
          </a:xfrm>
          <a:prstGeom prst="rect">
            <a:avLst/>
          </a:prstGeom>
          <a:solidFill>
            <a:srgbClr val="27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solidFill>
                  <a:srgbClr val="EAEAEA"/>
                </a:solidFill>
              </a:rPr>
              <a:t>04</a:t>
            </a:r>
            <a:endParaRPr lang="zh-TW" altLang="en-US" sz="1100" b="1" dirty="0">
              <a:solidFill>
                <a:srgbClr val="EAEAEA"/>
              </a:solidFill>
            </a:endParaRPr>
          </a:p>
        </p:txBody>
      </p:sp>
      <p:sp>
        <p:nvSpPr>
          <p:cNvPr id="24" name="文字版面配置區 12">
            <a:extLst>
              <a:ext uri="{FF2B5EF4-FFF2-40B4-BE49-F238E27FC236}">
                <a16:creationId xmlns:a16="http://schemas.microsoft.com/office/drawing/2014/main" id="{D46F7F0F-A35B-4B1C-8A31-0D08ED7D9B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0049" y="847325"/>
            <a:ext cx="3399197" cy="3079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100" b="1" baseline="0">
                <a:solidFill>
                  <a:srgbClr val="60606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輸入標題</a:t>
            </a:r>
          </a:p>
        </p:txBody>
      </p:sp>
      <p:sp>
        <p:nvSpPr>
          <p:cNvPr id="25" name="文字版面配置區 12">
            <a:extLst>
              <a:ext uri="{FF2B5EF4-FFF2-40B4-BE49-F238E27FC236}">
                <a16:creationId xmlns:a16="http://schemas.microsoft.com/office/drawing/2014/main" id="{6B9B2E2B-56EC-4E33-BDC9-2CF2809CF2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10048" y="1892670"/>
            <a:ext cx="3399197" cy="3079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100" b="1" baseline="0">
                <a:solidFill>
                  <a:srgbClr val="60606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輸入標題</a:t>
            </a:r>
          </a:p>
        </p:txBody>
      </p:sp>
      <p:sp>
        <p:nvSpPr>
          <p:cNvPr id="26" name="文字版面配置區 12">
            <a:extLst>
              <a:ext uri="{FF2B5EF4-FFF2-40B4-BE49-F238E27FC236}">
                <a16:creationId xmlns:a16="http://schemas.microsoft.com/office/drawing/2014/main" id="{C247F091-8BF6-4499-A0AD-762BB2A29B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10049" y="2938015"/>
            <a:ext cx="3399197" cy="307979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100" b="1" baseline="0">
                <a:solidFill>
                  <a:srgbClr val="60606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輸入標題</a:t>
            </a:r>
          </a:p>
        </p:txBody>
      </p:sp>
      <p:sp>
        <p:nvSpPr>
          <p:cNvPr id="27" name="文字版面配置區 12">
            <a:extLst>
              <a:ext uri="{FF2B5EF4-FFF2-40B4-BE49-F238E27FC236}">
                <a16:creationId xmlns:a16="http://schemas.microsoft.com/office/drawing/2014/main" id="{FD6E46B4-9DA1-4585-8277-A9DEC5EA7E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048" y="3983360"/>
            <a:ext cx="3399197" cy="3079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100" b="1" baseline="0">
                <a:solidFill>
                  <a:srgbClr val="60606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輸入標題</a:t>
            </a:r>
          </a:p>
        </p:txBody>
      </p:sp>
    </p:spTree>
    <p:extLst>
      <p:ext uri="{BB962C8B-B14F-4D97-AF65-F5344CB8AC3E}">
        <p14:creationId xmlns:p14="http://schemas.microsoft.com/office/powerpoint/2010/main" val="3695210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手繪多邊形: 圖案 30">
            <a:extLst>
              <a:ext uri="{FF2B5EF4-FFF2-40B4-BE49-F238E27FC236}">
                <a16:creationId xmlns:a16="http://schemas.microsoft.com/office/drawing/2014/main" id="{8CD0A56D-54FB-4BE9-A48D-F82C13CAFB12}"/>
              </a:ext>
            </a:extLst>
          </p:cNvPr>
          <p:cNvSpPr/>
          <p:nvPr userDrawn="1"/>
        </p:nvSpPr>
        <p:spPr>
          <a:xfrm>
            <a:off x="0" y="0"/>
            <a:ext cx="3128963" cy="5143500"/>
          </a:xfrm>
          <a:custGeom>
            <a:avLst/>
            <a:gdLst>
              <a:gd name="connsiteX0" fmla="*/ 0 w 3128963"/>
              <a:gd name="connsiteY0" fmla="*/ 3939489 h 5143500"/>
              <a:gd name="connsiteX1" fmla="*/ 3128963 w 3128963"/>
              <a:gd name="connsiteY1" fmla="*/ 3939489 h 5143500"/>
              <a:gd name="connsiteX2" fmla="*/ 3128963 w 3128963"/>
              <a:gd name="connsiteY2" fmla="*/ 5143500 h 5143500"/>
              <a:gd name="connsiteX3" fmla="*/ 0 w 3128963"/>
              <a:gd name="connsiteY3" fmla="*/ 5143500 h 5143500"/>
              <a:gd name="connsiteX4" fmla="*/ 0 w 3128963"/>
              <a:gd name="connsiteY4" fmla="*/ 0 h 5143500"/>
              <a:gd name="connsiteX5" fmla="*/ 3128963 w 3128963"/>
              <a:gd name="connsiteY5" fmla="*/ 0 h 5143500"/>
              <a:gd name="connsiteX6" fmla="*/ 3128963 w 3128963"/>
              <a:gd name="connsiteY6" fmla="*/ 2994580 h 5143500"/>
              <a:gd name="connsiteX7" fmla="*/ 0 w 3128963"/>
              <a:gd name="connsiteY7" fmla="*/ 299458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8963" h="5143500">
                <a:moveTo>
                  <a:pt x="0" y="3939489"/>
                </a:moveTo>
                <a:lnTo>
                  <a:pt x="3128963" y="3939489"/>
                </a:lnTo>
                <a:lnTo>
                  <a:pt x="3128963" y="5143500"/>
                </a:lnTo>
                <a:lnTo>
                  <a:pt x="0" y="5143500"/>
                </a:lnTo>
                <a:close/>
                <a:moveTo>
                  <a:pt x="0" y="0"/>
                </a:moveTo>
                <a:lnTo>
                  <a:pt x="3128963" y="0"/>
                </a:lnTo>
                <a:lnTo>
                  <a:pt x="3128963" y="2994580"/>
                </a:lnTo>
                <a:lnTo>
                  <a:pt x="0" y="2994580"/>
                </a:lnTo>
                <a:close/>
              </a:path>
            </a:pathLst>
          </a:custGeom>
          <a:gradFill>
            <a:gsLst>
              <a:gs pos="0">
                <a:srgbClr val="203775"/>
              </a:gs>
              <a:gs pos="100000">
                <a:srgbClr val="27428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 sz="1013"/>
          </a:p>
        </p:txBody>
      </p:sp>
      <p:sp>
        <p:nvSpPr>
          <p:cNvPr id="24" name="文字版面配置區 12">
            <a:extLst>
              <a:ext uri="{FF2B5EF4-FFF2-40B4-BE49-F238E27FC236}">
                <a16:creationId xmlns:a16="http://schemas.microsoft.com/office/drawing/2014/main" id="{D46F7F0F-A35B-4B1C-8A31-0D08ED7D9B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8025" y="520010"/>
            <a:ext cx="3399197" cy="3079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800" b="1" baseline="0">
                <a:solidFill>
                  <a:srgbClr val="606060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輸入標題</a:t>
            </a:r>
          </a:p>
        </p:txBody>
      </p:sp>
      <p:sp>
        <p:nvSpPr>
          <p:cNvPr id="25" name="文字版面配置區 12">
            <a:extLst>
              <a:ext uri="{FF2B5EF4-FFF2-40B4-BE49-F238E27FC236}">
                <a16:creationId xmlns:a16="http://schemas.microsoft.com/office/drawing/2014/main" id="{6B9B2E2B-56EC-4E33-BDC9-2CF2809CF2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88024" y="1416260"/>
            <a:ext cx="3399197" cy="3079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800" b="1" baseline="0">
                <a:solidFill>
                  <a:srgbClr val="606060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輸入標題</a:t>
            </a:r>
          </a:p>
        </p:txBody>
      </p:sp>
      <p:sp>
        <p:nvSpPr>
          <p:cNvPr id="26" name="文字版面配置區 12">
            <a:extLst>
              <a:ext uri="{FF2B5EF4-FFF2-40B4-BE49-F238E27FC236}">
                <a16:creationId xmlns:a16="http://schemas.microsoft.com/office/drawing/2014/main" id="{C247F091-8BF6-4499-A0AD-762BB2A29B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88025" y="2312508"/>
            <a:ext cx="3399197" cy="307979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sz="1800" b="1" baseline="0">
                <a:solidFill>
                  <a:srgbClr val="606060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輸入標題</a:t>
            </a:r>
          </a:p>
        </p:txBody>
      </p:sp>
      <p:sp>
        <p:nvSpPr>
          <p:cNvPr id="27" name="文字版面配置區 12">
            <a:extLst>
              <a:ext uri="{FF2B5EF4-FFF2-40B4-BE49-F238E27FC236}">
                <a16:creationId xmlns:a16="http://schemas.microsoft.com/office/drawing/2014/main" id="{FD6E46B4-9DA1-4585-8277-A9DEC5EA7E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88024" y="3208757"/>
            <a:ext cx="3399197" cy="3079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800" b="1" baseline="0">
                <a:solidFill>
                  <a:srgbClr val="606060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輸入標題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246B12-A54A-4DB8-863E-F9F20D81D3F9}"/>
              </a:ext>
            </a:extLst>
          </p:cNvPr>
          <p:cNvSpPr/>
          <p:nvPr userDrawn="1"/>
        </p:nvSpPr>
        <p:spPr>
          <a:xfrm>
            <a:off x="4166239" y="515646"/>
            <a:ext cx="527210" cy="527210"/>
          </a:xfrm>
          <a:prstGeom prst="rect">
            <a:avLst/>
          </a:prstGeom>
          <a:solidFill>
            <a:srgbClr val="27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bg1"/>
                </a:solidFill>
              </a:rPr>
              <a:t>01</a:t>
            </a:r>
            <a:endParaRPr lang="zh-TW" altLang="en-US" sz="1000" b="1" dirty="0">
              <a:solidFill>
                <a:schemeClr val="bg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2EC642-0650-4C90-9014-1D340E6D94EB}"/>
              </a:ext>
            </a:extLst>
          </p:cNvPr>
          <p:cNvSpPr/>
          <p:nvPr userDrawn="1"/>
        </p:nvSpPr>
        <p:spPr>
          <a:xfrm>
            <a:off x="4166239" y="1411895"/>
            <a:ext cx="527210" cy="527210"/>
          </a:xfrm>
          <a:prstGeom prst="rect">
            <a:avLst/>
          </a:prstGeom>
          <a:solidFill>
            <a:srgbClr val="27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bg1"/>
                </a:solidFill>
              </a:rPr>
              <a:t>02</a:t>
            </a:r>
            <a:endParaRPr lang="zh-TW" altLang="en-US" sz="1000" b="1" dirty="0">
              <a:solidFill>
                <a:schemeClr val="bg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D70D20E-7762-4D53-BC10-74D52FF3FF10}"/>
              </a:ext>
            </a:extLst>
          </p:cNvPr>
          <p:cNvSpPr/>
          <p:nvPr userDrawn="1"/>
        </p:nvSpPr>
        <p:spPr>
          <a:xfrm>
            <a:off x="4166239" y="2308144"/>
            <a:ext cx="527210" cy="527210"/>
          </a:xfrm>
          <a:prstGeom prst="rect">
            <a:avLst/>
          </a:prstGeom>
          <a:solidFill>
            <a:srgbClr val="27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bg1"/>
                </a:solidFill>
              </a:rPr>
              <a:t>03</a:t>
            </a:r>
            <a:endParaRPr lang="zh-TW" altLang="en-US" sz="1000" b="1" dirty="0">
              <a:solidFill>
                <a:schemeClr val="bg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97A0DEA-ACF4-42FF-9246-574B819D8D18}"/>
              </a:ext>
            </a:extLst>
          </p:cNvPr>
          <p:cNvSpPr/>
          <p:nvPr userDrawn="1"/>
        </p:nvSpPr>
        <p:spPr>
          <a:xfrm>
            <a:off x="4166239" y="3204393"/>
            <a:ext cx="527210" cy="527210"/>
          </a:xfrm>
          <a:prstGeom prst="rect">
            <a:avLst/>
          </a:prstGeom>
          <a:solidFill>
            <a:srgbClr val="27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bg1"/>
                </a:solidFill>
              </a:rPr>
              <a:t>04</a:t>
            </a:r>
            <a:endParaRPr lang="zh-TW" altLang="en-US" sz="1000" b="1" dirty="0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016FEDB-565D-48DF-B116-2A39CAC8B87A}"/>
              </a:ext>
            </a:extLst>
          </p:cNvPr>
          <p:cNvSpPr/>
          <p:nvPr userDrawn="1"/>
        </p:nvSpPr>
        <p:spPr>
          <a:xfrm>
            <a:off x="4166239" y="4100643"/>
            <a:ext cx="527210" cy="527210"/>
          </a:xfrm>
          <a:prstGeom prst="rect">
            <a:avLst/>
          </a:prstGeom>
          <a:solidFill>
            <a:srgbClr val="2742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bg1"/>
                </a:solidFill>
              </a:rPr>
              <a:t>05</a:t>
            </a:r>
            <a:endParaRPr lang="zh-TW" altLang="en-US" sz="1000" b="1" dirty="0">
              <a:solidFill>
                <a:schemeClr val="bg1"/>
              </a:solidFill>
            </a:endParaRPr>
          </a:p>
        </p:txBody>
      </p:sp>
      <p:sp>
        <p:nvSpPr>
          <p:cNvPr id="17" name="文字版面配置區 12">
            <a:extLst>
              <a:ext uri="{FF2B5EF4-FFF2-40B4-BE49-F238E27FC236}">
                <a16:creationId xmlns:a16="http://schemas.microsoft.com/office/drawing/2014/main" id="{EE4D3AA1-5D4A-48CE-936D-73134A76A0FD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88024" y="4105009"/>
            <a:ext cx="3399197" cy="3079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800" b="1" baseline="0">
                <a:solidFill>
                  <a:srgbClr val="606060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輸入標題</a:t>
            </a: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89C55968-CAC0-4FFE-8546-06564D46AA6C}"/>
              </a:ext>
            </a:extLst>
          </p:cNvPr>
          <p:cNvCxnSpPr>
            <a:cxnSpLocks/>
          </p:cNvCxnSpPr>
          <p:nvPr userDrawn="1"/>
        </p:nvCxnSpPr>
        <p:spPr>
          <a:xfrm>
            <a:off x="771525" y="4068083"/>
            <a:ext cx="1585913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E3795EF1-152A-41FA-A829-96E991A82986}"/>
              </a:ext>
            </a:extLst>
          </p:cNvPr>
          <p:cNvSpPr/>
          <p:nvPr userDrawn="1"/>
        </p:nvSpPr>
        <p:spPr>
          <a:xfrm>
            <a:off x="0" y="2994580"/>
            <a:ext cx="3128963" cy="9449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TW" sz="2700" b="1" kern="1200" dirty="0">
                <a:solidFill>
                  <a:srgbClr val="203775"/>
                </a:solidFill>
                <a:latin typeface="+mj-lt"/>
                <a:ea typeface="+mj-ea"/>
                <a:cs typeface="+mj-cs"/>
              </a:rPr>
              <a:t>Contents</a:t>
            </a:r>
            <a:endParaRPr lang="zh-TW" altLang="en-US" sz="2700" b="1" kern="1200" dirty="0">
              <a:solidFill>
                <a:srgbClr val="203775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2" name="文字版面配置區 12">
            <a:extLst>
              <a:ext uri="{FF2B5EF4-FFF2-40B4-BE49-F238E27FC236}">
                <a16:creationId xmlns:a16="http://schemas.microsoft.com/office/drawing/2014/main" id="{BA2B4E76-E379-4FD9-9698-B6B565F57D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88024" y="767439"/>
            <a:ext cx="3399197" cy="3079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200" b="0" baseline="0">
                <a:solidFill>
                  <a:srgbClr val="606060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輸入標題</a:t>
            </a:r>
          </a:p>
        </p:txBody>
      </p:sp>
      <p:sp>
        <p:nvSpPr>
          <p:cNvPr id="33" name="文字版面配置區 12">
            <a:extLst>
              <a:ext uri="{FF2B5EF4-FFF2-40B4-BE49-F238E27FC236}">
                <a16:creationId xmlns:a16="http://schemas.microsoft.com/office/drawing/2014/main" id="{59D9BBEE-E96C-480D-A636-FB60024BD67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88023" y="1663689"/>
            <a:ext cx="3399197" cy="3079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200" b="0" baseline="0">
                <a:solidFill>
                  <a:srgbClr val="606060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輸入標題</a:t>
            </a:r>
          </a:p>
        </p:txBody>
      </p:sp>
      <p:sp>
        <p:nvSpPr>
          <p:cNvPr id="34" name="文字版面配置區 12">
            <a:extLst>
              <a:ext uri="{FF2B5EF4-FFF2-40B4-BE49-F238E27FC236}">
                <a16:creationId xmlns:a16="http://schemas.microsoft.com/office/drawing/2014/main" id="{081317C1-3C56-4E26-BF46-443AB7459F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88024" y="2559937"/>
            <a:ext cx="3399197" cy="307979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sz="1200" b="0" baseline="0">
                <a:solidFill>
                  <a:srgbClr val="606060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輸入標題</a:t>
            </a:r>
          </a:p>
        </p:txBody>
      </p:sp>
      <p:sp>
        <p:nvSpPr>
          <p:cNvPr id="35" name="文字版面配置區 12">
            <a:extLst>
              <a:ext uri="{FF2B5EF4-FFF2-40B4-BE49-F238E27FC236}">
                <a16:creationId xmlns:a16="http://schemas.microsoft.com/office/drawing/2014/main" id="{C50BE793-F031-465C-8108-6F3D161653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88023" y="3456186"/>
            <a:ext cx="3399197" cy="3079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200" b="0" baseline="0">
                <a:solidFill>
                  <a:srgbClr val="606060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輸入標題</a:t>
            </a:r>
          </a:p>
        </p:txBody>
      </p:sp>
      <p:sp>
        <p:nvSpPr>
          <p:cNvPr id="36" name="文字版面配置區 12">
            <a:extLst>
              <a:ext uri="{FF2B5EF4-FFF2-40B4-BE49-F238E27FC236}">
                <a16:creationId xmlns:a16="http://schemas.microsoft.com/office/drawing/2014/main" id="{F6053638-938D-4711-8430-F1E7F5A212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88023" y="4352438"/>
            <a:ext cx="3399197" cy="3079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200" b="0" baseline="0">
                <a:solidFill>
                  <a:srgbClr val="606060"/>
                </a:solidFill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輸入標題</a:t>
            </a:r>
          </a:p>
        </p:txBody>
      </p:sp>
    </p:spTree>
    <p:extLst>
      <p:ext uri="{BB962C8B-B14F-4D97-AF65-F5344CB8AC3E}">
        <p14:creationId xmlns:p14="http://schemas.microsoft.com/office/powerpoint/2010/main" val="101189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1549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0BB44A65-B63F-4A60-A556-C1293A6681F1}"/>
              </a:ext>
            </a:extLst>
          </p:cNvPr>
          <p:cNvGrpSpPr/>
          <p:nvPr userDrawn="1"/>
        </p:nvGrpSpPr>
        <p:grpSpPr>
          <a:xfrm>
            <a:off x="2926080" y="2139702"/>
            <a:ext cx="3291840" cy="955681"/>
            <a:chOff x="2926080" y="2139702"/>
            <a:chExt cx="3291840" cy="955681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C737C212-2507-40A8-9F3D-DB9EA6BDBE82}"/>
                </a:ext>
              </a:extLst>
            </p:cNvPr>
            <p:cNvSpPr txBox="1"/>
            <p:nvPr userDrawn="1"/>
          </p:nvSpPr>
          <p:spPr>
            <a:xfrm>
              <a:off x="2926080" y="2139702"/>
              <a:ext cx="329184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2800" b="1" dirty="0">
                  <a:solidFill>
                    <a:srgbClr val="0033A0"/>
                  </a:solidFill>
                  <a:latin typeface="+mj-ea"/>
                  <a:ea typeface="+mj-ea"/>
                  <a:cs typeface="Roboto" panose="02000000000000000000" pitchFamily="2" charset="0"/>
                </a:rPr>
                <a:t>感謝聆聽</a:t>
              </a:r>
            </a:p>
          </p:txBody>
        </p:sp>
        <p:cxnSp>
          <p:nvCxnSpPr>
            <p:cNvPr id="6" name="直接连接符 6">
              <a:extLst>
                <a:ext uri="{FF2B5EF4-FFF2-40B4-BE49-F238E27FC236}">
                  <a16:creationId xmlns:a16="http://schemas.microsoft.com/office/drawing/2014/main" id="{DFB5AC0A-9B33-4A7A-A164-2B06AE519F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111272" y="2699430"/>
              <a:ext cx="2921456" cy="0"/>
            </a:xfrm>
            <a:prstGeom prst="line">
              <a:avLst/>
            </a:prstGeom>
            <a:ln w="19050">
              <a:solidFill>
                <a:srgbClr val="0033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8CE1E3B-0956-4710-A4C0-222C74087F42}"/>
                </a:ext>
              </a:extLst>
            </p:cNvPr>
            <p:cNvSpPr/>
            <p:nvPr userDrawn="1"/>
          </p:nvSpPr>
          <p:spPr>
            <a:xfrm>
              <a:off x="3695799" y="2787621"/>
              <a:ext cx="1752403" cy="307762"/>
            </a:xfrm>
            <a:prstGeom prst="rect">
              <a:avLst/>
            </a:prstGeom>
          </p:spPr>
          <p:txBody>
            <a:bodyPr wrap="square" lIns="91428" tIns="45713" rIns="91428" bIns="45713" anchor="ctr">
              <a:spAutoFit/>
            </a:bodyPr>
            <a:lstStyle/>
            <a:p>
              <a:pPr algn="ctr">
                <a:defRPr/>
              </a:pPr>
              <a:r>
                <a:rPr lang="zh-CN" altLang="en-US" sz="1400" dirty="0">
                  <a:solidFill>
                    <a:srgbClr val="0033A0"/>
                  </a:solidFill>
                  <a:latin typeface="+mj-ea"/>
                  <a:ea typeface="+mj-ea"/>
                  <a:cs typeface="Roboto" panose="02000000000000000000" pitchFamily="2" charset="0"/>
                </a:rPr>
                <a:t>懇請給予指教</a:t>
              </a:r>
              <a:endParaRPr lang="en-US" altLang="zh-CN" sz="1400" dirty="0">
                <a:solidFill>
                  <a:srgbClr val="0033A0"/>
                </a:solidFill>
                <a:latin typeface="+mj-ea"/>
                <a:ea typeface="+mj-ea"/>
                <a:cs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3864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DnDiag">
          <a:fgClr>
            <a:srgbClr val="F5F5F5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>
            <a:extLst>
              <a:ext uri="{FF2B5EF4-FFF2-40B4-BE49-F238E27FC236}">
                <a16:creationId xmlns:a16="http://schemas.microsoft.com/office/drawing/2014/main" id="{C4FE4126-2AED-4A35-B75E-1DDF4D086C47}"/>
              </a:ext>
            </a:extLst>
          </p:cNvPr>
          <p:cNvGrpSpPr/>
          <p:nvPr userDrawn="1"/>
        </p:nvGrpSpPr>
        <p:grpSpPr>
          <a:xfrm>
            <a:off x="251520" y="722936"/>
            <a:ext cx="8709290" cy="0"/>
            <a:chOff x="251520" y="637406"/>
            <a:chExt cx="8709290" cy="0"/>
          </a:xfrm>
        </p:grpSpPr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CB638F20-5271-4F92-9E58-3CB7B5CE28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51081" y="637406"/>
              <a:ext cx="8409729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F5D83C81-B97F-436E-BDA4-8984B64F4A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1520" y="637406"/>
              <a:ext cx="360040" cy="0"/>
            </a:xfrm>
            <a:prstGeom prst="line">
              <a:avLst/>
            </a:prstGeom>
            <a:ln w="28575">
              <a:solidFill>
                <a:srgbClr val="0050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2CF625EC-7492-4886-8324-D5EF762DEF86}"/>
              </a:ext>
            </a:extLst>
          </p:cNvPr>
          <p:cNvCxnSpPr>
            <a:cxnSpLocks/>
          </p:cNvCxnSpPr>
          <p:nvPr userDrawn="1"/>
        </p:nvCxnSpPr>
        <p:spPr>
          <a:xfrm>
            <a:off x="251520" y="4842098"/>
            <a:ext cx="870929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投影片編號版面配置區 15">
            <a:extLst>
              <a:ext uri="{FF2B5EF4-FFF2-40B4-BE49-F238E27FC236}">
                <a16:creationId xmlns:a16="http://schemas.microsoft.com/office/drawing/2014/main" id="{DDEFC470-2D26-488B-80DF-34B6167702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8970" y="48434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fld id="{16BB1EDA-9669-4099-AA83-49C2D8E1794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A8BC0D09-9612-4C6A-A70B-4BC03F8512F9}"/>
              </a:ext>
            </a:extLst>
          </p:cNvPr>
          <p:cNvGrpSpPr/>
          <p:nvPr userDrawn="1"/>
        </p:nvGrpSpPr>
        <p:grpSpPr>
          <a:xfrm>
            <a:off x="9180512" y="3895764"/>
            <a:ext cx="725212" cy="1247736"/>
            <a:chOff x="9285946" y="3895764"/>
            <a:chExt cx="725212" cy="124773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0FFA1F8-DC0E-4A65-B86B-946ED89C428A}"/>
                </a:ext>
              </a:extLst>
            </p:cNvPr>
            <p:cNvSpPr/>
            <p:nvPr userDrawn="1"/>
          </p:nvSpPr>
          <p:spPr>
            <a:xfrm>
              <a:off x="9285946" y="4927500"/>
              <a:ext cx="216000" cy="216000"/>
            </a:xfrm>
            <a:prstGeom prst="rect">
              <a:avLst/>
            </a:prstGeom>
            <a:solidFill>
              <a:srgbClr val="01B1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5613461-3B37-4A26-AE1B-8B0ABE2E8A8B}"/>
                </a:ext>
              </a:extLst>
            </p:cNvPr>
            <p:cNvSpPr/>
            <p:nvPr userDrawn="1"/>
          </p:nvSpPr>
          <p:spPr>
            <a:xfrm>
              <a:off x="9540552" y="4927500"/>
              <a:ext cx="216000" cy="216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7BFE9B4A-29DE-4063-906E-1ACF57C3D394}"/>
                </a:ext>
              </a:extLst>
            </p:cNvPr>
            <p:cNvSpPr/>
            <p:nvPr userDrawn="1"/>
          </p:nvSpPr>
          <p:spPr>
            <a:xfrm>
              <a:off x="9795158" y="4927500"/>
              <a:ext cx="216000" cy="216000"/>
            </a:xfrm>
            <a:prstGeom prst="rect">
              <a:avLst/>
            </a:prstGeom>
            <a:solidFill>
              <a:srgbClr val="2037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1FB8697-894D-43DD-B04C-1AB2940F1F8D}"/>
                </a:ext>
              </a:extLst>
            </p:cNvPr>
            <p:cNvSpPr/>
            <p:nvPr userDrawn="1"/>
          </p:nvSpPr>
          <p:spPr>
            <a:xfrm>
              <a:off x="9285946" y="4669451"/>
              <a:ext cx="216000" cy="216000"/>
            </a:xfrm>
            <a:prstGeom prst="rect">
              <a:avLst/>
            </a:prstGeom>
            <a:solidFill>
              <a:srgbClr val="E9E9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A214958E-547C-4AF6-8808-6DCF71040D83}"/>
                </a:ext>
              </a:extLst>
            </p:cNvPr>
            <p:cNvSpPr/>
            <p:nvPr userDrawn="1"/>
          </p:nvSpPr>
          <p:spPr>
            <a:xfrm>
              <a:off x="9540552" y="4669451"/>
              <a:ext cx="216000" cy="216000"/>
            </a:xfrm>
            <a:prstGeom prst="rect">
              <a:avLst/>
            </a:prstGeom>
            <a:solidFill>
              <a:srgbClr val="1943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242FF1E-6206-499D-B5D9-4DCAE90CD5D2}"/>
                </a:ext>
              </a:extLst>
            </p:cNvPr>
            <p:cNvSpPr/>
            <p:nvPr userDrawn="1"/>
          </p:nvSpPr>
          <p:spPr>
            <a:xfrm>
              <a:off x="9795158" y="4669451"/>
              <a:ext cx="216000" cy="216000"/>
            </a:xfrm>
            <a:prstGeom prst="rect">
              <a:avLst/>
            </a:prstGeom>
            <a:solidFill>
              <a:srgbClr val="EF53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BF984678-5FA2-46D2-A25E-6A325AA15F16}"/>
                </a:ext>
              </a:extLst>
            </p:cNvPr>
            <p:cNvSpPr/>
            <p:nvPr userDrawn="1"/>
          </p:nvSpPr>
          <p:spPr>
            <a:xfrm>
              <a:off x="9795158" y="4145854"/>
              <a:ext cx="216000" cy="216000"/>
            </a:xfrm>
            <a:prstGeom prst="rect">
              <a:avLst/>
            </a:prstGeom>
            <a:solidFill>
              <a:srgbClr val="4179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49D65FA2-F66D-472D-8A33-09E26237C30F}"/>
                </a:ext>
              </a:extLst>
            </p:cNvPr>
            <p:cNvSpPr/>
            <p:nvPr userDrawn="1"/>
          </p:nvSpPr>
          <p:spPr>
            <a:xfrm>
              <a:off x="9285946" y="4145854"/>
              <a:ext cx="216000" cy="216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579497BB-8EE8-47E9-A9CA-9431CAF4AFE7}"/>
                </a:ext>
              </a:extLst>
            </p:cNvPr>
            <p:cNvSpPr/>
            <p:nvPr userDrawn="1"/>
          </p:nvSpPr>
          <p:spPr>
            <a:xfrm>
              <a:off x="9540552" y="4145854"/>
              <a:ext cx="216000" cy="216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66876ECA-25A7-4808-8B08-E5B6428AE872}"/>
                </a:ext>
              </a:extLst>
            </p:cNvPr>
            <p:cNvSpPr/>
            <p:nvPr userDrawn="1"/>
          </p:nvSpPr>
          <p:spPr>
            <a:xfrm>
              <a:off x="9285946" y="3895764"/>
              <a:ext cx="216000" cy="2160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86AA391-F848-4118-B7AB-2BBF72FA52AD}"/>
                </a:ext>
              </a:extLst>
            </p:cNvPr>
            <p:cNvSpPr/>
            <p:nvPr userDrawn="1"/>
          </p:nvSpPr>
          <p:spPr>
            <a:xfrm>
              <a:off x="9795158" y="4406757"/>
              <a:ext cx="216000" cy="21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7F94CE3D-F46C-4D35-AEDA-E265CEF5BA23}"/>
                </a:ext>
              </a:extLst>
            </p:cNvPr>
            <p:cNvSpPr/>
            <p:nvPr userDrawn="1"/>
          </p:nvSpPr>
          <p:spPr>
            <a:xfrm>
              <a:off x="9540552" y="4406757"/>
              <a:ext cx="216000" cy="216000"/>
            </a:xfrm>
            <a:prstGeom prst="rect">
              <a:avLst/>
            </a:prstGeom>
            <a:solidFill>
              <a:srgbClr val="83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CB4F88B8-BD27-4198-BC42-3ED82CE12E16}"/>
                </a:ext>
              </a:extLst>
            </p:cNvPr>
            <p:cNvSpPr/>
            <p:nvPr userDrawn="1"/>
          </p:nvSpPr>
          <p:spPr>
            <a:xfrm>
              <a:off x="9285946" y="4406757"/>
              <a:ext cx="216000" cy="216000"/>
            </a:xfrm>
            <a:prstGeom prst="rect">
              <a:avLst/>
            </a:prstGeom>
            <a:solidFill>
              <a:srgbClr val="222A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27D6E285-7F33-4BFD-9CB7-79BFC04904B1}"/>
              </a:ext>
            </a:extLst>
          </p:cNvPr>
          <p:cNvGrpSpPr/>
          <p:nvPr userDrawn="1"/>
        </p:nvGrpSpPr>
        <p:grpSpPr>
          <a:xfrm>
            <a:off x="9218336" y="2906574"/>
            <a:ext cx="783798" cy="788400"/>
            <a:chOff x="8104501" y="6243365"/>
            <a:chExt cx="783798" cy="788400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FF470239-D786-4CDA-B902-79128EBA07BE}"/>
                </a:ext>
              </a:extLst>
            </p:cNvPr>
            <p:cNvSpPr/>
            <p:nvPr userDrawn="1"/>
          </p:nvSpPr>
          <p:spPr>
            <a:xfrm>
              <a:off x="8388400" y="6815765"/>
              <a:ext cx="216000" cy="216000"/>
            </a:xfrm>
            <a:prstGeom prst="rect">
              <a:avLst/>
            </a:prstGeom>
            <a:solidFill>
              <a:srgbClr val="E5E2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B7522F5B-3F19-4A91-BC8F-38FE0B059652}"/>
                </a:ext>
              </a:extLst>
            </p:cNvPr>
            <p:cNvSpPr/>
            <p:nvPr userDrawn="1"/>
          </p:nvSpPr>
          <p:spPr>
            <a:xfrm>
              <a:off x="8388400" y="6511408"/>
              <a:ext cx="216000" cy="216000"/>
            </a:xfrm>
            <a:prstGeom prst="rect">
              <a:avLst/>
            </a:prstGeom>
            <a:solidFill>
              <a:srgbClr val="E1DD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E700B86B-0CB0-4AAE-8283-0086F13225E5}"/>
                </a:ext>
              </a:extLst>
            </p:cNvPr>
            <p:cNvSpPr/>
            <p:nvPr userDrawn="1"/>
          </p:nvSpPr>
          <p:spPr>
            <a:xfrm>
              <a:off x="8388400" y="6243365"/>
              <a:ext cx="216000" cy="216000"/>
            </a:xfrm>
            <a:prstGeom prst="rect">
              <a:avLst/>
            </a:prstGeom>
            <a:solidFill>
              <a:srgbClr val="C6B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C7C718FA-3408-4864-B7C1-D6790A9E6F24}"/>
                </a:ext>
              </a:extLst>
            </p:cNvPr>
            <p:cNvSpPr/>
            <p:nvPr userDrawn="1"/>
          </p:nvSpPr>
          <p:spPr>
            <a:xfrm>
              <a:off x="8104501" y="6243365"/>
              <a:ext cx="216000" cy="2160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228A149B-28AA-407B-BBF7-1D982878BE11}"/>
                </a:ext>
              </a:extLst>
            </p:cNvPr>
            <p:cNvSpPr/>
            <p:nvPr userDrawn="1"/>
          </p:nvSpPr>
          <p:spPr>
            <a:xfrm>
              <a:off x="8104501" y="6815765"/>
              <a:ext cx="216000" cy="216000"/>
            </a:xfrm>
            <a:prstGeom prst="rect">
              <a:avLst/>
            </a:prstGeom>
            <a:solidFill>
              <a:srgbClr val="294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5F60E9C6-B8F0-4867-8E44-86BD3C80AAD0}"/>
                </a:ext>
              </a:extLst>
            </p:cNvPr>
            <p:cNvSpPr/>
            <p:nvPr userDrawn="1"/>
          </p:nvSpPr>
          <p:spPr>
            <a:xfrm>
              <a:off x="8104501" y="6511408"/>
              <a:ext cx="216000" cy="216000"/>
            </a:xfrm>
            <a:prstGeom prst="rect">
              <a:avLst/>
            </a:prstGeom>
            <a:solidFill>
              <a:srgbClr val="0425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95CA35D3-ED40-40E4-9776-23EF8FDF45E6}"/>
                </a:ext>
              </a:extLst>
            </p:cNvPr>
            <p:cNvSpPr/>
            <p:nvPr userDrawn="1"/>
          </p:nvSpPr>
          <p:spPr>
            <a:xfrm>
              <a:off x="8672299" y="6815765"/>
              <a:ext cx="216000" cy="216000"/>
            </a:xfrm>
            <a:prstGeom prst="rect">
              <a:avLst/>
            </a:prstGeom>
            <a:solidFill>
              <a:srgbClr val="6795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EFA79199-A687-463D-9965-C64713E186E0}"/>
                </a:ext>
              </a:extLst>
            </p:cNvPr>
            <p:cNvSpPr/>
            <p:nvPr userDrawn="1"/>
          </p:nvSpPr>
          <p:spPr>
            <a:xfrm>
              <a:off x="8672299" y="6511408"/>
              <a:ext cx="216000" cy="216000"/>
            </a:xfrm>
            <a:prstGeom prst="rect">
              <a:avLst/>
            </a:prstGeom>
            <a:solidFill>
              <a:srgbClr val="4C83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123AB09C-441E-4AAD-B23E-D08E3CC78A00}"/>
                </a:ext>
              </a:extLst>
            </p:cNvPr>
            <p:cNvSpPr/>
            <p:nvPr userDrawn="1"/>
          </p:nvSpPr>
          <p:spPr>
            <a:xfrm>
              <a:off x="8672299" y="6243365"/>
              <a:ext cx="216000" cy="216000"/>
            </a:xfrm>
            <a:prstGeom prst="rect">
              <a:avLst/>
            </a:prstGeom>
            <a:solidFill>
              <a:srgbClr val="2440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843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DnDiag">
          <a:fgClr>
            <a:srgbClr val="F5F5F5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邊形 6">
            <a:extLst>
              <a:ext uri="{FF2B5EF4-FFF2-40B4-BE49-F238E27FC236}">
                <a16:creationId xmlns:a16="http://schemas.microsoft.com/office/drawing/2014/main" id="{1F4C7ACB-CA29-4E50-AA90-335FFA186AA5}"/>
              </a:ext>
            </a:extLst>
          </p:cNvPr>
          <p:cNvSpPr/>
          <p:nvPr userDrawn="1"/>
        </p:nvSpPr>
        <p:spPr>
          <a:xfrm rot="5400000">
            <a:off x="549073" y="509219"/>
            <a:ext cx="2992840" cy="4090987"/>
          </a:xfrm>
          <a:prstGeom prst="parallelogram">
            <a:avLst>
              <a:gd name="adj" fmla="val 10750"/>
            </a:avLst>
          </a:prstGeom>
          <a:gradFill>
            <a:gsLst>
              <a:gs pos="0">
                <a:srgbClr val="203775"/>
              </a:gs>
              <a:gs pos="100000">
                <a:srgbClr val="2D4CA3"/>
              </a:gs>
            </a:gsLst>
            <a:lin ang="64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>
              <a:ln>
                <a:solidFill>
                  <a:sysClr val="windowText" lastClr="000000"/>
                </a:solidFill>
              </a:ln>
              <a:noFill/>
            </a:endParaRPr>
          </a:p>
        </p:txBody>
      </p:sp>
      <p:sp>
        <p:nvSpPr>
          <p:cNvPr id="10" name="平行四邊形 9">
            <a:extLst>
              <a:ext uri="{FF2B5EF4-FFF2-40B4-BE49-F238E27FC236}">
                <a16:creationId xmlns:a16="http://schemas.microsoft.com/office/drawing/2014/main" id="{DCE4C338-7205-4F08-9EEE-D651AF0533BB}"/>
              </a:ext>
            </a:extLst>
          </p:cNvPr>
          <p:cNvSpPr/>
          <p:nvPr userDrawn="1"/>
        </p:nvSpPr>
        <p:spPr>
          <a:xfrm rot="5400000">
            <a:off x="549073" y="509219"/>
            <a:ext cx="2992840" cy="4090987"/>
          </a:xfrm>
          <a:prstGeom prst="parallelogram">
            <a:avLst>
              <a:gd name="adj" fmla="val 10750"/>
            </a:avLst>
          </a:prstGeom>
          <a:noFill/>
          <a:ln w="25400">
            <a:gradFill>
              <a:gsLst>
                <a:gs pos="0">
                  <a:srgbClr val="223A7B"/>
                </a:gs>
                <a:gs pos="100000">
                  <a:srgbClr val="2D4CA3"/>
                </a:gs>
              </a:gsLst>
              <a:lin ang="64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>
              <a:ln>
                <a:solidFill>
                  <a:sysClr val="windowText" lastClr="000000"/>
                </a:solidFill>
              </a:ln>
              <a:noFill/>
            </a:endParaRPr>
          </a:p>
        </p:txBody>
      </p:sp>
      <p:sp>
        <p:nvSpPr>
          <p:cNvPr id="11" name="平行四邊形 10">
            <a:extLst>
              <a:ext uri="{FF2B5EF4-FFF2-40B4-BE49-F238E27FC236}">
                <a16:creationId xmlns:a16="http://schemas.microsoft.com/office/drawing/2014/main" id="{86DB6E84-58AD-4087-885C-7A10B13E0E3B}"/>
              </a:ext>
            </a:extLst>
          </p:cNvPr>
          <p:cNvSpPr/>
          <p:nvPr userDrawn="1"/>
        </p:nvSpPr>
        <p:spPr>
          <a:xfrm rot="5400000">
            <a:off x="549073" y="509219"/>
            <a:ext cx="2992840" cy="4090987"/>
          </a:xfrm>
          <a:prstGeom prst="parallelogram">
            <a:avLst>
              <a:gd name="adj" fmla="val 10750"/>
            </a:avLst>
          </a:prstGeom>
          <a:noFill/>
          <a:ln w="25400">
            <a:gradFill>
              <a:gsLst>
                <a:gs pos="0">
                  <a:srgbClr val="223A7B"/>
                </a:gs>
                <a:gs pos="100000">
                  <a:srgbClr val="2D4CA3"/>
                </a:gs>
              </a:gsLst>
              <a:lin ang="64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>
              <a:ln>
                <a:solidFill>
                  <a:sysClr val="windowText" lastClr="000000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663442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729" r:id="rId2"/>
    <p:sldLayoutId id="2147483730" r:id="rId3"/>
    <p:sldLayoutId id="2147483732" r:id="rId4"/>
    <p:sldLayoutId id="2147483731" r:id="rId5"/>
    <p:sldLayoutId id="214748373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DnDiag">
          <a:fgClr>
            <a:srgbClr val="F5F5F5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D86E396B-ECF6-44A0-A2AD-9E102BC8D5D5}"/>
              </a:ext>
            </a:extLst>
          </p:cNvPr>
          <p:cNvGrpSpPr/>
          <p:nvPr userDrawn="1"/>
        </p:nvGrpSpPr>
        <p:grpSpPr>
          <a:xfrm>
            <a:off x="9180512" y="3895764"/>
            <a:ext cx="725212" cy="1247736"/>
            <a:chOff x="9285946" y="3895764"/>
            <a:chExt cx="725212" cy="1247736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4702281C-BAB5-4F2E-834E-F02B87047101}"/>
                </a:ext>
              </a:extLst>
            </p:cNvPr>
            <p:cNvSpPr/>
            <p:nvPr userDrawn="1"/>
          </p:nvSpPr>
          <p:spPr>
            <a:xfrm>
              <a:off x="9285946" y="4927500"/>
              <a:ext cx="216000" cy="216000"/>
            </a:xfrm>
            <a:prstGeom prst="rect">
              <a:avLst/>
            </a:prstGeom>
            <a:solidFill>
              <a:srgbClr val="01B1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C6F2F11-9D02-4E0B-832E-37E47F0F9DFE}"/>
                </a:ext>
              </a:extLst>
            </p:cNvPr>
            <p:cNvSpPr/>
            <p:nvPr userDrawn="1"/>
          </p:nvSpPr>
          <p:spPr>
            <a:xfrm>
              <a:off x="9540552" y="4927500"/>
              <a:ext cx="216000" cy="216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FC9487C-512E-4943-8945-C0DEAC636EC2}"/>
                </a:ext>
              </a:extLst>
            </p:cNvPr>
            <p:cNvSpPr/>
            <p:nvPr userDrawn="1"/>
          </p:nvSpPr>
          <p:spPr>
            <a:xfrm>
              <a:off x="9795158" y="4927500"/>
              <a:ext cx="216000" cy="216000"/>
            </a:xfrm>
            <a:prstGeom prst="rect">
              <a:avLst/>
            </a:prstGeom>
            <a:solidFill>
              <a:srgbClr val="2037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4D013C6-82D2-4A66-BFFE-2B390001EA9E}"/>
                </a:ext>
              </a:extLst>
            </p:cNvPr>
            <p:cNvSpPr/>
            <p:nvPr userDrawn="1"/>
          </p:nvSpPr>
          <p:spPr>
            <a:xfrm>
              <a:off x="9285946" y="4669451"/>
              <a:ext cx="216000" cy="216000"/>
            </a:xfrm>
            <a:prstGeom prst="rect">
              <a:avLst/>
            </a:prstGeom>
            <a:solidFill>
              <a:srgbClr val="E9E9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B9C88831-512C-4361-8B1A-13E86D605801}"/>
                </a:ext>
              </a:extLst>
            </p:cNvPr>
            <p:cNvSpPr/>
            <p:nvPr userDrawn="1"/>
          </p:nvSpPr>
          <p:spPr>
            <a:xfrm>
              <a:off x="9540552" y="4669451"/>
              <a:ext cx="216000" cy="216000"/>
            </a:xfrm>
            <a:prstGeom prst="rect">
              <a:avLst/>
            </a:prstGeom>
            <a:solidFill>
              <a:srgbClr val="1943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23CDBDE-1C9D-44AC-8B8A-0FE1BC97C035}"/>
                </a:ext>
              </a:extLst>
            </p:cNvPr>
            <p:cNvSpPr/>
            <p:nvPr userDrawn="1"/>
          </p:nvSpPr>
          <p:spPr>
            <a:xfrm>
              <a:off x="9795158" y="4669451"/>
              <a:ext cx="216000" cy="216000"/>
            </a:xfrm>
            <a:prstGeom prst="rect">
              <a:avLst/>
            </a:prstGeom>
            <a:solidFill>
              <a:srgbClr val="EF53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0F1E647-BCDA-4945-8B5E-5E2CCC98A2CE}"/>
                </a:ext>
              </a:extLst>
            </p:cNvPr>
            <p:cNvSpPr/>
            <p:nvPr userDrawn="1"/>
          </p:nvSpPr>
          <p:spPr>
            <a:xfrm>
              <a:off x="9795158" y="4145854"/>
              <a:ext cx="216000" cy="216000"/>
            </a:xfrm>
            <a:prstGeom prst="rect">
              <a:avLst/>
            </a:prstGeom>
            <a:solidFill>
              <a:srgbClr val="4179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749EFA5-2585-4C86-AE79-187B89B3F353}"/>
                </a:ext>
              </a:extLst>
            </p:cNvPr>
            <p:cNvSpPr/>
            <p:nvPr userDrawn="1"/>
          </p:nvSpPr>
          <p:spPr>
            <a:xfrm>
              <a:off x="9285946" y="4145854"/>
              <a:ext cx="216000" cy="216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7F8BDBA-538E-46A2-A5A5-1FFE8F911C1D}"/>
                </a:ext>
              </a:extLst>
            </p:cNvPr>
            <p:cNvSpPr/>
            <p:nvPr userDrawn="1"/>
          </p:nvSpPr>
          <p:spPr>
            <a:xfrm>
              <a:off x="9540552" y="4145854"/>
              <a:ext cx="216000" cy="216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FAAD27E-84AD-49A6-97AB-81B25B080574}"/>
                </a:ext>
              </a:extLst>
            </p:cNvPr>
            <p:cNvSpPr/>
            <p:nvPr userDrawn="1"/>
          </p:nvSpPr>
          <p:spPr>
            <a:xfrm>
              <a:off x="9285946" y="3895764"/>
              <a:ext cx="216000" cy="2160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0D6C85F-93C6-4482-9FC7-1B2909710095}"/>
                </a:ext>
              </a:extLst>
            </p:cNvPr>
            <p:cNvSpPr/>
            <p:nvPr userDrawn="1"/>
          </p:nvSpPr>
          <p:spPr>
            <a:xfrm>
              <a:off x="9795158" y="4406757"/>
              <a:ext cx="216000" cy="21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0A3B45FC-C10C-400E-AC84-ED980B26A717}"/>
                </a:ext>
              </a:extLst>
            </p:cNvPr>
            <p:cNvSpPr/>
            <p:nvPr userDrawn="1"/>
          </p:nvSpPr>
          <p:spPr>
            <a:xfrm>
              <a:off x="9540552" y="4406757"/>
              <a:ext cx="216000" cy="216000"/>
            </a:xfrm>
            <a:prstGeom prst="rect">
              <a:avLst/>
            </a:prstGeom>
            <a:solidFill>
              <a:srgbClr val="8397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8BBB5ED-530A-4F50-AF0D-E344CB5FA6A6}"/>
                </a:ext>
              </a:extLst>
            </p:cNvPr>
            <p:cNvSpPr/>
            <p:nvPr userDrawn="1"/>
          </p:nvSpPr>
          <p:spPr>
            <a:xfrm>
              <a:off x="9285946" y="4406757"/>
              <a:ext cx="216000" cy="216000"/>
            </a:xfrm>
            <a:prstGeom prst="rect">
              <a:avLst/>
            </a:prstGeom>
            <a:solidFill>
              <a:srgbClr val="222A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8928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15" r:id="rId2"/>
    <p:sldLayoutId id="2147483733" r:id="rId3"/>
    <p:sldLayoutId id="2147483717" r:id="rId4"/>
    <p:sldLayoutId id="214748371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5.png"/><Relationship Id="rId7" Type="http://schemas.openxmlformats.org/officeDocument/2006/relationships/image" Target="../media/image20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31.png"/><Relationship Id="rId5" Type="http://schemas.openxmlformats.org/officeDocument/2006/relationships/image" Target="../media/image27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6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2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3" Type="http://schemas.openxmlformats.org/officeDocument/2006/relationships/image" Target="../media/image22.png"/><Relationship Id="rId7" Type="http://schemas.openxmlformats.org/officeDocument/2006/relationships/image" Target="../media/image47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49.png"/><Relationship Id="rId5" Type="http://schemas.openxmlformats.org/officeDocument/2006/relationships/image" Target="../media/image45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4" Type="http://schemas.openxmlformats.org/officeDocument/2006/relationships/image" Target="../media/image44.png"/><Relationship Id="rId9" Type="http://schemas.openxmlformats.org/officeDocument/2006/relationships/image" Target="../media/image41.png"/><Relationship Id="rId1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48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40.png"/><Relationship Id="rId5" Type="http://schemas.openxmlformats.org/officeDocument/2006/relationships/image" Target="../media/image61.png"/><Relationship Id="rId10" Type="http://schemas.openxmlformats.org/officeDocument/2006/relationships/image" Target="../media/image65.png"/><Relationship Id="rId4" Type="http://schemas.openxmlformats.org/officeDocument/2006/relationships/image" Target="../media/image60.png"/><Relationship Id="rId9" Type="http://schemas.openxmlformats.org/officeDocument/2006/relationships/image" Target="../media/image45.png"/><Relationship Id="rId1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40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70.png"/><Relationship Id="rId5" Type="http://schemas.openxmlformats.org/officeDocument/2006/relationships/image" Target="../media/image48.png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4" Type="http://schemas.openxmlformats.org/officeDocument/2006/relationships/image" Target="../media/image41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48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46.png"/><Relationship Id="rId9" Type="http://schemas.openxmlformats.org/officeDocument/2006/relationships/image" Target="../media/image7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60.png"/><Relationship Id="rId3" Type="http://schemas.openxmlformats.org/officeDocument/2006/relationships/image" Target="../media/image40.png"/><Relationship Id="rId7" Type="http://schemas.openxmlformats.org/officeDocument/2006/relationships/image" Target="../media/image82.png"/><Relationship Id="rId12" Type="http://schemas.openxmlformats.org/officeDocument/2006/relationships/image" Target="../media/image59.png"/><Relationship Id="rId17" Type="http://schemas.openxmlformats.org/officeDocument/2006/relationships/image" Target="../media/image90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86.png"/><Relationship Id="rId5" Type="http://schemas.openxmlformats.org/officeDocument/2006/relationships/image" Target="../media/image48.png"/><Relationship Id="rId15" Type="http://schemas.openxmlformats.org/officeDocument/2006/relationships/image" Target="../media/image88.png"/><Relationship Id="rId10" Type="http://schemas.openxmlformats.org/officeDocument/2006/relationships/image" Target="../media/image85.png"/><Relationship Id="rId4" Type="http://schemas.openxmlformats.org/officeDocument/2006/relationships/image" Target="../media/image41.png"/><Relationship Id="rId9" Type="http://schemas.openxmlformats.org/officeDocument/2006/relationships/image" Target="../media/image84.png"/><Relationship Id="rId14" Type="http://schemas.openxmlformats.org/officeDocument/2006/relationships/image" Target="../media/image8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95.png"/><Relationship Id="rId3" Type="http://schemas.openxmlformats.org/officeDocument/2006/relationships/image" Target="../media/image91.png"/><Relationship Id="rId7" Type="http://schemas.openxmlformats.org/officeDocument/2006/relationships/image" Target="../media/image46.png"/><Relationship Id="rId12" Type="http://schemas.openxmlformats.org/officeDocument/2006/relationships/image" Target="../media/image9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93.png"/><Relationship Id="rId5" Type="http://schemas.openxmlformats.org/officeDocument/2006/relationships/image" Target="../media/image41.png"/><Relationship Id="rId10" Type="http://schemas.openxmlformats.org/officeDocument/2006/relationships/image" Target="../media/image92.png"/><Relationship Id="rId4" Type="http://schemas.openxmlformats.org/officeDocument/2006/relationships/image" Target="../media/image40.png"/><Relationship Id="rId9" Type="http://schemas.openxmlformats.org/officeDocument/2006/relationships/image" Target="../media/image83.png"/><Relationship Id="rId14" Type="http://schemas.openxmlformats.org/officeDocument/2006/relationships/image" Target="../media/image9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98.png"/><Relationship Id="rId3" Type="http://schemas.openxmlformats.org/officeDocument/2006/relationships/image" Target="../media/image40.png"/><Relationship Id="rId7" Type="http://schemas.openxmlformats.org/officeDocument/2006/relationships/image" Target="../media/image97.png"/><Relationship Id="rId12" Type="http://schemas.openxmlformats.org/officeDocument/2006/relationships/image" Target="../media/image59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60.png"/><Relationship Id="rId5" Type="http://schemas.openxmlformats.org/officeDocument/2006/relationships/image" Target="../media/image48.png"/><Relationship Id="rId15" Type="http://schemas.openxmlformats.org/officeDocument/2006/relationships/image" Target="../media/image100.png"/><Relationship Id="rId10" Type="http://schemas.openxmlformats.org/officeDocument/2006/relationships/image" Target="../media/image45.png"/><Relationship Id="rId4" Type="http://schemas.openxmlformats.org/officeDocument/2006/relationships/image" Target="../media/image41.png"/><Relationship Id="rId9" Type="http://schemas.openxmlformats.org/officeDocument/2006/relationships/image" Target="../media/image62.png"/><Relationship Id="rId14" Type="http://schemas.openxmlformats.org/officeDocument/2006/relationships/image" Target="../media/image9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2.png"/><Relationship Id="rId7" Type="http://schemas.openxmlformats.org/officeDocument/2006/relationships/image" Target="../media/image105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5" Type="http://schemas.openxmlformats.org/officeDocument/2006/relationships/image" Target="../media/image97.png"/><Relationship Id="rId10" Type="http://schemas.openxmlformats.org/officeDocument/2006/relationships/image" Target="../media/image108.png"/><Relationship Id="rId4" Type="http://schemas.openxmlformats.org/officeDocument/2006/relationships/image" Target="../media/image103.png"/><Relationship Id="rId9" Type="http://schemas.openxmlformats.org/officeDocument/2006/relationships/image" Target="../media/image10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110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11" Type="http://schemas.openxmlformats.org/officeDocument/2006/relationships/image" Target="../media/image115.png"/><Relationship Id="rId5" Type="http://schemas.openxmlformats.org/officeDocument/2006/relationships/image" Target="../media/image111.png"/><Relationship Id="rId10" Type="http://schemas.openxmlformats.org/officeDocument/2006/relationships/image" Target="../media/image114.png"/><Relationship Id="rId4" Type="http://schemas.openxmlformats.org/officeDocument/2006/relationships/image" Target="../media/image102.png"/><Relationship Id="rId9" Type="http://schemas.openxmlformats.org/officeDocument/2006/relationships/image" Target="../media/image11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35.png"/><Relationship Id="rId3" Type="http://schemas.openxmlformats.org/officeDocument/2006/relationships/image" Target="../media/image8.png"/><Relationship Id="rId7" Type="http://schemas.openxmlformats.org/officeDocument/2006/relationships/image" Target="../media/image40.png"/><Relationship Id="rId12" Type="http://schemas.openxmlformats.org/officeDocument/2006/relationships/image" Target="../media/image1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11" Type="http://schemas.openxmlformats.org/officeDocument/2006/relationships/image" Target="../media/image119.png"/><Relationship Id="rId5" Type="http://schemas.openxmlformats.org/officeDocument/2006/relationships/image" Target="../media/image117.png"/><Relationship Id="rId15" Type="http://schemas.openxmlformats.org/officeDocument/2006/relationships/image" Target="../media/image122.png"/><Relationship Id="rId10" Type="http://schemas.openxmlformats.org/officeDocument/2006/relationships/image" Target="../media/image39.png"/><Relationship Id="rId4" Type="http://schemas.openxmlformats.org/officeDocument/2006/relationships/image" Target="../media/image116.png"/><Relationship Id="rId9" Type="http://schemas.openxmlformats.org/officeDocument/2006/relationships/image" Target="../media/image37.png"/><Relationship Id="rId14" Type="http://schemas.openxmlformats.org/officeDocument/2006/relationships/image" Target="../media/image12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24.png"/><Relationship Id="rId7" Type="http://schemas.openxmlformats.org/officeDocument/2006/relationships/image" Target="../media/image20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Relationship Id="rId9" Type="http://schemas.openxmlformats.org/officeDocument/2006/relationships/image" Target="../media/image12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30.png"/><Relationship Id="rId7" Type="http://schemas.openxmlformats.org/officeDocument/2006/relationships/image" Target="../media/image1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2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image" Target="../media/image134.png"/><Relationship Id="rId7" Type="http://schemas.openxmlformats.org/officeDocument/2006/relationships/hyperlink" Target="http://140.113.229.153:8000/OMG_LLM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7152162-3B5B-49C4-8CAF-5A35672865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7584" y="2655390"/>
            <a:ext cx="7488832" cy="914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dirty="0"/>
              <a:t>AI + MILP </a:t>
            </a:r>
            <a:r>
              <a:rPr lang="zh-TW" altLang="en-US" dirty="0"/>
              <a:t>整合框架 </a:t>
            </a:r>
            <a:r>
              <a:rPr lang="en-US" altLang="zh-TW" dirty="0"/>
              <a:t>· </a:t>
            </a:r>
            <a:r>
              <a:rPr lang="zh-TW" altLang="en-US" dirty="0"/>
              <a:t>三階段開發 </a:t>
            </a:r>
            <a:endParaRPr lang="en-US" altLang="zh-TW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E8C92FF-38C5-4342-B3AD-B358E3A643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7584" y="2139702"/>
            <a:ext cx="7488832" cy="263054"/>
          </a:xfrm>
        </p:spPr>
        <p:txBody>
          <a:bodyPr/>
          <a:lstStyle/>
          <a:p>
            <a:r>
              <a:rPr lang="en-US" altLang="zh-TW" sz="2000" dirty="0"/>
              <a:t>Claude Auto Modeling Framework</a:t>
            </a:r>
          </a:p>
        </p:txBody>
      </p:sp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87C8AE4F-A5C8-42F5-AB4F-1D440A02F6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094859"/>
              </p:ext>
            </p:extLst>
          </p:nvPr>
        </p:nvGraphicFramePr>
        <p:xfrm>
          <a:off x="531044" y="4155926"/>
          <a:ext cx="45028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205">
                  <a:extLst>
                    <a:ext uri="{9D8B030D-6E8A-4147-A177-3AD203B41FA5}">
                      <a16:colId xmlns:a16="http://schemas.microsoft.com/office/drawing/2014/main" val="3103091132"/>
                    </a:ext>
                  </a:extLst>
                </a:gridCol>
                <a:gridCol w="1948180">
                  <a:extLst>
                    <a:ext uri="{9D8B030D-6E8A-4147-A177-3AD203B41FA5}">
                      <a16:colId xmlns:a16="http://schemas.microsoft.com/office/drawing/2014/main" val="892585140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593720993"/>
                    </a:ext>
                  </a:extLst>
                </a:gridCol>
                <a:gridCol w="990297">
                  <a:extLst>
                    <a:ext uri="{9D8B030D-6E8A-4147-A177-3AD203B41FA5}">
                      <a16:colId xmlns:a16="http://schemas.microsoft.com/office/drawing/2014/main" val="37237982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dist"/>
                      <a:r>
                        <a:rPr lang="zh-TW" altLang="en-US" sz="12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開發人員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2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賴春伸、吳青辰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1200" b="1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2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234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dist"/>
                      <a:r>
                        <a:rPr lang="zh-TW" altLang="en-US" sz="12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主持人員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2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2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2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756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dist"/>
                      <a:r>
                        <a:rPr lang="zh-TW" altLang="en-US" sz="12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報告日期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2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2026</a:t>
                      </a:r>
                      <a:r>
                        <a:rPr lang="zh-TW" altLang="en-US" sz="12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 年 </a:t>
                      </a:r>
                      <a:r>
                        <a:rPr lang="en-US" altLang="zh-TW" sz="12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7</a:t>
                      </a:r>
                      <a:r>
                        <a:rPr lang="zh-TW" altLang="en-US" sz="12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 月 </a:t>
                      </a:r>
                      <a:r>
                        <a:rPr lang="en-US" altLang="zh-TW" sz="12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15</a:t>
                      </a:r>
                      <a:r>
                        <a:rPr lang="zh-TW" altLang="en-US" sz="12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 日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/>
                      <a:endParaRPr lang="zh-TW" altLang="en-US" sz="1200" b="1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2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623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9623835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BD82C323-C601-4F27-ABA5-1B7474B63A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025" y="520010"/>
            <a:ext cx="3399197" cy="307979"/>
          </a:xfrm>
        </p:spPr>
        <p:txBody>
          <a:bodyPr anchor="ctr"/>
          <a:lstStyle/>
          <a:p>
            <a:r>
              <a:rPr lang="en-US" altLang="zh-TW" dirty="0"/>
              <a:t>Introduction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6D4F37D-E4EE-449E-B7B8-4CB29BA376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88024" y="1416260"/>
            <a:ext cx="3399197" cy="307979"/>
          </a:xfrm>
        </p:spPr>
        <p:txBody>
          <a:bodyPr anchor="ctr"/>
          <a:lstStyle/>
          <a:p>
            <a:r>
              <a:rPr lang="en-US" altLang="zh-TW" dirty="0"/>
              <a:t>Env.</a:t>
            </a:r>
            <a:r>
              <a:rPr lang="zh-TW" altLang="en-US" dirty="0"/>
              <a:t> </a:t>
            </a:r>
            <a:r>
              <a:rPr lang="en-US" altLang="zh-TW" dirty="0"/>
              <a:t>&amp;</a:t>
            </a:r>
            <a:r>
              <a:rPr lang="zh-TW" altLang="en-US" dirty="0"/>
              <a:t> </a:t>
            </a:r>
            <a:r>
              <a:rPr lang="en-US" altLang="zh-TW" dirty="0"/>
              <a:t>Scope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ED1B0EA-14EC-4973-9C9F-E65EE65DA8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88025" y="2312508"/>
            <a:ext cx="3399197" cy="307979"/>
          </a:xfrm>
        </p:spPr>
        <p:txBody>
          <a:bodyPr anchor="ctr"/>
          <a:lstStyle/>
          <a:p>
            <a:r>
              <a:rPr lang="en-US" altLang="zh-TW" dirty="0"/>
              <a:t>MILP Development APIs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8729BEA-D04B-45AF-9BE6-DDA3AA6D73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88024" y="3208757"/>
            <a:ext cx="3399197" cy="307979"/>
          </a:xfrm>
        </p:spPr>
        <p:txBody>
          <a:bodyPr anchor="ctr"/>
          <a:lstStyle/>
          <a:p>
            <a:r>
              <a:rPr lang="en-US" altLang="zh-TW" dirty="0"/>
              <a:t>Claude Code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9D3585C5-A31E-48C5-B2D0-EC97736060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88024" y="4105009"/>
            <a:ext cx="3399197" cy="307979"/>
          </a:xfrm>
        </p:spPr>
        <p:txBody>
          <a:bodyPr anchor="ctr"/>
          <a:lstStyle/>
          <a:p>
            <a:r>
              <a:rPr lang="en-US" altLang="zh-TW" dirty="0"/>
              <a:t>Conclusion &amp; Discussion</a:t>
            </a:r>
            <a:endParaRPr lang="zh-TW" altLang="en-US" dirty="0"/>
          </a:p>
        </p:txBody>
      </p:sp>
      <p:sp>
        <p:nvSpPr>
          <p:cNvPr id="17" name="文字版面配置區 16">
            <a:extLst>
              <a:ext uri="{FF2B5EF4-FFF2-40B4-BE49-F238E27FC236}">
                <a16:creationId xmlns:a16="http://schemas.microsoft.com/office/drawing/2014/main" id="{FD897DEC-2CE0-4564-9833-8BCABA96CB0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88024" y="767439"/>
            <a:ext cx="3399197" cy="307979"/>
          </a:xfrm>
        </p:spPr>
        <p:txBody>
          <a:bodyPr/>
          <a:lstStyle/>
          <a:p>
            <a:r>
              <a:rPr lang="zh-TW" altLang="en-US" dirty="0"/>
              <a:t>專案背景</a:t>
            </a:r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F8B5992D-C7EC-4D7B-A6B1-2E0115C8A2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88023" y="1663689"/>
            <a:ext cx="3399197" cy="307979"/>
          </a:xfrm>
        </p:spPr>
        <p:txBody>
          <a:bodyPr/>
          <a:lstStyle/>
          <a:p>
            <a:r>
              <a:rPr lang="zh-TW" altLang="en-US" dirty="0"/>
              <a:t>開發環境 </a:t>
            </a:r>
            <a:r>
              <a:rPr lang="en-US" altLang="zh-TW" dirty="0"/>
              <a:t>&amp;</a:t>
            </a:r>
            <a:r>
              <a:rPr lang="zh-TW" altLang="en-US" dirty="0"/>
              <a:t> 專案目標</a:t>
            </a: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1614B0DD-9E9B-4095-827E-F3DED928039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88024" y="2559937"/>
            <a:ext cx="3399197" cy="307979"/>
          </a:xfrm>
        </p:spPr>
        <p:txBody>
          <a:bodyPr/>
          <a:lstStyle/>
          <a:p>
            <a:r>
              <a:rPr lang="zh-TW" altLang="en-US" dirty="0"/>
              <a:t>整體框架</a:t>
            </a:r>
          </a:p>
        </p:txBody>
      </p:sp>
      <p:sp>
        <p:nvSpPr>
          <p:cNvPr id="20" name="文字版面配置區 19">
            <a:extLst>
              <a:ext uri="{FF2B5EF4-FFF2-40B4-BE49-F238E27FC236}">
                <a16:creationId xmlns:a16="http://schemas.microsoft.com/office/drawing/2014/main" id="{9EA90136-3D03-4A6C-A82E-BB9B5E2F5D8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88023" y="3456186"/>
            <a:ext cx="3399197" cy="307979"/>
          </a:xfrm>
        </p:spPr>
        <p:txBody>
          <a:bodyPr/>
          <a:lstStyle/>
          <a:p>
            <a:r>
              <a:rPr lang="zh-TW" altLang="en-US" dirty="0"/>
              <a:t>說明如何引導開發</a:t>
            </a:r>
          </a:p>
        </p:txBody>
      </p:sp>
      <p:sp>
        <p:nvSpPr>
          <p:cNvPr id="21" name="文字版面配置區 20">
            <a:extLst>
              <a:ext uri="{FF2B5EF4-FFF2-40B4-BE49-F238E27FC236}">
                <a16:creationId xmlns:a16="http://schemas.microsoft.com/office/drawing/2014/main" id="{45118CD1-801D-4DB4-BB08-D46D4A6F0E6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788023" y="4352438"/>
            <a:ext cx="3399197" cy="307979"/>
          </a:xfrm>
        </p:spPr>
        <p:txBody>
          <a:bodyPr/>
          <a:lstStyle/>
          <a:p>
            <a:r>
              <a:rPr lang="zh-TW" altLang="en-US" dirty="0"/>
              <a:t>結論與討論</a:t>
            </a:r>
          </a:p>
        </p:txBody>
      </p:sp>
    </p:spTree>
    <p:extLst>
      <p:ext uri="{BB962C8B-B14F-4D97-AF65-F5344CB8AC3E}">
        <p14:creationId xmlns:p14="http://schemas.microsoft.com/office/powerpoint/2010/main" val="245493589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8FA125B5-A7F7-47D2-B36B-CFBBF9493D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/>
              <a:t>專案背景 </a:t>
            </a:r>
            <a:r>
              <a:rPr lang="en-US" altLang="zh-TW" dirty="0"/>
              <a:t>Introduction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8DD1BE2-2897-496D-971E-ECDD9FFE86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6197706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F0F85A-D8BE-489F-8A26-3F9E8BB6D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54" y="427411"/>
            <a:ext cx="7605553" cy="264977"/>
          </a:xfrm>
        </p:spPr>
        <p:txBody>
          <a:bodyPr/>
          <a:lstStyle/>
          <a:p>
            <a:r>
              <a:rPr lang="zh-TW" altLang="en-US" dirty="0"/>
              <a:t>專案背景｜</a:t>
            </a:r>
            <a:r>
              <a:rPr lang="zh-TW" altLang="en-US" b="0" dirty="0"/>
              <a:t>決策制定 </a:t>
            </a:r>
            <a:r>
              <a:rPr lang="en-US" altLang="zh-TW" b="0" dirty="0"/>
              <a:t>–</a:t>
            </a:r>
            <a:r>
              <a:rPr lang="zh-TW" altLang="en-US" b="0" dirty="0"/>
              <a:t> 數學規劃建模循環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B04F98-C67E-4BB2-A8FC-D45C046C6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175" y="212009"/>
            <a:ext cx="5904507" cy="168954"/>
          </a:xfrm>
        </p:spPr>
        <p:txBody>
          <a:bodyPr/>
          <a:lstStyle/>
          <a:p>
            <a:r>
              <a:rPr lang="en-US" altLang="zh-TW" dirty="0"/>
              <a:t>Introduction</a:t>
            </a:r>
          </a:p>
          <a:p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04602B-3F3A-44D6-8FC7-8D6198579B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512" y="415908"/>
            <a:ext cx="504800" cy="287982"/>
          </a:xfrm>
        </p:spPr>
        <p:txBody>
          <a:bodyPr/>
          <a:lstStyle/>
          <a:p>
            <a:r>
              <a:rPr lang="en-US" altLang="zh-TW" dirty="0"/>
              <a:t>01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BDA344-228E-467F-9CAE-213808D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855534"/>
            <a:ext cx="717094" cy="274637"/>
          </a:xfrm>
        </p:spPr>
        <p:txBody>
          <a:bodyPr/>
          <a:lstStyle/>
          <a:p>
            <a:fld id="{16BB1EDA-9669-4099-AA83-49C2D8E17945}" type="slidenum">
              <a:rPr lang="zh-TW" altLang="en-US" smtClean="0"/>
              <a:pPr/>
              <a:t>4</a:t>
            </a:fld>
            <a:endParaRPr lang="zh-TW" altLang="en-US" dirty="0"/>
          </a:p>
        </p:txBody>
      </p:sp>
      <p:sp>
        <p:nvSpPr>
          <p:cNvPr id="17" name="文字版面配置區 16">
            <a:extLst>
              <a:ext uri="{FF2B5EF4-FFF2-40B4-BE49-F238E27FC236}">
                <a16:creationId xmlns:a16="http://schemas.microsoft.com/office/drawing/2014/main" id="{45E22365-657D-44E4-A3FB-80E27EEE63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37" name="圖形 236" descr="箭號圓圈 以實心填滿">
            <a:extLst>
              <a:ext uri="{FF2B5EF4-FFF2-40B4-BE49-F238E27FC236}">
                <a16:creationId xmlns:a16="http://schemas.microsoft.com/office/drawing/2014/main" id="{8415C1FA-569A-47FE-A24A-F6045D16F8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48729" y="2069453"/>
            <a:ext cx="1841500" cy="1841500"/>
          </a:xfrm>
          <a:prstGeom prst="rect">
            <a:avLst/>
          </a:prstGeom>
        </p:spPr>
      </p:pic>
      <p:sp>
        <p:nvSpPr>
          <p:cNvPr id="71" name="文字方塊 70">
            <a:extLst>
              <a:ext uri="{FF2B5EF4-FFF2-40B4-BE49-F238E27FC236}">
                <a16:creationId xmlns:a16="http://schemas.microsoft.com/office/drawing/2014/main" id="{B83B1DD1-DAED-4D2E-8E91-274184671F80}"/>
              </a:ext>
            </a:extLst>
          </p:cNvPr>
          <p:cNvSpPr txBox="1"/>
          <p:nvPr/>
        </p:nvSpPr>
        <p:spPr>
          <a:xfrm>
            <a:off x="5542177" y="1194137"/>
            <a:ext cx="1728000" cy="1080000"/>
          </a:xfrm>
          <a:prstGeom prst="rect">
            <a:avLst/>
          </a:prstGeom>
          <a:noFill/>
          <a:ln>
            <a:solidFill>
              <a:srgbClr val="D81B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marL="171450" indent="-171450" algn="dist">
              <a:lnSpc>
                <a:spcPct val="150000"/>
              </a:lnSpc>
              <a:buFont typeface="Arial" panose="020B0604020202020204" pitchFamily="34" charset="0"/>
              <a:buChar char="−"/>
            </a:pPr>
            <a:r>
              <a:rPr lang="zh-TW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目標式</a:t>
            </a:r>
            <a:endParaRPr lang="en-US" altLang="zh-TW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 algn="dist">
              <a:lnSpc>
                <a:spcPct val="150000"/>
              </a:lnSpc>
              <a:buFont typeface="Arial" panose="020B0604020202020204" pitchFamily="34" charset="0"/>
              <a:buChar char="−"/>
            </a:pPr>
            <a:r>
              <a:rPr lang="zh-TW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限制式</a:t>
            </a:r>
            <a:endParaRPr lang="en-US" altLang="zh-TW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 algn="dist">
              <a:lnSpc>
                <a:spcPct val="150000"/>
              </a:lnSpc>
              <a:buFont typeface="Arial" panose="020B0604020202020204" pitchFamily="34" charset="0"/>
              <a:buChar char="−"/>
            </a:pPr>
            <a:r>
              <a:rPr lang="zh-TW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決策變數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FD3D5E8-6452-498A-89AB-E646A65201AD}"/>
              </a:ext>
            </a:extLst>
          </p:cNvPr>
          <p:cNvSpPr txBox="1"/>
          <p:nvPr/>
        </p:nvSpPr>
        <p:spPr>
          <a:xfrm>
            <a:off x="5542177" y="858359"/>
            <a:ext cx="1728000" cy="324000"/>
          </a:xfrm>
          <a:prstGeom prst="roundRect">
            <a:avLst>
              <a:gd name="adj" fmla="val 0"/>
            </a:avLst>
          </a:prstGeom>
          <a:solidFill>
            <a:srgbClr val="D81B60"/>
          </a:solidFill>
          <a:ln>
            <a:solidFill>
              <a:srgbClr val="D81B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dist"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zh-TW" altLang="en-US" dirty="0"/>
              <a:t>數學規劃模型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1F3F687D-425D-4190-BE16-6C9BFA3F4307}"/>
              </a:ext>
            </a:extLst>
          </p:cNvPr>
          <p:cNvSpPr txBox="1"/>
          <p:nvPr/>
        </p:nvSpPr>
        <p:spPr>
          <a:xfrm>
            <a:off x="5542177" y="3295770"/>
            <a:ext cx="1728000" cy="324000"/>
          </a:xfrm>
          <a:prstGeom prst="roundRect">
            <a:avLst>
              <a:gd name="adj" fmla="val 0"/>
            </a:avLst>
          </a:prstGeom>
          <a:solidFill>
            <a:srgbClr val="1CAF7B"/>
          </a:solidFill>
          <a:ln>
            <a:solidFill>
              <a:srgbClr val="1CAF7B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dist"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zh-TW" altLang="en-US" dirty="0"/>
              <a:t>模型求解結果</a:t>
            </a:r>
          </a:p>
        </p:txBody>
      </p:sp>
      <p:pic>
        <p:nvPicPr>
          <p:cNvPr id="92" name="圖片 91">
            <a:extLst>
              <a:ext uri="{FF2B5EF4-FFF2-40B4-BE49-F238E27FC236}">
                <a16:creationId xmlns:a16="http://schemas.microsoft.com/office/drawing/2014/main" id="{7BC08A85-83B6-4129-BDFE-71D2D3F32D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348" y="3553844"/>
            <a:ext cx="859852" cy="859852"/>
          </a:xfrm>
          <a:prstGeom prst="rect">
            <a:avLst/>
          </a:prstGeom>
        </p:spPr>
      </p:pic>
      <p:pic>
        <p:nvPicPr>
          <p:cNvPr id="94" name="圖片 93">
            <a:extLst>
              <a:ext uri="{FF2B5EF4-FFF2-40B4-BE49-F238E27FC236}">
                <a16:creationId xmlns:a16="http://schemas.microsoft.com/office/drawing/2014/main" id="{F613B0F6-16E7-4ECC-9884-F1EAE864BA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348" y="1085250"/>
            <a:ext cx="859852" cy="859852"/>
          </a:xfrm>
          <a:prstGeom prst="rect">
            <a:avLst/>
          </a:prstGeom>
        </p:spPr>
      </p:pic>
      <p:cxnSp>
        <p:nvCxnSpPr>
          <p:cNvPr id="122" name="直線單箭頭接點 121">
            <a:extLst>
              <a:ext uri="{FF2B5EF4-FFF2-40B4-BE49-F238E27FC236}">
                <a16:creationId xmlns:a16="http://schemas.microsoft.com/office/drawing/2014/main" id="{23A9A6AE-2748-40CD-84C5-0DD74A629223}"/>
              </a:ext>
            </a:extLst>
          </p:cNvPr>
          <p:cNvCxnSpPr>
            <a:cxnSpLocks/>
          </p:cNvCxnSpPr>
          <p:nvPr/>
        </p:nvCxnSpPr>
        <p:spPr>
          <a:xfrm>
            <a:off x="3596781" y="1776786"/>
            <a:ext cx="1945396" cy="0"/>
          </a:xfrm>
          <a:prstGeom prst="straightConnector1">
            <a:avLst/>
          </a:prstGeom>
          <a:ln w="28575" cap="flat">
            <a:gradFill>
              <a:gsLst>
                <a:gs pos="80000">
                  <a:srgbClr val="8D4096"/>
                </a:gs>
                <a:gs pos="0">
                  <a:srgbClr val="4165CB"/>
                </a:gs>
                <a:gs pos="100000">
                  <a:srgbClr val="D81B60"/>
                </a:gs>
              </a:gsLst>
              <a:lin ang="0" scaled="0"/>
            </a:gra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線單箭頭接點 193">
            <a:extLst>
              <a:ext uri="{FF2B5EF4-FFF2-40B4-BE49-F238E27FC236}">
                <a16:creationId xmlns:a16="http://schemas.microsoft.com/office/drawing/2014/main" id="{FF626D0F-F4F3-48E3-BE29-54B286C58B83}"/>
              </a:ext>
            </a:extLst>
          </p:cNvPr>
          <p:cNvCxnSpPr>
            <a:cxnSpLocks/>
          </p:cNvCxnSpPr>
          <p:nvPr/>
        </p:nvCxnSpPr>
        <p:spPr>
          <a:xfrm flipH="1">
            <a:off x="3596781" y="4110582"/>
            <a:ext cx="1945396" cy="0"/>
          </a:xfrm>
          <a:prstGeom prst="straightConnector1">
            <a:avLst/>
          </a:prstGeom>
          <a:ln w="28575" cap="flat">
            <a:gradFill>
              <a:gsLst>
                <a:gs pos="20000">
                  <a:srgbClr val="8DAC57"/>
                </a:gs>
                <a:gs pos="100000">
                  <a:srgbClr val="1CAF7B"/>
                </a:gs>
                <a:gs pos="0">
                  <a:srgbClr val="FEA832"/>
                </a:gs>
              </a:gsLst>
              <a:lin ang="10800000" scaled="0"/>
            </a:gra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文字方塊 214">
            <a:extLst>
              <a:ext uri="{FF2B5EF4-FFF2-40B4-BE49-F238E27FC236}">
                <a16:creationId xmlns:a16="http://schemas.microsoft.com/office/drawing/2014/main" id="{B22AC2E2-EED4-405D-AE1F-497C662E6F01}"/>
              </a:ext>
            </a:extLst>
          </p:cNvPr>
          <p:cNvSpPr txBox="1"/>
          <p:nvPr/>
        </p:nvSpPr>
        <p:spPr>
          <a:xfrm>
            <a:off x="4139565" y="4110582"/>
            <a:ext cx="8598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TW" altLang="en-US" sz="11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結果輸出</a:t>
            </a:r>
          </a:p>
        </p:txBody>
      </p:sp>
      <p:cxnSp>
        <p:nvCxnSpPr>
          <p:cNvPr id="155" name="直線單箭頭接點 154">
            <a:extLst>
              <a:ext uri="{FF2B5EF4-FFF2-40B4-BE49-F238E27FC236}">
                <a16:creationId xmlns:a16="http://schemas.microsoft.com/office/drawing/2014/main" id="{EE0733CD-556B-4A5B-BF6B-599093DF19E6}"/>
              </a:ext>
            </a:extLst>
          </p:cNvPr>
          <p:cNvCxnSpPr>
            <a:cxnSpLocks/>
          </p:cNvCxnSpPr>
          <p:nvPr/>
        </p:nvCxnSpPr>
        <p:spPr>
          <a:xfrm flipH="1">
            <a:off x="6076538" y="2274137"/>
            <a:ext cx="1" cy="1013627"/>
          </a:xfrm>
          <a:prstGeom prst="straightConnector1">
            <a:avLst/>
          </a:prstGeom>
          <a:ln w="28575" cap="flat">
            <a:gradFill>
              <a:gsLst>
                <a:gs pos="82000">
                  <a:srgbClr val="7A656E"/>
                </a:gs>
                <a:gs pos="0">
                  <a:srgbClr val="D81B60"/>
                </a:gs>
                <a:gs pos="100000">
                  <a:srgbClr val="1CAF7B"/>
                </a:gs>
              </a:gsLst>
              <a:lin ang="5400000" scaled="0"/>
            </a:gra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文字方塊 216">
            <a:extLst>
              <a:ext uri="{FF2B5EF4-FFF2-40B4-BE49-F238E27FC236}">
                <a16:creationId xmlns:a16="http://schemas.microsoft.com/office/drawing/2014/main" id="{C5E9A538-C3CA-4EC2-85BB-87DFC557E76B}"/>
              </a:ext>
            </a:extLst>
          </p:cNvPr>
          <p:cNvSpPr txBox="1"/>
          <p:nvPr/>
        </p:nvSpPr>
        <p:spPr>
          <a:xfrm>
            <a:off x="6076538" y="2634057"/>
            <a:ext cx="8005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TW" altLang="en-US" sz="11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計算求解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938F462-CE32-4CEA-9DA4-BCE9CACBB097}"/>
              </a:ext>
            </a:extLst>
          </p:cNvPr>
          <p:cNvSpPr/>
          <p:nvPr/>
        </p:nvSpPr>
        <p:spPr>
          <a:xfrm>
            <a:off x="5542177" y="3623542"/>
            <a:ext cx="1728000" cy="1080000"/>
          </a:xfrm>
          <a:prstGeom prst="rect">
            <a:avLst/>
          </a:prstGeom>
          <a:noFill/>
          <a:ln>
            <a:solidFill>
              <a:srgbClr val="1CAF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dist">
              <a:lnSpc>
                <a:spcPct val="150000"/>
              </a:lnSpc>
              <a:buFont typeface="Arial" panose="020B0604020202020204" pitchFamily="34" charset="0"/>
              <a:buChar char="−"/>
            </a:pPr>
            <a:r>
              <a:rPr lang="zh-TW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最佳解值</a:t>
            </a:r>
            <a:endParaRPr lang="en-US" altLang="zh-TW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 algn="dist">
              <a:lnSpc>
                <a:spcPct val="150000"/>
              </a:lnSpc>
              <a:buFont typeface="Arial" panose="020B0604020202020204" pitchFamily="34" charset="0"/>
              <a:buChar char="−"/>
            </a:pPr>
            <a:r>
              <a:rPr lang="zh-TW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可行性分析</a:t>
            </a:r>
            <a:endParaRPr lang="en-US" altLang="zh-TW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 algn="dist">
              <a:lnSpc>
                <a:spcPct val="150000"/>
              </a:lnSpc>
              <a:buFont typeface="Arial" panose="020B0604020202020204" pitchFamily="34" charset="0"/>
              <a:buChar char="−"/>
            </a:pPr>
            <a:r>
              <a:rPr lang="zh-TW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敏感度分析</a:t>
            </a:r>
            <a:endParaRPr lang="en-US" altLang="zh-TW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149106D0-DDF1-4A92-B2AF-4B893E49EEBD}"/>
              </a:ext>
            </a:extLst>
          </p:cNvPr>
          <p:cNvSpPr txBox="1"/>
          <p:nvPr/>
        </p:nvSpPr>
        <p:spPr>
          <a:xfrm>
            <a:off x="1874002" y="1194137"/>
            <a:ext cx="1728000" cy="1080000"/>
          </a:xfrm>
          <a:prstGeom prst="rect">
            <a:avLst/>
          </a:prstGeom>
          <a:noFill/>
          <a:ln>
            <a:solidFill>
              <a:srgbClr val="4165CB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marL="252000" indent="-252000" algn="dist">
              <a:lnSpc>
                <a:spcPct val="150000"/>
              </a:lnSpc>
              <a:buFont typeface="Arial" panose="020B0604020202020204" pitchFamily="34" charset="0"/>
              <a:buChar char="−"/>
            </a:pPr>
            <a:r>
              <a:rPr lang="zh-TW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問題描述</a:t>
            </a:r>
            <a:endParaRPr lang="en-US" altLang="zh-TW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52000" indent="-252000" algn="dist">
              <a:lnSpc>
                <a:spcPct val="150000"/>
              </a:lnSpc>
              <a:buFont typeface="Arial" panose="020B0604020202020204" pitchFamily="34" charset="0"/>
              <a:buChar char="−"/>
            </a:pPr>
            <a:r>
              <a:rPr lang="zh-TW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目標決策</a:t>
            </a:r>
            <a:endParaRPr lang="en-US" altLang="zh-TW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52000" indent="-252000" algn="dist">
              <a:lnSpc>
                <a:spcPct val="150000"/>
              </a:lnSpc>
              <a:buFont typeface="Arial" panose="020B0604020202020204" pitchFamily="34" charset="0"/>
              <a:buChar char="−"/>
            </a:pPr>
            <a:r>
              <a:rPr lang="zh-TW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規則制定</a:t>
            </a:r>
            <a:endParaRPr lang="en-US" altLang="zh-TW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52000" indent="-252000" algn="dist">
              <a:lnSpc>
                <a:spcPct val="150000"/>
              </a:lnSpc>
              <a:buFont typeface="Arial" panose="020B0604020202020204" pitchFamily="34" charset="0"/>
              <a:buChar char="−"/>
            </a:pPr>
            <a:r>
              <a:rPr lang="zh-TW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資料蒐集</a:t>
            </a: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D9097E18-962E-485A-846A-CFF76096B4DF}"/>
              </a:ext>
            </a:extLst>
          </p:cNvPr>
          <p:cNvSpPr txBox="1"/>
          <p:nvPr/>
        </p:nvSpPr>
        <p:spPr>
          <a:xfrm>
            <a:off x="1874002" y="858359"/>
            <a:ext cx="1728000" cy="324000"/>
          </a:xfrm>
          <a:prstGeom prst="roundRect">
            <a:avLst>
              <a:gd name="adj" fmla="val 0"/>
            </a:avLst>
          </a:prstGeom>
          <a:solidFill>
            <a:srgbClr val="4165CB"/>
          </a:solidFill>
          <a:ln>
            <a:solidFill>
              <a:srgbClr val="4165CB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dist"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zh-TW" altLang="en-US" dirty="0"/>
              <a:t>現實決策問題</a:t>
            </a:r>
          </a:p>
        </p:txBody>
      </p:sp>
      <p:pic>
        <p:nvPicPr>
          <p:cNvPr id="66" name="圖片 65">
            <a:extLst>
              <a:ext uri="{FF2B5EF4-FFF2-40B4-BE49-F238E27FC236}">
                <a16:creationId xmlns:a16="http://schemas.microsoft.com/office/drawing/2014/main" id="{882CA4B7-C632-4E5D-8AA7-4B37852636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758" y="1088558"/>
            <a:ext cx="859852" cy="859852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464E91D9-E7BD-471A-BBF6-759196C2D0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24" y="3549851"/>
            <a:ext cx="859852" cy="859852"/>
          </a:xfrm>
          <a:prstGeom prst="rect">
            <a:avLst/>
          </a:prstGeom>
        </p:spPr>
      </p:pic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DF40BF46-73E0-42ED-9A47-ABCC90B3D70B}"/>
              </a:ext>
            </a:extLst>
          </p:cNvPr>
          <p:cNvCxnSpPr>
            <a:cxnSpLocks/>
          </p:cNvCxnSpPr>
          <p:nvPr/>
        </p:nvCxnSpPr>
        <p:spPr>
          <a:xfrm>
            <a:off x="3106115" y="2274137"/>
            <a:ext cx="0" cy="1044000"/>
          </a:xfrm>
          <a:prstGeom prst="straightConnector1">
            <a:avLst/>
          </a:prstGeom>
          <a:ln w="28575" cap="flat">
            <a:gradFill>
              <a:gsLst>
                <a:gs pos="19000">
                  <a:srgbClr val="A0877F"/>
                </a:gs>
                <a:gs pos="100000">
                  <a:srgbClr val="FEA832"/>
                </a:gs>
                <a:gs pos="0">
                  <a:srgbClr val="4165CB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84908DAC-7FE5-45E4-B5E4-9D0966CA2F04}"/>
              </a:ext>
            </a:extLst>
          </p:cNvPr>
          <p:cNvSpPr txBox="1"/>
          <p:nvPr/>
        </p:nvSpPr>
        <p:spPr>
          <a:xfrm>
            <a:off x="2336872" y="2654205"/>
            <a:ext cx="7740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TW" altLang="en-US" sz="11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決策輔助</a:t>
            </a: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1B1C4E8D-0AA8-460C-B35E-E7B72C79743F}"/>
              </a:ext>
            </a:extLst>
          </p:cNvPr>
          <p:cNvSpPr txBox="1"/>
          <p:nvPr/>
        </p:nvSpPr>
        <p:spPr>
          <a:xfrm>
            <a:off x="4139565" y="1515176"/>
            <a:ext cx="8598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TW" altLang="en-US" sz="11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問題描述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9F6B89C-2A9B-4614-8CE8-2C99D056D438}"/>
              </a:ext>
            </a:extLst>
          </p:cNvPr>
          <p:cNvSpPr txBox="1"/>
          <p:nvPr/>
        </p:nvSpPr>
        <p:spPr>
          <a:xfrm>
            <a:off x="1858675" y="3582569"/>
            <a:ext cx="1728000" cy="1080000"/>
          </a:xfrm>
          <a:prstGeom prst="rect">
            <a:avLst/>
          </a:prstGeom>
          <a:noFill/>
          <a:ln>
            <a:solidFill>
              <a:srgbClr val="FEA83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marL="171450" indent="-171450" algn="dist">
              <a:lnSpc>
                <a:spcPct val="150000"/>
              </a:lnSpc>
              <a:buFont typeface="Arial" panose="020B0604020202020204" pitchFamily="34" charset="0"/>
              <a:buChar char="−"/>
            </a:pPr>
            <a:r>
              <a:rPr lang="zh-TW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結果說明</a:t>
            </a:r>
            <a:endParaRPr lang="en-US" altLang="zh-TW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 algn="dist">
              <a:lnSpc>
                <a:spcPct val="150000"/>
              </a:lnSpc>
              <a:buFont typeface="Arial" panose="020B0604020202020204" pitchFamily="34" charset="0"/>
              <a:buChar char="−"/>
            </a:pPr>
            <a:r>
              <a:rPr lang="zh-TW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決策分析</a:t>
            </a:r>
            <a:endParaRPr lang="en-US" altLang="zh-TW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 algn="dist">
              <a:lnSpc>
                <a:spcPct val="150000"/>
              </a:lnSpc>
              <a:buFont typeface="Arial" panose="020B0604020202020204" pitchFamily="34" charset="0"/>
              <a:buChar char="−"/>
            </a:pPr>
            <a:r>
              <a:rPr lang="zh-TW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風險分析</a:t>
            </a:r>
            <a:endParaRPr lang="en-US" altLang="zh-TW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 algn="dist">
              <a:lnSpc>
                <a:spcPct val="150000"/>
              </a:lnSpc>
              <a:buFont typeface="Arial" panose="020B0604020202020204" pitchFamily="34" charset="0"/>
              <a:buChar char="−"/>
            </a:pPr>
            <a:r>
              <a:rPr lang="zh-TW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實務應用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D3411420-90BA-44F4-A2D3-6B252CEFC684}"/>
              </a:ext>
            </a:extLst>
          </p:cNvPr>
          <p:cNvSpPr txBox="1"/>
          <p:nvPr/>
        </p:nvSpPr>
        <p:spPr>
          <a:xfrm>
            <a:off x="1858675" y="3303726"/>
            <a:ext cx="1728000" cy="300082"/>
          </a:xfrm>
          <a:prstGeom prst="roundRect">
            <a:avLst>
              <a:gd name="adj" fmla="val 0"/>
            </a:avLst>
          </a:prstGeom>
          <a:solidFill>
            <a:srgbClr val="FEA832"/>
          </a:solidFill>
          <a:ln>
            <a:solidFill>
              <a:srgbClr val="FEA83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dist"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zh-TW" altLang="en-US" dirty="0"/>
              <a:t>報　表 </a:t>
            </a:r>
          </a:p>
        </p:txBody>
      </p:sp>
    </p:spTree>
    <p:extLst>
      <p:ext uri="{BB962C8B-B14F-4D97-AF65-F5344CB8AC3E}">
        <p14:creationId xmlns:p14="http://schemas.microsoft.com/office/powerpoint/2010/main" val="135291810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F0F85A-D8BE-489F-8A26-3F9E8BB6D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54" y="427411"/>
            <a:ext cx="7605553" cy="264977"/>
          </a:xfrm>
        </p:spPr>
        <p:txBody>
          <a:bodyPr/>
          <a:lstStyle/>
          <a:p>
            <a:r>
              <a:rPr lang="zh-TW" altLang="en-US" dirty="0"/>
              <a:t>專案背景｜</a:t>
            </a:r>
            <a:r>
              <a:rPr lang="zh-TW" altLang="en-US" b="0" dirty="0"/>
              <a:t>決策制定 </a:t>
            </a:r>
            <a:r>
              <a:rPr lang="en-US" altLang="zh-TW" b="0" dirty="0"/>
              <a:t>–</a:t>
            </a:r>
            <a:r>
              <a:rPr lang="zh-TW" altLang="en-US" b="0" dirty="0"/>
              <a:t> 數學規劃建模循環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B04F98-C67E-4BB2-A8FC-D45C046C6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175" y="212009"/>
            <a:ext cx="5904507" cy="168954"/>
          </a:xfrm>
        </p:spPr>
        <p:txBody>
          <a:bodyPr/>
          <a:lstStyle/>
          <a:p>
            <a:r>
              <a:rPr lang="en-US" altLang="zh-TW" dirty="0"/>
              <a:t>Introduction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04602B-3F3A-44D6-8FC7-8D6198579B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512" y="415908"/>
            <a:ext cx="504800" cy="287982"/>
          </a:xfrm>
        </p:spPr>
        <p:txBody>
          <a:bodyPr/>
          <a:lstStyle/>
          <a:p>
            <a:r>
              <a:rPr lang="en-US" altLang="zh-TW" dirty="0"/>
              <a:t>01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BDA344-228E-467F-9CAE-213808D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855534"/>
            <a:ext cx="717094" cy="274637"/>
          </a:xfrm>
        </p:spPr>
        <p:txBody>
          <a:bodyPr/>
          <a:lstStyle/>
          <a:p>
            <a:fld id="{16BB1EDA-9669-4099-AA83-49C2D8E17945}" type="slidenum">
              <a:rPr lang="zh-TW" altLang="en-US" smtClean="0"/>
              <a:pPr/>
              <a:t>5</a:t>
            </a:fld>
            <a:endParaRPr lang="zh-TW" altLang="en-US" dirty="0"/>
          </a:p>
        </p:txBody>
      </p:sp>
      <p:sp>
        <p:nvSpPr>
          <p:cNvPr id="17" name="文字版面配置區 16">
            <a:extLst>
              <a:ext uri="{FF2B5EF4-FFF2-40B4-BE49-F238E27FC236}">
                <a16:creationId xmlns:a16="http://schemas.microsoft.com/office/drawing/2014/main" id="{45E22365-657D-44E4-A3FB-80E27EEE63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1350AEA0-930E-4AB6-94BE-B69D9CE001FE}"/>
              </a:ext>
            </a:extLst>
          </p:cNvPr>
          <p:cNvSpPr txBox="1"/>
          <p:nvPr/>
        </p:nvSpPr>
        <p:spPr>
          <a:xfrm>
            <a:off x="5532121" y="4348905"/>
            <a:ext cx="2712287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TW" altLang="en-US" sz="1400" dirty="0">
                <a:solidFill>
                  <a:srgbClr val="005087"/>
                </a:solidFill>
              </a:rPr>
              <a:t>自動化數學規畫模型開發流程</a:t>
            </a:r>
            <a:endParaRPr lang="zh-TW" altLang="en-US" sz="1200" dirty="0">
              <a:solidFill>
                <a:srgbClr val="005087"/>
              </a:solidFill>
            </a:endParaRP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D747BBAB-59FA-4067-B4A8-E9FEAEAA1D36}"/>
              </a:ext>
            </a:extLst>
          </p:cNvPr>
          <p:cNvSpPr txBox="1"/>
          <p:nvPr/>
        </p:nvSpPr>
        <p:spPr>
          <a:xfrm>
            <a:off x="1874002" y="1194137"/>
            <a:ext cx="1728000" cy="1080000"/>
          </a:xfrm>
          <a:prstGeom prst="rect">
            <a:avLst/>
          </a:prstGeom>
          <a:noFill/>
          <a:ln>
            <a:solidFill>
              <a:srgbClr val="4165CB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marL="252000" indent="-252000" algn="dist">
              <a:lnSpc>
                <a:spcPct val="150000"/>
              </a:lnSpc>
              <a:buFont typeface="Arial" panose="020B0604020202020204" pitchFamily="34" charset="0"/>
              <a:buChar char="−"/>
            </a:pPr>
            <a:r>
              <a:rPr lang="zh-TW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問題描述</a:t>
            </a:r>
            <a:endParaRPr lang="en-US" altLang="zh-TW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52000" indent="-252000" algn="dist">
              <a:lnSpc>
                <a:spcPct val="150000"/>
              </a:lnSpc>
              <a:buFont typeface="Arial" panose="020B0604020202020204" pitchFamily="34" charset="0"/>
              <a:buChar char="−"/>
            </a:pPr>
            <a:r>
              <a:rPr lang="zh-TW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目標決策</a:t>
            </a:r>
            <a:endParaRPr lang="en-US" altLang="zh-TW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52000" indent="-252000" algn="dist">
              <a:lnSpc>
                <a:spcPct val="150000"/>
              </a:lnSpc>
              <a:buFont typeface="Arial" panose="020B0604020202020204" pitchFamily="34" charset="0"/>
              <a:buChar char="−"/>
            </a:pPr>
            <a:r>
              <a:rPr lang="zh-TW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規則制定</a:t>
            </a:r>
            <a:endParaRPr lang="en-US" altLang="zh-TW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52000" indent="-252000" algn="dist">
              <a:lnSpc>
                <a:spcPct val="150000"/>
              </a:lnSpc>
              <a:buFont typeface="Arial" panose="020B0604020202020204" pitchFamily="34" charset="0"/>
              <a:buChar char="−"/>
            </a:pPr>
            <a:r>
              <a:rPr lang="zh-TW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資料蒐集</a:t>
            </a: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D1714A42-4C33-4FFE-AF80-E0ED9470462E}"/>
              </a:ext>
            </a:extLst>
          </p:cNvPr>
          <p:cNvSpPr txBox="1"/>
          <p:nvPr/>
        </p:nvSpPr>
        <p:spPr>
          <a:xfrm>
            <a:off x="1874002" y="858359"/>
            <a:ext cx="1728000" cy="324000"/>
          </a:xfrm>
          <a:prstGeom prst="roundRect">
            <a:avLst>
              <a:gd name="adj" fmla="val 0"/>
            </a:avLst>
          </a:prstGeom>
          <a:solidFill>
            <a:srgbClr val="4165CB"/>
          </a:solidFill>
          <a:ln>
            <a:solidFill>
              <a:srgbClr val="4165CB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dist"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zh-TW" altLang="en-US" dirty="0"/>
              <a:t>現實決策問題</a:t>
            </a: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BCCD2CBF-BA26-412C-B56E-75B4D7D23317}"/>
              </a:ext>
            </a:extLst>
          </p:cNvPr>
          <p:cNvSpPr txBox="1"/>
          <p:nvPr/>
        </p:nvSpPr>
        <p:spPr>
          <a:xfrm>
            <a:off x="1858675" y="3582569"/>
            <a:ext cx="1728000" cy="1080000"/>
          </a:xfrm>
          <a:prstGeom prst="rect">
            <a:avLst/>
          </a:prstGeom>
          <a:noFill/>
          <a:ln>
            <a:solidFill>
              <a:srgbClr val="FEA83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marL="171450" indent="-171450" algn="dist">
              <a:lnSpc>
                <a:spcPct val="150000"/>
              </a:lnSpc>
              <a:buFont typeface="Arial" panose="020B0604020202020204" pitchFamily="34" charset="0"/>
              <a:buChar char="−"/>
            </a:pPr>
            <a:r>
              <a:rPr lang="zh-TW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結果說明</a:t>
            </a:r>
            <a:endParaRPr lang="en-US" altLang="zh-TW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 algn="dist">
              <a:lnSpc>
                <a:spcPct val="150000"/>
              </a:lnSpc>
              <a:buFont typeface="Arial" panose="020B0604020202020204" pitchFamily="34" charset="0"/>
              <a:buChar char="−"/>
            </a:pPr>
            <a:r>
              <a:rPr lang="zh-TW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決策分析</a:t>
            </a:r>
            <a:endParaRPr lang="en-US" altLang="zh-TW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 algn="dist">
              <a:lnSpc>
                <a:spcPct val="150000"/>
              </a:lnSpc>
              <a:buFont typeface="Arial" panose="020B0604020202020204" pitchFamily="34" charset="0"/>
              <a:buChar char="−"/>
            </a:pPr>
            <a:r>
              <a:rPr lang="zh-TW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風險分析</a:t>
            </a:r>
            <a:endParaRPr lang="en-US" altLang="zh-TW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indent="-171450" algn="dist">
              <a:lnSpc>
                <a:spcPct val="150000"/>
              </a:lnSpc>
              <a:buFont typeface="Arial" panose="020B0604020202020204" pitchFamily="34" charset="0"/>
              <a:buChar char="−"/>
            </a:pPr>
            <a:r>
              <a:rPr lang="zh-TW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實務應用</a:t>
            </a:r>
          </a:p>
        </p:txBody>
      </p: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A351AB5D-A04D-4EE5-8FC4-80F3C125F066}"/>
              </a:ext>
            </a:extLst>
          </p:cNvPr>
          <p:cNvSpPr txBox="1"/>
          <p:nvPr/>
        </p:nvSpPr>
        <p:spPr>
          <a:xfrm>
            <a:off x="1858675" y="3303726"/>
            <a:ext cx="1728000" cy="300082"/>
          </a:xfrm>
          <a:prstGeom prst="roundRect">
            <a:avLst>
              <a:gd name="adj" fmla="val 0"/>
            </a:avLst>
          </a:prstGeom>
          <a:solidFill>
            <a:srgbClr val="FEA832"/>
          </a:solidFill>
          <a:ln>
            <a:solidFill>
              <a:srgbClr val="FEA83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dist"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zh-TW" altLang="en-US" dirty="0"/>
              <a:t>報　表 </a:t>
            </a:r>
          </a:p>
        </p:txBody>
      </p:sp>
      <p:pic>
        <p:nvPicPr>
          <p:cNvPr id="85" name="圖片 84">
            <a:extLst>
              <a:ext uri="{FF2B5EF4-FFF2-40B4-BE49-F238E27FC236}">
                <a16:creationId xmlns:a16="http://schemas.microsoft.com/office/drawing/2014/main" id="{39DEA190-EF82-40A6-9336-0229E2627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758" y="1088558"/>
            <a:ext cx="859852" cy="859852"/>
          </a:xfrm>
          <a:prstGeom prst="rect">
            <a:avLst/>
          </a:prstGeom>
        </p:spPr>
      </p:pic>
      <p:pic>
        <p:nvPicPr>
          <p:cNvPr id="86" name="圖片 85">
            <a:extLst>
              <a:ext uri="{FF2B5EF4-FFF2-40B4-BE49-F238E27FC236}">
                <a16:creationId xmlns:a16="http://schemas.microsoft.com/office/drawing/2014/main" id="{C4934AC5-DD08-4C94-8B4C-7BFE379FBB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24" y="3549851"/>
            <a:ext cx="859852" cy="859852"/>
          </a:xfrm>
          <a:prstGeom prst="rect">
            <a:avLst/>
          </a:prstGeom>
        </p:spPr>
      </p:pic>
      <p:pic>
        <p:nvPicPr>
          <p:cNvPr id="89" name="圖形 88" descr="箭號圓圈 以實心填滿">
            <a:extLst>
              <a:ext uri="{FF2B5EF4-FFF2-40B4-BE49-F238E27FC236}">
                <a16:creationId xmlns:a16="http://schemas.microsoft.com/office/drawing/2014/main" id="{B1577583-DB1D-48BE-BB7D-8D18DA6E8A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48729" y="2069453"/>
            <a:ext cx="1841500" cy="1841500"/>
          </a:xfrm>
          <a:prstGeom prst="rect">
            <a:avLst/>
          </a:prstGeom>
        </p:spPr>
      </p:pic>
      <p:cxnSp>
        <p:nvCxnSpPr>
          <p:cNvPr id="90" name="直線單箭頭接點 89">
            <a:extLst>
              <a:ext uri="{FF2B5EF4-FFF2-40B4-BE49-F238E27FC236}">
                <a16:creationId xmlns:a16="http://schemas.microsoft.com/office/drawing/2014/main" id="{036E2361-AAE1-432A-BA96-3C9A69700499}"/>
              </a:ext>
            </a:extLst>
          </p:cNvPr>
          <p:cNvCxnSpPr>
            <a:cxnSpLocks/>
          </p:cNvCxnSpPr>
          <p:nvPr/>
        </p:nvCxnSpPr>
        <p:spPr>
          <a:xfrm>
            <a:off x="3596781" y="1776786"/>
            <a:ext cx="1945396" cy="0"/>
          </a:xfrm>
          <a:prstGeom prst="straightConnector1">
            <a:avLst/>
          </a:prstGeom>
          <a:ln w="28575" cap="flat">
            <a:gradFill>
              <a:gsLst>
                <a:gs pos="0">
                  <a:srgbClr val="4165CB"/>
                </a:gs>
                <a:gs pos="100000">
                  <a:srgbClr val="3F6098"/>
                </a:gs>
              </a:gsLst>
              <a:lin ang="0" scaled="0"/>
            </a:gra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>
            <a:extLst>
              <a:ext uri="{FF2B5EF4-FFF2-40B4-BE49-F238E27FC236}">
                <a16:creationId xmlns:a16="http://schemas.microsoft.com/office/drawing/2014/main" id="{B6B9C59F-698C-4332-AFE1-02B6B8905DFC}"/>
              </a:ext>
            </a:extLst>
          </p:cNvPr>
          <p:cNvCxnSpPr>
            <a:cxnSpLocks/>
          </p:cNvCxnSpPr>
          <p:nvPr/>
        </p:nvCxnSpPr>
        <p:spPr>
          <a:xfrm flipH="1">
            <a:off x="3596781" y="4110582"/>
            <a:ext cx="1945396" cy="0"/>
          </a:xfrm>
          <a:prstGeom prst="straightConnector1">
            <a:avLst/>
          </a:prstGeom>
          <a:ln w="28575" cap="flat">
            <a:gradFill>
              <a:gsLst>
                <a:gs pos="100000">
                  <a:srgbClr val="3F6098"/>
                </a:gs>
                <a:gs pos="0">
                  <a:srgbClr val="FEA832"/>
                </a:gs>
              </a:gsLst>
              <a:lin ang="10800000" scaled="0"/>
            </a:gradFill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988183D5-BA84-4BF0-854D-3F42D7F42412}"/>
              </a:ext>
            </a:extLst>
          </p:cNvPr>
          <p:cNvSpPr txBox="1"/>
          <p:nvPr/>
        </p:nvSpPr>
        <p:spPr>
          <a:xfrm>
            <a:off x="4139565" y="4110582"/>
            <a:ext cx="8598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TW" altLang="en-US" sz="11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結果輸出</a:t>
            </a:r>
          </a:p>
        </p:txBody>
      </p: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472D35DA-A874-4561-8FBF-AA225201AF67}"/>
              </a:ext>
            </a:extLst>
          </p:cNvPr>
          <p:cNvGrpSpPr/>
          <p:nvPr/>
        </p:nvGrpSpPr>
        <p:grpSpPr>
          <a:xfrm>
            <a:off x="5537375" y="1285011"/>
            <a:ext cx="2712287" cy="2991245"/>
            <a:chOff x="5537375" y="1285011"/>
            <a:chExt cx="2712287" cy="2991245"/>
          </a:xfrm>
        </p:grpSpPr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FF8EB327-06B3-4304-AB98-8658DB564B6B}"/>
                </a:ext>
              </a:extLst>
            </p:cNvPr>
            <p:cNvSpPr txBox="1"/>
            <p:nvPr/>
          </p:nvSpPr>
          <p:spPr>
            <a:xfrm>
              <a:off x="5950288" y="1299768"/>
              <a:ext cx="18864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TW" altLang="en-US" sz="1100" b="1" dirty="0">
                  <a:solidFill>
                    <a:srgbClr val="2F528F"/>
                  </a:solidFill>
                </a:rPr>
                <a:t>自動化數學建模框架</a:t>
              </a:r>
            </a:p>
          </p:txBody>
        </p:sp>
        <p:sp>
          <p:nvSpPr>
            <p:cNvPr id="80" name="矩形: 圓角化同側角落 79">
              <a:extLst>
                <a:ext uri="{FF2B5EF4-FFF2-40B4-BE49-F238E27FC236}">
                  <a16:creationId xmlns:a16="http://schemas.microsoft.com/office/drawing/2014/main" id="{E207491B-D3A6-4813-B42D-658D70DD1E04}"/>
                </a:ext>
              </a:extLst>
            </p:cNvPr>
            <p:cNvSpPr/>
            <p:nvPr/>
          </p:nvSpPr>
          <p:spPr>
            <a:xfrm>
              <a:off x="5537375" y="1285011"/>
              <a:ext cx="2712287" cy="276368"/>
            </a:xfrm>
            <a:prstGeom prst="round2Same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矩形: 圓角 27">
              <a:extLst>
                <a:ext uri="{FF2B5EF4-FFF2-40B4-BE49-F238E27FC236}">
                  <a16:creationId xmlns:a16="http://schemas.microsoft.com/office/drawing/2014/main" id="{0A875465-456C-429C-BDAB-A4795342A4B8}"/>
                </a:ext>
              </a:extLst>
            </p:cNvPr>
            <p:cNvSpPr/>
            <p:nvPr/>
          </p:nvSpPr>
          <p:spPr>
            <a:xfrm>
              <a:off x="5537375" y="1562099"/>
              <a:ext cx="2712287" cy="2714157"/>
            </a:xfrm>
            <a:prstGeom prst="roundRect">
              <a:avLst>
                <a:gd name="adj" fmla="val 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14" name="矩形: 圓角 113">
            <a:extLst>
              <a:ext uri="{FF2B5EF4-FFF2-40B4-BE49-F238E27FC236}">
                <a16:creationId xmlns:a16="http://schemas.microsoft.com/office/drawing/2014/main" id="{7F33159C-A4E9-4379-8D4F-6802AF08087C}"/>
              </a:ext>
            </a:extLst>
          </p:cNvPr>
          <p:cNvSpPr/>
          <p:nvPr/>
        </p:nvSpPr>
        <p:spPr>
          <a:xfrm>
            <a:off x="6748250" y="3642582"/>
            <a:ext cx="1080000" cy="468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TW" altLang="en-US" sz="1400" b="1" dirty="0">
                <a:solidFill>
                  <a:srgbClr val="2F528F"/>
                </a:solidFill>
              </a:rPr>
              <a:t>調參優化</a:t>
            </a:r>
          </a:p>
        </p:txBody>
      </p:sp>
      <p:sp>
        <p:nvSpPr>
          <p:cNvPr id="79" name="矩形: 圓角 78">
            <a:extLst>
              <a:ext uri="{FF2B5EF4-FFF2-40B4-BE49-F238E27FC236}">
                <a16:creationId xmlns:a16="http://schemas.microsoft.com/office/drawing/2014/main" id="{89D92730-AD53-4021-85CC-B4657C998586}"/>
              </a:ext>
            </a:extLst>
          </p:cNvPr>
          <p:cNvSpPr/>
          <p:nvPr/>
        </p:nvSpPr>
        <p:spPr>
          <a:xfrm>
            <a:off x="5958786" y="3741254"/>
            <a:ext cx="794902" cy="270656"/>
          </a:xfrm>
          <a:prstGeom prst="roundRect">
            <a:avLst/>
          </a:prstGeom>
          <a:solidFill>
            <a:srgbClr val="2F528F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chemeClr val="bg1"/>
                </a:solidFill>
              </a:rPr>
              <a:t>Step 3</a:t>
            </a:r>
            <a:endParaRPr lang="zh-TW" altLang="en-US" sz="1400" b="1" dirty="0">
              <a:solidFill>
                <a:schemeClr val="bg1"/>
              </a:solidFill>
            </a:endParaRPr>
          </a:p>
        </p:txBody>
      </p:sp>
      <p:grpSp>
        <p:nvGrpSpPr>
          <p:cNvPr id="97" name="群組 96">
            <a:extLst>
              <a:ext uri="{FF2B5EF4-FFF2-40B4-BE49-F238E27FC236}">
                <a16:creationId xmlns:a16="http://schemas.microsoft.com/office/drawing/2014/main" id="{04804E5F-C1EC-4D6E-9BCE-52839164CD6B}"/>
              </a:ext>
            </a:extLst>
          </p:cNvPr>
          <p:cNvGrpSpPr/>
          <p:nvPr/>
        </p:nvGrpSpPr>
        <p:grpSpPr>
          <a:xfrm rot="5400000">
            <a:off x="6304917" y="2376818"/>
            <a:ext cx="102640" cy="182390"/>
            <a:chOff x="3707904" y="1269426"/>
            <a:chExt cx="271311" cy="482115"/>
          </a:xfrm>
        </p:grpSpPr>
        <p:grpSp>
          <p:nvGrpSpPr>
            <p:cNvPr id="99" name="群組 98">
              <a:extLst>
                <a:ext uri="{FF2B5EF4-FFF2-40B4-BE49-F238E27FC236}">
                  <a16:creationId xmlns:a16="http://schemas.microsoft.com/office/drawing/2014/main" id="{0925F5FA-4F00-4C90-8678-1A05AC055A58}"/>
                </a:ext>
              </a:extLst>
            </p:cNvPr>
            <p:cNvGrpSpPr/>
            <p:nvPr/>
          </p:nvGrpSpPr>
          <p:grpSpPr>
            <a:xfrm>
              <a:off x="3979215" y="1269426"/>
              <a:ext cx="0" cy="482115"/>
              <a:chOff x="3979215" y="1269426"/>
              <a:chExt cx="0" cy="482115"/>
            </a:xfrm>
          </p:grpSpPr>
          <p:cxnSp>
            <p:nvCxnSpPr>
              <p:cNvPr id="103" name="直線單箭頭接點 102">
                <a:extLst>
                  <a:ext uri="{FF2B5EF4-FFF2-40B4-BE49-F238E27FC236}">
                    <a16:creationId xmlns:a16="http://schemas.microsoft.com/office/drawing/2014/main" id="{6ACB9920-7363-4BA5-8CAF-52A76946EF4E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線單箭頭接點 103">
                <a:extLst>
                  <a:ext uri="{FF2B5EF4-FFF2-40B4-BE49-F238E27FC236}">
                    <a16:creationId xmlns:a16="http://schemas.microsoft.com/office/drawing/2014/main" id="{0F709708-1F8D-4716-8CFF-60F6B90CD1FD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群組 99">
              <a:extLst>
                <a:ext uri="{FF2B5EF4-FFF2-40B4-BE49-F238E27FC236}">
                  <a16:creationId xmlns:a16="http://schemas.microsoft.com/office/drawing/2014/main" id="{1E130456-1575-4B92-A2BF-C490A6138604}"/>
                </a:ext>
              </a:extLst>
            </p:cNvPr>
            <p:cNvGrpSpPr/>
            <p:nvPr/>
          </p:nvGrpSpPr>
          <p:grpSpPr>
            <a:xfrm>
              <a:off x="3707904" y="1269426"/>
              <a:ext cx="0" cy="482115"/>
              <a:chOff x="3979215" y="1269426"/>
              <a:chExt cx="0" cy="482115"/>
            </a:xfrm>
          </p:grpSpPr>
          <p:cxnSp>
            <p:nvCxnSpPr>
              <p:cNvPr id="101" name="直線單箭頭接點 100">
                <a:extLst>
                  <a:ext uri="{FF2B5EF4-FFF2-40B4-BE49-F238E27FC236}">
                    <a16:creationId xmlns:a16="http://schemas.microsoft.com/office/drawing/2014/main" id="{34DC9E3D-F5FB-4F41-9909-620CF198B534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線單箭頭接點 101">
                <a:extLst>
                  <a:ext uri="{FF2B5EF4-FFF2-40B4-BE49-F238E27FC236}">
                    <a16:creationId xmlns:a16="http://schemas.microsoft.com/office/drawing/2014/main" id="{3553BE72-46FA-4AAD-8D03-D35C74B58698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5" name="群組 104">
            <a:extLst>
              <a:ext uri="{FF2B5EF4-FFF2-40B4-BE49-F238E27FC236}">
                <a16:creationId xmlns:a16="http://schemas.microsoft.com/office/drawing/2014/main" id="{88C39123-361B-4295-B19F-A7E97156E215}"/>
              </a:ext>
            </a:extLst>
          </p:cNvPr>
          <p:cNvGrpSpPr/>
          <p:nvPr/>
        </p:nvGrpSpPr>
        <p:grpSpPr>
          <a:xfrm rot="5400000">
            <a:off x="6304917" y="3323172"/>
            <a:ext cx="102640" cy="182390"/>
            <a:chOff x="3707904" y="1269426"/>
            <a:chExt cx="271311" cy="482115"/>
          </a:xfrm>
        </p:grpSpPr>
        <p:grpSp>
          <p:nvGrpSpPr>
            <p:cNvPr id="106" name="群組 105">
              <a:extLst>
                <a:ext uri="{FF2B5EF4-FFF2-40B4-BE49-F238E27FC236}">
                  <a16:creationId xmlns:a16="http://schemas.microsoft.com/office/drawing/2014/main" id="{81039ED8-BF48-4157-8861-B4C2CA8D66A1}"/>
                </a:ext>
              </a:extLst>
            </p:cNvPr>
            <p:cNvGrpSpPr/>
            <p:nvPr/>
          </p:nvGrpSpPr>
          <p:grpSpPr>
            <a:xfrm>
              <a:off x="3979215" y="1269426"/>
              <a:ext cx="0" cy="482115"/>
              <a:chOff x="3979215" y="1269426"/>
              <a:chExt cx="0" cy="482115"/>
            </a:xfrm>
          </p:grpSpPr>
          <p:cxnSp>
            <p:nvCxnSpPr>
              <p:cNvPr id="110" name="直線單箭頭接點 109">
                <a:extLst>
                  <a:ext uri="{FF2B5EF4-FFF2-40B4-BE49-F238E27FC236}">
                    <a16:creationId xmlns:a16="http://schemas.microsoft.com/office/drawing/2014/main" id="{0C6B8919-853F-4AA1-805D-E58BAE65E601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線單箭頭接點 110">
                <a:extLst>
                  <a:ext uri="{FF2B5EF4-FFF2-40B4-BE49-F238E27FC236}">
                    <a16:creationId xmlns:a16="http://schemas.microsoft.com/office/drawing/2014/main" id="{29851C57-3E07-42F9-B43F-871ED9B31326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7" name="群組 106">
              <a:extLst>
                <a:ext uri="{FF2B5EF4-FFF2-40B4-BE49-F238E27FC236}">
                  <a16:creationId xmlns:a16="http://schemas.microsoft.com/office/drawing/2014/main" id="{6349A86F-8DAE-4A7B-A85B-6AB5DA8D6F3A}"/>
                </a:ext>
              </a:extLst>
            </p:cNvPr>
            <p:cNvGrpSpPr/>
            <p:nvPr/>
          </p:nvGrpSpPr>
          <p:grpSpPr>
            <a:xfrm>
              <a:off x="3707904" y="1269426"/>
              <a:ext cx="0" cy="482115"/>
              <a:chOff x="3979215" y="1269426"/>
              <a:chExt cx="0" cy="482115"/>
            </a:xfrm>
          </p:grpSpPr>
          <p:cxnSp>
            <p:nvCxnSpPr>
              <p:cNvPr id="108" name="直線單箭頭接點 107">
                <a:extLst>
                  <a:ext uri="{FF2B5EF4-FFF2-40B4-BE49-F238E27FC236}">
                    <a16:creationId xmlns:a16="http://schemas.microsoft.com/office/drawing/2014/main" id="{CAA24E13-6424-45A8-86C9-B61A8C0BFDB7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線單箭頭接點 108">
                <a:extLst>
                  <a:ext uri="{FF2B5EF4-FFF2-40B4-BE49-F238E27FC236}">
                    <a16:creationId xmlns:a16="http://schemas.microsoft.com/office/drawing/2014/main" id="{A72B2D15-1AFF-4F3F-93C9-CB3123815F1E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7" name="矩形: 圓角 76">
            <a:extLst>
              <a:ext uri="{FF2B5EF4-FFF2-40B4-BE49-F238E27FC236}">
                <a16:creationId xmlns:a16="http://schemas.microsoft.com/office/drawing/2014/main" id="{72A7D760-E4CC-4A5F-94F1-02D2106DBD39}"/>
              </a:ext>
            </a:extLst>
          </p:cNvPr>
          <p:cNvSpPr/>
          <p:nvPr/>
        </p:nvSpPr>
        <p:spPr>
          <a:xfrm>
            <a:off x="6748250" y="1776786"/>
            <a:ext cx="1080000" cy="468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TW" altLang="en-US" sz="1400" b="1" dirty="0">
                <a:solidFill>
                  <a:srgbClr val="2F528F"/>
                </a:solidFill>
              </a:rPr>
              <a:t>模型開發</a:t>
            </a:r>
          </a:p>
        </p:txBody>
      </p:sp>
      <p:sp>
        <p:nvSpPr>
          <p:cNvPr id="112" name="矩形: 圓角 111">
            <a:extLst>
              <a:ext uri="{FF2B5EF4-FFF2-40B4-BE49-F238E27FC236}">
                <a16:creationId xmlns:a16="http://schemas.microsoft.com/office/drawing/2014/main" id="{E138DF9A-FF2B-48E7-8CEC-35CB8E81BA92}"/>
              </a:ext>
            </a:extLst>
          </p:cNvPr>
          <p:cNvSpPr/>
          <p:nvPr/>
        </p:nvSpPr>
        <p:spPr>
          <a:xfrm>
            <a:off x="5958786" y="1875458"/>
            <a:ext cx="794902" cy="270656"/>
          </a:xfrm>
          <a:prstGeom prst="roundRect">
            <a:avLst/>
          </a:prstGeom>
          <a:solidFill>
            <a:srgbClr val="2F528F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chemeClr val="bg1"/>
                </a:solidFill>
              </a:rPr>
              <a:t>Step 1</a:t>
            </a:r>
            <a:endParaRPr lang="zh-TW" altLang="en-US" sz="1400" b="1" dirty="0">
              <a:solidFill>
                <a:schemeClr val="bg1"/>
              </a:solidFill>
            </a:endParaRPr>
          </a:p>
        </p:txBody>
      </p:sp>
      <p:sp>
        <p:nvSpPr>
          <p:cNvPr id="78" name="矩形: 圓角 77">
            <a:extLst>
              <a:ext uri="{FF2B5EF4-FFF2-40B4-BE49-F238E27FC236}">
                <a16:creationId xmlns:a16="http://schemas.microsoft.com/office/drawing/2014/main" id="{507C18A3-D8B1-41C0-AC43-74BD26963E9D}"/>
              </a:ext>
            </a:extLst>
          </p:cNvPr>
          <p:cNvSpPr/>
          <p:nvPr/>
        </p:nvSpPr>
        <p:spPr>
          <a:xfrm>
            <a:off x="6748250" y="2709684"/>
            <a:ext cx="1080000" cy="468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TW" altLang="en-US" sz="1400" b="1" dirty="0">
                <a:solidFill>
                  <a:srgbClr val="2F528F"/>
                </a:solidFill>
              </a:rPr>
              <a:t>程式開發</a:t>
            </a:r>
          </a:p>
        </p:txBody>
      </p:sp>
      <p:sp>
        <p:nvSpPr>
          <p:cNvPr id="113" name="矩形: 圓角 112">
            <a:extLst>
              <a:ext uri="{FF2B5EF4-FFF2-40B4-BE49-F238E27FC236}">
                <a16:creationId xmlns:a16="http://schemas.microsoft.com/office/drawing/2014/main" id="{8C311246-5017-4801-8C88-B96578871045}"/>
              </a:ext>
            </a:extLst>
          </p:cNvPr>
          <p:cNvSpPr/>
          <p:nvPr/>
        </p:nvSpPr>
        <p:spPr>
          <a:xfrm>
            <a:off x="5958786" y="2808356"/>
            <a:ext cx="794902" cy="270656"/>
          </a:xfrm>
          <a:prstGeom prst="roundRect">
            <a:avLst/>
          </a:prstGeom>
          <a:solidFill>
            <a:srgbClr val="2F528F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chemeClr val="bg1"/>
                </a:solidFill>
              </a:rPr>
              <a:t>Step 2</a:t>
            </a:r>
            <a:endParaRPr lang="zh-TW" altLang="en-US" sz="1400" b="1" dirty="0">
              <a:solidFill>
                <a:schemeClr val="bg1"/>
              </a:solidFill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AFC58AD7-3CAA-4F47-AC18-331FBB86D962}"/>
              </a:ext>
            </a:extLst>
          </p:cNvPr>
          <p:cNvSpPr txBox="1"/>
          <p:nvPr/>
        </p:nvSpPr>
        <p:spPr>
          <a:xfrm>
            <a:off x="4139565" y="1515176"/>
            <a:ext cx="8598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TW" altLang="en-US" sz="11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問題描述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3ECB5667-C933-4747-89AA-F091D544F04A}"/>
              </a:ext>
            </a:extLst>
          </p:cNvPr>
          <p:cNvSpPr txBox="1"/>
          <p:nvPr/>
        </p:nvSpPr>
        <p:spPr>
          <a:xfrm>
            <a:off x="2336872" y="2654205"/>
            <a:ext cx="7740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TW" altLang="en-US" sz="11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決策輔助</a:t>
            </a:r>
          </a:p>
        </p:txBody>
      </p: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B3247B64-2526-401D-AF2A-5EC040E1D161}"/>
              </a:ext>
            </a:extLst>
          </p:cNvPr>
          <p:cNvCxnSpPr>
            <a:cxnSpLocks/>
          </p:cNvCxnSpPr>
          <p:nvPr/>
        </p:nvCxnSpPr>
        <p:spPr>
          <a:xfrm>
            <a:off x="3106115" y="2274137"/>
            <a:ext cx="0" cy="1044000"/>
          </a:xfrm>
          <a:prstGeom prst="straightConnector1">
            <a:avLst/>
          </a:prstGeom>
          <a:ln w="28575" cap="flat">
            <a:gradFill>
              <a:gsLst>
                <a:gs pos="19000">
                  <a:srgbClr val="A0877F"/>
                </a:gs>
                <a:gs pos="100000">
                  <a:srgbClr val="FEA832"/>
                </a:gs>
                <a:gs pos="0">
                  <a:srgbClr val="4165CB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群組 7">
            <a:extLst>
              <a:ext uri="{FF2B5EF4-FFF2-40B4-BE49-F238E27FC236}">
                <a16:creationId xmlns:a16="http://schemas.microsoft.com/office/drawing/2014/main" id="{B3C3A2D8-0387-42B6-9B2E-F3DA8301F88B}"/>
              </a:ext>
            </a:extLst>
          </p:cNvPr>
          <p:cNvGrpSpPr/>
          <p:nvPr/>
        </p:nvGrpSpPr>
        <p:grpSpPr>
          <a:xfrm>
            <a:off x="6138318" y="818177"/>
            <a:ext cx="1686212" cy="404364"/>
            <a:chOff x="6138318" y="818177"/>
            <a:chExt cx="1686212" cy="404364"/>
          </a:xfrm>
        </p:grpSpPr>
        <p:pic>
          <p:nvPicPr>
            <p:cNvPr id="52" name="圖片 51">
              <a:extLst>
                <a:ext uri="{FF2B5EF4-FFF2-40B4-BE49-F238E27FC236}">
                  <a16:creationId xmlns:a16="http://schemas.microsoft.com/office/drawing/2014/main" id="{BEFE47D3-53D5-415E-B060-85DCFEFE3BAE}"/>
                </a:ext>
              </a:extLst>
            </p:cNvPr>
            <p:cNvPicPr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138318" y="818177"/>
              <a:ext cx="404364" cy="404364"/>
            </a:xfrm>
            <a:prstGeom prst="rect">
              <a:avLst/>
            </a:prstGeom>
          </p:spPr>
        </p:pic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FE824077-AE45-43EE-8FFD-6DFA3DCA3CFC}"/>
                </a:ext>
              </a:extLst>
            </p:cNvPr>
            <p:cNvSpPr txBox="1"/>
            <p:nvPr/>
          </p:nvSpPr>
          <p:spPr>
            <a:xfrm>
              <a:off x="6523181" y="880891"/>
              <a:ext cx="1301349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2F528F"/>
                  </a:solidFill>
                </a:rPr>
                <a:t>Claude Code</a:t>
              </a:r>
              <a:endParaRPr lang="zh-TW" altLang="en-US" b="1" dirty="0">
                <a:solidFill>
                  <a:srgbClr val="2F528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1827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>
            <a:extLst>
              <a:ext uri="{FF2B5EF4-FFF2-40B4-BE49-F238E27FC236}">
                <a16:creationId xmlns:a16="http://schemas.microsoft.com/office/drawing/2014/main" id="{8EE8DBA7-B08F-479A-86C4-F0DAADFB2647}"/>
              </a:ext>
            </a:extLst>
          </p:cNvPr>
          <p:cNvGrpSpPr/>
          <p:nvPr/>
        </p:nvGrpSpPr>
        <p:grpSpPr>
          <a:xfrm>
            <a:off x="531813" y="1254311"/>
            <a:ext cx="8100552" cy="2024832"/>
            <a:chOff x="531813" y="1254311"/>
            <a:chExt cx="8100552" cy="2024832"/>
          </a:xfrm>
        </p:grpSpPr>
        <p:sp>
          <p:nvSpPr>
            <p:cNvPr id="914" name="矩形 913">
              <a:extLst>
                <a:ext uri="{FF2B5EF4-FFF2-40B4-BE49-F238E27FC236}">
                  <a16:creationId xmlns:a16="http://schemas.microsoft.com/office/drawing/2014/main" id="{B52B6414-897F-42BA-8265-5FB1908874C9}"/>
                </a:ext>
              </a:extLst>
            </p:cNvPr>
            <p:cNvSpPr/>
            <p:nvPr/>
          </p:nvSpPr>
          <p:spPr>
            <a:xfrm>
              <a:off x="536471" y="1254311"/>
              <a:ext cx="8095885" cy="966962"/>
            </a:xfrm>
            <a:prstGeom prst="rect">
              <a:avLst/>
            </a:prstGeom>
            <a:solidFill>
              <a:srgbClr val="F4F9F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15" name="直線接點 914">
              <a:extLst>
                <a:ext uri="{FF2B5EF4-FFF2-40B4-BE49-F238E27FC236}">
                  <a16:creationId xmlns:a16="http://schemas.microsoft.com/office/drawing/2014/main" id="{A06E46ED-31D3-470D-BC25-BFD6F4E496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2364" y="1254311"/>
              <a:ext cx="8100000" cy="0"/>
            </a:xfrm>
            <a:prstGeom prst="line">
              <a:avLst/>
            </a:prstGeom>
            <a:ln w="9525">
              <a:solidFill>
                <a:srgbClr val="222A3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6" name="手繪多邊形: 圖案 915">
              <a:extLst>
                <a:ext uri="{FF2B5EF4-FFF2-40B4-BE49-F238E27FC236}">
                  <a16:creationId xmlns:a16="http://schemas.microsoft.com/office/drawing/2014/main" id="{D72C8C72-1EE2-48E2-B062-8631A0B467BC}"/>
                </a:ext>
              </a:extLst>
            </p:cNvPr>
            <p:cNvSpPr/>
            <p:nvPr/>
          </p:nvSpPr>
          <p:spPr>
            <a:xfrm>
              <a:off x="536471" y="2220200"/>
              <a:ext cx="8095885" cy="1058943"/>
            </a:xfrm>
            <a:custGeom>
              <a:avLst/>
              <a:gdLst>
                <a:gd name="connsiteX0" fmla="*/ 0 w 8095885"/>
                <a:gd name="connsiteY0" fmla="*/ 0 h 1058943"/>
                <a:gd name="connsiteX1" fmla="*/ 8095885 w 8095885"/>
                <a:gd name="connsiteY1" fmla="*/ 0 h 1058943"/>
                <a:gd name="connsiteX2" fmla="*/ 8095885 w 8095885"/>
                <a:gd name="connsiteY2" fmla="*/ 1058943 h 1058943"/>
                <a:gd name="connsiteX3" fmla="*/ 0 w 8095885"/>
                <a:gd name="connsiteY3" fmla="*/ 1058943 h 1058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5885" h="1058943">
                  <a:moveTo>
                    <a:pt x="0" y="0"/>
                  </a:moveTo>
                  <a:lnTo>
                    <a:pt x="8095885" y="0"/>
                  </a:lnTo>
                  <a:lnTo>
                    <a:pt x="8095885" y="1058943"/>
                  </a:lnTo>
                  <a:lnTo>
                    <a:pt x="0" y="1058943"/>
                  </a:lnTo>
                  <a:close/>
                </a:path>
              </a:pathLst>
            </a:custGeom>
            <a:solidFill>
              <a:srgbClr val="F2F7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cxnSp>
          <p:nvCxnSpPr>
            <p:cNvPr id="917" name="直線接點 916">
              <a:extLst>
                <a:ext uri="{FF2B5EF4-FFF2-40B4-BE49-F238E27FC236}">
                  <a16:creationId xmlns:a16="http://schemas.microsoft.com/office/drawing/2014/main" id="{839D0BF3-8FB5-4AD3-A307-6BFAEA0D9C4B}"/>
                </a:ext>
              </a:extLst>
            </p:cNvPr>
            <p:cNvCxnSpPr>
              <a:cxnSpLocks/>
            </p:cNvCxnSpPr>
            <p:nvPr/>
          </p:nvCxnSpPr>
          <p:spPr>
            <a:xfrm>
              <a:off x="3923928" y="1262992"/>
              <a:ext cx="0" cy="2016000"/>
            </a:xfrm>
            <a:prstGeom prst="line">
              <a:avLst/>
            </a:prstGeom>
            <a:ln w="6350" cap="rnd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8" name="直線接點 917">
              <a:extLst>
                <a:ext uri="{FF2B5EF4-FFF2-40B4-BE49-F238E27FC236}">
                  <a16:creationId xmlns:a16="http://schemas.microsoft.com/office/drawing/2014/main" id="{9BE5B1B6-D895-441F-AA91-3EEA89890BC7}"/>
                </a:ext>
              </a:extLst>
            </p:cNvPr>
            <p:cNvCxnSpPr>
              <a:cxnSpLocks/>
            </p:cNvCxnSpPr>
            <p:nvPr/>
          </p:nvCxnSpPr>
          <p:spPr>
            <a:xfrm>
              <a:off x="6445250" y="1262992"/>
              <a:ext cx="6350" cy="2016000"/>
            </a:xfrm>
            <a:prstGeom prst="line">
              <a:avLst/>
            </a:prstGeom>
            <a:ln w="6350" cap="rnd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9" name="直線接點 918">
              <a:extLst>
                <a:ext uri="{FF2B5EF4-FFF2-40B4-BE49-F238E27FC236}">
                  <a16:creationId xmlns:a16="http://schemas.microsoft.com/office/drawing/2014/main" id="{97C2BD37-5194-4601-B0A6-D54B0BCA869F}"/>
                </a:ext>
              </a:extLst>
            </p:cNvPr>
            <p:cNvCxnSpPr>
              <a:cxnSpLocks/>
            </p:cNvCxnSpPr>
            <p:nvPr/>
          </p:nvCxnSpPr>
          <p:spPr>
            <a:xfrm>
              <a:off x="532364" y="2225308"/>
              <a:ext cx="810000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  <a:prstDash val="lg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" name="接點: 肘形 920">
              <a:extLst>
                <a:ext uri="{FF2B5EF4-FFF2-40B4-BE49-F238E27FC236}">
                  <a16:creationId xmlns:a16="http://schemas.microsoft.com/office/drawing/2014/main" id="{18C9A3F5-9AD2-4477-BDCB-742E2D539747}"/>
                </a:ext>
              </a:extLst>
            </p:cNvPr>
            <p:cNvCxnSpPr>
              <a:cxnSpLocks/>
              <a:stCxn id="944" idx="0"/>
              <a:endCxn id="932" idx="2"/>
            </p:cNvCxnSpPr>
            <p:nvPr/>
          </p:nvCxnSpPr>
          <p:spPr>
            <a:xfrm rot="5400000">
              <a:off x="3691248" y="663346"/>
              <a:ext cx="95112" cy="4172110"/>
            </a:xfrm>
            <a:prstGeom prst="bentConnector3">
              <a:avLst>
                <a:gd name="adj1" fmla="val 400435"/>
              </a:avLst>
            </a:prstGeom>
            <a:ln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2" name="直線單箭頭接點 921">
              <a:extLst>
                <a:ext uri="{FF2B5EF4-FFF2-40B4-BE49-F238E27FC236}">
                  <a16:creationId xmlns:a16="http://schemas.microsoft.com/office/drawing/2014/main" id="{C4E3CE52-BCD4-4862-8765-53103DF6FDB2}"/>
                </a:ext>
              </a:extLst>
            </p:cNvPr>
            <p:cNvCxnSpPr>
              <a:cxnSpLocks/>
              <a:stCxn id="935" idx="0"/>
            </p:cNvCxnSpPr>
            <p:nvPr/>
          </p:nvCxnSpPr>
          <p:spPr>
            <a:xfrm>
              <a:off x="3299425" y="2701845"/>
              <a:ext cx="0" cy="37795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3" name="矩形: 圓角 922">
              <a:extLst>
                <a:ext uri="{FF2B5EF4-FFF2-40B4-BE49-F238E27FC236}">
                  <a16:creationId xmlns:a16="http://schemas.microsoft.com/office/drawing/2014/main" id="{E2725874-349D-4B83-ACAE-2242C39BD6DF}"/>
                </a:ext>
              </a:extLst>
            </p:cNvPr>
            <p:cNvSpPr/>
            <p:nvPr/>
          </p:nvSpPr>
          <p:spPr>
            <a:xfrm>
              <a:off x="6601955" y="2412451"/>
              <a:ext cx="808686" cy="384506"/>
            </a:xfrm>
            <a:prstGeom prst="roundRect">
              <a:avLst>
                <a:gd name="adj" fmla="val 6775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2037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100" b="1" dirty="0">
                  <a:solidFill>
                    <a:srgbClr val="203775"/>
                  </a:solidFill>
                </a:rPr>
                <a:t>執行實驗</a:t>
              </a:r>
            </a:p>
          </p:txBody>
        </p:sp>
        <p:sp>
          <p:nvSpPr>
            <p:cNvPr id="924" name="矩形: 圓角 923">
              <a:extLst>
                <a:ext uri="{FF2B5EF4-FFF2-40B4-BE49-F238E27FC236}">
                  <a16:creationId xmlns:a16="http://schemas.microsoft.com/office/drawing/2014/main" id="{3F01C629-61E7-4FAD-B386-3DF9F0551192}"/>
                </a:ext>
              </a:extLst>
            </p:cNvPr>
            <p:cNvSpPr/>
            <p:nvPr/>
          </p:nvSpPr>
          <p:spPr>
            <a:xfrm>
              <a:off x="6606125" y="1577355"/>
              <a:ext cx="808686" cy="384506"/>
            </a:xfrm>
            <a:prstGeom prst="roundRect">
              <a:avLst>
                <a:gd name="adj" fmla="val 6775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100" b="1" dirty="0">
                  <a:solidFill>
                    <a:schemeClr val="accent6">
                      <a:lumMod val="50000"/>
                    </a:schemeClr>
                  </a:solidFill>
                </a:rPr>
                <a:t>產出報表</a:t>
              </a:r>
            </a:p>
          </p:txBody>
        </p:sp>
        <p:sp>
          <p:nvSpPr>
            <p:cNvPr id="925" name="矩形: 圓角 924">
              <a:extLst>
                <a:ext uri="{FF2B5EF4-FFF2-40B4-BE49-F238E27FC236}">
                  <a16:creationId xmlns:a16="http://schemas.microsoft.com/office/drawing/2014/main" id="{B47A9B32-8915-4B97-99DD-D6E1286C1F4E}"/>
                </a:ext>
              </a:extLst>
            </p:cNvPr>
            <p:cNvSpPr/>
            <p:nvPr/>
          </p:nvSpPr>
          <p:spPr>
            <a:xfrm>
              <a:off x="7670039" y="1577355"/>
              <a:ext cx="808686" cy="384506"/>
            </a:xfrm>
            <a:prstGeom prst="roundRect">
              <a:avLst>
                <a:gd name="adj" fmla="val 6775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100" b="1" dirty="0">
                  <a:solidFill>
                    <a:schemeClr val="accent6">
                      <a:lumMod val="50000"/>
                    </a:schemeClr>
                  </a:solidFill>
                </a:rPr>
                <a:t>分析回饋</a:t>
              </a:r>
            </a:p>
          </p:txBody>
        </p:sp>
        <p:sp>
          <p:nvSpPr>
            <p:cNvPr id="926" name="矩形: 圓角 925">
              <a:extLst>
                <a:ext uri="{FF2B5EF4-FFF2-40B4-BE49-F238E27FC236}">
                  <a16:creationId xmlns:a16="http://schemas.microsoft.com/office/drawing/2014/main" id="{28C2FFF4-8DEF-48E3-8FDE-17A9D603033C}"/>
                </a:ext>
              </a:extLst>
            </p:cNvPr>
            <p:cNvSpPr/>
            <p:nvPr/>
          </p:nvSpPr>
          <p:spPr>
            <a:xfrm>
              <a:off x="7665869" y="2412451"/>
              <a:ext cx="808686" cy="384506"/>
            </a:xfrm>
            <a:prstGeom prst="roundRect">
              <a:avLst>
                <a:gd name="adj" fmla="val 6775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2037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100" b="1" dirty="0">
                  <a:solidFill>
                    <a:srgbClr val="203775"/>
                  </a:solidFill>
                </a:rPr>
                <a:t>模型異動</a:t>
              </a:r>
            </a:p>
          </p:txBody>
        </p:sp>
        <p:cxnSp>
          <p:nvCxnSpPr>
            <p:cNvPr id="927" name="直線單箭頭接點 926">
              <a:extLst>
                <a:ext uri="{FF2B5EF4-FFF2-40B4-BE49-F238E27FC236}">
                  <a16:creationId xmlns:a16="http://schemas.microsoft.com/office/drawing/2014/main" id="{2490A9A1-E15B-41FC-BB10-0645296E53E2}"/>
                </a:ext>
              </a:extLst>
            </p:cNvPr>
            <p:cNvCxnSpPr>
              <a:cxnSpLocks/>
              <a:stCxn id="923" idx="0"/>
              <a:endCxn id="924" idx="2"/>
            </p:cNvCxnSpPr>
            <p:nvPr/>
          </p:nvCxnSpPr>
          <p:spPr>
            <a:xfrm flipV="1">
              <a:off x="7006298" y="1961861"/>
              <a:ext cx="4170" cy="4505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直線單箭頭接點 927">
              <a:extLst>
                <a:ext uri="{FF2B5EF4-FFF2-40B4-BE49-F238E27FC236}">
                  <a16:creationId xmlns:a16="http://schemas.microsoft.com/office/drawing/2014/main" id="{1CD8B93D-2815-491C-9655-0674259A33E3}"/>
                </a:ext>
              </a:extLst>
            </p:cNvPr>
            <p:cNvCxnSpPr>
              <a:cxnSpLocks/>
              <a:stCxn id="925" idx="2"/>
              <a:endCxn id="926" idx="0"/>
            </p:cNvCxnSpPr>
            <p:nvPr/>
          </p:nvCxnSpPr>
          <p:spPr>
            <a:xfrm flipH="1">
              <a:off x="8070212" y="1961861"/>
              <a:ext cx="4170" cy="4505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直線單箭頭接點 929">
              <a:extLst>
                <a:ext uri="{FF2B5EF4-FFF2-40B4-BE49-F238E27FC236}">
                  <a16:creationId xmlns:a16="http://schemas.microsoft.com/office/drawing/2014/main" id="{5C482BC5-4B65-4DB9-A8F2-2C725D211E18}"/>
                </a:ext>
              </a:extLst>
            </p:cNvPr>
            <p:cNvCxnSpPr>
              <a:cxnSpLocks/>
              <a:stCxn id="924" idx="3"/>
              <a:endCxn id="925" idx="1"/>
            </p:cNvCxnSpPr>
            <p:nvPr/>
          </p:nvCxnSpPr>
          <p:spPr>
            <a:xfrm>
              <a:off x="7414811" y="1769608"/>
              <a:ext cx="255228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1" name="矩形: 圓角 930">
              <a:extLst>
                <a:ext uri="{FF2B5EF4-FFF2-40B4-BE49-F238E27FC236}">
                  <a16:creationId xmlns:a16="http://schemas.microsoft.com/office/drawing/2014/main" id="{BD71B38D-AC61-4D2F-89F7-6022BA84C9BF}"/>
                </a:ext>
              </a:extLst>
            </p:cNvPr>
            <p:cNvSpPr/>
            <p:nvPr/>
          </p:nvSpPr>
          <p:spPr>
            <a:xfrm>
              <a:off x="1252576" y="1568450"/>
              <a:ext cx="808686" cy="384506"/>
            </a:xfrm>
            <a:prstGeom prst="roundRect">
              <a:avLst>
                <a:gd name="adj" fmla="val 6775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100" b="1" dirty="0">
                  <a:solidFill>
                    <a:schemeClr val="accent6">
                      <a:lumMod val="50000"/>
                    </a:schemeClr>
                  </a:solidFill>
                </a:rPr>
                <a:t>問題定義</a:t>
              </a:r>
            </a:p>
          </p:txBody>
        </p:sp>
        <p:sp>
          <p:nvSpPr>
            <p:cNvPr id="932" name="矩形: 圓角 931">
              <a:extLst>
                <a:ext uri="{FF2B5EF4-FFF2-40B4-BE49-F238E27FC236}">
                  <a16:creationId xmlns:a16="http://schemas.microsoft.com/office/drawing/2014/main" id="{C227D27B-97A6-4937-99AC-4CE4D0D3678E}"/>
                </a:ext>
              </a:extLst>
            </p:cNvPr>
            <p:cNvSpPr/>
            <p:nvPr/>
          </p:nvSpPr>
          <p:spPr>
            <a:xfrm>
              <a:off x="1248406" y="2412451"/>
              <a:ext cx="808686" cy="384506"/>
            </a:xfrm>
            <a:prstGeom prst="roundRect">
              <a:avLst>
                <a:gd name="adj" fmla="val 6775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2037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100" b="1" dirty="0">
                  <a:solidFill>
                    <a:srgbClr val="203775"/>
                  </a:solidFill>
                </a:rPr>
                <a:t>需求分析</a:t>
              </a:r>
            </a:p>
          </p:txBody>
        </p:sp>
        <p:sp>
          <p:nvSpPr>
            <p:cNvPr id="933" name="矩形: 圓角 932">
              <a:extLst>
                <a:ext uri="{FF2B5EF4-FFF2-40B4-BE49-F238E27FC236}">
                  <a16:creationId xmlns:a16="http://schemas.microsoft.com/office/drawing/2014/main" id="{0AFEE487-4D5B-430C-8ED0-ACA8A8676C72}"/>
                </a:ext>
              </a:extLst>
            </p:cNvPr>
            <p:cNvSpPr/>
            <p:nvPr/>
          </p:nvSpPr>
          <p:spPr>
            <a:xfrm>
              <a:off x="2261525" y="2412451"/>
              <a:ext cx="808686" cy="384506"/>
            </a:xfrm>
            <a:prstGeom prst="roundRect">
              <a:avLst>
                <a:gd name="adj" fmla="val 6775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2037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100" b="1" dirty="0">
                  <a:solidFill>
                    <a:srgbClr val="203775"/>
                  </a:solidFill>
                </a:rPr>
                <a:t>模型建立</a:t>
              </a:r>
            </a:p>
          </p:txBody>
        </p:sp>
        <p:sp>
          <p:nvSpPr>
            <p:cNvPr id="934" name="矩形: 圓角 933">
              <a:extLst>
                <a:ext uri="{FF2B5EF4-FFF2-40B4-BE49-F238E27FC236}">
                  <a16:creationId xmlns:a16="http://schemas.microsoft.com/office/drawing/2014/main" id="{DC73D437-9A4B-4C6C-863A-A81D5DB1E418}"/>
                </a:ext>
              </a:extLst>
            </p:cNvPr>
            <p:cNvSpPr/>
            <p:nvPr/>
          </p:nvSpPr>
          <p:spPr>
            <a:xfrm>
              <a:off x="2265695" y="1568450"/>
              <a:ext cx="808686" cy="384506"/>
            </a:xfrm>
            <a:prstGeom prst="roundRect">
              <a:avLst>
                <a:gd name="adj" fmla="val 6775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100" b="1" dirty="0">
                  <a:solidFill>
                    <a:schemeClr val="accent6">
                      <a:lumMod val="50000"/>
                    </a:schemeClr>
                  </a:solidFill>
                </a:rPr>
                <a:t>需求驗證</a:t>
              </a:r>
            </a:p>
          </p:txBody>
        </p:sp>
        <p:sp>
          <p:nvSpPr>
            <p:cNvPr id="935" name="菱形 934">
              <a:extLst>
                <a:ext uri="{FF2B5EF4-FFF2-40B4-BE49-F238E27FC236}">
                  <a16:creationId xmlns:a16="http://schemas.microsoft.com/office/drawing/2014/main" id="{2C2F8260-9057-4A70-B5B6-340965F8EE5E}"/>
                </a:ext>
              </a:extLst>
            </p:cNvPr>
            <p:cNvSpPr/>
            <p:nvPr/>
          </p:nvSpPr>
          <p:spPr>
            <a:xfrm flipV="1">
              <a:off x="3202284" y="2507563"/>
              <a:ext cx="194282" cy="194282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cxnSp>
          <p:nvCxnSpPr>
            <p:cNvPr id="936" name="直線單箭頭接點 935">
              <a:extLst>
                <a:ext uri="{FF2B5EF4-FFF2-40B4-BE49-F238E27FC236}">
                  <a16:creationId xmlns:a16="http://schemas.microsoft.com/office/drawing/2014/main" id="{BF3BC7A0-F033-45FD-895C-CC80CDC2D3BC}"/>
                </a:ext>
              </a:extLst>
            </p:cNvPr>
            <p:cNvCxnSpPr>
              <a:cxnSpLocks/>
              <a:stCxn id="931" idx="2"/>
              <a:endCxn id="932" idx="0"/>
            </p:cNvCxnSpPr>
            <p:nvPr/>
          </p:nvCxnSpPr>
          <p:spPr>
            <a:xfrm flipH="1">
              <a:off x="1652749" y="1952956"/>
              <a:ext cx="4170" cy="45949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直線單箭頭接點 936">
              <a:extLst>
                <a:ext uri="{FF2B5EF4-FFF2-40B4-BE49-F238E27FC236}">
                  <a16:creationId xmlns:a16="http://schemas.microsoft.com/office/drawing/2014/main" id="{F3B135C3-47C9-4E37-8079-CAC33A5D25D3}"/>
                </a:ext>
              </a:extLst>
            </p:cNvPr>
            <p:cNvCxnSpPr>
              <a:cxnSpLocks/>
              <a:stCxn id="932" idx="3"/>
              <a:endCxn id="933" idx="1"/>
            </p:cNvCxnSpPr>
            <p:nvPr/>
          </p:nvCxnSpPr>
          <p:spPr>
            <a:xfrm>
              <a:off x="2057092" y="2604704"/>
              <a:ext cx="204433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直線單箭頭接點 937">
              <a:extLst>
                <a:ext uri="{FF2B5EF4-FFF2-40B4-BE49-F238E27FC236}">
                  <a16:creationId xmlns:a16="http://schemas.microsoft.com/office/drawing/2014/main" id="{920551B3-BCA0-4205-B4CE-1C232831A022}"/>
                </a:ext>
              </a:extLst>
            </p:cNvPr>
            <p:cNvCxnSpPr>
              <a:cxnSpLocks/>
              <a:stCxn id="933" idx="0"/>
              <a:endCxn id="934" idx="2"/>
            </p:cNvCxnSpPr>
            <p:nvPr/>
          </p:nvCxnSpPr>
          <p:spPr>
            <a:xfrm flipV="1">
              <a:off x="2665868" y="1952956"/>
              <a:ext cx="4170" cy="45949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9" name="接點: 肘形 938">
              <a:extLst>
                <a:ext uri="{FF2B5EF4-FFF2-40B4-BE49-F238E27FC236}">
                  <a16:creationId xmlns:a16="http://schemas.microsoft.com/office/drawing/2014/main" id="{89A042D6-A26B-43CB-95DA-D95A8E975B8C}"/>
                </a:ext>
              </a:extLst>
            </p:cNvPr>
            <p:cNvCxnSpPr>
              <a:cxnSpLocks/>
              <a:stCxn id="934" idx="3"/>
              <a:endCxn id="935" idx="2"/>
            </p:cNvCxnSpPr>
            <p:nvPr/>
          </p:nvCxnSpPr>
          <p:spPr>
            <a:xfrm>
              <a:off x="3074381" y="1760703"/>
              <a:ext cx="225044" cy="746860"/>
            </a:xfrm>
            <a:prstGeom prst="bentConnector2">
              <a:avLst/>
            </a:prstGeom>
            <a:ln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直線單箭頭接點 939">
              <a:extLst>
                <a:ext uri="{FF2B5EF4-FFF2-40B4-BE49-F238E27FC236}">
                  <a16:creationId xmlns:a16="http://schemas.microsoft.com/office/drawing/2014/main" id="{55C9636C-912C-4C6F-BF8E-AEC5F5B168A7}"/>
                </a:ext>
              </a:extLst>
            </p:cNvPr>
            <p:cNvCxnSpPr>
              <a:cxnSpLocks/>
              <a:stCxn id="944" idx="3"/>
              <a:endCxn id="923" idx="1"/>
            </p:cNvCxnSpPr>
            <p:nvPr/>
          </p:nvCxnSpPr>
          <p:spPr>
            <a:xfrm>
              <a:off x="5922000" y="2604704"/>
              <a:ext cx="6799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1" name="矩形: 圓角 940">
              <a:extLst>
                <a:ext uri="{FF2B5EF4-FFF2-40B4-BE49-F238E27FC236}">
                  <a16:creationId xmlns:a16="http://schemas.microsoft.com/office/drawing/2014/main" id="{3CDFB429-5056-475B-980A-3102F636331A}"/>
                </a:ext>
              </a:extLst>
            </p:cNvPr>
            <p:cNvSpPr/>
            <p:nvPr/>
          </p:nvSpPr>
          <p:spPr>
            <a:xfrm>
              <a:off x="4089957" y="2412451"/>
              <a:ext cx="808686" cy="384506"/>
            </a:xfrm>
            <a:prstGeom prst="roundRect">
              <a:avLst>
                <a:gd name="adj" fmla="val 6775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2037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100" b="1" dirty="0">
                  <a:solidFill>
                    <a:srgbClr val="203775"/>
                  </a:solidFill>
                </a:rPr>
                <a:t>程式開發</a:t>
              </a:r>
            </a:p>
          </p:txBody>
        </p:sp>
        <p:sp>
          <p:nvSpPr>
            <p:cNvPr id="942" name="矩形: 圓角 941">
              <a:extLst>
                <a:ext uri="{FF2B5EF4-FFF2-40B4-BE49-F238E27FC236}">
                  <a16:creationId xmlns:a16="http://schemas.microsoft.com/office/drawing/2014/main" id="{EBAA2451-B43B-4F8D-9CDE-F20BE00D26CC}"/>
                </a:ext>
              </a:extLst>
            </p:cNvPr>
            <p:cNvSpPr/>
            <p:nvPr/>
          </p:nvSpPr>
          <p:spPr>
            <a:xfrm>
              <a:off x="4094127" y="1562925"/>
              <a:ext cx="808686" cy="384506"/>
            </a:xfrm>
            <a:prstGeom prst="roundRect">
              <a:avLst>
                <a:gd name="adj" fmla="val 6775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100" b="1" dirty="0">
                  <a:solidFill>
                    <a:schemeClr val="accent6">
                      <a:lumMod val="50000"/>
                    </a:schemeClr>
                  </a:solidFill>
                </a:rPr>
                <a:t>測試驗證</a:t>
              </a:r>
            </a:p>
          </p:txBody>
        </p:sp>
        <p:cxnSp>
          <p:nvCxnSpPr>
            <p:cNvPr id="943" name="直線單箭頭接點 942">
              <a:extLst>
                <a:ext uri="{FF2B5EF4-FFF2-40B4-BE49-F238E27FC236}">
                  <a16:creationId xmlns:a16="http://schemas.microsoft.com/office/drawing/2014/main" id="{55AA0B7F-AF74-4645-9674-BDD366E108F2}"/>
                </a:ext>
              </a:extLst>
            </p:cNvPr>
            <p:cNvCxnSpPr>
              <a:cxnSpLocks/>
              <a:stCxn id="941" idx="0"/>
              <a:endCxn id="942" idx="2"/>
            </p:cNvCxnSpPr>
            <p:nvPr/>
          </p:nvCxnSpPr>
          <p:spPr>
            <a:xfrm flipV="1">
              <a:off x="4494300" y="1947431"/>
              <a:ext cx="4170" cy="46502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4" name="菱形 943">
              <a:extLst>
                <a:ext uri="{FF2B5EF4-FFF2-40B4-BE49-F238E27FC236}">
                  <a16:creationId xmlns:a16="http://schemas.microsoft.com/office/drawing/2014/main" id="{06C42A2D-DEF3-4A13-B60A-12C0B1A7F686}"/>
                </a:ext>
              </a:extLst>
            </p:cNvPr>
            <p:cNvSpPr/>
            <p:nvPr/>
          </p:nvSpPr>
          <p:spPr>
            <a:xfrm flipV="1">
              <a:off x="5727718" y="2507563"/>
              <a:ext cx="194282" cy="194282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cxnSp>
          <p:nvCxnSpPr>
            <p:cNvPr id="945" name="接點: 肘形 944">
              <a:extLst>
                <a:ext uri="{FF2B5EF4-FFF2-40B4-BE49-F238E27FC236}">
                  <a16:creationId xmlns:a16="http://schemas.microsoft.com/office/drawing/2014/main" id="{EE4BB271-BE2B-4696-8D89-1AC6F16E7DBD}"/>
                </a:ext>
              </a:extLst>
            </p:cNvPr>
            <p:cNvCxnSpPr>
              <a:cxnSpLocks/>
              <a:stCxn id="942" idx="3"/>
              <a:endCxn id="944" idx="2"/>
            </p:cNvCxnSpPr>
            <p:nvPr/>
          </p:nvCxnSpPr>
          <p:spPr>
            <a:xfrm>
              <a:off x="4902813" y="1755178"/>
              <a:ext cx="922046" cy="752385"/>
            </a:xfrm>
            <a:prstGeom prst="bentConnector2">
              <a:avLst/>
            </a:prstGeom>
            <a:ln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直線單箭頭接點 945">
              <a:extLst>
                <a:ext uri="{FF2B5EF4-FFF2-40B4-BE49-F238E27FC236}">
                  <a16:creationId xmlns:a16="http://schemas.microsoft.com/office/drawing/2014/main" id="{C6C2D1DD-41D9-4E3A-A5EF-D1927CB99422}"/>
                </a:ext>
              </a:extLst>
            </p:cNvPr>
            <p:cNvCxnSpPr>
              <a:cxnSpLocks/>
              <a:stCxn id="944" idx="1"/>
              <a:endCxn id="941" idx="3"/>
            </p:cNvCxnSpPr>
            <p:nvPr/>
          </p:nvCxnSpPr>
          <p:spPr>
            <a:xfrm flipH="1">
              <a:off x="4898643" y="2604704"/>
              <a:ext cx="82907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7" name="文字方塊 946">
              <a:extLst>
                <a:ext uri="{FF2B5EF4-FFF2-40B4-BE49-F238E27FC236}">
                  <a16:creationId xmlns:a16="http://schemas.microsoft.com/office/drawing/2014/main" id="{7DCD92D8-E008-4187-81A8-4C9DD6F154F8}"/>
                </a:ext>
              </a:extLst>
            </p:cNvPr>
            <p:cNvSpPr txBox="1"/>
            <p:nvPr/>
          </p:nvSpPr>
          <p:spPr>
            <a:xfrm>
              <a:off x="651396" y="2353321"/>
              <a:ext cx="252000" cy="7386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algn="ctr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r>
                <a:rPr lang="zh-TW" altLang="en-US" dirty="0">
                  <a:solidFill>
                    <a:srgbClr val="203775"/>
                  </a:solidFill>
                </a:rPr>
                <a:t>開</a:t>
              </a:r>
              <a:endParaRPr lang="en-US" altLang="zh-TW" dirty="0">
                <a:solidFill>
                  <a:srgbClr val="203775"/>
                </a:solidFill>
              </a:endParaRPr>
            </a:p>
            <a:p>
              <a:r>
                <a:rPr lang="zh-TW" altLang="en-US" dirty="0">
                  <a:solidFill>
                    <a:srgbClr val="203775"/>
                  </a:solidFill>
                </a:rPr>
                <a:t>發</a:t>
              </a:r>
              <a:endParaRPr lang="en-US" altLang="zh-TW" dirty="0">
                <a:solidFill>
                  <a:srgbClr val="203775"/>
                </a:solidFill>
              </a:endParaRPr>
            </a:p>
            <a:p>
              <a:r>
                <a:rPr lang="zh-TW" altLang="en-US" dirty="0">
                  <a:solidFill>
                    <a:srgbClr val="203775"/>
                  </a:solidFill>
                </a:rPr>
                <a:t>者</a:t>
              </a:r>
            </a:p>
          </p:txBody>
        </p:sp>
        <p:sp>
          <p:nvSpPr>
            <p:cNvPr id="948" name="文字方塊 947">
              <a:extLst>
                <a:ext uri="{FF2B5EF4-FFF2-40B4-BE49-F238E27FC236}">
                  <a16:creationId xmlns:a16="http://schemas.microsoft.com/office/drawing/2014/main" id="{3AE8E16E-5D0D-4FB9-BC15-9D47143B31D3}"/>
                </a:ext>
              </a:extLst>
            </p:cNvPr>
            <p:cNvSpPr txBox="1"/>
            <p:nvPr/>
          </p:nvSpPr>
          <p:spPr>
            <a:xfrm>
              <a:off x="651396" y="1370478"/>
              <a:ext cx="252000" cy="7386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algn="ctr">
                <a:defRPr sz="1400" b="1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r>
                <a:rPr lang="zh-TW" altLang="en-US" dirty="0">
                  <a:solidFill>
                    <a:schemeClr val="accent6">
                      <a:lumMod val="50000"/>
                    </a:schemeClr>
                  </a:solidFill>
                </a:rPr>
                <a:t>使</a:t>
              </a:r>
              <a:endParaRPr lang="en-US" altLang="zh-TW" dirty="0">
                <a:solidFill>
                  <a:schemeClr val="accent6">
                    <a:lumMod val="50000"/>
                  </a:schemeClr>
                </a:solidFill>
              </a:endParaRPr>
            </a:p>
            <a:p>
              <a:r>
                <a:rPr lang="zh-TW" altLang="en-US" dirty="0">
                  <a:solidFill>
                    <a:schemeClr val="accent6">
                      <a:lumMod val="50000"/>
                    </a:schemeClr>
                  </a:solidFill>
                </a:rPr>
                <a:t>用</a:t>
              </a:r>
              <a:endParaRPr lang="en-US" altLang="zh-TW" dirty="0">
                <a:solidFill>
                  <a:schemeClr val="accent6">
                    <a:lumMod val="50000"/>
                  </a:schemeClr>
                </a:solidFill>
              </a:endParaRPr>
            </a:p>
            <a:p>
              <a:r>
                <a:rPr lang="zh-TW" altLang="en-US" dirty="0">
                  <a:solidFill>
                    <a:schemeClr val="accent6">
                      <a:lumMod val="50000"/>
                    </a:schemeClr>
                  </a:solidFill>
                </a:rPr>
                <a:t>者</a:t>
              </a:r>
            </a:p>
          </p:txBody>
        </p:sp>
        <p:cxnSp>
          <p:nvCxnSpPr>
            <p:cNvPr id="953" name="直線單箭頭接點 952">
              <a:extLst>
                <a:ext uri="{FF2B5EF4-FFF2-40B4-BE49-F238E27FC236}">
                  <a16:creationId xmlns:a16="http://schemas.microsoft.com/office/drawing/2014/main" id="{6EF526A4-3E69-4022-9F1B-71444F6595EC}"/>
                </a:ext>
              </a:extLst>
            </p:cNvPr>
            <p:cNvCxnSpPr>
              <a:cxnSpLocks/>
              <a:stCxn id="935" idx="3"/>
              <a:endCxn id="941" idx="1"/>
            </p:cNvCxnSpPr>
            <p:nvPr/>
          </p:nvCxnSpPr>
          <p:spPr>
            <a:xfrm>
              <a:off x="3396566" y="2604704"/>
              <a:ext cx="693391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54" name="群組 953">
              <a:extLst>
                <a:ext uri="{FF2B5EF4-FFF2-40B4-BE49-F238E27FC236}">
                  <a16:creationId xmlns:a16="http://schemas.microsoft.com/office/drawing/2014/main" id="{07DBD9FB-B737-477F-8AA7-0044B47A12EE}"/>
                </a:ext>
              </a:extLst>
            </p:cNvPr>
            <p:cNvGrpSpPr/>
            <p:nvPr/>
          </p:nvGrpSpPr>
          <p:grpSpPr>
            <a:xfrm>
              <a:off x="5989689" y="2496982"/>
              <a:ext cx="393679" cy="215444"/>
              <a:chOff x="6132292" y="3912592"/>
              <a:chExt cx="393679" cy="215444"/>
            </a:xfrm>
            <a:solidFill>
              <a:srgbClr val="EAF2FA"/>
            </a:solidFill>
          </p:grpSpPr>
          <p:sp>
            <p:nvSpPr>
              <p:cNvPr id="955" name="矩形 954">
                <a:extLst>
                  <a:ext uri="{FF2B5EF4-FFF2-40B4-BE49-F238E27FC236}">
                    <a16:creationId xmlns:a16="http://schemas.microsoft.com/office/drawing/2014/main" id="{A4250811-C9B4-4F36-A1D7-C67CC6D19AD3}"/>
                  </a:ext>
                </a:extLst>
              </p:cNvPr>
              <p:cNvSpPr/>
              <p:nvPr/>
            </p:nvSpPr>
            <p:spPr>
              <a:xfrm>
                <a:off x="6184527" y="3951016"/>
                <a:ext cx="289209" cy="142685"/>
              </a:xfrm>
              <a:prstGeom prst="rect">
                <a:avLst/>
              </a:prstGeom>
              <a:solidFill>
                <a:srgbClr val="F2F7F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56" name="文字方塊 955">
                <a:extLst>
                  <a:ext uri="{FF2B5EF4-FFF2-40B4-BE49-F238E27FC236}">
                    <a16:creationId xmlns:a16="http://schemas.microsoft.com/office/drawing/2014/main" id="{D2601F5B-9EA7-4740-8BFB-7A300DAFF1B7}"/>
                  </a:ext>
                </a:extLst>
              </p:cNvPr>
              <p:cNvSpPr txBox="1"/>
              <p:nvPr/>
            </p:nvSpPr>
            <p:spPr>
              <a:xfrm>
                <a:off x="6132292" y="3912592"/>
                <a:ext cx="393679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zh-TW" altLang="en-US" sz="800" dirty="0"/>
                  <a:t>通過</a:t>
                </a:r>
              </a:p>
            </p:txBody>
          </p:sp>
        </p:grpSp>
        <p:grpSp>
          <p:nvGrpSpPr>
            <p:cNvPr id="957" name="群組 956">
              <a:extLst>
                <a:ext uri="{FF2B5EF4-FFF2-40B4-BE49-F238E27FC236}">
                  <a16:creationId xmlns:a16="http://schemas.microsoft.com/office/drawing/2014/main" id="{FEA3E475-DD26-4650-92CA-D2A3EF984D77}"/>
                </a:ext>
              </a:extLst>
            </p:cNvPr>
            <p:cNvGrpSpPr/>
            <p:nvPr/>
          </p:nvGrpSpPr>
          <p:grpSpPr>
            <a:xfrm>
              <a:off x="5024942" y="2493412"/>
              <a:ext cx="593006" cy="215444"/>
              <a:chOff x="5239763" y="3630897"/>
              <a:chExt cx="593006" cy="215444"/>
            </a:xfrm>
          </p:grpSpPr>
          <p:sp>
            <p:nvSpPr>
              <p:cNvPr id="958" name="矩形 957">
                <a:extLst>
                  <a:ext uri="{FF2B5EF4-FFF2-40B4-BE49-F238E27FC236}">
                    <a16:creationId xmlns:a16="http://schemas.microsoft.com/office/drawing/2014/main" id="{C523483C-2C30-4336-A7EA-E8B90D51DF9B}"/>
                  </a:ext>
                </a:extLst>
              </p:cNvPr>
              <p:cNvSpPr/>
              <p:nvPr/>
            </p:nvSpPr>
            <p:spPr>
              <a:xfrm>
                <a:off x="5316133" y="3667276"/>
                <a:ext cx="440267" cy="142685"/>
              </a:xfrm>
              <a:prstGeom prst="rect">
                <a:avLst/>
              </a:prstGeom>
              <a:solidFill>
                <a:srgbClr val="F2F7F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59" name="文字方塊 958">
                <a:extLst>
                  <a:ext uri="{FF2B5EF4-FFF2-40B4-BE49-F238E27FC236}">
                    <a16:creationId xmlns:a16="http://schemas.microsoft.com/office/drawing/2014/main" id="{B777AFCB-B7F9-4020-AC31-EC7674DEAA24}"/>
                  </a:ext>
                </a:extLst>
              </p:cNvPr>
              <p:cNvSpPr txBox="1"/>
              <p:nvPr/>
            </p:nvSpPr>
            <p:spPr>
              <a:xfrm>
                <a:off x="5239763" y="3630897"/>
                <a:ext cx="593006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zh-TW" altLang="en-US" sz="800" dirty="0"/>
                  <a:t>程式錯誤</a:t>
                </a:r>
              </a:p>
            </p:txBody>
          </p:sp>
        </p:grpSp>
        <p:grpSp>
          <p:nvGrpSpPr>
            <p:cNvPr id="960" name="群組 959">
              <a:extLst>
                <a:ext uri="{FF2B5EF4-FFF2-40B4-BE49-F238E27FC236}">
                  <a16:creationId xmlns:a16="http://schemas.microsoft.com/office/drawing/2014/main" id="{E1AB2DB1-BDED-412D-AECC-BFCF454CD0B7}"/>
                </a:ext>
              </a:extLst>
            </p:cNvPr>
            <p:cNvGrpSpPr/>
            <p:nvPr/>
          </p:nvGrpSpPr>
          <p:grpSpPr>
            <a:xfrm>
              <a:off x="3002922" y="2776695"/>
              <a:ext cx="593006" cy="215444"/>
              <a:chOff x="4572000" y="3630897"/>
              <a:chExt cx="593006" cy="215444"/>
            </a:xfrm>
            <a:noFill/>
          </p:grpSpPr>
          <p:sp>
            <p:nvSpPr>
              <p:cNvPr id="961" name="矩形 960">
                <a:extLst>
                  <a:ext uri="{FF2B5EF4-FFF2-40B4-BE49-F238E27FC236}">
                    <a16:creationId xmlns:a16="http://schemas.microsoft.com/office/drawing/2014/main" id="{0D8C1C7F-A649-4120-8D70-56A79637BC4C}"/>
                  </a:ext>
                </a:extLst>
              </p:cNvPr>
              <p:cNvSpPr/>
              <p:nvPr/>
            </p:nvSpPr>
            <p:spPr>
              <a:xfrm>
                <a:off x="4648370" y="3667276"/>
                <a:ext cx="440267" cy="142685"/>
              </a:xfrm>
              <a:prstGeom prst="rect">
                <a:avLst/>
              </a:prstGeom>
              <a:solidFill>
                <a:srgbClr val="F2F7F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62" name="文字方塊 961">
                <a:extLst>
                  <a:ext uri="{FF2B5EF4-FFF2-40B4-BE49-F238E27FC236}">
                    <a16:creationId xmlns:a16="http://schemas.microsoft.com/office/drawing/2014/main" id="{C81EE3AA-3499-4D72-9157-00825325ADEA}"/>
                  </a:ext>
                </a:extLst>
              </p:cNvPr>
              <p:cNvSpPr txBox="1"/>
              <p:nvPr/>
            </p:nvSpPr>
            <p:spPr>
              <a:xfrm>
                <a:off x="4572000" y="3630897"/>
                <a:ext cx="593006" cy="21544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zh-TW" altLang="en-US" sz="800" dirty="0"/>
                  <a:t>模型錯誤</a:t>
                </a:r>
              </a:p>
            </p:txBody>
          </p:sp>
        </p:grpSp>
        <p:grpSp>
          <p:nvGrpSpPr>
            <p:cNvPr id="963" name="群組 962">
              <a:extLst>
                <a:ext uri="{FF2B5EF4-FFF2-40B4-BE49-F238E27FC236}">
                  <a16:creationId xmlns:a16="http://schemas.microsoft.com/office/drawing/2014/main" id="{EDA772F0-FC41-42C8-A2BE-88F4414D70B8}"/>
                </a:ext>
              </a:extLst>
            </p:cNvPr>
            <p:cNvGrpSpPr/>
            <p:nvPr/>
          </p:nvGrpSpPr>
          <p:grpSpPr>
            <a:xfrm>
              <a:off x="3436442" y="2496982"/>
              <a:ext cx="393679" cy="215444"/>
              <a:chOff x="6132292" y="3912592"/>
              <a:chExt cx="393679" cy="215444"/>
            </a:xfrm>
            <a:noFill/>
          </p:grpSpPr>
          <p:sp>
            <p:nvSpPr>
              <p:cNvPr id="964" name="矩形 963">
                <a:extLst>
                  <a:ext uri="{FF2B5EF4-FFF2-40B4-BE49-F238E27FC236}">
                    <a16:creationId xmlns:a16="http://schemas.microsoft.com/office/drawing/2014/main" id="{975CB050-EB3E-46B2-9C4A-FF4E995E0943}"/>
                  </a:ext>
                </a:extLst>
              </p:cNvPr>
              <p:cNvSpPr/>
              <p:nvPr/>
            </p:nvSpPr>
            <p:spPr>
              <a:xfrm>
                <a:off x="6184527" y="3951016"/>
                <a:ext cx="289209" cy="142685"/>
              </a:xfrm>
              <a:prstGeom prst="rect">
                <a:avLst/>
              </a:prstGeom>
              <a:solidFill>
                <a:srgbClr val="F2F7F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65" name="文字方塊 964">
                <a:extLst>
                  <a:ext uri="{FF2B5EF4-FFF2-40B4-BE49-F238E27FC236}">
                    <a16:creationId xmlns:a16="http://schemas.microsoft.com/office/drawing/2014/main" id="{6166CD80-88D9-448B-B25E-2D4AA201FCAA}"/>
                  </a:ext>
                </a:extLst>
              </p:cNvPr>
              <p:cNvSpPr txBox="1"/>
              <p:nvPr/>
            </p:nvSpPr>
            <p:spPr>
              <a:xfrm>
                <a:off x="6132292" y="3912592"/>
                <a:ext cx="393679" cy="21544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zh-TW" altLang="en-US" sz="800" dirty="0"/>
                  <a:t>通過</a:t>
                </a:r>
              </a:p>
            </p:txBody>
          </p:sp>
        </p:grpSp>
        <p:grpSp>
          <p:nvGrpSpPr>
            <p:cNvPr id="966" name="群組 965">
              <a:extLst>
                <a:ext uri="{FF2B5EF4-FFF2-40B4-BE49-F238E27FC236}">
                  <a16:creationId xmlns:a16="http://schemas.microsoft.com/office/drawing/2014/main" id="{42FE6B0C-F663-4AAD-B636-A8107724C21F}"/>
                </a:ext>
              </a:extLst>
            </p:cNvPr>
            <p:cNvGrpSpPr/>
            <p:nvPr/>
          </p:nvGrpSpPr>
          <p:grpSpPr>
            <a:xfrm>
              <a:off x="5529710" y="2776695"/>
              <a:ext cx="593006" cy="215444"/>
              <a:chOff x="4572000" y="3630897"/>
              <a:chExt cx="593006" cy="215444"/>
            </a:xfrm>
          </p:grpSpPr>
          <p:sp>
            <p:nvSpPr>
              <p:cNvPr id="967" name="矩形 966">
                <a:extLst>
                  <a:ext uri="{FF2B5EF4-FFF2-40B4-BE49-F238E27FC236}">
                    <a16:creationId xmlns:a16="http://schemas.microsoft.com/office/drawing/2014/main" id="{1DB31AD9-F5D7-4ECE-B773-606201E89AB2}"/>
                  </a:ext>
                </a:extLst>
              </p:cNvPr>
              <p:cNvSpPr/>
              <p:nvPr/>
            </p:nvSpPr>
            <p:spPr>
              <a:xfrm>
                <a:off x="4648370" y="3667276"/>
                <a:ext cx="440267" cy="142685"/>
              </a:xfrm>
              <a:prstGeom prst="rect">
                <a:avLst/>
              </a:prstGeom>
              <a:solidFill>
                <a:srgbClr val="F2F7F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68" name="文字方塊 967">
                <a:extLst>
                  <a:ext uri="{FF2B5EF4-FFF2-40B4-BE49-F238E27FC236}">
                    <a16:creationId xmlns:a16="http://schemas.microsoft.com/office/drawing/2014/main" id="{895093D9-FAF7-405D-8540-5BC203995F5F}"/>
                  </a:ext>
                </a:extLst>
              </p:cNvPr>
              <p:cNvSpPr txBox="1"/>
              <p:nvPr/>
            </p:nvSpPr>
            <p:spPr>
              <a:xfrm>
                <a:off x="4572000" y="3630897"/>
                <a:ext cx="593006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zh-TW" altLang="en-US" sz="800" dirty="0"/>
                  <a:t>模型錯誤</a:t>
                </a:r>
              </a:p>
            </p:txBody>
          </p:sp>
        </p:grpSp>
        <p:cxnSp>
          <p:nvCxnSpPr>
            <p:cNvPr id="970" name="直線接點 969">
              <a:extLst>
                <a:ext uri="{FF2B5EF4-FFF2-40B4-BE49-F238E27FC236}">
                  <a16:creationId xmlns:a16="http://schemas.microsoft.com/office/drawing/2014/main" id="{7612E9B6-EEA1-4549-BBF7-75D01AF44D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1813" y="3279143"/>
              <a:ext cx="8100552" cy="0"/>
            </a:xfrm>
            <a:prstGeom prst="line">
              <a:avLst/>
            </a:prstGeom>
            <a:ln w="9525">
              <a:solidFill>
                <a:srgbClr val="222A3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直線接點 970">
              <a:extLst>
                <a:ext uri="{FF2B5EF4-FFF2-40B4-BE49-F238E27FC236}">
                  <a16:creationId xmlns:a16="http://schemas.microsoft.com/office/drawing/2014/main" id="{E2871C60-CA5C-492A-8C77-33854580387F}"/>
                </a:ext>
              </a:extLst>
            </p:cNvPr>
            <p:cNvCxnSpPr>
              <a:cxnSpLocks/>
            </p:cNvCxnSpPr>
            <p:nvPr/>
          </p:nvCxnSpPr>
          <p:spPr>
            <a:xfrm>
              <a:off x="536471" y="1254311"/>
              <a:ext cx="0" cy="2022323"/>
            </a:xfrm>
            <a:prstGeom prst="line">
              <a:avLst/>
            </a:prstGeom>
            <a:ln w="9525" cap="rnd">
              <a:solidFill>
                <a:srgbClr val="222A35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BDF0F85A-D8BE-489F-8A26-3F9E8BB6D3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專案動機｜</a:t>
            </a:r>
            <a:r>
              <a:rPr lang="zh-TW" altLang="en-US" b="0" dirty="0"/>
              <a:t>數學規劃模型之軟體開發生命週期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B04F98-C67E-4BB2-A8FC-D45C046C6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04602B-3F3A-44D6-8FC7-8D6198579B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/>
              <a:t>01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BDA344-228E-467F-9CAE-213808D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B1EDA-9669-4099-AA83-49C2D8E17945}" type="slidenum">
              <a:rPr lang="zh-TW" altLang="en-US" smtClean="0"/>
              <a:t>6</a:t>
            </a:fld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E2D1FA36-AD5C-4B54-AF63-C797303B27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3186" y="4874676"/>
            <a:ext cx="7657256" cy="273600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626" name="圖片 625">
            <a:extLst>
              <a:ext uri="{FF2B5EF4-FFF2-40B4-BE49-F238E27FC236}">
                <a16:creationId xmlns:a16="http://schemas.microsoft.com/office/drawing/2014/main" id="{C983F2A2-8B6D-4DAF-AE5C-D1FEC451BE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790" y="3802530"/>
            <a:ext cx="720000" cy="720000"/>
          </a:xfrm>
          <a:prstGeom prst="rect">
            <a:avLst/>
          </a:prstGeom>
        </p:spPr>
      </p:pic>
      <p:sp>
        <p:nvSpPr>
          <p:cNvPr id="843" name="矩形 842">
            <a:extLst>
              <a:ext uri="{FF2B5EF4-FFF2-40B4-BE49-F238E27FC236}">
                <a16:creationId xmlns:a16="http://schemas.microsoft.com/office/drawing/2014/main" id="{B6941194-2D54-4EC6-A2CE-1AE748FF4AB8}"/>
              </a:ext>
            </a:extLst>
          </p:cNvPr>
          <p:cNvSpPr/>
          <p:nvPr/>
        </p:nvSpPr>
        <p:spPr>
          <a:xfrm>
            <a:off x="1818904" y="4100170"/>
            <a:ext cx="2596326" cy="422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負責</a:t>
            </a:r>
            <a:r>
              <a:rPr lang="zh-TW" altLang="en-US" sz="1600" b="1" dirty="0">
                <a:solidFill>
                  <a:schemeClr val="accent6">
                    <a:lumMod val="50000"/>
                  </a:schemeClr>
                </a:solidFill>
              </a:rPr>
              <a:t>需求定義</a:t>
            </a:r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與</a:t>
            </a:r>
            <a:r>
              <a:rPr lang="zh-TW" altLang="en-US" sz="1600" b="1" dirty="0">
                <a:solidFill>
                  <a:schemeClr val="accent6">
                    <a:lumMod val="50000"/>
                  </a:schemeClr>
                </a:solidFill>
              </a:rPr>
              <a:t>結果驗證</a:t>
            </a:r>
          </a:p>
        </p:txBody>
      </p:sp>
      <p:sp>
        <p:nvSpPr>
          <p:cNvPr id="855" name="矩形: 圓角 854">
            <a:extLst>
              <a:ext uri="{FF2B5EF4-FFF2-40B4-BE49-F238E27FC236}">
                <a16:creationId xmlns:a16="http://schemas.microsoft.com/office/drawing/2014/main" id="{6EF99A55-C213-4A1A-BA6B-D041AF8BBC59}"/>
              </a:ext>
            </a:extLst>
          </p:cNvPr>
          <p:cNvSpPr/>
          <p:nvPr/>
        </p:nvSpPr>
        <p:spPr>
          <a:xfrm>
            <a:off x="1818904" y="3802531"/>
            <a:ext cx="1082219" cy="293020"/>
          </a:xfrm>
          <a:prstGeom prst="roundRect">
            <a:avLst>
              <a:gd name="adj" fmla="val 15120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TW" altLang="en-US" sz="1600" b="1" dirty="0">
                <a:solidFill>
                  <a:schemeClr val="bg1"/>
                </a:solidFill>
              </a:rPr>
              <a:t>使用者</a:t>
            </a:r>
          </a:p>
        </p:txBody>
      </p:sp>
      <p:pic>
        <p:nvPicPr>
          <p:cNvPr id="627" name="圖片 626">
            <a:extLst>
              <a:ext uri="{FF2B5EF4-FFF2-40B4-BE49-F238E27FC236}">
                <a16:creationId xmlns:a16="http://schemas.microsoft.com/office/drawing/2014/main" id="{9309C304-2D5E-405A-B355-CD6D7ED5AE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833" y="3802530"/>
            <a:ext cx="720000" cy="720000"/>
          </a:xfrm>
          <a:prstGeom prst="rect">
            <a:avLst/>
          </a:prstGeom>
        </p:spPr>
      </p:pic>
      <p:sp>
        <p:nvSpPr>
          <p:cNvPr id="854" name="矩形 853">
            <a:extLst>
              <a:ext uri="{FF2B5EF4-FFF2-40B4-BE49-F238E27FC236}">
                <a16:creationId xmlns:a16="http://schemas.microsoft.com/office/drawing/2014/main" id="{39566893-C146-45BF-9BAF-463EBFE31534}"/>
              </a:ext>
            </a:extLst>
          </p:cNvPr>
          <p:cNvSpPr/>
          <p:nvPr/>
        </p:nvSpPr>
        <p:spPr>
          <a:xfrm>
            <a:off x="5519883" y="4100170"/>
            <a:ext cx="2596326" cy="422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TW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負責</a:t>
            </a:r>
            <a:r>
              <a:rPr lang="zh-TW" altLang="en-US" sz="1600" b="1" dirty="0">
                <a:solidFill>
                  <a:srgbClr val="203775"/>
                </a:solidFill>
              </a:rPr>
              <a:t>模型設計</a:t>
            </a:r>
            <a:r>
              <a:rPr lang="zh-TW" altLang="en-US" sz="1400" dirty="0">
                <a:solidFill>
                  <a:srgbClr val="554E56"/>
                </a:solidFill>
              </a:rPr>
              <a:t>與</a:t>
            </a:r>
            <a:r>
              <a:rPr lang="zh-TW" altLang="en-US" sz="1600" b="1" dirty="0">
                <a:solidFill>
                  <a:srgbClr val="203775"/>
                </a:solidFill>
              </a:rPr>
              <a:t>程式開發</a:t>
            </a:r>
          </a:p>
        </p:txBody>
      </p:sp>
      <p:sp>
        <p:nvSpPr>
          <p:cNvPr id="857" name="矩形: 圓角 856">
            <a:extLst>
              <a:ext uri="{FF2B5EF4-FFF2-40B4-BE49-F238E27FC236}">
                <a16:creationId xmlns:a16="http://schemas.microsoft.com/office/drawing/2014/main" id="{91F1FE6B-D797-4E1B-B101-39E4C2A1E906}"/>
              </a:ext>
            </a:extLst>
          </p:cNvPr>
          <p:cNvSpPr/>
          <p:nvPr/>
        </p:nvSpPr>
        <p:spPr>
          <a:xfrm>
            <a:off x="5519883" y="3802531"/>
            <a:ext cx="1082219" cy="293020"/>
          </a:xfrm>
          <a:prstGeom prst="roundRect">
            <a:avLst>
              <a:gd name="adj" fmla="val 15120"/>
            </a:avLst>
          </a:prstGeom>
          <a:solidFill>
            <a:srgbClr val="203775"/>
          </a:solidFill>
          <a:ln>
            <a:solidFill>
              <a:srgbClr val="2037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TW" altLang="en-US" sz="1600" b="1" dirty="0">
                <a:solidFill>
                  <a:schemeClr val="bg1"/>
                </a:solidFill>
              </a:rPr>
              <a:t>開發者</a:t>
            </a:r>
          </a:p>
        </p:txBody>
      </p:sp>
      <p:cxnSp>
        <p:nvCxnSpPr>
          <p:cNvPr id="920" name="直線接點 919">
            <a:extLst>
              <a:ext uri="{FF2B5EF4-FFF2-40B4-BE49-F238E27FC236}">
                <a16:creationId xmlns:a16="http://schemas.microsoft.com/office/drawing/2014/main" id="{F0895E20-458A-43E2-BE2A-28A0B5431B80}"/>
              </a:ext>
            </a:extLst>
          </p:cNvPr>
          <p:cNvCxnSpPr>
            <a:cxnSpLocks/>
          </p:cNvCxnSpPr>
          <p:nvPr/>
        </p:nvCxnSpPr>
        <p:spPr>
          <a:xfrm>
            <a:off x="1018321" y="939142"/>
            <a:ext cx="0" cy="2340000"/>
          </a:xfrm>
          <a:prstGeom prst="line">
            <a:avLst/>
          </a:prstGeom>
          <a:ln w="9525" cap="rnd">
            <a:solidFill>
              <a:srgbClr val="222A3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2" name="直線接點 951">
            <a:extLst>
              <a:ext uri="{FF2B5EF4-FFF2-40B4-BE49-F238E27FC236}">
                <a16:creationId xmlns:a16="http://schemas.microsoft.com/office/drawing/2014/main" id="{AFD7C8F8-93BB-4FD0-9503-C3401EABADF3}"/>
              </a:ext>
            </a:extLst>
          </p:cNvPr>
          <p:cNvCxnSpPr>
            <a:cxnSpLocks/>
          </p:cNvCxnSpPr>
          <p:nvPr/>
        </p:nvCxnSpPr>
        <p:spPr>
          <a:xfrm>
            <a:off x="8632364" y="939142"/>
            <a:ext cx="0" cy="2340000"/>
          </a:xfrm>
          <a:prstGeom prst="line">
            <a:avLst/>
          </a:prstGeom>
          <a:ln w="9525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9" name="直線接點 968">
            <a:extLst>
              <a:ext uri="{FF2B5EF4-FFF2-40B4-BE49-F238E27FC236}">
                <a16:creationId xmlns:a16="http://schemas.microsoft.com/office/drawing/2014/main" id="{39FBCA67-EF49-4F2E-ADBA-F584CC72A602}"/>
              </a:ext>
            </a:extLst>
          </p:cNvPr>
          <p:cNvCxnSpPr>
            <a:cxnSpLocks/>
          </p:cNvCxnSpPr>
          <p:nvPr/>
        </p:nvCxnSpPr>
        <p:spPr>
          <a:xfrm flipH="1">
            <a:off x="1012825" y="939142"/>
            <a:ext cx="7619539" cy="0"/>
          </a:xfrm>
          <a:prstGeom prst="line">
            <a:avLst/>
          </a:prstGeom>
          <a:ln w="9525">
            <a:solidFill>
              <a:srgbClr val="222A3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1" name="文字方塊 950">
            <a:extLst>
              <a:ext uri="{FF2B5EF4-FFF2-40B4-BE49-F238E27FC236}">
                <a16:creationId xmlns:a16="http://schemas.microsoft.com/office/drawing/2014/main" id="{3D2BA926-8090-4EEE-BB6E-9EE280AED0E3}"/>
              </a:ext>
            </a:extLst>
          </p:cNvPr>
          <p:cNvSpPr txBox="1"/>
          <p:nvPr/>
        </p:nvSpPr>
        <p:spPr>
          <a:xfrm>
            <a:off x="2302703" y="942623"/>
            <a:ext cx="9129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dist"/>
            <a:r>
              <a:rPr lang="zh-TW" altLang="en-US" dirty="0">
                <a:solidFill>
                  <a:srgbClr val="2F528F"/>
                </a:solidFill>
              </a:rPr>
              <a:t>模型開發</a:t>
            </a:r>
          </a:p>
        </p:txBody>
      </p:sp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1C2D3084-374F-4877-A687-96AF69142D66}"/>
              </a:ext>
            </a:extLst>
          </p:cNvPr>
          <p:cNvSpPr/>
          <p:nvPr/>
        </p:nvSpPr>
        <p:spPr>
          <a:xfrm>
            <a:off x="1700571" y="986951"/>
            <a:ext cx="643544" cy="219120"/>
          </a:xfrm>
          <a:prstGeom prst="roundRect">
            <a:avLst/>
          </a:prstGeom>
          <a:solidFill>
            <a:srgbClr val="2F528F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b="1" dirty="0">
                <a:solidFill>
                  <a:schemeClr val="bg1"/>
                </a:solidFill>
              </a:rPr>
              <a:t>Step 1</a:t>
            </a:r>
            <a:endParaRPr lang="zh-TW" altLang="en-US" sz="1100" b="1" dirty="0">
              <a:solidFill>
                <a:schemeClr val="bg1"/>
              </a:solidFill>
            </a:endParaRPr>
          </a:p>
        </p:txBody>
      </p:sp>
      <p:sp>
        <p:nvSpPr>
          <p:cNvPr id="950" name="文字方塊 949">
            <a:extLst>
              <a:ext uri="{FF2B5EF4-FFF2-40B4-BE49-F238E27FC236}">
                <a16:creationId xmlns:a16="http://schemas.microsoft.com/office/drawing/2014/main" id="{80BF3AAB-4AD3-4074-8828-4B23E500A2C5}"/>
              </a:ext>
            </a:extLst>
          </p:cNvPr>
          <p:cNvSpPr txBox="1"/>
          <p:nvPr/>
        </p:nvSpPr>
        <p:spPr>
          <a:xfrm>
            <a:off x="7402015" y="942623"/>
            <a:ext cx="9129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zh-TW" altLang="en-US" sz="1400" b="1" dirty="0">
                <a:solidFill>
                  <a:srgbClr val="2F528F"/>
                </a:solidFill>
              </a:rPr>
              <a:t>調參優化</a:t>
            </a:r>
          </a:p>
        </p:txBody>
      </p:sp>
      <p:sp>
        <p:nvSpPr>
          <p:cNvPr id="74" name="矩形: 圓角 73">
            <a:extLst>
              <a:ext uri="{FF2B5EF4-FFF2-40B4-BE49-F238E27FC236}">
                <a16:creationId xmlns:a16="http://schemas.microsoft.com/office/drawing/2014/main" id="{A5236DFB-8747-4FC8-B4EC-7B237C621451}"/>
              </a:ext>
            </a:extLst>
          </p:cNvPr>
          <p:cNvSpPr/>
          <p:nvPr/>
        </p:nvSpPr>
        <p:spPr>
          <a:xfrm>
            <a:off x="6799885" y="986951"/>
            <a:ext cx="643544" cy="219120"/>
          </a:xfrm>
          <a:prstGeom prst="roundRect">
            <a:avLst/>
          </a:prstGeom>
          <a:solidFill>
            <a:srgbClr val="2F528F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b="1">
                <a:solidFill>
                  <a:schemeClr val="bg1"/>
                </a:solidFill>
              </a:rPr>
              <a:t>Step 3</a:t>
            </a:r>
            <a:endParaRPr lang="zh-TW" altLang="en-US" sz="1100" b="1" dirty="0">
              <a:solidFill>
                <a:schemeClr val="bg1"/>
              </a:solidFill>
            </a:endParaRPr>
          </a:p>
        </p:txBody>
      </p:sp>
      <p:sp>
        <p:nvSpPr>
          <p:cNvPr id="949" name="文字方塊 948">
            <a:extLst>
              <a:ext uri="{FF2B5EF4-FFF2-40B4-BE49-F238E27FC236}">
                <a16:creationId xmlns:a16="http://schemas.microsoft.com/office/drawing/2014/main" id="{A5EB5E62-5258-4C21-BFF9-F27A76483A00}"/>
              </a:ext>
            </a:extLst>
          </p:cNvPr>
          <p:cNvSpPr txBox="1"/>
          <p:nvPr/>
        </p:nvSpPr>
        <p:spPr>
          <a:xfrm>
            <a:off x="5064645" y="942623"/>
            <a:ext cx="9129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zh-TW" altLang="en-US" sz="1400" b="1" dirty="0">
                <a:solidFill>
                  <a:srgbClr val="2F528F"/>
                </a:solidFill>
              </a:rPr>
              <a:t>程式開發</a:t>
            </a:r>
          </a:p>
        </p:txBody>
      </p:sp>
      <p:sp>
        <p:nvSpPr>
          <p:cNvPr id="75" name="矩形: 圓角 74">
            <a:extLst>
              <a:ext uri="{FF2B5EF4-FFF2-40B4-BE49-F238E27FC236}">
                <a16:creationId xmlns:a16="http://schemas.microsoft.com/office/drawing/2014/main" id="{F7A913F2-834C-42AD-AE9C-7CFDFBB213BC}"/>
              </a:ext>
            </a:extLst>
          </p:cNvPr>
          <p:cNvSpPr/>
          <p:nvPr/>
        </p:nvSpPr>
        <p:spPr>
          <a:xfrm>
            <a:off x="4462513" y="986951"/>
            <a:ext cx="643544" cy="219120"/>
          </a:xfrm>
          <a:prstGeom prst="roundRect">
            <a:avLst/>
          </a:prstGeom>
          <a:solidFill>
            <a:srgbClr val="2F528F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b="1" dirty="0">
                <a:solidFill>
                  <a:schemeClr val="bg1"/>
                </a:solidFill>
              </a:rPr>
              <a:t>Step 2</a:t>
            </a:r>
            <a:endParaRPr lang="zh-TW" altLang="en-US" sz="1100" b="1" dirty="0">
              <a:solidFill>
                <a:schemeClr val="bg1"/>
              </a:solidFill>
            </a:endParaRPr>
          </a:p>
        </p:txBody>
      </p: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B9917E76-D1DE-4675-AC14-69F16EA24122}"/>
              </a:ext>
            </a:extLst>
          </p:cNvPr>
          <p:cNvGrpSpPr/>
          <p:nvPr/>
        </p:nvGrpSpPr>
        <p:grpSpPr>
          <a:xfrm>
            <a:off x="3859818" y="1009469"/>
            <a:ext cx="102640" cy="182390"/>
            <a:chOff x="3707904" y="1269426"/>
            <a:chExt cx="271311" cy="482115"/>
          </a:xfrm>
        </p:grpSpPr>
        <p:grpSp>
          <p:nvGrpSpPr>
            <p:cNvPr id="81" name="群組 80">
              <a:extLst>
                <a:ext uri="{FF2B5EF4-FFF2-40B4-BE49-F238E27FC236}">
                  <a16:creationId xmlns:a16="http://schemas.microsoft.com/office/drawing/2014/main" id="{50ECE536-887E-4085-BB3C-A1882A5DA21A}"/>
                </a:ext>
              </a:extLst>
            </p:cNvPr>
            <p:cNvGrpSpPr/>
            <p:nvPr/>
          </p:nvGrpSpPr>
          <p:grpSpPr>
            <a:xfrm>
              <a:off x="3979215" y="1269426"/>
              <a:ext cx="0" cy="482115"/>
              <a:chOff x="3979215" y="1269426"/>
              <a:chExt cx="0" cy="482115"/>
            </a:xfrm>
          </p:grpSpPr>
          <p:cxnSp>
            <p:nvCxnSpPr>
              <p:cNvPr id="85" name="直線單箭頭接點 84">
                <a:extLst>
                  <a:ext uri="{FF2B5EF4-FFF2-40B4-BE49-F238E27FC236}">
                    <a16:creationId xmlns:a16="http://schemas.microsoft.com/office/drawing/2014/main" id="{223DC2F9-5116-4A81-A54D-11DFCE4F7C14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線單箭頭接點 85">
                <a:extLst>
                  <a:ext uri="{FF2B5EF4-FFF2-40B4-BE49-F238E27FC236}">
                    <a16:creationId xmlns:a16="http://schemas.microsoft.com/office/drawing/2014/main" id="{EB181250-CC7D-4997-8010-5E7774182D94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2" name="群組 81">
              <a:extLst>
                <a:ext uri="{FF2B5EF4-FFF2-40B4-BE49-F238E27FC236}">
                  <a16:creationId xmlns:a16="http://schemas.microsoft.com/office/drawing/2014/main" id="{A3822871-826C-4CBC-830C-7C2DD8ACB881}"/>
                </a:ext>
              </a:extLst>
            </p:cNvPr>
            <p:cNvGrpSpPr/>
            <p:nvPr/>
          </p:nvGrpSpPr>
          <p:grpSpPr>
            <a:xfrm>
              <a:off x="3707904" y="1269426"/>
              <a:ext cx="0" cy="482115"/>
              <a:chOff x="3979215" y="1269426"/>
              <a:chExt cx="0" cy="482115"/>
            </a:xfrm>
          </p:grpSpPr>
          <p:cxnSp>
            <p:nvCxnSpPr>
              <p:cNvPr id="83" name="直線單箭頭接點 82">
                <a:extLst>
                  <a:ext uri="{FF2B5EF4-FFF2-40B4-BE49-F238E27FC236}">
                    <a16:creationId xmlns:a16="http://schemas.microsoft.com/office/drawing/2014/main" id="{0568A1AC-12D5-4147-A32D-A9E078E3C012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線單箭頭接點 83">
                <a:extLst>
                  <a:ext uri="{FF2B5EF4-FFF2-40B4-BE49-F238E27FC236}">
                    <a16:creationId xmlns:a16="http://schemas.microsoft.com/office/drawing/2014/main" id="{2D09FF02-4A72-43E5-A4CB-D155A1419891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7" name="群組 86">
            <a:extLst>
              <a:ext uri="{FF2B5EF4-FFF2-40B4-BE49-F238E27FC236}">
                <a16:creationId xmlns:a16="http://schemas.microsoft.com/office/drawing/2014/main" id="{E8C8DE1D-90A3-453A-9FB4-838C5F515736}"/>
              </a:ext>
            </a:extLst>
          </p:cNvPr>
          <p:cNvGrpSpPr/>
          <p:nvPr/>
        </p:nvGrpSpPr>
        <p:grpSpPr>
          <a:xfrm>
            <a:off x="6408859" y="1009198"/>
            <a:ext cx="102640" cy="182390"/>
            <a:chOff x="3707904" y="1269426"/>
            <a:chExt cx="271311" cy="482115"/>
          </a:xfrm>
        </p:grpSpPr>
        <p:grpSp>
          <p:nvGrpSpPr>
            <p:cNvPr id="88" name="群組 87">
              <a:extLst>
                <a:ext uri="{FF2B5EF4-FFF2-40B4-BE49-F238E27FC236}">
                  <a16:creationId xmlns:a16="http://schemas.microsoft.com/office/drawing/2014/main" id="{6BA03058-5678-45D4-BBCD-32E0DB306566}"/>
                </a:ext>
              </a:extLst>
            </p:cNvPr>
            <p:cNvGrpSpPr/>
            <p:nvPr/>
          </p:nvGrpSpPr>
          <p:grpSpPr>
            <a:xfrm>
              <a:off x="3979215" y="1269426"/>
              <a:ext cx="0" cy="482115"/>
              <a:chOff x="3979215" y="1269426"/>
              <a:chExt cx="0" cy="482115"/>
            </a:xfrm>
          </p:grpSpPr>
          <p:cxnSp>
            <p:nvCxnSpPr>
              <p:cNvPr id="92" name="直線單箭頭接點 91">
                <a:extLst>
                  <a:ext uri="{FF2B5EF4-FFF2-40B4-BE49-F238E27FC236}">
                    <a16:creationId xmlns:a16="http://schemas.microsoft.com/office/drawing/2014/main" id="{49B27971-15EE-4093-9563-9CCA5AC56AF3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線單箭頭接點 92">
                <a:extLst>
                  <a:ext uri="{FF2B5EF4-FFF2-40B4-BE49-F238E27FC236}">
                    <a16:creationId xmlns:a16="http://schemas.microsoft.com/office/drawing/2014/main" id="{1624AB39-CEE6-4FD0-82FE-F2A0DFCB0A70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群組 88">
              <a:extLst>
                <a:ext uri="{FF2B5EF4-FFF2-40B4-BE49-F238E27FC236}">
                  <a16:creationId xmlns:a16="http://schemas.microsoft.com/office/drawing/2014/main" id="{B2CE3DA1-9AF8-4ECF-9193-A74857A09B96}"/>
                </a:ext>
              </a:extLst>
            </p:cNvPr>
            <p:cNvGrpSpPr/>
            <p:nvPr/>
          </p:nvGrpSpPr>
          <p:grpSpPr>
            <a:xfrm>
              <a:off x="3707904" y="1269426"/>
              <a:ext cx="0" cy="482115"/>
              <a:chOff x="3979215" y="1269426"/>
              <a:chExt cx="0" cy="482115"/>
            </a:xfrm>
          </p:grpSpPr>
          <p:cxnSp>
            <p:nvCxnSpPr>
              <p:cNvPr id="90" name="直線單箭頭接點 89">
                <a:extLst>
                  <a:ext uri="{FF2B5EF4-FFF2-40B4-BE49-F238E27FC236}">
                    <a16:creationId xmlns:a16="http://schemas.microsoft.com/office/drawing/2014/main" id="{C9689FF7-1113-4620-A14C-3F0206807C88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線單箭頭接點 90">
                <a:extLst>
                  <a:ext uri="{FF2B5EF4-FFF2-40B4-BE49-F238E27FC236}">
                    <a16:creationId xmlns:a16="http://schemas.microsoft.com/office/drawing/2014/main" id="{301F86CB-EAB2-4F04-BB15-6D29684A027D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01" name="接點: 肘形 100">
            <a:extLst>
              <a:ext uri="{FF2B5EF4-FFF2-40B4-BE49-F238E27FC236}">
                <a16:creationId xmlns:a16="http://schemas.microsoft.com/office/drawing/2014/main" id="{2C656DC9-5297-4834-B6FB-037B20933631}"/>
              </a:ext>
            </a:extLst>
          </p:cNvPr>
          <p:cNvCxnSpPr>
            <a:cxnSpLocks/>
            <a:stCxn id="926" idx="2"/>
            <a:endCxn id="941" idx="2"/>
          </p:cNvCxnSpPr>
          <p:nvPr/>
        </p:nvCxnSpPr>
        <p:spPr>
          <a:xfrm rot="5400000">
            <a:off x="6282256" y="1009001"/>
            <a:ext cx="12700" cy="3575912"/>
          </a:xfrm>
          <a:prstGeom prst="bentConnector3">
            <a:avLst>
              <a:gd name="adj1" fmla="val 3025000"/>
            </a:avLst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1589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F0F85A-D8BE-489F-8A26-3F9E8BB6D3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專案動機｜</a:t>
            </a:r>
            <a:r>
              <a:rPr lang="zh-TW" altLang="en-US" b="0" dirty="0"/>
              <a:t>模型開發瓶頸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B04F98-C67E-4BB2-A8FC-D45C046C6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04602B-3F3A-44D6-8FC7-8D6198579B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/>
              <a:t>01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BDA344-228E-467F-9CAE-213808D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B1EDA-9669-4099-AA83-49C2D8E17945}" type="slidenum">
              <a:rPr lang="zh-TW" altLang="en-US" smtClean="0"/>
              <a:t>7</a:t>
            </a:fld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E2D1FA36-AD5C-4B54-AF63-C797303B27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3186" y="4874676"/>
            <a:ext cx="7657256" cy="273600"/>
          </a:xfrm>
        </p:spPr>
        <p:txBody>
          <a:bodyPr/>
          <a:lstStyle/>
          <a:p>
            <a:endParaRPr lang="en-US" altLang="zh-TW" b="0" dirty="0"/>
          </a:p>
        </p:txBody>
      </p:sp>
      <p:sp>
        <p:nvSpPr>
          <p:cNvPr id="888" name="矩形 887">
            <a:extLst>
              <a:ext uri="{FF2B5EF4-FFF2-40B4-BE49-F238E27FC236}">
                <a16:creationId xmlns:a16="http://schemas.microsoft.com/office/drawing/2014/main" id="{75435A5F-98F6-4BFC-9C12-ECDA860A932A}"/>
              </a:ext>
            </a:extLst>
          </p:cNvPr>
          <p:cNvSpPr/>
          <p:nvPr/>
        </p:nvSpPr>
        <p:spPr>
          <a:xfrm>
            <a:off x="536471" y="1254311"/>
            <a:ext cx="8095885" cy="966962"/>
          </a:xfrm>
          <a:prstGeom prst="rect">
            <a:avLst/>
          </a:prstGeom>
          <a:solidFill>
            <a:srgbClr val="F4F9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80" name="直線接點 579">
            <a:extLst>
              <a:ext uri="{FF2B5EF4-FFF2-40B4-BE49-F238E27FC236}">
                <a16:creationId xmlns:a16="http://schemas.microsoft.com/office/drawing/2014/main" id="{682B2BA6-6C65-4D11-B5B9-A06639D97AB0}"/>
              </a:ext>
            </a:extLst>
          </p:cNvPr>
          <p:cNvCxnSpPr>
            <a:cxnSpLocks/>
          </p:cNvCxnSpPr>
          <p:nvPr/>
        </p:nvCxnSpPr>
        <p:spPr>
          <a:xfrm flipH="1">
            <a:off x="532364" y="1254311"/>
            <a:ext cx="8100000" cy="0"/>
          </a:xfrm>
          <a:prstGeom prst="line">
            <a:avLst/>
          </a:prstGeom>
          <a:ln w="9525">
            <a:solidFill>
              <a:srgbClr val="222A3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9" name="手繪多邊形: 圖案 888">
            <a:extLst>
              <a:ext uri="{FF2B5EF4-FFF2-40B4-BE49-F238E27FC236}">
                <a16:creationId xmlns:a16="http://schemas.microsoft.com/office/drawing/2014/main" id="{B9EB3EE5-326F-443A-8DE8-580342A2918C}"/>
              </a:ext>
            </a:extLst>
          </p:cNvPr>
          <p:cNvSpPr/>
          <p:nvPr/>
        </p:nvSpPr>
        <p:spPr>
          <a:xfrm>
            <a:off x="536471" y="2220200"/>
            <a:ext cx="8095885" cy="1058943"/>
          </a:xfrm>
          <a:custGeom>
            <a:avLst/>
            <a:gdLst>
              <a:gd name="connsiteX0" fmla="*/ 0 w 8095885"/>
              <a:gd name="connsiteY0" fmla="*/ 0 h 1058943"/>
              <a:gd name="connsiteX1" fmla="*/ 8095885 w 8095885"/>
              <a:gd name="connsiteY1" fmla="*/ 0 h 1058943"/>
              <a:gd name="connsiteX2" fmla="*/ 8095885 w 8095885"/>
              <a:gd name="connsiteY2" fmla="*/ 1058943 h 1058943"/>
              <a:gd name="connsiteX3" fmla="*/ 0 w 8095885"/>
              <a:gd name="connsiteY3" fmla="*/ 1058943 h 1058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95885" h="1058943">
                <a:moveTo>
                  <a:pt x="0" y="0"/>
                </a:moveTo>
                <a:lnTo>
                  <a:pt x="8095885" y="0"/>
                </a:lnTo>
                <a:lnTo>
                  <a:pt x="8095885" y="1058943"/>
                </a:lnTo>
                <a:lnTo>
                  <a:pt x="0" y="1058943"/>
                </a:lnTo>
                <a:close/>
              </a:path>
            </a:pathLst>
          </a:custGeom>
          <a:solidFill>
            <a:srgbClr val="F2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cxnSp>
        <p:nvCxnSpPr>
          <p:cNvPr id="582" name="直線接點 581">
            <a:extLst>
              <a:ext uri="{FF2B5EF4-FFF2-40B4-BE49-F238E27FC236}">
                <a16:creationId xmlns:a16="http://schemas.microsoft.com/office/drawing/2014/main" id="{A72FB7B0-AA66-4FF8-8B0D-B7E1A965882E}"/>
              </a:ext>
            </a:extLst>
          </p:cNvPr>
          <p:cNvCxnSpPr>
            <a:cxnSpLocks/>
          </p:cNvCxnSpPr>
          <p:nvPr/>
        </p:nvCxnSpPr>
        <p:spPr>
          <a:xfrm>
            <a:off x="3923928" y="939142"/>
            <a:ext cx="0" cy="2340000"/>
          </a:xfrm>
          <a:prstGeom prst="line">
            <a:avLst/>
          </a:prstGeom>
          <a:ln w="9525" cap="rnd">
            <a:solidFill>
              <a:srgbClr val="222A3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D8E9A652-5DB3-4270-B457-55AF2C277D21}"/>
              </a:ext>
            </a:extLst>
          </p:cNvPr>
          <p:cNvCxnSpPr>
            <a:cxnSpLocks/>
          </p:cNvCxnSpPr>
          <p:nvPr/>
        </p:nvCxnSpPr>
        <p:spPr>
          <a:xfrm>
            <a:off x="532364" y="2225308"/>
            <a:ext cx="81000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直線接點 537">
            <a:extLst>
              <a:ext uri="{FF2B5EF4-FFF2-40B4-BE49-F238E27FC236}">
                <a16:creationId xmlns:a16="http://schemas.microsoft.com/office/drawing/2014/main" id="{E480086D-C810-4294-8200-028B1527E804}"/>
              </a:ext>
            </a:extLst>
          </p:cNvPr>
          <p:cNvCxnSpPr>
            <a:cxnSpLocks/>
          </p:cNvCxnSpPr>
          <p:nvPr/>
        </p:nvCxnSpPr>
        <p:spPr>
          <a:xfrm>
            <a:off x="1018321" y="939142"/>
            <a:ext cx="0" cy="2340000"/>
          </a:xfrm>
          <a:prstGeom prst="line">
            <a:avLst/>
          </a:prstGeom>
          <a:ln w="9525" cap="rnd">
            <a:solidFill>
              <a:srgbClr val="222A3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接點: 肘形 239">
            <a:extLst>
              <a:ext uri="{FF2B5EF4-FFF2-40B4-BE49-F238E27FC236}">
                <a16:creationId xmlns:a16="http://schemas.microsoft.com/office/drawing/2014/main" id="{71DAA243-4D50-4B67-8AE5-4E1B53D4AE56}"/>
              </a:ext>
            </a:extLst>
          </p:cNvPr>
          <p:cNvCxnSpPr>
            <a:cxnSpLocks/>
            <a:stCxn id="137" idx="0"/>
            <a:endCxn id="38" idx="2"/>
          </p:cNvCxnSpPr>
          <p:nvPr/>
        </p:nvCxnSpPr>
        <p:spPr>
          <a:xfrm rot="5400000">
            <a:off x="3691248" y="663346"/>
            <a:ext cx="95112" cy="4172110"/>
          </a:xfrm>
          <a:prstGeom prst="bentConnector3">
            <a:avLst>
              <a:gd name="adj1" fmla="val 400435"/>
            </a:avLst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直線單箭頭接點 294">
            <a:extLst>
              <a:ext uri="{FF2B5EF4-FFF2-40B4-BE49-F238E27FC236}">
                <a16:creationId xmlns:a16="http://schemas.microsoft.com/office/drawing/2014/main" id="{3400F820-8CE1-4A38-B95C-45CAE5F95A18}"/>
              </a:ext>
            </a:extLst>
          </p:cNvPr>
          <p:cNvCxnSpPr>
            <a:cxnSpLocks/>
            <a:stCxn id="42" idx="0"/>
          </p:cNvCxnSpPr>
          <p:nvPr/>
        </p:nvCxnSpPr>
        <p:spPr>
          <a:xfrm>
            <a:off x="3299425" y="2701845"/>
            <a:ext cx="0" cy="37795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線單箭頭接點 317">
            <a:extLst>
              <a:ext uri="{FF2B5EF4-FFF2-40B4-BE49-F238E27FC236}">
                <a16:creationId xmlns:a16="http://schemas.microsoft.com/office/drawing/2014/main" id="{F8EF1C01-EA72-4BE3-96AC-C2ECE6608D94}"/>
              </a:ext>
            </a:extLst>
          </p:cNvPr>
          <p:cNvCxnSpPr>
            <a:cxnSpLocks/>
          </p:cNvCxnSpPr>
          <p:nvPr/>
        </p:nvCxnSpPr>
        <p:spPr>
          <a:xfrm flipV="1">
            <a:off x="7006298" y="1961861"/>
            <a:ext cx="4170" cy="45059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直線單箭頭接點 322">
            <a:extLst>
              <a:ext uri="{FF2B5EF4-FFF2-40B4-BE49-F238E27FC236}">
                <a16:creationId xmlns:a16="http://schemas.microsoft.com/office/drawing/2014/main" id="{08755204-98A2-4F40-99C5-34322CB270D2}"/>
              </a:ext>
            </a:extLst>
          </p:cNvPr>
          <p:cNvCxnSpPr>
            <a:cxnSpLocks/>
          </p:cNvCxnSpPr>
          <p:nvPr/>
        </p:nvCxnSpPr>
        <p:spPr>
          <a:xfrm flipH="1">
            <a:off x="8070212" y="1961861"/>
            <a:ext cx="4170" cy="45059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直線單箭頭接點 328">
            <a:extLst>
              <a:ext uri="{FF2B5EF4-FFF2-40B4-BE49-F238E27FC236}">
                <a16:creationId xmlns:a16="http://schemas.microsoft.com/office/drawing/2014/main" id="{A2689D25-5151-4895-A7ED-A76BCBD12087}"/>
              </a:ext>
            </a:extLst>
          </p:cNvPr>
          <p:cNvCxnSpPr>
            <a:cxnSpLocks/>
          </p:cNvCxnSpPr>
          <p:nvPr/>
        </p:nvCxnSpPr>
        <p:spPr>
          <a:xfrm>
            <a:off x="7414811" y="1769608"/>
            <a:ext cx="255228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B0645691-3F8C-4B64-994C-32EB604497C1}"/>
              </a:ext>
            </a:extLst>
          </p:cNvPr>
          <p:cNvSpPr/>
          <p:nvPr/>
        </p:nvSpPr>
        <p:spPr>
          <a:xfrm>
            <a:off x="1252576" y="1568450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chemeClr val="accent6">
                    <a:lumMod val="50000"/>
                  </a:schemeClr>
                </a:solidFill>
              </a:rPr>
              <a:t>問題定義</a:t>
            </a: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5D247FA3-1FB5-4443-88AB-239BBC833FA9}"/>
              </a:ext>
            </a:extLst>
          </p:cNvPr>
          <p:cNvSpPr/>
          <p:nvPr/>
        </p:nvSpPr>
        <p:spPr>
          <a:xfrm>
            <a:off x="1248406" y="2412451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2037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rgbClr val="203775"/>
                </a:solidFill>
              </a:rPr>
              <a:t>需求分析</a:t>
            </a:r>
          </a:p>
        </p:txBody>
      </p: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E18E1778-CCAE-4705-8E77-621078AA374D}"/>
              </a:ext>
            </a:extLst>
          </p:cNvPr>
          <p:cNvSpPr/>
          <p:nvPr/>
        </p:nvSpPr>
        <p:spPr>
          <a:xfrm>
            <a:off x="2261525" y="2412451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2037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rgbClr val="203775"/>
                </a:solidFill>
              </a:rPr>
              <a:t>模型建立</a:t>
            </a: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F7AF6399-CA00-4E91-943C-AE3020B80130}"/>
              </a:ext>
            </a:extLst>
          </p:cNvPr>
          <p:cNvSpPr/>
          <p:nvPr/>
        </p:nvSpPr>
        <p:spPr>
          <a:xfrm>
            <a:off x="2265695" y="1568450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chemeClr val="accent6">
                    <a:lumMod val="50000"/>
                  </a:schemeClr>
                </a:solidFill>
              </a:rPr>
              <a:t>需求驗證</a:t>
            </a:r>
          </a:p>
        </p:txBody>
      </p:sp>
      <p:sp>
        <p:nvSpPr>
          <p:cNvPr id="42" name="菱形 41">
            <a:extLst>
              <a:ext uri="{FF2B5EF4-FFF2-40B4-BE49-F238E27FC236}">
                <a16:creationId xmlns:a16="http://schemas.microsoft.com/office/drawing/2014/main" id="{06F1C7FC-D2F7-4853-B898-76A688D86EA3}"/>
              </a:ext>
            </a:extLst>
          </p:cNvPr>
          <p:cNvSpPr/>
          <p:nvPr/>
        </p:nvSpPr>
        <p:spPr>
          <a:xfrm flipV="1">
            <a:off x="3202284" y="2507563"/>
            <a:ext cx="194282" cy="194282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64C270F7-311A-44D6-B7C7-0A9F4F5ACB70}"/>
              </a:ext>
            </a:extLst>
          </p:cNvPr>
          <p:cNvCxnSpPr>
            <a:cxnSpLocks/>
            <a:stCxn id="26" idx="2"/>
            <a:endCxn id="38" idx="0"/>
          </p:cNvCxnSpPr>
          <p:nvPr/>
        </p:nvCxnSpPr>
        <p:spPr>
          <a:xfrm flipH="1">
            <a:off x="1652749" y="1952956"/>
            <a:ext cx="4170" cy="459495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C994B678-3386-4105-BFD8-1976B1DCD725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>
            <a:off x="2057092" y="2604704"/>
            <a:ext cx="204433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1BEDD7BC-2AB7-4589-B9D1-D45539A3E441}"/>
              </a:ext>
            </a:extLst>
          </p:cNvPr>
          <p:cNvCxnSpPr>
            <a:cxnSpLocks/>
            <a:stCxn id="39" idx="0"/>
            <a:endCxn id="40" idx="2"/>
          </p:cNvCxnSpPr>
          <p:nvPr/>
        </p:nvCxnSpPr>
        <p:spPr>
          <a:xfrm flipV="1">
            <a:off x="2665868" y="1952956"/>
            <a:ext cx="4170" cy="459495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接點: 肘形 114">
            <a:extLst>
              <a:ext uri="{FF2B5EF4-FFF2-40B4-BE49-F238E27FC236}">
                <a16:creationId xmlns:a16="http://schemas.microsoft.com/office/drawing/2014/main" id="{26C592AE-2B41-47EE-84C1-6A0E8E07033A}"/>
              </a:ext>
            </a:extLst>
          </p:cNvPr>
          <p:cNvCxnSpPr>
            <a:cxnSpLocks/>
            <a:stCxn id="40" idx="3"/>
            <a:endCxn id="42" idx="2"/>
          </p:cNvCxnSpPr>
          <p:nvPr/>
        </p:nvCxnSpPr>
        <p:spPr>
          <a:xfrm>
            <a:off x="3074381" y="1760703"/>
            <a:ext cx="225044" cy="746860"/>
          </a:xfrm>
          <a:prstGeom prst="bentConnector2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直線單箭頭接點 421">
            <a:extLst>
              <a:ext uri="{FF2B5EF4-FFF2-40B4-BE49-F238E27FC236}">
                <a16:creationId xmlns:a16="http://schemas.microsoft.com/office/drawing/2014/main" id="{FC6BCB8E-AF0F-4FE4-8A32-1F6F68643E00}"/>
              </a:ext>
            </a:extLst>
          </p:cNvPr>
          <p:cNvCxnSpPr>
            <a:cxnSpLocks/>
            <a:stCxn id="137" idx="3"/>
          </p:cNvCxnSpPr>
          <p:nvPr/>
        </p:nvCxnSpPr>
        <p:spPr>
          <a:xfrm>
            <a:off x="5922000" y="2604704"/>
            <a:ext cx="679955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: 圓角 93">
            <a:extLst>
              <a:ext uri="{FF2B5EF4-FFF2-40B4-BE49-F238E27FC236}">
                <a16:creationId xmlns:a16="http://schemas.microsoft.com/office/drawing/2014/main" id="{270FD656-4905-4B96-9FD8-11EFCFA0FEAF}"/>
              </a:ext>
            </a:extLst>
          </p:cNvPr>
          <p:cNvSpPr/>
          <p:nvPr/>
        </p:nvSpPr>
        <p:spPr>
          <a:xfrm>
            <a:off x="4089957" y="2412451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2037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rgbClr val="203775"/>
                </a:solidFill>
              </a:rPr>
              <a:t>程式開發</a:t>
            </a:r>
          </a:p>
        </p:txBody>
      </p:sp>
      <p:sp>
        <p:nvSpPr>
          <p:cNvPr id="119" name="矩形: 圓角 118">
            <a:extLst>
              <a:ext uri="{FF2B5EF4-FFF2-40B4-BE49-F238E27FC236}">
                <a16:creationId xmlns:a16="http://schemas.microsoft.com/office/drawing/2014/main" id="{25FF8CBC-BA0B-4777-9405-174EAD0A59F0}"/>
              </a:ext>
            </a:extLst>
          </p:cNvPr>
          <p:cNvSpPr/>
          <p:nvPr/>
        </p:nvSpPr>
        <p:spPr>
          <a:xfrm>
            <a:off x="4094127" y="1562925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chemeClr val="accent6">
                    <a:lumMod val="50000"/>
                  </a:schemeClr>
                </a:solidFill>
              </a:rPr>
              <a:t>測試驗證</a:t>
            </a:r>
          </a:p>
        </p:txBody>
      </p:sp>
      <p:cxnSp>
        <p:nvCxnSpPr>
          <p:cNvPr id="129" name="直線單箭頭接點 128">
            <a:extLst>
              <a:ext uri="{FF2B5EF4-FFF2-40B4-BE49-F238E27FC236}">
                <a16:creationId xmlns:a16="http://schemas.microsoft.com/office/drawing/2014/main" id="{772D7592-07D1-41CB-9441-B5677C6CE92D}"/>
              </a:ext>
            </a:extLst>
          </p:cNvPr>
          <p:cNvCxnSpPr>
            <a:cxnSpLocks/>
            <a:stCxn id="94" idx="0"/>
            <a:endCxn id="119" idx="2"/>
          </p:cNvCxnSpPr>
          <p:nvPr/>
        </p:nvCxnSpPr>
        <p:spPr>
          <a:xfrm flipV="1">
            <a:off x="4494300" y="1947431"/>
            <a:ext cx="4170" cy="46502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菱形 136">
            <a:extLst>
              <a:ext uri="{FF2B5EF4-FFF2-40B4-BE49-F238E27FC236}">
                <a16:creationId xmlns:a16="http://schemas.microsoft.com/office/drawing/2014/main" id="{6CA7E695-0877-40E1-BE32-56F415ED74E1}"/>
              </a:ext>
            </a:extLst>
          </p:cNvPr>
          <p:cNvSpPr/>
          <p:nvPr/>
        </p:nvSpPr>
        <p:spPr>
          <a:xfrm flipV="1">
            <a:off x="5727718" y="2507563"/>
            <a:ext cx="194282" cy="194282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187" name="接點: 肘形 186">
            <a:extLst>
              <a:ext uri="{FF2B5EF4-FFF2-40B4-BE49-F238E27FC236}">
                <a16:creationId xmlns:a16="http://schemas.microsoft.com/office/drawing/2014/main" id="{E300B0CC-DF23-4110-A67B-2003496D14E9}"/>
              </a:ext>
            </a:extLst>
          </p:cNvPr>
          <p:cNvCxnSpPr>
            <a:cxnSpLocks/>
            <a:stCxn id="119" idx="3"/>
            <a:endCxn id="137" idx="2"/>
          </p:cNvCxnSpPr>
          <p:nvPr/>
        </p:nvCxnSpPr>
        <p:spPr>
          <a:xfrm>
            <a:off x="4902813" y="1755178"/>
            <a:ext cx="922046" cy="752385"/>
          </a:xfrm>
          <a:prstGeom prst="bentConnector2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直線單箭頭接點 418">
            <a:extLst>
              <a:ext uri="{FF2B5EF4-FFF2-40B4-BE49-F238E27FC236}">
                <a16:creationId xmlns:a16="http://schemas.microsoft.com/office/drawing/2014/main" id="{D3FD7BEF-7B10-48D1-B2EA-C42FF43D2C0D}"/>
              </a:ext>
            </a:extLst>
          </p:cNvPr>
          <p:cNvCxnSpPr>
            <a:cxnSpLocks/>
            <a:stCxn id="137" idx="1"/>
            <a:endCxn id="94" idx="3"/>
          </p:cNvCxnSpPr>
          <p:nvPr/>
        </p:nvCxnSpPr>
        <p:spPr>
          <a:xfrm flipH="1">
            <a:off x="4898643" y="2604704"/>
            <a:ext cx="829075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2" name="文字方塊 451">
            <a:extLst>
              <a:ext uri="{FF2B5EF4-FFF2-40B4-BE49-F238E27FC236}">
                <a16:creationId xmlns:a16="http://schemas.microsoft.com/office/drawing/2014/main" id="{4BCD2484-BD82-403F-90CE-4427B5E51116}"/>
              </a:ext>
            </a:extLst>
          </p:cNvPr>
          <p:cNvSpPr txBox="1"/>
          <p:nvPr/>
        </p:nvSpPr>
        <p:spPr>
          <a:xfrm>
            <a:off x="651396" y="2353321"/>
            <a:ext cx="252000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dirty="0">
                <a:solidFill>
                  <a:srgbClr val="203775"/>
                </a:solidFill>
              </a:rPr>
              <a:t>開</a:t>
            </a:r>
            <a:endParaRPr lang="en-US" altLang="zh-TW" dirty="0">
              <a:solidFill>
                <a:srgbClr val="203775"/>
              </a:solidFill>
            </a:endParaRPr>
          </a:p>
          <a:p>
            <a:r>
              <a:rPr lang="zh-TW" altLang="en-US" dirty="0">
                <a:solidFill>
                  <a:srgbClr val="203775"/>
                </a:solidFill>
              </a:rPr>
              <a:t>發</a:t>
            </a:r>
            <a:endParaRPr lang="en-US" altLang="zh-TW" dirty="0">
              <a:solidFill>
                <a:srgbClr val="203775"/>
              </a:solidFill>
            </a:endParaRPr>
          </a:p>
          <a:p>
            <a:r>
              <a:rPr lang="zh-TW" altLang="en-US" dirty="0">
                <a:solidFill>
                  <a:srgbClr val="203775"/>
                </a:solidFill>
              </a:rPr>
              <a:t>者</a:t>
            </a:r>
          </a:p>
        </p:txBody>
      </p:sp>
      <p:sp>
        <p:nvSpPr>
          <p:cNvPr id="453" name="文字方塊 452">
            <a:extLst>
              <a:ext uri="{FF2B5EF4-FFF2-40B4-BE49-F238E27FC236}">
                <a16:creationId xmlns:a16="http://schemas.microsoft.com/office/drawing/2014/main" id="{F463D4CD-5E6A-4374-A4CE-E47FD2FE04C3}"/>
              </a:ext>
            </a:extLst>
          </p:cNvPr>
          <p:cNvSpPr txBox="1"/>
          <p:nvPr/>
        </p:nvSpPr>
        <p:spPr>
          <a:xfrm>
            <a:off x="651396" y="1370478"/>
            <a:ext cx="252000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dirty="0">
                <a:solidFill>
                  <a:schemeClr val="accent6">
                    <a:lumMod val="50000"/>
                  </a:schemeClr>
                </a:solidFill>
              </a:rPr>
              <a:t>使</a:t>
            </a:r>
            <a:endParaRPr lang="en-US" altLang="zh-TW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zh-TW" altLang="en-US" dirty="0">
                <a:solidFill>
                  <a:schemeClr val="accent6">
                    <a:lumMod val="50000"/>
                  </a:schemeClr>
                </a:solidFill>
              </a:rPr>
              <a:t>用</a:t>
            </a:r>
            <a:endParaRPr lang="en-US" altLang="zh-TW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zh-TW" altLang="en-US" dirty="0">
                <a:solidFill>
                  <a:schemeClr val="accent6">
                    <a:lumMod val="50000"/>
                  </a:schemeClr>
                </a:solidFill>
              </a:rPr>
              <a:t>者</a:t>
            </a:r>
          </a:p>
        </p:txBody>
      </p:sp>
      <p:cxnSp>
        <p:nvCxnSpPr>
          <p:cNvPr id="585" name="直線接點 584">
            <a:extLst>
              <a:ext uri="{FF2B5EF4-FFF2-40B4-BE49-F238E27FC236}">
                <a16:creationId xmlns:a16="http://schemas.microsoft.com/office/drawing/2014/main" id="{780EA1A0-0855-4E27-B3BF-5DE320D6D0B5}"/>
              </a:ext>
            </a:extLst>
          </p:cNvPr>
          <p:cNvCxnSpPr>
            <a:cxnSpLocks/>
          </p:cNvCxnSpPr>
          <p:nvPr/>
        </p:nvCxnSpPr>
        <p:spPr>
          <a:xfrm>
            <a:off x="8632364" y="939142"/>
            <a:ext cx="0" cy="2340000"/>
          </a:xfrm>
          <a:prstGeom prst="line">
            <a:avLst/>
          </a:prstGeom>
          <a:ln w="9525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" name="直線單箭頭接點 680">
            <a:extLst>
              <a:ext uri="{FF2B5EF4-FFF2-40B4-BE49-F238E27FC236}">
                <a16:creationId xmlns:a16="http://schemas.microsoft.com/office/drawing/2014/main" id="{75CE310D-4732-4C41-A61C-F712176F365A}"/>
              </a:ext>
            </a:extLst>
          </p:cNvPr>
          <p:cNvCxnSpPr>
            <a:cxnSpLocks/>
            <a:stCxn id="42" idx="3"/>
            <a:endCxn id="94" idx="1"/>
          </p:cNvCxnSpPr>
          <p:nvPr/>
        </p:nvCxnSpPr>
        <p:spPr>
          <a:xfrm>
            <a:off x="3396566" y="2604704"/>
            <a:ext cx="693391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2" name="群組 731">
            <a:extLst>
              <a:ext uri="{FF2B5EF4-FFF2-40B4-BE49-F238E27FC236}">
                <a16:creationId xmlns:a16="http://schemas.microsoft.com/office/drawing/2014/main" id="{CBBD3DE0-2EB6-4052-906D-751009878650}"/>
              </a:ext>
            </a:extLst>
          </p:cNvPr>
          <p:cNvGrpSpPr/>
          <p:nvPr/>
        </p:nvGrpSpPr>
        <p:grpSpPr>
          <a:xfrm>
            <a:off x="5989689" y="2496982"/>
            <a:ext cx="393679" cy="215444"/>
            <a:chOff x="6132292" y="3912592"/>
            <a:chExt cx="393679" cy="215444"/>
          </a:xfrm>
          <a:solidFill>
            <a:srgbClr val="EAF2FA"/>
          </a:solidFill>
        </p:grpSpPr>
        <p:sp>
          <p:nvSpPr>
            <p:cNvPr id="720" name="矩形 719">
              <a:extLst>
                <a:ext uri="{FF2B5EF4-FFF2-40B4-BE49-F238E27FC236}">
                  <a16:creationId xmlns:a16="http://schemas.microsoft.com/office/drawing/2014/main" id="{8817D37B-AF76-4C8E-89A5-DEC4D62E7469}"/>
                </a:ext>
              </a:extLst>
            </p:cNvPr>
            <p:cNvSpPr/>
            <p:nvPr/>
          </p:nvSpPr>
          <p:spPr>
            <a:xfrm>
              <a:off x="6184527" y="3951016"/>
              <a:ext cx="289209" cy="142685"/>
            </a:xfrm>
            <a:prstGeom prst="rect">
              <a:avLst/>
            </a:prstGeom>
            <a:solidFill>
              <a:srgbClr val="F2F7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1" name="文字方塊 720">
              <a:extLst>
                <a:ext uri="{FF2B5EF4-FFF2-40B4-BE49-F238E27FC236}">
                  <a16:creationId xmlns:a16="http://schemas.microsoft.com/office/drawing/2014/main" id="{F14F6233-11C6-472F-8A5A-045C79C5590B}"/>
                </a:ext>
              </a:extLst>
            </p:cNvPr>
            <p:cNvSpPr txBox="1"/>
            <p:nvPr/>
          </p:nvSpPr>
          <p:spPr>
            <a:xfrm>
              <a:off x="6132292" y="3912592"/>
              <a:ext cx="39367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sz="800" dirty="0"/>
                <a:t>通過</a:t>
              </a:r>
            </a:p>
          </p:txBody>
        </p:sp>
      </p:grpSp>
      <p:grpSp>
        <p:nvGrpSpPr>
          <p:cNvPr id="730" name="群組 729">
            <a:extLst>
              <a:ext uri="{FF2B5EF4-FFF2-40B4-BE49-F238E27FC236}">
                <a16:creationId xmlns:a16="http://schemas.microsoft.com/office/drawing/2014/main" id="{F65663E4-48DF-496E-A249-95CDA9F55CDA}"/>
              </a:ext>
            </a:extLst>
          </p:cNvPr>
          <p:cNvGrpSpPr/>
          <p:nvPr/>
        </p:nvGrpSpPr>
        <p:grpSpPr>
          <a:xfrm>
            <a:off x="5024942" y="2493412"/>
            <a:ext cx="593006" cy="215444"/>
            <a:chOff x="5239763" y="3630897"/>
            <a:chExt cx="593006" cy="215444"/>
          </a:xfrm>
        </p:grpSpPr>
        <p:sp>
          <p:nvSpPr>
            <p:cNvPr id="725" name="矩形 724">
              <a:extLst>
                <a:ext uri="{FF2B5EF4-FFF2-40B4-BE49-F238E27FC236}">
                  <a16:creationId xmlns:a16="http://schemas.microsoft.com/office/drawing/2014/main" id="{3C51A054-1960-481D-82E7-FFD3477C3AAF}"/>
                </a:ext>
              </a:extLst>
            </p:cNvPr>
            <p:cNvSpPr/>
            <p:nvPr/>
          </p:nvSpPr>
          <p:spPr>
            <a:xfrm>
              <a:off x="5316133" y="3667276"/>
              <a:ext cx="440267" cy="142685"/>
            </a:xfrm>
            <a:prstGeom prst="rect">
              <a:avLst/>
            </a:prstGeom>
            <a:solidFill>
              <a:srgbClr val="F2F7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7" name="文字方塊 726">
              <a:extLst>
                <a:ext uri="{FF2B5EF4-FFF2-40B4-BE49-F238E27FC236}">
                  <a16:creationId xmlns:a16="http://schemas.microsoft.com/office/drawing/2014/main" id="{88FF30AC-1385-4C63-8950-F85DEE45B20B}"/>
                </a:ext>
              </a:extLst>
            </p:cNvPr>
            <p:cNvSpPr txBox="1"/>
            <p:nvPr/>
          </p:nvSpPr>
          <p:spPr>
            <a:xfrm>
              <a:off x="5239763" y="3630897"/>
              <a:ext cx="59300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sz="800" dirty="0"/>
                <a:t>程式錯誤</a:t>
              </a:r>
            </a:p>
          </p:txBody>
        </p:sp>
      </p:grpSp>
      <p:grpSp>
        <p:nvGrpSpPr>
          <p:cNvPr id="731" name="群組 730">
            <a:extLst>
              <a:ext uri="{FF2B5EF4-FFF2-40B4-BE49-F238E27FC236}">
                <a16:creationId xmlns:a16="http://schemas.microsoft.com/office/drawing/2014/main" id="{C1ED70BF-6E48-4A39-BD98-B7AFD76C0901}"/>
              </a:ext>
            </a:extLst>
          </p:cNvPr>
          <p:cNvGrpSpPr/>
          <p:nvPr/>
        </p:nvGrpSpPr>
        <p:grpSpPr>
          <a:xfrm>
            <a:off x="3002922" y="2776695"/>
            <a:ext cx="593006" cy="215444"/>
            <a:chOff x="4572000" y="3630897"/>
            <a:chExt cx="593006" cy="215444"/>
          </a:xfrm>
          <a:noFill/>
        </p:grpSpPr>
        <p:sp>
          <p:nvSpPr>
            <p:cNvPr id="728" name="矩形 727">
              <a:extLst>
                <a:ext uri="{FF2B5EF4-FFF2-40B4-BE49-F238E27FC236}">
                  <a16:creationId xmlns:a16="http://schemas.microsoft.com/office/drawing/2014/main" id="{9E680B0E-E68C-45CF-8515-9767E7FC339F}"/>
                </a:ext>
              </a:extLst>
            </p:cNvPr>
            <p:cNvSpPr/>
            <p:nvPr/>
          </p:nvSpPr>
          <p:spPr>
            <a:xfrm>
              <a:off x="4648370" y="3667276"/>
              <a:ext cx="440267" cy="142685"/>
            </a:xfrm>
            <a:prstGeom prst="rect">
              <a:avLst/>
            </a:prstGeom>
            <a:solidFill>
              <a:srgbClr val="F2F7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9" name="文字方塊 728">
              <a:extLst>
                <a:ext uri="{FF2B5EF4-FFF2-40B4-BE49-F238E27FC236}">
                  <a16:creationId xmlns:a16="http://schemas.microsoft.com/office/drawing/2014/main" id="{907734F8-6859-4131-8DA8-89B74182C697}"/>
                </a:ext>
              </a:extLst>
            </p:cNvPr>
            <p:cNvSpPr txBox="1"/>
            <p:nvPr/>
          </p:nvSpPr>
          <p:spPr>
            <a:xfrm>
              <a:off x="4572000" y="3630897"/>
              <a:ext cx="593006" cy="215444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sz="800" dirty="0"/>
                <a:t>模型錯誤</a:t>
              </a:r>
            </a:p>
          </p:txBody>
        </p:sp>
      </p:grpSp>
      <p:grpSp>
        <p:nvGrpSpPr>
          <p:cNvPr id="733" name="群組 732">
            <a:extLst>
              <a:ext uri="{FF2B5EF4-FFF2-40B4-BE49-F238E27FC236}">
                <a16:creationId xmlns:a16="http://schemas.microsoft.com/office/drawing/2014/main" id="{A95E6D2B-DBD4-409E-84D9-5C930C89C8AD}"/>
              </a:ext>
            </a:extLst>
          </p:cNvPr>
          <p:cNvGrpSpPr/>
          <p:nvPr/>
        </p:nvGrpSpPr>
        <p:grpSpPr>
          <a:xfrm>
            <a:off x="3436442" y="2496982"/>
            <a:ext cx="393679" cy="215444"/>
            <a:chOff x="6132292" y="3912592"/>
            <a:chExt cx="393679" cy="215444"/>
          </a:xfrm>
          <a:noFill/>
        </p:grpSpPr>
        <p:sp>
          <p:nvSpPr>
            <p:cNvPr id="734" name="矩形 733">
              <a:extLst>
                <a:ext uri="{FF2B5EF4-FFF2-40B4-BE49-F238E27FC236}">
                  <a16:creationId xmlns:a16="http://schemas.microsoft.com/office/drawing/2014/main" id="{B5BB8930-5D7F-4003-8C23-0688ABF4D0C2}"/>
                </a:ext>
              </a:extLst>
            </p:cNvPr>
            <p:cNvSpPr/>
            <p:nvPr/>
          </p:nvSpPr>
          <p:spPr>
            <a:xfrm>
              <a:off x="6184527" y="3951016"/>
              <a:ext cx="289209" cy="142685"/>
            </a:xfrm>
            <a:prstGeom prst="rect">
              <a:avLst/>
            </a:prstGeom>
            <a:solidFill>
              <a:srgbClr val="F2F7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5" name="文字方塊 734">
              <a:extLst>
                <a:ext uri="{FF2B5EF4-FFF2-40B4-BE49-F238E27FC236}">
                  <a16:creationId xmlns:a16="http://schemas.microsoft.com/office/drawing/2014/main" id="{F923A017-F4F3-4676-9E54-A0DE306AC946}"/>
                </a:ext>
              </a:extLst>
            </p:cNvPr>
            <p:cNvSpPr txBox="1"/>
            <p:nvPr/>
          </p:nvSpPr>
          <p:spPr>
            <a:xfrm>
              <a:off x="6132292" y="3912592"/>
              <a:ext cx="393679" cy="215444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sz="800" dirty="0"/>
                <a:t>通過</a:t>
              </a:r>
            </a:p>
          </p:txBody>
        </p:sp>
      </p:grpSp>
      <p:grpSp>
        <p:nvGrpSpPr>
          <p:cNvPr id="736" name="群組 735">
            <a:extLst>
              <a:ext uri="{FF2B5EF4-FFF2-40B4-BE49-F238E27FC236}">
                <a16:creationId xmlns:a16="http://schemas.microsoft.com/office/drawing/2014/main" id="{84531B8E-28B3-424A-AD49-ED55C806CD67}"/>
              </a:ext>
            </a:extLst>
          </p:cNvPr>
          <p:cNvGrpSpPr/>
          <p:nvPr/>
        </p:nvGrpSpPr>
        <p:grpSpPr>
          <a:xfrm>
            <a:off x="5529710" y="2776695"/>
            <a:ext cx="593006" cy="215444"/>
            <a:chOff x="4572000" y="3630897"/>
            <a:chExt cx="593006" cy="215444"/>
          </a:xfrm>
        </p:grpSpPr>
        <p:sp>
          <p:nvSpPr>
            <p:cNvPr id="737" name="矩形 736">
              <a:extLst>
                <a:ext uri="{FF2B5EF4-FFF2-40B4-BE49-F238E27FC236}">
                  <a16:creationId xmlns:a16="http://schemas.microsoft.com/office/drawing/2014/main" id="{B5DD302A-E21B-4473-A457-879FAB3ADF28}"/>
                </a:ext>
              </a:extLst>
            </p:cNvPr>
            <p:cNvSpPr/>
            <p:nvPr/>
          </p:nvSpPr>
          <p:spPr>
            <a:xfrm>
              <a:off x="4648370" y="3667276"/>
              <a:ext cx="440267" cy="142685"/>
            </a:xfrm>
            <a:prstGeom prst="rect">
              <a:avLst/>
            </a:prstGeom>
            <a:solidFill>
              <a:srgbClr val="F2F7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8" name="文字方塊 737">
              <a:extLst>
                <a:ext uri="{FF2B5EF4-FFF2-40B4-BE49-F238E27FC236}">
                  <a16:creationId xmlns:a16="http://schemas.microsoft.com/office/drawing/2014/main" id="{B0CBF30B-3B90-4667-B0A8-C8793A9A7D62}"/>
                </a:ext>
              </a:extLst>
            </p:cNvPr>
            <p:cNvSpPr txBox="1"/>
            <p:nvPr/>
          </p:nvSpPr>
          <p:spPr>
            <a:xfrm>
              <a:off x="4572000" y="3630897"/>
              <a:ext cx="59300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sz="800" dirty="0"/>
                <a:t>模型錯誤</a:t>
              </a:r>
            </a:p>
          </p:txBody>
        </p:sp>
      </p:grpSp>
      <p:cxnSp>
        <p:nvCxnSpPr>
          <p:cNvPr id="893" name="直線接點 892">
            <a:extLst>
              <a:ext uri="{FF2B5EF4-FFF2-40B4-BE49-F238E27FC236}">
                <a16:creationId xmlns:a16="http://schemas.microsoft.com/office/drawing/2014/main" id="{6D750EFD-3599-4FF1-B1DE-A05C448B4371}"/>
              </a:ext>
            </a:extLst>
          </p:cNvPr>
          <p:cNvCxnSpPr>
            <a:cxnSpLocks/>
          </p:cNvCxnSpPr>
          <p:nvPr/>
        </p:nvCxnSpPr>
        <p:spPr>
          <a:xfrm flipH="1">
            <a:off x="1012825" y="939142"/>
            <a:ext cx="7619539" cy="0"/>
          </a:xfrm>
          <a:prstGeom prst="line">
            <a:avLst/>
          </a:prstGeom>
          <a:ln w="9525">
            <a:solidFill>
              <a:srgbClr val="222A3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6" name="直線接點 895">
            <a:extLst>
              <a:ext uri="{FF2B5EF4-FFF2-40B4-BE49-F238E27FC236}">
                <a16:creationId xmlns:a16="http://schemas.microsoft.com/office/drawing/2014/main" id="{DC08E034-976F-4255-8D19-1D0E02CE3B9D}"/>
              </a:ext>
            </a:extLst>
          </p:cNvPr>
          <p:cNvCxnSpPr>
            <a:cxnSpLocks/>
          </p:cNvCxnSpPr>
          <p:nvPr/>
        </p:nvCxnSpPr>
        <p:spPr>
          <a:xfrm flipH="1">
            <a:off x="531813" y="3279143"/>
            <a:ext cx="8100552" cy="0"/>
          </a:xfrm>
          <a:prstGeom prst="line">
            <a:avLst/>
          </a:prstGeom>
          <a:ln w="9525">
            <a:solidFill>
              <a:srgbClr val="222A3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7" name="直線接點 896">
            <a:extLst>
              <a:ext uri="{FF2B5EF4-FFF2-40B4-BE49-F238E27FC236}">
                <a16:creationId xmlns:a16="http://schemas.microsoft.com/office/drawing/2014/main" id="{3F00E431-4C2A-4619-BE29-7797FD670849}"/>
              </a:ext>
            </a:extLst>
          </p:cNvPr>
          <p:cNvCxnSpPr>
            <a:cxnSpLocks/>
          </p:cNvCxnSpPr>
          <p:nvPr/>
        </p:nvCxnSpPr>
        <p:spPr>
          <a:xfrm>
            <a:off x="536471" y="1254311"/>
            <a:ext cx="0" cy="2022323"/>
          </a:xfrm>
          <a:prstGeom prst="line">
            <a:avLst/>
          </a:prstGeom>
          <a:ln w="9525" cap="rnd">
            <a:solidFill>
              <a:srgbClr val="222A3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6" name="圖片 625">
            <a:extLst>
              <a:ext uri="{FF2B5EF4-FFF2-40B4-BE49-F238E27FC236}">
                <a16:creationId xmlns:a16="http://schemas.microsoft.com/office/drawing/2014/main" id="{C983F2A2-8B6D-4DAF-AE5C-D1FEC451BE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384" y="3384283"/>
            <a:ext cx="720000" cy="720000"/>
          </a:xfrm>
          <a:prstGeom prst="rect">
            <a:avLst/>
          </a:prstGeom>
        </p:spPr>
      </p:pic>
      <p:sp>
        <p:nvSpPr>
          <p:cNvPr id="855" name="矩形: 圓角 854">
            <a:extLst>
              <a:ext uri="{FF2B5EF4-FFF2-40B4-BE49-F238E27FC236}">
                <a16:creationId xmlns:a16="http://schemas.microsoft.com/office/drawing/2014/main" id="{6EF99A55-C213-4A1A-BA6B-D041AF8BBC59}"/>
              </a:ext>
            </a:extLst>
          </p:cNvPr>
          <p:cNvSpPr/>
          <p:nvPr/>
        </p:nvSpPr>
        <p:spPr>
          <a:xfrm>
            <a:off x="950275" y="4207488"/>
            <a:ext cx="1082219" cy="293020"/>
          </a:xfrm>
          <a:prstGeom prst="roundRect">
            <a:avLst>
              <a:gd name="adj" fmla="val 15120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TW" altLang="en-US" sz="1600" b="1" dirty="0">
                <a:solidFill>
                  <a:schemeClr val="bg1"/>
                </a:solidFill>
              </a:rPr>
              <a:t>使用者</a:t>
            </a:r>
          </a:p>
        </p:txBody>
      </p:sp>
      <p:pic>
        <p:nvPicPr>
          <p:cNvPr id="627" name="圖片 626">
            <a:extLst>
              <a:ext uri="{FF2B5EF4-FFF2-40B4-BE49-F238E27FC236}">
                <a16:creationId xmlns:a16="http://schemas.microsoft.com/office/drawing/2014/main" id="{9309C304-2D5E-405A-B355-CD6D7ED5AE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2615" y="3384283"/>
            <a:ext cx="720000" cy="720000"/>
          </a:xfrm>
          <a:prstGeom prst="rect">
            <a:avLst/>
          </a:prstGeom>
        </p:spPr>
      </p:pic>
      <p:sp>
        <p:nvSpPr>
          <p:cNvPr id="857" name="矩形: 圓角 856">
            <a:extLst>
              <a:ext uri="{FF2B5EF4-FFF2-40B4-BE49-F238E27FC236}">
                <a16:creationId xmlns:a16="http://schemas.microsoft.com/office/drawing/2014/main" id="{91F1FE6B-D797-4E1B-B101-39E4C2A1E906}"/>
              </a:ext>
            </a:extLst>
          </p:cNvPr>
          <p:cNvSpPr/>
          <p:nvPr/>
        </p:nvSpPr>
        <p:spPr>
          <a:xfrm>
            <a:off x="7111506" y="4207488"/>
            <a:ext cx="1082219" cy="293020"/>
          </a:xfrm>
          <a:prstGeom prst="roundRect">
            <a:avLst>
              <a:gd name="adj" fmla="val 15120"/>
            </a:avLst>
          </a:prstGeom>
          <a:solidFill>
            <a:srgbClr val="203775"/>
          </a:solidFill>
          <a:ln>
            <a:solidFill>
              <a:srgbClr val="2037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TW" altLang="en-US" sz="1600" b="1" dirty="0">
                <a:solidFill>
                  <a:schemeClr val="bg1"/>
                </a:solidFill>
              </a:rPr>
              <a:t>開發者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4FBE5C29-5E63-4814-97BD-741E42A2A4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936" y="3557565"/>
            <a:ext cx="904747" cy="905884"/>
          </a:xfrm>
          <a:prstGeom prst="rect">
            <a:avLst/>
          </a:prstGeom>
        </p:spPr>
      </p:pic>
      <p:grpSp>
        <p:nvGrpSpPr>
          <p:cNvPr id="31" name="群組 30">
            <a:extLst>
              <a:ext uri="{FF2B5EF4-FFF2-40B4-BE49-F238E27FC236}">
                <a16:creationId xmlns:a16="http://schemas.microsoft.com/office/drawing/2014/main" id="{CD4F4EA3-2319-484D-A732-010FC151BFF4}"/>
              </a:ext>
            </a:extLst>
          </p:cNvPr>
          <p:cNvGrpSpPr/>
          <p:nvPr/>
        </p:nvGrpSpPr>
        <p:grpSpPr>
          <a:xfrm>
            <a:off x="5601856" y="3515589"/>
            <a:ext cx="1509650" cy="305148"/>
            <a:chOff x="5686303" y="3765084"/>
            <a:chExt cx="1509650" cy="305148"/>
          </a:xfrm>
        </p:grpSpPr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239EBFF7-E092-4A6C-8331-82AE92FD2E7E}"/>
                </a:ext>
              </a:extLst>
            </p:cNvPr>
            <p:cNvSpPr txBox="1"/>
            <p:nvPr/>
          </p:nvSpPr>
          <p:spPr>
            <a:xfrm>
              <a:off x="5686303" y="3767617"/>
              <a:ext cx="1211758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熟悉建模技術</a:t>
              </a:r>
            </a:p>
          </p:txBody>
        </p:sp>
        <p:pic>
          <p:nvPicPr>
            <p:cNvPr id="22" name="圖片 21">
              <a:extLst>
                <a:ext uri="{FF2B5EF4-FFF2-40B4-BE49-F238E27FC236}">
                  <a16:creationId xmlns:a16="http://schemas.microsoft.com/office/drawing/2014/main" id="{8BB1BAB6-0579-4153-8AA9-5CFD002949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890805" y="3765084"/>
              <a:ext cx="305148" cy="305148"/>
            </a:xfrm>
            <a:prstGeom prst="rect">
              <a:avLst/>
            </a:prstGeom>
          </p:spPr>
        </p:pic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778776FE-CC38-428A-B802-A0686915A11A}"/>
              </a:ext>
            </a:extLst>
          </p:cNvPr>
          <p:cNvGrpSpPr/>
          <p:nvPr/>
        </p:nvGrpSpPr>
        <p:grpSpPr>
          <a:xfrm>
            <a:off x="5601856" y="3848080"/>
            <a:ext cx="1455109" cy="300082"/>
            <a:chOff x="5686303" y="4244193"/>
            <a:chExt cx="1455109" cy="300082"/>
          </a:xfrm>
        </p:grpSpPr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5750825F-F2EC-4241-B29E-11AFCB3799EF}"/>
                </a:ext>
              </a:extLst>
            </p:cNvPr>
            <p:cNvSpPr txBox="1"/>
            <p:nvPr/>
          </p:nvSpPr>
          <p:spPr>
            <a:xfrm>
              <a:off x="5686303" y="4244193"/>
              <a:ext cx="1211758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dirty="0">
                  <a:solidFill>
                    <a:schemeClr val="bg1">
                      <a:lumMod val="50000"/>
                    </a:schemeClr>
                  </a:solidFill>
                </a:rPr>
                <a:t>缺乏領域知識</a:t>
              </a:r>
            </a:p>
          </p:txBody>
        </p:sp>
        <p:pic>
          <p:nvPicPr>
            <p:cNvPr id="96" name="圖片 95">
              <a:extLst>
                <a:ext uri="{FF2B5EF4-FFF2-40B4-BE49-F238E27FC236}">
                  <a16:creationId xmlns:a16="http://schemas.microsoft.com/office/drawing/2014/main" id="{E144A539-5B7F-425D-B19F-036C10603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945346" y="4295310"/>
              <a:ext cx="196066" cy="197848"/>
            </a:xfrm>
            <a:prstGeom prst="rect">
              <a:avLst/>
            </a:prstGeom>
          </p:spPr>
        </p:pic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A7DA7BC0-898F-428D-B7DB-D2EE23C2EA12}"/>
              </a:ext>
            </a:extLst>
          </p:cNvPr>
          <p:cNvGrpSpPr/>
          <p:nvPr/>
        </p:nvGrpSpPr>
        <p:grpSpPr>
          <a:xfrm>
            <a:off x="2032493" y="3515278"/>
            <a:ext cx="1518270" cy="305148"/>
            <a:chOff x="1978463" y="3764773"/>
            <a:chExt cx="1518270" cy="305148"/>
          </a:xfrm>
        </p:grpSpPr>
        <p:sp>
          <p:nvSpPr>
            <p:cNvPr id="81" name="文字方塊 80">
              <a:extLst>
                <a:ext uri="{FF2B5EF4-FFF2-40B4-BE49-F238E27FC236}">
                  <a16:creationId xmlns:a16="http://schemas.microsoft.com/office/drawing/2014/main" id="{FC68C49A-B5FA-4789-ABA5-9D45AB32760F}"/>
                </a:ext>
              </a:extLst>
            </p:cNvPr>
            <p:cNvSpPr txBox="1"/>
            <p:nvPr/>
          </p:nvSpPr>
          <p:spPr>
            <a:xfrm>
              <a:off x="2284975" y="3767306"/>
              <a:ext cx="1211758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具備產業知識</a:t>
              </a:r>
              <a:endParaRPr lang="en-US" altLang="zh-TW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97" name="圖片 96">
              <a:extLst>
                <a:ext uri="{FF2B5EF4-FFF2-40B4-BE49-F238E27FC236}">
                  <a16:creationId xmlns:a16="http://schemas.microsoft.com/office/drawing/2014/main" id="{4ADCF852-D30A-43AC-B27B-D717C932F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978463" y="3764773"/>
              <a:ext cx="305148" cy="305148"/>
            </a:xfrm>
            <a:prstGeom prst="rect">
              <a:avLst/>
            </a:prstGeom>
          </p:spPr>
        </p:pic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C604F7A9-A27E-447B-B50A-1782EAF4C3B3}"/>
              </a:ext>
            </a:extLst>
          </p:cNvPr>
          <p:cNvGrpSpPr/>
          <p:nvPr/>
        </p:nvGrpSpPr>
        <p:grpSpPr>
          <a:xfrm>
            <a:off x="2087034" y="3829049"/>
            <a:ext cx="1463729" cy="300082"/>
            <a:chOff x="2033004" y="4225162"/>
            <a:chExt cx="1463729" cy="300082"/>
          </a:xfrm>
        </p:grpSpPr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12228082-D080-499D-B0AE-3245F935F88D}"/>
                </a:ext>
              </a:extLst>
            </p:cNvPr>
            <p:cNvSpPr txBox="1"/>
            <p:nvPr/>
          </p:nvSpPr>
          <p:spPr>
            <a:xfrm>
              <a:off x="2284975" y="4225162"/>
              <a:ext cx="1211758" cy="3000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dirty="0">
                  <a:solidFill>
                    <a:schemeClr val="bg1">
                      <a:lumMod val="50000"/>
                    </a:schemeClr>
                  </a:solidFill>
                </a:rPr>
                <a:t>缺乏建模經驗</a:t>
              </a:r>
            </a:p>
          </p:txBody>
        </p:sp>
        <p:pic>
          <p:nvPicPr>
            <p:cNvPr id="98" name="圖片 97">
              <a:extLst>
                <a:ext uri="{FF2B5EF4-FFF2-40B4-BE49-F238E27FC236}">
                  <a16:creationId xmlns:a16="http://schemas.microsoft.com/office/drawing/2014/main" id="{481E1EC4-038D-4E9F-9EDE-162A092E0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33004" y="4276279"/>
              <a:ext cx="196066" cy="197848"/>
            </a:xfrm>
            <a:prstGeom prst="rect">
              <a:avLst/>
            </a:prstGeom>
          </p:spPr>
        </p:pic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CB06CBCD-6CD9-4A1B-AF99-5EEFF61424C1}"/>
              </a:ext>
            </a:extLst>
          </p:cNvPr>
          <p:cNvSpPr/>
          <p:nvPr/>
        </p:nvSpPr>
        <p:spPr>
          <a:xfrm>
            <a:off x="1017588" y="942975"/>
            <a:ext cx="2906712" cy="233838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矩形: 圓角 111">
            <a:extLst>
              <a:ext uri="{FF2B5EF4-FFF2-40B4-BE49-F238E27FC236}">
                <a16:creationId xmlns:a16="http://schemas.microsoft.com/office/drawing/2014/main" id="{E5B01C9C-9F15-43FC-AAFC-B81289AB1BAE}"/>
              </a:ext>
            </a:extLst>
          </p:cNvPr>
          <p:cNvSpPr/>
          <p:nvPr/>
        </p:nvSpPr>
        <p:spPr>
          <a:xfrm>
            <a:off x="3872098" y="4478723"/>
            <a:ext cx="1419982" cy="293020"/>
          </a:xfrm>
          <a:prstGeom prst="roundRect">
            <a:avLst>
              <a:gd name="adj" fmla="val 1512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TW" altLang="en-US" sz="1600" b="1" dirty="0">
                <a:ln w="3175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知識交換</a:t>
            </a:r>
          </a:p>
        </p:txBody>
      </p:sp>
      <p:sp>
        <p:nvSpPr>
          <p:cNvPr id="150" name="文字方塊 149">
            <a:extLst>
              <a:ext uri="{FF2B5EF4-FFF2-40B4-BE49-F238E27FC236}">
                <a16:creationId xmlns:a16="http://schemas.microsoft.com/office/drawing/2014/main" id="{7762B3F0-5344-43BB-A62D-B3BBB8CC9682}"/>
              </a:ext>
            </a:extLst>
          </p:cNvPr>
          <p:cNvSpPr txBox="1"/>
          <p:nvPr/>
        </p:nvSpPr>
        <p:spPr>
          <a:xfrm>
            <a:off x="2302703" y="942623"/>
            <a:ext cx="9129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dist"/>
            <a:r>
              <a:rPr lang="zh-TW" altLang="en-US" dirty="0">
                <a:solidFill>
                  <a:srgbClr val="2F528F"/>
                </a:solidFill>
              </a:rPr>
              <a:t>模型開發</a:t>
            </a:r>
          </a:p>
        </p:txBody>
      </p:sp>
      <p:sp>
        <p:nvSpPr>
          <p:cNvPr id="151" name="矩形: 圓角 150">
            <a:extLst>
              <a:ext uri="{FF2B5EF4-FFF2-40B4-BE49-F238E27FC236}">
                <a16:creationId xmlns:a16="http://schemas.microsoft.com/office/drawing/2014/main" id="{B053DDBE-DDED-4086-9B03-FDEB3320E51A}"/>
              </a:ext>
            </a:extLst>
          </p:cNvPr>
          <p:cNvSpPr/>
          <p:nvPr/>
        </p:nvSpPr>
        <p:spPr>
          <a:xfrm>
            <a:off x="1700571" y="986951"/>
            <a:ext cx="643544" cy="219120"/>
          </a:xfrm>
          <a:prstGeom prst="roundRect">
            <a:avLst/>
          </a:prstGeom>
          <a:solidFill>
            <a:srgbClr val="2F528F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b="1" dirty="0">
                <a:solidFill>
                  <a:schemeClr val="bg1"/>
                </a:solidFill>
              </a:rPr>
              <a:t>Step 1</a:t>
            </a:r>
            <a:endParaRPr lang="zh-TW" altLang="en-US" sz="1100" b="1" dirty="0">
              <a:solidFill>
                <a:schemeClr val="bg1"/>
              </a:solidFill>
            </a:endParaRPr>
          </a:p>
        </p:txBody>
      </p:sp>
      <p:sp>
        <p:nvSpPr>
          <p:cNvPr id="152" name="文字方塊 151">
            <a:extLst>
              <a:ext uri="{FF2B5EF4-FFF2-40B4-BE49-F238E27FC236}">
                <a16:creationId xmlns:a16="http://schemas.microsoft.com/office/drawing/2014/main" id="{4682A40D-0F5F-4269-A77A-618FFF995BEC}"/>
              </a:ext>
            </a:extLst>
          </p:cNvPr>
          <p:cNvSpPr txBox="1"/>
          <p:nvPr/>
        </p:nvSpPr>
        <p:spPr>
          <a:xfrm>
            <a:off x="7402015" y="942623"/>
            <a:ext cx="9129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zh-TW" altLang="en-US" sz="1400" b="1" dirty="0">
                <a:solidFill>
                  <a:srgbClr val="2F528F"/>
                </a:solidFill>
              </a:rPr>
              <a:t>調參優化</a:t>
            </a:r>
          </a:p>
        </p:txBody>
      </p:sp>
      <p:sp>
        <p:nvSpPr>
          <p:cNvPr id="153" name="矩形: 圓角 152">
            <a:extLst>
              <a:ext uri="{FF2B5EF4-FFF2-40B4-BE49-F238E27FC236}">
                <a16:creationId xmlns:a16="http://schemas.microsoft.com/office/drawing/2014/main" id="{2078066F-2F7E-402F-9398-3ED853C26E82}"/>
              </a:ext>
            </a:extLst>
          </p:cNvPr>
          <p:cNvSpPr/>
          <p:nvPr/>
        </p:nvSpPr>
        <p:spPr>
          <a:xfrm>
            <a:off x="6799885" y="986951"/>
            <a:ext cx="643544" cy="219120"/>
          </a:xfrm>
          <a:prstGeom prst="roundRect">
            <a:avLst/>
          </a:prstGeom>
          <a:solidFill>
            <a:srgbClr val="2F528F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b="1">
                <a:solidFill>
                  <a:schemeClr val="bg1"/>
                </a:solidFill>
              </a:rPr>
              <a:t>Step 3</a:t>
            </a:r>
            <a:endParaRPr lang="zh-TW" altLang="en-US" sz="1100" b="1" dirty="0">
              <a:solidFill>
                <a:schemeClr val="bg1"/>
              </a:solidFill>
            </a:endParaRPr>
          </a:p>
        </p:txBody>
      </p:sp>
      <p:sp>
        <p:nvSpPr>
          <p:cNvPr id="154" name="文字方塊 153">
            <a:extLst>
              <a:ext uri="{FF2B5EF4-FFF2-40B4-BE49-F238E27FC236}">
                <a16:creationId xmlns:a16="http://schemas.microsoft.com/office/drawing/2014/main" id="{282E5458-CE0A-4643-B38D-5B80C6468707}"/>
              </a:ext>
            </a:extLst>
          </p:cNvPr>
          <p:cNvSpPr txBox="1"/>
          <p:nvPr/>
        </p:nvSpPr>
        <p:spPr>
          <a:xfrm>
            <a:off x="5064645" y="942623"/>
            <a:ext cx="9129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zh-TW" altLang="en-US" sz="1400" b="1" dirty="0">
                <a:solidFill>
                  <a:srgbClr val="2F528F"/>
                </a:solidFill>
              </a:rPr>
              <a:t>程式開發</a:t>
            </a:r>
          </a:p>
        </p:txBody>
      </p:sp>
      <p:sp>
        <p:nvSpPr>
          <p:cNvPr id="155" name="矩形: 圓角 154">
            <a:extLst>
              <a:ext uri="{FF2B5EF4-FFF2-40B4-BE49-F238E27FC236}">
                <a16:creationId xmlns:a16="http://schemas.microsoft.com/office/drawing/2014/main" id="{A3CFD9DB-EA2D-4F48-8FB5-E31E150377BF}"/>
              </a:ext>
            </a:extLst>
          </p:cNvPr>
          <p:cNvSpPr/>
          <p:nvPr/>
        </p:nvSpPr>
        <p:spPr>
          <a:xfrm>
            <a:off x="4462513" y="986951"/>
            <a:ext cx="643544" cy="219120"/>
          </a:xfrm>
          <a:prstGeom prst="roundRect">
            <a:avLst/>
          </a:prstGeom>
          <a:solidFill>
            <a:srgbClr val="2F528F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b="1" dirty="0">
                <a:solidFill>
                  <a:schemeClr val="bg1"/>
                </a:solidFill>
              </a:rPr>
              <a:t>Step 2</a:t>
            </a:r>
            <a:endParaRPr lang="zh-TW" altLang="en-US" sz="1100" b="1" dirty="0">
              <a:solidFill>
                <a:schemeClr val="bg1"/>
              </a:solidFill>
            </a:endParaRPr>
          </a:p>
        </p:txBody>
      </p:sp>
      <p:cxnSp>
        <p:nvCxnSpPr>
          <p:cNvPr id="156" name="接點: 肘形 155">
            <a:extLst>
              <a:ext uri="{FF2B5EF4-FFF2-40B4-BE49-F238E27FC236}">
                <a16:creationId xmlns:a16="http://schemas.microsoft.com/office/drawing/2014/main" id="{4FCB80DB-CFA5-448E-91C7-73A17C689E8C}"/>
              </a:ext>
            </a:extLst>
          </p:cNvPr>
          <p:cNvCxnSpPr>
            <a:cxnSpLocks/>
          </p:cNvCxnSpPr>
          <p:nvPr/>
        </p:nvCxnSpPr>
        <p:spPr>
          <a:xfrm rot="5400000">
            <a:off x="6282256" y="1009001"/>
            <a:ext cx="12700" cy="3575912"/>
          </a:xfrm>
          <a:prstGeom prst="bentConnector3">
            <a:avLst>
              <a:gd name="adj1" fmla="val 3025000"/>
            </a:avLst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群組 156">
            <a:extLst>
              <a:ext uri="{FF2B5EF4-FFF2-40B4-BE49-F238E27FC236}">
                <a16:creationId xmlns:a16="http://schemas.microsoft.com/office/drawing/2014/main" id="{70D92423-5C78-454E-90D4-7A45E352D03C}"/>
              </a:ext>
            </a:extLst>
          </p:cNvPr>
          <p:cNvGrpSpPr/>
          <p:nvPr/>
        </p:nvGrpSpPr>
        <p:grpSpPr>
          <a:xfrm>
            <a:off x="3859818" y="1009469"/>
            <a:ext cx="102640" cy="182390"/>
            <a:chOff x="3707904" y="1269426"/>
            <a:chExt cx="271311" cy="482115"/>
          </a:xfrm>
        </p:grpSpPr>
        <p:grpSp>
          <p:nvGrpSpPr>
            <p:cNvPr id="158" name="群組 157">
              <a:extLst>
                <a:ext uri="{FF2B5EF4-FFF2-40B4-BE49-F238E27FC236}">
                  <a16:creationId xmlns:a16="http://schemas.microsoft.com/office/drawing/2014/main" id="{C2999B55-4A33-438D-8AEB-660EFB6C4774}"/>
                </a:ext>
              </a:extLst>
            </p:cNvPr>
            <p:cNvGrpSpPr/>
            <p:nvPr/>
          </p:nvGrpSpPr>
          <p:grpSpPr>
            <a:xfrm>
              <a:off x="3979215" y="1269426"/>
              <a:ext cx="0" cy="482115"/>
              <a:chOff x="3979215" y="1269426"/>
              <a:chExt cx="0" cy="482115"/>
            </a:xfrm>
          </p:grpSpPr>
          <p:cxnSp>
            <p:nvCxnSpPr>
              <p:cNvPr id="162" name="直線單箭頭接點 161">
                <a:extLst>
                  <a:ext uri="{FF2B5EF4-FFF2-40B4-BE49-F238E27FC236}">
                    <a16:creationId xmlns:a16="http://schemas.microsoft.com/office/drawing/2014/main" id="{00DB4B53-9B21-4526-815D-F5648FFE97A2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線單箭頭接點 162">
                <a:extLst>
                  <a:ext uri="{FF2B5EF4-FFF2-40B4-BE49-F238E27FC236}">
                    <a16:creationId xmlns:a16="http://schemas.microsoft.com/office/drawing/2014/main" id="{537FD442-821C-4C2F-A652-EEFF2FBD62D9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9" name="群組 158">
              <a:extLst>
                <a:ext uri="{FF2B5EF4-FFF2-40B4-BE49-F238E27FC236}">
                  <a16:creationId xmlns:a16="http://schemas.microsoft.com/office/drawing/2014/main" id="{297CCFE1-3113-45B9-BF54-0149D8AADF76}"/>
                </a:ext>
              </a:extLst>
            </p:cNvPr>
            <p:cNvGrpSpPr/>
            <p:nvPr/>
          </p:nvGrpSpPr>
          <p:grpSpPr>
            <a:xfrm>
              <a:off x="3707904" y="1269426"/>
              <a:ext cx="0" cy="482115"/>
              <a:chOff x="3979215" y="1269426"/>
              <a:chExt cx="0" cy="482115"/>
            </a:xfrm>
          </p:grpSpPr>
          <p:cxnSp>
            <p:nvCxnSpPr>
              <p:cNvPr id="160" name="直線單箭頭接點 159">
                <a:extLst>
                  <a:ext uri="{FF2B5EF4-FFF2-40B4-BE49-F238E27FC236}">
                    <a16:creationId xmlns:a16="http://schemas.microsoft.com/office/drawing/2014/main" id="{3F5E1501-2333-4786-9F6C-C5F09BCAC785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線單箭頭接點 160">
                <a:extLst>
                  <a:ext uri="{FF2B5EF4-FFF2-40B4-BE49-F238E27FC236}">
                    <a16:creationId xmlns:a16="http://schemas.microsoft.com/office/drawing/2014/main" id="{1FC92722-8D6D-4573-BCC8-8A27DD69D98A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4" name="群組 163">
            <a:extLst>
              <a:ext uri="{FF2B5EF4-FFF2-40B4-BE49-F238E27FC236}">
                <a16:creationId xmlns:a16="http://schemas.microsoft.com/office/drawing/2014/main" id="{AAC6A37F-838C-4512-9649-9453B2B95A51}"/>
              </a:ext>
            </a:extLst>
          </p:cNvPr>
          <p:cNvGrpSpPr/>
          <p:nvPr/>
        </p:nvGrpSpPr>
        <p:grpSpPr>
          <a:xfrm>
            <a:off x="6408859" y="1009198"/>
            <a:ext cx="102640" cy="182390"/>
            <a:chOff x="3707904" y="1269426"/>
            <a:chExt cx="271311" cy="482115"/>
          </a:xfrm>
        </p:grpSpPr>
        <p:grpSp>
          <p:nvGrpSpPr>
            <p:cNvPr id="165" name="群組 164">
              <a:extLst>
                <a:ext uri="{FF2B5EF4-FFF2-40B4-BE49-F238E27FC236}">
                  <a16:creationId xmlns:a16="http://schemas.microsoft.com/office/drawing/2014/main" id="{C435BDBE-EE41-4901-8D3D-B7A1E8774102}"/>
                </a:ext>
              </a:extLst>
            </p:cNvPr>
            <p:cNvGrpSpPr/>
            <p:nvPr/>
          </p:nvGrpSpPr>
          <p:grpSpPr>
            <a:xfrm>
              <a:off x="3979215" y="1269426"/>
              <a:ext cx="0" cy="482115"/>
              <a:chOff x="3979215" y="1269426"/>
              <a:chExt cx="0" cy="482115"/>
            </a:xfrm>
          </p:grpSpPr>
          <p:cxnSp>
            <p:nvCxnSpPr>
              <p:cNvPr id="169" name="直線單箭頭接點 168">
                <a:extLst>
                  <a:ext uri="{FF2B5EF4-FFF2-40B4-BE49-F238E27FC236}">
                    <a16:creationId xmlns:a16="http://schemas.microsoft.com/office/drawing/2014/main" id="{7C87B63D-A2D4-4E21-8C85-8CA1CB915AB0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線單箭頭接點 169">
                <a:extLst>
                  <a:ext uri="{FF2B5EF4-FFF2-40B4-BE49-F238E27FC236}">
                    <a16:creationId xmlns:a16="http://schemas.microsoft.com/office/drawing/2014/main" id="{E1FB0D13-0883-4C5E-BCB5-BF8E33C09543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6" name="群組 165">
              <a:extLst>
                <a:ext uri="{FF2B5EF4-FFF2-40B4-BE49-F238E27FC236}">
                  <a16:creationId xmlns:a16="http://schemas.microsoft.com/office/drawing/2014/main" id="{2BD93B76-E2EB-47F7-ADA8-74C90E2B0698}"/>
                </a:ext>
              </a:extLst>
            </p:cNvPr>
            <p:cNvGrpSpPr/>
            <p:nvPr/>
          </p:nvGrpSpPr>
          <p:grpSpPr>
            <a:xfrm>
              <a:off x="3707904" y="1269426"/>
              <a:ext cx="0" cy="482115"/>
              <a:chOff x="3979215" y="1269426"/>
              <a:chExt cx="0" cy="482115"/>
            </a:xfrm>
          </p:grpSpPr>
          <p:cxnSp>
            <p:nvCxnSpPr>
              <p:cNvPr id="167" name="直線單箭頭接點 166">
                <a:extLst>
                  <a:ext uri="{FF2B5EF4-FFF2-40B4-BE49-F238E27FC236}">
                    <a16:creationId xmlns:a16="http://schemas.microsoft.com/office/drawing/2014/main" id="{9541D033-2ADD-4909-AC4E-63BD263DA8E9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線單箭頭接點 167">
                <a:extLst>
                  <a:ext uri="{FF2B5EF4-FFF2-40B4-BE49-F238E27FC236}">
                    <a16:creationId xmlns:a16="http://schemas.microsoft.com/office/drawing/2014/main" id="{0EF62238-AF42-41B5-BB62-95D4541F60CA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86" name="矩形: 圓角 185">
            <a:extLst>
              <a:ext uri="{FF2B5EF4-FFF2-40B4-BE49-F238E27FC236}">
                <a16:creationId xmlns:a16="http://schemas.microsoft.com/office/drawing/2014/main" id="{84CAB478-620B-4C9B-AF8B-03C553DDEEA9}"/>
              </a:ext>
            </a:extLst>
          </p:cNvPr>
          <p:cNvSpPr/>
          <p:nvPr/>
        </p:nvSpPr>
        <p:spPr>
          <a:xfrm>
            <a:off x="6601955" y="2412451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2037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rgbClr val="203775"/>
                </a:solidFill>
              </a:rPr>
              <a:t>執行實驗</a:t>
            </a:r>
          </a:p>
        </p:txBody>
      </p:sp>
      <p:sp>
        <p:nvSpPr>
          <p:cNvPr id="188" name="矩形: 圓角 187">
            <a:extLst>
              <a:ext uri="{FF2B5EF4-FFF2-40B4-BE49-F238E27FC236}">
                <a16:creationId xmlns:a16="http://schemas.microsoft.com/office/drawing/2014/main" id="{E01B71DB-3EB4-4DAD-9818-70DF03DFFE89}"/>
              </a:ext>
            </a:extLst>
          </p:cNvPr>
          <p:cNvSpPr/>
          <p:nvPr/>
        </p:nvSpPr>
        <p:spPr>
          <a:xfrm>
            <a:off x="6606125" y="1577355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chemeClr val="accent6">
                    <a:lumMod val="50000"/>
                  </a:schemeClr>
                </a:solidFill>
              </a:rPr>
              <a:t>產出報表</a:t>
            </a:r>
          </a:p>
        </p:txBody>
      </p:sp>
      <p:sp>
        <p:nvSpPr>
          <p:cNvPr id="189" name="矩形: 圓角 188">
            <a:extLst>
              <a:ext uri="{FF2B5EF4-FFF2-40B4-BE49-F238E27FC236}">
                <a16:creationId xmlns:a16="http://schemas.microsoft.com/office/drawing/2014/main" id="{E1CACA40-C3BA-410A-BE8C-B164A7A48275}"/>
              </a:ext>
            </a:extLst>
          </p:cNvPr>
          <p:cNvSpPr/>
          <p:nvPr/>
        </p:nvSpPr>
        <p:spPr>
          <a:xfrm>
            <a:off x="7670039" y="1577355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chemeClr val="accent6">
                    <a:lumMod val="50000"/>
                  </a:schemeClr>
                </a:solidFill>
              </a:rPr>
              <a:t>分析回饋</a:t>
            </a:r>
          </a:p>
        </p:txBody>
      </p:sp>
      <p:sp>
        <p:nvSpPr>
          <p:cNvPr id="190" name="矩形: 圓角 189">
            <a:extLst>
              <a:ext uri="{FF2B5EF4-FFF2-40B4-BE49-F238E27FC236}">
                <a16:creationId xmlns:a16="http://schemas.microsoft.com/office/drawing/2014/main" id="{91901E0A-5447-470A-BAF7-A03EB56CFE18}"/>
              </a:ext>
            </a:extLst>
          </p:cNvPr>
          <p:cNvSpPr/>
          <p:nvPr/>
        </p:nvSpPr>
        <p:spPr>
          <a:xfrm>
            <a:off x="7665869" y="2412451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2037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rgbClr val="203775"/>
                </a:solidFill>
              </a:rPr>
              <a:t>模型異動</a:t>
            </a:r>
          </a:p>
        </p:txBody>
      </p:sp>
    </p:spTree>
    <p:extLst>
      <p:ext uri="{BB962C8B-B14F-4D97-AF65-F5344CB8AC3E}">
        <p14:creationId xmlns:p14="http://schemas.microsoft.com/office/powerpoint/2010/main" val="3000386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F0F85A-D8BE-489F-8A26-3F9E8BB6D3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專案動機｜</a:t>
            </a:r>
            <a:r>
              <a:rPr lang="zh-TW" altLang="en-US" b="0" dirty="0"/>
              <a:t>程式開發瓶頸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B04F98-C67E-4BB2-A8FC-D45C046C6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04602B-3F3A-44D6-8FC7-8D6198579B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/>
              <a:t>01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BDA344-228E-467F-9CAE-213808D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B1EDA-9669-4099-AA83-49C2D8E17945}" type="slidenum">
              <a:rPr lang="zh-TW" altLang="en-US" smtClean="0"/>
              <a:t>8</a:t>
            </a:fld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E2D1FA36-AD5C-4B54-AF63-C797303B27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3186" y="4874676"/>
            <a:ext cx="7657256" cy="273600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888" name="矩形 887">
            <a:extLst>
              <a:ext uri="{FF2B5EF4-FFF2-40B4-BE49-F238E27FC236}">
                <a16:creationId xmlns:a16="http://schemas.microsoft.com/office/drawing/2014/main" id="{75435A5F-98F6-4BFC-9C12-ECDA860A932A}"/>
              </a:ext>
            </a:extLst>
          </p:cNvPr>
          <p:cNvSpPr/>
          <p:nvPr/>
        </p:nvSpPr>
        <p:spPr>
          <a:xfrm>
            <a:off x="536471" y="1254311"/>
            <a:ext cx="8095885" cy="966962"/>
          </a:xfrm>
          <a:prstGeom prst="rect">
            <a:avLst/>
          </a:prstGeom>
          <a:solidFill>
            <a:srgbClr val="F4F9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80" name="直線接點 579">
            <a:extLst>
              <a:ext uri="{FF2B5EF4-FFF2-40B4-BE49-F238E27FC236}">
                <a16:creationId xmlns:a16="http://schemas.microsoft.com/office/drawing/2014/main" id="{682B2BA6-6C65-4D11-B5B9-A06639D97AB0}"/>
              </a:ext>
            </a:extLst>
          </p:cNvPr>
          <p:cNvCxnSpPr>
            <a:cxnSpLocks/>
          </p:cNvCxnSpPr>
          <p:nvPr/>
        </p:nvCxnSpPr>
        <p:spPr>
          <a:xfrm flipH="1">
            <a:off x="532364" y="1254311"/>
            <a:ext cx="8100000" cy="0"/>
          </a:xfrm>
          <a:prstGeom prst="line">
            <a:avLst/>
          </a:prstGeom>
          <a:ln w="9525">
            <a:solidFill>
              <a:srgbClr val="222A3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9" name="手繪多邊形: 圖案 888">
            <a:extLst>
              <a:ext uri="{FF2B5EF4-FFF2-40B4-BE49-F238E27FC236}">
                <a16:creationId xmlns:a16="http://schemas.microsoft.com/office/drawing/2014/main" id="{B9EB3EE5-326F-443A-8DE8-580342A2918C}"/>
              </a:ext>
            </a:extLst>
          </p:cNvPr>
          <p:cNvSpPr/>
          <p:nvPr/>
        </p:nvSpPr>
        <p:spPr>
          <a:xfrm>
            <a:off x="536471" y="2220200"/>
            <a:ext cx="8095885" cy="1058943"/>
          </a:xfrm>
          <a:custGeom>
            <a:avLst/>
            <a:gdLst>
              <a:gd name="connsiteX0" fmla="*/ 0 w 8095885"/>
              <a:gd name="connsiteY0" fmla="*/ 0 h 1058943"/>
              <a:gd name="connsiteX1" fmla="*/ 8095885 w 8095885"/>
              <a:gd name="connsiteY1" fmla="*/ 0 h 1058943"/>
              <a:gd name="connsiteX2" fmla="*/ 8095885 w 8095885"/>
              <a:gd name="connsiteY2" fmla="*/ 1058943 h 1058943"/>
              <a:gd name="connsiteX3" fmla="*/ 0 w 8095885"/>
              <a:gd name="connsiteY3" fmla="*/ 1058943 h 1058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95885" h="1058943">
                <a:moveTo>
                  <a:pt x="0" y="0"/>
                </a:moveTo>
                <a:lnTo>
                  <a:pt x="8095885" y="0"/>
                </a:lnTo>
                <a:lnTo>
                  <a:pt x="8095885" y="1058943"/>
                </a:lnTo>
                <a:lnTo>
                  <a:pt x="0" y="1058943"/>
                </a:lnTo>
                <a:close/>
              </a:path>
            </a:pathLst>
          </a:custGeom>
          <a:solidFill>
            <a:srgbClr val="F2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cxnSp>
        <p:nvCxnSpPr>
          <p:cNvPr id="582" name="直線接點 581">
            <a:extLst>
              <a:ext uri="{FF2B5EF4-FFF2-40B4-BE49-F238E27FC236}">
                <a16:creationId xmlns:a16="http://schemas.microsoft.com/office/drawing/2014/main" id="{A72FB7B0-AA66-4FF8-8B0D-B7E1A965882E}"/>
              </a:ext>
            </a:extLst>
          </p:cNvPr>
          <p:cNvCxnSpPr>
            <a:cxnSpLocks/>
          </p:cNvCxnSpPr>
          <p:nvPr/>
        </p:nvCxnSpPr>
        <p:spPr>
          <a:xfrm>
            <a:off x="3923928" y="939142"/>
            <a:ext cx="0" cy="2340000"/>
          </a:xfrm>
          <a:prstGeom prst="line">
            <a:avLst/>
          </a:prstGeom>
          <a:ln w="9525" cap="rnd">
            <a:solidFill>
              <a:srgbClr val="222A3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D8E9A652-5DB3-4270-B457-55AF2C277D21}"/>
              </a:ext>
            </a:extLst>
          </p:cNvPr>
          <p:cNvCxnSpPr>
            <a:cxnSpLocks/>
          </p:cNvCxnSpPr>
          <p:nvPr/>
        </p:nvCxnSpPr>
        <p:spPr>
          <a:xfrm>
            <a:off x="532364" y="2225308"/>
            <a:ext cx="81000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直線接點 537">
            <a:extLst>
              <a:ext uri="{FF2B5EF4-FFF2-40B4-BE49-F238E27FC236}">
                <a16:creationId xmlns:a16="http://schemas.microsoft.com/office/drawing/2014/main" id="{E480086D-C810-4294-8200-028B1527E804}"/>
              </a:ext>
            </a:extLst>
          </p:cNvPr>
          <p:cNvCxnSpPr>
            <a:cxnSpLocks/>
          </p:cNvCxnSpPr>
          <p:nvPr/>
        </p:nvCxnSpPr>
        <p:spPr>
          <a:xfrm>
            <a:off x="1018321" y="939142"/>
            <a:ext cx="0" cy="2340000"/>
          </a:xfrm>
          <a:prstGeom prst="line">
            <a:avLst/>
          </a:prstGeom>
          <a:ln w="9525" cap="rnd">
            <a:solidFill>
              <a:srgbClr val="222A3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接點: 肘形 239">
            <a:extLst>
              <a:ext uri="{FF2B5EF4-FFF2-40B4-BE49-F238E27FC236}">
                <a16:creationId xmlns:a16="http://schemas.microsoft.com/office/drawing/2014/main" id="{71DAA243-4D50-4B67-8AE5-4E1B53D4AE56}"/>
              </a:ext>
            </a:extLst>
          </p:cNvPr>
          <p:cNvCxnSpPr>
            <a:cxnSpLocks/>
            <a:stCxn id="137" idx="0"/>
            <a:endCxn id="38" idx="2"/>
          </p:cNvCxnSpPr>
          <p:nvPr/>
        </p:nvCxnSpPr>
        <p:spPr>
          <a:xfrm rot="5400000">
            <a:off x="3691248" y="663346"/>
            <a:ext cx="95112" cy="4172110"/>
          </a:xfrm>
          <a:prstGeom prst="bentConnector3">
            <a:avLst>
              <a:gd name="adj1" fmla="val 400435"/>
            </a:avLst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直線單箭頭接點 294">
            <a:extLst>
              <a:ext uri="{FF2B5EF4-FFF2-40B4-BE49-F238E27FC236}">
                <a16:creationId xmlns:a16="http://schemas.microsoft.com/office/drawing/2014/main" id="{3400F820-8CE1-4A38-B95C-45CAE5F95A18}"/>
              </a:ext>
            </a:extLst>
          </p:cNvPr>
          <p:cNvCxnSpPr>
            <a:cxnSpLocks/>
            <a:stCxn id="42" idx="0"/>
          </p:cNvCxnSpPr>
          <p:nvPr/>
        </p:nvCxnSpPr>
        <p:spPr>
          <a:xfrm>
            <a:off x="3299425" y="2701845"/>
            <a:ext cx="0" cy="37795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線單箭頭接點 317">
            <a:extLst>
              <a:ext uri="{FF2B5EF4-FFF2-40B4-BE49-F238E27FC236}">
                <a16:creationId xmlns:a16="http://schemas.microsoft.com/office/drawing/2014/main" id="{F8EF1C01-EA72-4BE3-96AC-C2ECE6608D94}"/>
              </a:ext>
            </a:extLst>
          </p:cNvPr>
          <p:cNvCxnSpPr>
            <a:cxnSpLocks/>
          </p:cNvCxnSpPr>
          <p:nvPr/>
        </p:nvCxnSpPr>
        <p:spPr>
          <a:xfrm flipV="1">
            <a:off x="7006298" y="1961861"/>
            <a:ext cx="4170" cy="45059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直線單箭頭接點 322">
            <a:extLst>
              <a:ext uri="{FF2B5EF4-FFF2-40B4-BE49-F238E27FC236}">
                <a16:creationId xmlns:a16="http://schemas.microsoft.com/office/drawing/2014/main" id="{08755204-98A2-4F40-99C5-34322CB270D2}"/>
              </a:ext>
            </a:extLst>
          </p:cNvPr>
          <p:cNvCxnSpPr>
            <a:cxnSpLocks/>
          </p:cNvCxnSpPr>
          <p:nvPr/>
        </p:nvCxnSpPr>
        <p:spPr>
          <a:xfrm flipH="1">
            <a:off x="8070212" y="1961861"/>
            <a:ext cx="4170" cy="45059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直線單箭頭接點 328">
            <a:extLst>
              <a:ext uri="{FF2B5EF4-FFF2-40B4-BE49-F238E27FC236}">
                <a16:creationId xmlns:a16="http://schemas.microsoft.com/office/drawing/2014/main" id="{A2689D25-5151-4895-A7ED-A76BCBD12087}"/>
              </a:ext>
            </a:extLst>
          </p:cNvPr>
          <p:cNvCxnSpPr>
            <a:cxnSpLocks/>
          </p:cNvCxnSpPr>
          <p:nvPr/>
        </p:nvCxnSpPr>
        <p:spPr>
          <a:xfrm>
            <a:off x="7414811" y="1769608"/>
            <a:ext cx="255228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B0645691-3F8C-4B64-994C-32EB604497C1}"/>
              </a:ext>
            </a:extLst>
          </p:cNvPr>
          <p:cNvSpPr/>
          <p:nvPr/>
        </p:nvSpPr>
        <p:spPr>
          <a:xfrm>
            <a:off x="1252576" y="1568450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chemeClr val="accent6">
                    <a:lumMod val="50000"/>
                  </a:schemeClr>
                </a:solidFill>
              </a:rPr>
              <a:t>問題定義</a:t>
            </a: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5D247FA3-1FB5-4443-88AB-239BBC833FA9}"/>
              </a:ext>
            </a:extLst>
          </p:cNvPr>
          <p:cNvSpPr/>
          <p:nvPr/>
        </p:nvSpPr>
        <p:spPr>
          <a:xfrm>
            <a:off x="1248406" y="2412451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2037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rgbClr val="203775"/>
                </a:solidFill>
              </a:rPr>
              <a:t>需求分析</a:t>
            </a:r>
          </a:p>
        </p:txBody>
      </p: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E18E1778-CCAE-4705-8E77-621078AA374D}"/>
              </a:ext>
            </a:extLst>
          </p:cNvPr>
          <p:cNvSpPr/>
          <p:nvPr/>
        </p:nvSpPr>
        <p:spPr>
          <a:xfrm>
            <a:off x="2261525" y="2412451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2037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rgbClr val="203775"/>
                </a:solidFill>
              </a:rPr>
              <a:t>模型建立</a:t>
            </a: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F7AF6399-CA00-4E91-943C-AE3020B80130}"/>
              </a:ext>
            </a:extLst>
          </p:cNvPr>
          <p:cNvSpPr/>
          <p:nvPr/>
        </p:nvSpPr>
        <p:spPr>
          <a:xfrm>
            <a:off x="2265695" y="1568450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chemeClr val="accent6">
                    <a:lumMod val="50000"/>
                  </a:schemeClr>
                </a:solidFill>
              </a:rPr>
              <a:t>需求驗證</a:t>
            </a:r>
          </a:p>
        </p:txBody>
      </p:sp>
      <p:sp>
        <p:nvSpPr>
          <p:cNvPr id="42" name="菱形 41">
            <a:extLst>
              <a:ext uri="{FF2B5EF4-FFF2-40B4-BE49-F238E27FC236}">
                <a16:creationId xmlns:a16="http://schemas.microsoft.com/office/drawing/2014/main" id="{06F1C7FC-D2F7-4853-B898-76A688D86EA3}"/>
              </a:ext>
            </a:extLst>
          </p:cNvPr>
          <p:cNvSpPr/>
          <p:nvPr/>
        </p:nvSpPr>
        <p:spPr>
          <a:xfrm flipV="1">
            <a:off x="3202284" y="2507563"/>
            <a:ext cx="194282" cy="194282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64C270F7-311A-44D6-B7C7-0A9F4F5ACB70}"/>
              </a:ext>
            </a:extLst>
          </p:cNvPr>
          <p:cNvCxnSpPr>
            <a:cxnSpLocks/>
            <a:stCxn id="26" idx="2"/>
            <a:endCxn id="38" idx="0"/>
          </p:cNvCxnSpPr>
          <p:nvPr/>
        </p:nvCxnSpPr>
        <p:spPr>
          <a:xfrm flipH="1">
            <a:off x="1652749" y="1952956"/>
            <a:ext cx="4170" cy="459495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C994B678-3386-4105-BFD8-1976B1DCD725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>
            <a:off x="2057092" y="2604704"/>
            <a:ext cx="204433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1BEDD7BC-2AB7-4589-B9D1-D45539A3E441}"/>
              </a:ext>
            </a:extLst>
          </p:cNvPr>
          <p:cNvCxnSpPr>
            <a:cxnSpLocks/>
            <a:stCxn id="39" idx="0"/>
            <a:endCxn id="40" idx="2"/>
          </p:cNvCxnSpPr>
          <p:nvPr/>
        </p:nvCxnSpPr>
        <p:spPr>
          <a:xfrm flipV="1">
            <a:off x="2665868" y="1952956"/>
            <a:ext cx="4170" cy="459495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接點: 肘形 114">
            <a:extLst>
              <a:ext uri="{FF2B5EF4-FFF2-40B4-BE49-F238E27FC236}">
                <a16:creationId xmlns:a16="http://schemas.microsoft.com/office/drawing/2014/main" id="{26C592AE-2B41-47EE-84C1-6A0E8E07033A}"/>
              </a:ext>
            </a:extLst>
          </p:cNvPr>
          <p:cNvCxnSpPr>
            <a:cxnSpLocks/>
            <a:stCxn id="40" idx="3"/>
            <a:endCxn id="42" idx="2"/>
          </p:cNvCxnSpPr>
          <p:nvPr/>
        </p:nvCxnSpPr>
        <p:spPr>
          <a:xfrm>
            <a:off x="3074381" y="1760703"/>
            <a:ext cx="225044" cy="746860"/>
          </a:xfrm>
          <a:prstGeom prst="bentConnector2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直線單箭頭接點 421">
            <a:extLst>
              <a:ext uri="{FF2B5EF4-FFF2-40B4-BE49-F238E27FC236}">
                <a16:creationId xmlns:a16="http://schemas.microsoft.com/office/drawing/2014/main" id="{FC6BCB8E-AF0F-4FE4-8A32-1F6F68643E00}"/>
              </a:ext>
            </a:extLst>
          </p:cNvPr>
          <p:cNvCxnSpPr>
            <a:cxnSpLocks/>
            <a:stCxn id="137" idx="3"/>
          </p:cNvCxnSpPr>
          <p:nvPr/>
        </p:nvCxnSpPr>
        <p:spPr>
          <a:xfrm>
            <a:off x="5922000" y="2604704"/>
            <a:ext cx="679955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: 圓角 93">
            <a:extLst>
              <a:ext uri="{FF2B5EF4-FFF2-40B4-BE49-F238E27FC236}">
                <a16:creationId xmlns:a16="http://schemas.microsoft.com/office/drawing/2014/main" id="{270FD656-4905-4B96-9FD8-11EFCFA0FEAF}"/>
              </a:ext>
            </a:extLst>
          </p:cNvPr>
          <p:cNvSpPr/>
          <p:nvPr/>
        </p:nvSpPr>
        <p:spPr>
          <a:xfrm>
            <a:off x="4089957" y="2412451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2037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rgbClr val="203775"/>
                </a:solidFill>
              </a:rPr>
              <a:t>程式開發</a:t>
            </a:r>
          </a:p>
        </p:txBody>
      </p:sp>
      <p:sp>
        <p:nvSpPr>
          <p:cNvPr id="119" name="矩形: 圓角 118">
            <a:extLst>
              <a:ext uri="{FF2B5EF4-FFF2-40B4-BE49-F238E27FC236}">
                <a16:creationId xmlns:a16="http://schemas.microsoft.com/office/drawing/2014/main" id="{25FF8CBC-BA0B-4777-9405-174EAD0A59F0}"/>
              </a:ext>
            </a:extLst>
          </p:cNvPr>
          <p:cNvSpPr/>
          <p:nvPr/>
        </p:nvSpPr>
        <p:spPr>
          <a:xfrm>
            <a:off x="4094127" y="1562925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chemeClr val="accent6">
                    <a:lumMod val="50000"/>
                  </a:schemeClr>
                </a:solidFill>
              </a:rPr>
              <a:t>測試驗證</a:t>
            </a:r>
          </a:p>
        </p:txBody>
      </p:sp>
      <p:cxnSp>
        <p:nvCxnSpPr>
          <p:cNvPr id="129" name="直線單箭頭接點 128">
            <a:extLst>
              <a:ext uri="{FF2B5EF4-FFF2-40B4-BE49-F238E27FC236}">
                <a16:creationId xmlns:a16="http://schemas.microsoft.com/office/drawing/2014/main" id="{772D7592-07D1-41CB-9441-B5677C6CE92D}"/>
              </a:ext>
            </a:extLst>
          </p:cNvPr>
          <p:cNvCxnSpPr>
            <a:cxnSpLocks/>
            <a:stCxn id="94" idx="0"/>
            <a:endCxn id="119" idx="2"/>
          </p:cNvCxnSpPr>
          <p:nvPr/>
        </p:nvCxnSpPr>
        <p:spPr>
          <a:xfrm flipV="1">
            <a:off x="4494300" y="1947431"/>
            <a:ext cx="4170" cy="46502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菱形 136">
            <a:extLst>
              <a:ext uri="{FF2B5EF4-FFF2-40B4-BE49-F238E27FC236}">
                <a16:creationId xmlns:a16="http://schemas.microsoft.com/office/drawing/2014/main" id="{6CA7E695-0877-40E1-BE32-56F415ED74E1}"/>
              </a:ext>
            </a:extLst>
          </p:cNvPr>
          <p:cNvSpPr/>
          <p:nvPr/>
        </p:nvSpPr>
        <p:spPr>
          <a:xfrm flipV="1">
            <a:off x="5727718" y="2507563"/>
            <a:ext cx="194282" cy="194282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187" name="接點: 肘形 186">
            <a:extLst>
              <a:ext uri="{FF2B5EF4-FFF2-40B4-BE49-F238E27FC236}">
                <a16:creationId xmlns:a16="http://schemas.microsoft.com/office/drawing/2014/main" id="{E300B0CC-DF23-4110-A67B-2003496D14E9}"/>
              </a:ext>
            </a:extLst>
          </p:cNvPr>
          <p:cNvCxnSpPr>
            <a:cxnSpLocks/>
            <a:stCxn id="119" idx="3"/>
            <a:endCxn id="137" idx="2"/>
          </p:cNvCxnSpPr>
          <p:nvPr/>
        </p:nvCxnSpPr>
        <p:spPr>
          <a:xfrm>
            <a:off x="4902813" y="1755178"/>
            <a:ext cx="922046" cy="752385"/>
          </a:xfrm>
          <a:prstGeom prst="bentConnector2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直線單箭頭接點 418">
            <a:extLst>
              <a:ext uri="{FF2B5EF4-FFF2-40B4-BE49-F238E27FC236}">
                <a16:creationId xmlns:a16="http://schemas.microsoft.com/office/drawing/2014/main" id="{D3FD7BEF-7B10-48D1-B2EA-C42FF43D2C0D}"/>
              </a:ext>
            </a:extLst>
          </p:cNvPr>
          <p:cNvCxnSpPr>
            <a:cxnSpLocks/>
            <a:stCxn id="137" idx="1"/>
            <a:endCxn id="94" idx="3"/>
          </p:cNvCxnSpPr>
          <p:nvPr/>
        </p:nvCxnSpPr>
        <p:spPr>
          <a:xfrm flipH="1">
            <a:off x="4898643" y="2604704"/>
            <a:ext cx="829075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2" name="文字方塊 451">
            <a:extLst>
              <a:ext uri="{FF2B5EF4-FFF2-40B4-BE49-F238E27FC236}">
                <a16:creationId xmlns:a16="http://schemas.microsoft.com/office/drawing/2014/main" id="{4BCD2484-BD82-403F-90CE-4427B5E51116}"/>
              </a:ext>
            </a:extLst>
          </p:cNvPr>
          <p:cNvSpPr txBox="1"/>
          <p:nvPr/>
        </p:nvSpPr>
        <p:spPr>
          <a:xfrm>
            <a:off x="651396" y="2353321"/>
            <a:ext cx="252000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dirty="0">
                <a:solidFill>
                  <a:srgbClr val="203775"/>
                </a:solidFill>
              </a:rPr>
              <a:t>開</a:t>
            </a:r>
            <a:endParaRPr lang="en-US" altLang="zh-TW" dirty="0">
              <a:solidFill>
                <a:srgbClr val="203775"/>
              </a:solidFill>
            </a:endParaRPr>
          </a:p>
          <a:p>
            <a:r>
              <a:rPr lang="zh-TW" altLang="en-US" dirty="0">
                <a:solidFill>
                  <a:srgbClr val="203775"/>
                </a:solidFill>
              </a:rPr>
              <a:t>發</a:t>
            </a:r>
            <a:endParaRPr lang="en-US" altLang="zh-TW" dirty="0">
              <a:solidFill>
                <a:srgbClr val="203775"/>
              </a:solidFill>
            </a:endParaRPr>
          </a:p>
          <a:p>
            <a:r>
              <a:rPr lang="zh-TW" altLang="en-US" dirty="0">
                <a:solidFill>
                  <a:srgbClr val="203775"/>
                </a:solidFill>
              </a:rPr>
              <a:t>者</a:t>
            </a:r>
          </a:p>
        </p:txBody>
      </p:sp>
      <p:sp>
        <p:nvSpPr>
          <p:cNvPr id="453" name="文字方塊 452">
            <a:extLst>
              <a:ext uri="{FF2B5EF4-FFF2-40B4-BE49-F238E27FC236}">
                <a16:creationId xmlns:a16="http://schemas.microsoft.com/office/drawing/2014/main" id="{F463D4CD-5E6A-4374-A4CE-E47FD2FE04C3}"/>
              </a:ext>
            </a:extLst>
          </p:cNvPr>
          <p:cNvSpPr txBox="1"/>
          <p:nvPr/>
        </p:nvSpPr>
        <p:spPr>
          <a:xfrm>
            <a:off x="651396" y="1370478"/>
            <a:ext cx="252000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dirty="0">
                <a:solidFill>
                  <a:schemeClr val="accent6">
                    <a:lumMod val="50000"/>
                  </a:schemeClr>
                </a:solidFill>
              </a:rPr>
              <a:t>使</a:t>
            </a:r>
            <a:endParaRPr lang="en-US" altLang="zh-TW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zh-TW" altLang="en-US" dirty="0">
                <a:solidFill>
                  <a:schemeClr val="accent6">
                    <a:lumMod val="50000"/>
                  </a:schemeClr>
                </a:solidFill>
              </a:rPr>
              <a:t>用</a:t>
            </a:r>
            <a:endParaRPr lang="en-US" altLang="zh-TW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zh-TW" altLang="en-US" dirty="0">
                <a:solidFill>
                  <a:schemeClr val="accent6">
                    <a:lumMod val="50000"/>
                  </a:schemeClr>
                </a:solidFill>
              </a:rPr>
              <a:t>者</a:t>
            </a:r>
          </a:p>
        </p:txBody>
      </p:sp>
      <p:cxnSp>
        <p:nvCxnSpPr>
          <p:cNvPr id="585" name="直線接點 584">
            <a:extLst>
              <a:ext uri="{FF2B5EF4-FFF2-40B4-BE49-F238E27FC236}">
                <a16:creationId xmlns:a16="http://schemas.microsoft.com/office/drawing/2014/main" id="{780EA1A0-0855-4E27-B3BF-5DE320D6D0B5}"/>
              </a:ext>
            </a:extLst>
          </p:cNvPr>
          <p:cNvCxnSpPr>
            <a:cxnSpLocks/>
          </p:cNvCxnSpPr>
          <p:nvPr/>
        </p:nvCxnSpPr>
        <p:spPr>
          <a:xfrm>
            <a:off x="8632364" y="939142"/>
            <a:ext cx="0" cy="2340000"/>
          </a:xfrm>
          <a:prstGeom prst="line">
            <a:avLst/>
          </a:prstGeom>
          <a:ln w="9525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" name="直線單箭頭接點 680">
            <a:extLst>
              <a:ext uri="{FF2B5EF4-FFF2-40B4-BE49-F238E27FC236}">
                <a16:creationId xmlns:a16="http://schemas.microsoft.com/office/drawing/2014/main" id="{75CE310D-4732-4C41-A61C-F712176F365A}"/>
              </a:ext>
            </a:extLst>
          </p:cNvPr>
          <p:cNvCxnSpPr>
            <a:cxnSpLocks/>
            <a:stCxn id="42" idx="3"/>
            <a:endCxn id="94" idx="1"/>
          </p:cNvCxnSpPr>
          <p:nvPr/>
        </p:nvCxnSpPr>
        <p:spPr>
          <a:xfrm>
            <a:off x="3396566" y="2604704"/>
            <a:ext cx="693391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2" name="群組 731">
            <a:extLst>
              <a:ext uri="{FF2B5EF4-FFF2-40B4-BE49-F238E27FC236}">
                <a16:creationId xmlns:a16="http://schemas.microsoft.com/office/drawing/2014/main" id="{CBBD3DE0-2EB6-4052-906D-751009878650}"/>
              </a:ext>
            </a:extLst>
          </p:cNvPr>
          <p:cNvGrpSpPr/>
          <p:nvPr/>
        </p:nvGrpSpPr>
        <p:grpSpPr>
          <a:xfrm>
            <a:off x="5989689" y="2496982"/>
            <a:ext cx="393679" cy="215444"/>
            <a:chOff x="6132292" y="3912592"/>
            <a:chExt cx="393679" cy="215444"/>
          </a:xfrm>
          <a:solidFill>
            <a:srgbClr val="EAF2FA"/>
          </a:solidFill>
        </p:grpSpPr>
        <p:sp>
          <p:nvSpPr>
            <p:cNvPr id="720" name="矩形 719">
              <a:extLst>
                <a:ext uri="{FF2B5EF4-FFF2-40B4-BE49-F238E27FC236}">
                  <a16:creationId xmlns:a16="http://schemas.microsoft.com/office/drawing/2014/main" id="{8817D37B-AF76-4C8E-89A5-DEC4D62E7469}"/>
                </a:ext>
              </a:extLst>
            </p:cNvPr>
            <p:cNvSpPr/>
            <p:nvPr/>
          </p:nvSpPr>
          <p:spPr>
            <a:xfrm>
              <a:off x="6184527" y="3951016"/>
              <a:ext cx="289209" cy="142685"/>
            </a:xfrm>
            <a:prstGeom prst="rect">
              <a:avLst/>
            </a:prstGeom>
            <a:solidFill>
              <a:srgbClr val="F2F7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1" name="文字方塊 720">
              <a:extLst>
                <a:ext uri="{FF2B5EF4-FFF2-40B4-BE49-F238E27FC236}">
                  <a16:creationId xmlns:a16="http://schemas.microsoft.com/office/drawing/2014/main" id="{F14F6233-11C6-472F-8A5A-045C79C5590B}"/>
                </a:ext>
              </a:extLst>
            </p:cNvPr>
            <p:cNvSpPr txBox="1"/>
            <p:nvPr/>
          </p:nvSpPr>
          <p:spPr>
            <a:xfrm>
              <a:off x="6132292" y="3912592"/>
              <a:ext cx="39367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sz="800" dirty="0"/>
                <a:t>通過</a:t>
              </a:r>
            </a:p>
          </p:txBody>
        </p:sp>
      </p:grpSp>
      <p:grpSp>
        <p:nvGrpSpPr>
          <p:cNvPr id="730" name="群組 729">
            <a:extLst>
              <a:ext uri="{FF2B5EF4-FFF2-40B4-BE49-F238E27FC236}">
                <a16:creationId xmlns:a16="http://schemas.microsoft.com/office/drawing/2014/main" id="{F65663E4-48DF-496E-A249-95CDA9F55CDA}"/>
              </a:ext>
            </a:extLst>
          </p:cNvPr>
          <p:cNvGrpSpPr/>
          <p:nvPr/>
        </p:nvGrpSpPr>
        <p:grpSpPr>
          <a:xfrm>
            <a:off x="5024942" y="2493412"/>
            <a:ext cx="593006" cy="215444"/>
            <a:chOff x="5239763" y="3630897"/>
            <a:chExt cx="593006" cy="215444"/>
          </a:xfrm>
        </p:grpSpPr>
        <p:sp>
          <p:nvSpPr>
            <p:cNvPr id="725" name="矩形 724">
              <a:extLst>
                <a:ext uri="{FF2B5EF4-FFF2-40B4-BE49-F238E27FC236}">
                  <a16:creationId xmlns:a16="http://schemas.microsoft.com/office/drawing/2014/main" id="{3C51A054-1960-481D-82E7-FFD3477C3AAF}"/>
                </a:ext>
              </a:extLst>
            </p:cNvPr>
            <p:cNvSpPr/>
            <p:nvPr/>
          </p:nvSpPr>
          <p:spPr>
            <a:xfrm>
              <a:off x="5316133" y="3667276"/>
              <a:ext cx="440267" cy="142685"/>
            </a:xfrm>
            <a:prstGeom prst="rect">
              <a:avLst/>
            </a:prstGeom>
            <a:solidFill>
              <a:srgbClr val="F2F7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7" name="文字方塊 726">
              <a:extLst>
                <a:ext uri="{FF2B5EF4-FFF2-40B4-BE49-F238E27FC236}">
                  <a16:creationId xmlns:a16="http://schemas.microsoft.com/office/drawing/2014/main" id="{88FF30AC-1385-4C63-8950-F85DEE45B20B}"/>
                </a:ext>
              </a:extLst>
            </p:cNvPr>
            <p:cNvSpPr txBox="1"/>
            <p:nvPr/>
          </p:nvSpPr>
          <p:spPr>
            <a:xfrm>
              <a:off x="5239763" y="3630897"/>
              <a:ext cx="59300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sz="800" dirty="0"/>
                <a:t>程式錯誤</a:t>
              </a:r>
            </a:p>
          </p:txBody>
        </p:sp>
      </p:grpSp>
      <p:grpSp>
        <p:nvGrpSpPr>
          <p:cNvPr id="731" name="群組 730">
            <a:extLst>
              <a:ext uri="{FF2B5EF4-FFF2-40B4-BE49-F238E27FC236}">
                <a16:creationId xmlns:a16="http://schemas.microsoft.com/office/drawing/2014/main" id="{C1ED70BF-6E48-4A39-BD98-B7AFD76C0901}"/>
              </a:ext>
            </a:extLst>
          </p:cNvPr>
          <p:cNvGrpSpPr/>
          <p:nvPr/>
        </p:nvGrpSpPr>
        <p:grpSpPr>
          <a:xfrm>
            <a:off x="3002922" y="2776695"/>
            <a:ext cx="593006" cy="215444"/>
            <a:chOff x="4572000" y="3630897"/>
            <a:chExt cx="593006" cy="215444"/>
          </a:xfrm>
          <a:noFill/>
        </p:grpSpPr>
        <p:sp>
          <p:nvSpPr>
            <p:cNvPr id="728" name="矩形 727">
              <a:extLst>
                <a:ext uri="{FF2B5EF4-FFF2-40B4-BE49-F238E27FC236}">
                  <a16:creationId xmlns:a16="http://schemas.microsoft.com/office/drawing/2014/main" id="{9E680B0E-E68C-45CF-8515-9767E7FC339F}"/>
                </a:ext>
              </a:extLst>
            </p:cNvPr>
            <p:cNvSpPr/>
            <p:nvPr/>
          </p:nvSpPr>
          <p:spPr>
            <a:xfrm>
              <a:off x="4648370" y="3667276"/>
              <a:ext cx="440267" cy="142685"/>
            </a:xfrm>
            <a:prstGeom prst="rect">
              <a:avLst/>
            </a:prstGeom>
            <a:solidFill>
              <a:srgbClr val="F2F7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9" name="文字方塊 728">
              <a:extLst>
                <a:ext uri="{FF2B5EF4-FFF2-40B4-BE49-F238E27FC236}">
                  <a16:creationId xmlns:a16="http://schemas.microsoft.com/office/drawing/2014/main" id="{907734F8-6859-4131-8DA8-89B74182C697}"/>
                </a:ext>
              </a:extLst>
            </p:cNvPr>
            <p:cNvSpPr txBox="1"/>
            <p:nvPr/>
          </p:nvSpPr>
          <p:spPr>
            <a:xfrm>
              <a:off x="4572000" y="3630897"/>
              <a:ext cx="593006" cy="215444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sz="800" dirty="0"/>
                <a:t>模型錯誤</a:t>
              </a:r>
            </a:p>
          </p:txBody>
        </p:sp>
      </p:grpSp>
      <p:grpSp>
        <p:nvGrpSpPr>
          <p:cNvPr id="733" name="群組 732">
            <a:extLst>
              <a:ext uri="{FF2B5EF4-FFF2-40B4-BE49-F238E27FC236}">
                <a16:creationId xmlns:a16="http://schemas.microsoft.com/office/drawing/2014/main" id="{A95E6D2B-DBD4-409E-84D9-5C930C89C8AD}"/>
              </a:ext>
            </a:extLst>
          </p:cNvPr>
          <p:cNvGrpSpPr/>
          <p:nvPr/>
        </p:nvGrpSpPr>
        <p:grpSpPr>
          <a:xfrm>
            <a:off x="3436442" y="2496982"/>
            <a:ext cx="393679" cy="215444"/>
            <a:chOff x="6132292" y="3912592"/>
            <a:chExt cx="393679" cy="215444"/>
          </a:xfrm>
          <a:noFill/>
        </p:grpSpPr>
        <p:sp>
          <p:nvSpPr>
            <p:cNvPr id="734" name="矩形 733">
              <a:extLst>
                <a:ext uri="{FF2B5EF4-FFF2-40B4-BE49-F238E27FC236}">
                  <a16:creationId xmlns:a16="http://schemas.microsoft.com/office/drawing/2014/main" id="{B5BB8930-5D7F-4003-8C23-0688ABF4D0C2}"/>
                </a:ext>
              </a:extLst>
            </p:cNvPr>
            <p:cNvSpPr/>
            <p:nvPr/>
          </p:nvSpPr>
          <p:spPr>
            <a:xfrm>
              <a:off x="6184527" y="3951016"/>
              <a:ext cx="289209" cy="142685"/>
            </a:xfrm>
            <a:prstGeom prst="rect">
              <a:avLst/>
            </a:prstGeom>
            <a:solidFill>
              <a:srgbClr val="F2F7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5" name="文字方塊 734">
              <a:extLst>
                <a:ext uri="{FF2B5EF4-FFF2-40B4-BE49-F238E27FC236}">
                  <a16:creationId xmlns:a16="http://schemas.microsoft.com/office/drawing/2014/main" id="{F923A017-F4F3-4676-9E54-A0DE306AC946}"/>
                </a:ext>
              </a:extLst>
            </p:cNvPr>
            <p:cNvSpPr txBox="1"/>
            <p:nvPr/>
          </p:nvSpPr>
          <p:spPr>
            <a:xfrm>
              <a:off x="6132292" y="3912592"/>
              <a:ext cx="393679" cy="215444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sz="800" dirty="0"/>
                <a:t>通過</a:t>
              </a:r>
            </a:p>
          </p:txBody>
        </p:sp>
      </p:grpSp>
      <p:grpSp>
        <p:nvGrpSpPr>
          <p:cNvPr id="736" name="群組 735">
            <a:extLst>
              <a:ext uri="{FF2B5EF4-FFF2-40B4-BE49-F238E27FC236}">
                <a16:creationId xmlns:a16="http://schemas.microsoft.com/office/drawing/2014/main" id="{84531B8E-28B3-424A-AD49-ED55C806CD67}"/>
              </a:ext>
            </a:extLst>
          </p:cNvPr>
          <p:cNvGrpSpPr/>
          <p:nvPr/>
        </p:nvGrpSpPr>
        <p:grpSpPr>
          <a:xfrm>
            <a:off x="5529710" y="2776695"/>
            <a:ext cx="593006" cy="215444"/>
            <a:chOff x="4572000" y="3630897"/>
            <a:chExt cx="593006" cy="215444"/>
          </a:xfrm>
        </p:grpSpPr>
        <p:sp>
          <p:nvSpPr>
            <p:cNvPr id="737" name="矩形 736">
              <a:extLst>
                <a:ext uri="{FF2B5EF4-FFF2-40B4-BE49-F238E27FC236}">
                  <a16:creationId xmlns:a16="http://schemas.microsoft.com/office/drawing/2014/main" id="{B5DD302A-E21B-4473-A457-879FAB3ADF28}"/>
                </a:ext>
              </a:extLst>
            </p:cNvPr>
            <p:cNvSpPr/>
            <p:nvPr/>
          </p:nvSpPr>
          <p:spPr>
            <a:xfrm>
              <a:off x="4648370" y="3667276"/>
              <a:ext cx="440267" cy="142685"/>
            </a:xfrm>
            <a:prstGeom prst="rect">
              <a:avLst/>
            </a:prstGeom>
            <a:solidFill>
              <a:srgbClr val="F2F7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8" name="文字方塊 737">
              <a:extLst>
                <a:ext uri="{FF2B5EF4-FFF2-40B4-BE49-F238E27FC236}">
                  <a16:creationId xmlns:a16="http://schemas.microsoft.com/office/drawing/2014/main" id="{B0CBF30B-3B90-4667-B0A8-C8793A9A7D62}"/>
                </a:ext>
              </a:extLst>
            </p:cNvPr>
            <p:cNvSpPr txBox="1"/>
            <p:nvPr/>
          </p:nvSpPr>
          <p:spPr>
            <a:xfrm>
              <a:off x="4572000" y="3630897"/>
              <a:ext cx="59300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sz="800" dirty="0"/>
                <a:t>模型錯誤</a:t>
              </a:r>
            </a:p>
          </p:txBody>
        </p:sp>
      </p:grpSp>
      <p:cxnSp>
        <p:nvCxnSpPr>
          <p:cNvPr id="893" name="直線接點 892">
            <a:extLst>
              <a:ext uri="{FF2B5EF4-FFF2-40B4-BE49-F238E27FC236}">
                <a16:creationId xmlns:a16="http://schemas.microsoft.com/office/drawing/2014/main" id="{6D750EFD-3599-4FF1-B1DE-A05C448B4371}"/>
              </a:ext>
            </a:extLst>
          </p:cNvPr>
          <p:cNvCxnSpPr>
            <a:cxnSpLocks/>
          </p:cNvCxnSpPr>
          <p:nvPr/>
        </p:nvCxnSpPr>
        <p:spPr>
          <a:xfrm flipH="1">
            <a:off x="1012825" y="939142"/>
            <a:ext cx="7619539" cy="0"/>
          </a:xfrm>
          <a:prstGeom prst="line">
            <a:avLst/>
          </a:prstGeom>
          <a:ln w="9525">
            <a:solidFill>
              <a:srgbClr val="222A3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6" name="直線接點 895">
            <a:extLst>
              <a:ext uri="{FF2B5EF4-FFF2-40B4-BE49-F238E27FC236}">
                <a16:creationId xmlns:a16="http://schemas.microsoft.com/office/drawing/2014/main" id="{DC08E034-976F-4255-8D19-1D0E02CE3B9D}"/>
              </a:ext>
            </a:extLst>
          </p:cNvPr>
          <p:cNvCxnSpPr>
            <a:cxnSpLocks/>
          </p:cNvCxnSpPr>
          <p:nvPr/>
        </p:nvCxnSpPr>
        <p:spPr>
          <a:xfrm flipH="1">
            <a:off x="531813" y="3279143"/>
            <a:ext cx="8100552" cy="0"/>
          </a:xfrm>
          <a:prstGeom prst="line">
            <a:avLst/>
          </a:prstGeom>
          <a:ln w="9525">
            <a:solidFill>
              <a:srgbClr val="222A3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7" name="直線接點 896">
            <a:extLst>
              <a:ext uri="{FF2B5EF4-FFF2-40B4-BE49-F238E27FC236}">
                <a16:creationId xmlns:a16="http://schemas.microsoft.com/office/drawing/2014/main" id="{3F00E431-4C2A-4619-BE29-7797FD670849}"/>
              </a:ext>
            </a:extLst>
          </p:cNvPr>
          <p:cNvCxnSpPr>
            <a:cxnSpLocks/>
          </p:cNvCxnSpPr>
          <p:nvPr/>
        </p:nvCxnSpPr>
        <p:spPr>
          <a:xfrm>
            <a:off x="536471" y="1254311"/>
            <a:ext cx="0" cy="2022323"/>
          </a:xfrm>
          <a:prstGeom prst="line">
            <a:avLst/>
          </a:prstGeom>
          <a:ln w="9525" cap="rnd">
            <a:solidFill>
              <a:srgbClr val="222A3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群組 6">
            <a:extLst>
              <a:ext uri="{FF2B5EF4-FFF2-40B4-BE49-F238E27FC236}">
                <a16:creationId xmlns:a16="http://schemas.microsoft.com/office/drawing/2014/main" id="{DF4BD360-25F1-4032-931E-4971613B9F11}"/>
              </a:ext>
            </a:extLst>
          </p:cNvPr>
          <p:cNvGrpSpPr/>
          <p:nvPr/>
        </p:nvGrpSpPr>
        <p:grpSpPr>
          <a:xfrm>
            <a:off x="1081504" y="3433958"/>
            <a:ext cx="2756432" cy="827962"/>
            <a:chOff x="1081504" y="3447394"/>
            <a:chExt cx="2756432" cy="827962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3754C0D6-534B-45E9-B4C7-BC6F689FD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1504" y="3521430"/>
              <a:ext cx="702806" cy="702806"/>
            </a:xfrm>
            <a:prstGeom prst="rect">
              <a:avLst/>
            </a:prstGeom>
          </p:spPr>
        </p:pic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595EE821-B223-46D6-8CD0-BAF7FACCAC64}"/>
                </a:ext>
              </a:extLst>
            </p:cNvPr>
            <p:cNvGrpSpPr/>
            <p:nvPr/>
          </p:nvGrpSpPr>
          <p:grpSpPr>
            <a:xfrm>
              <a:off x="1934531" y="3447394"/>
              <a:ext cx="1903405" cy="827962"/>
              <a:chOff x="2308555" y="3447394"/>
              <a:chExt cx="1903405" cy="827962"/>
            </a:xfrm>
          </p:grpSpPr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2D6A6F6B-FB75-4FB3-82B4-8AADE6373D43}"/>
                  </a:ext>
                </a:extLst>
              </p:cNvPr>
              <p:cNvSpPr txBox="1"/>
              <p:nvPr/>
            </p:nvSpPr>
            <p:spPr>
              <a:xfrm>
                <a:off x="2560526" y="3447394"/>
                <a:ext cx="1651434" cy="30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TW" altLang="en-US" dirty="0">
                    <a:solidFill>
                      <a:srgbClr val="000000"/>
                    </a:solidFill>
                  </a:rPr>
                  <a:t>缺乏標準開發框架</a:t>
                </a:r>
              </a:p>
            </p:txBody>
          </p:sp>
          <p:pic>
            <p:nvPicPr>
              <p:cNvPr id="88" name="圖片 87">
                <a:extLst>
                  <a:ext uri="{FF2B5EF4-FFF2-40B4-BE49-F238E27FC236}">
                    <a16:creationId xmlns:a16="http://schemas.microsoft.com/office/drawing/2014/main" id="{527D4609-C5D9-47C3-8470-5E28BC8CA1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308555" y="3498511"/>
                <a:ext cx="196066" cy="197848"/>
              </a:xfrm>
              <a:prstGeom prst="rect">
                <a:avLst/>
              </a:prstGeom>
            </p:spPr>
          </p:pic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3E1DFFF6-A9D2-4E65-9071-C760F4FD2C57}"/>
                  </a:ext>
                </a:extLst>
              </p:cNvPr>
              <p:cNvSpPr txBox="1"/>
              <p:nvPr/>
            </p:nvSpPr>
            <p:spPr>
              <a:xfrm>
                <a:off x="2560525" y="3711334"/>
                <a:ext cx="1651434" cy="30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TW" altLang="en-US" dirty="0">
                    <a:solidFill>
                      <a:srgbClr val="000000"/>
                    </a:solidFill>
                  </a:rPr>
                  <a:t>輸入輸出格式不一</a:t>
                </a:r>
              </a:p>
            </p:txBody>
          </p:sp>
          <p:pic>
            <p:nvPicPr>
              <p:cNvPr id="92" name="圖片 91">
                <a:extLst>
                  <a:ext uri="{FF2B5EF4-FFF2-40B4-BE49-F238E27FC236}">
                    <a16:creationId xmlns:a16="http://schemas.microsoft.com/office/drawing/2014/main" id="{FCA095E1-E491-44AB-B1B8-AAB76BF202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308555" y="3762451"/>
                <a:ext cx="196066" cy="197848"/>
              </a:xfrm>
              <a:prstGeom prst="rect">
                <a:avLst/>
              </a:prstGeom>
            </p:spPr>
          </p:pic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95C89C76-FED8-4926-AE8A-3420F003E3CB}"/>
                  </a:ext>
                </a:extLst>
              </p:cNvPr>
              <p:cNvSpPr txBox="1"/>
              <p:nvPr/>
            </p:nvSpPr>
            <p:spPr>
              <a:xfrm>
                <a:off x="2560525" y="3975274"/>
                <a:ext cx="1651433" cy="30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TW" altLang="en-US" dirty="0"/>
                  <a:t>除錯流程複雜困難</a:t>
                </a:r>
                <a:endParaRPr lang="zh-TW" altLang="en-US" dirty="0">
                  <a:solidFill>
                    <a:srgbClr val="000000"/>
                  </a:solidFill>
                </a:endParaRPr>
              </a:p>
            </p:txBody>
          </p:sp>
          <p:pic>
            <p:nvPicPr>
              <p:cNvPr id="96" name="圖片 95">
                <a:extLst>
                  <a:ext uri="{FF2B5EF4-FFF2-40B4-BE49-F238E27FC236}">
                    <a16:creationId xmlns:a16="http://schemas.microsoft.com/office/drawing/2014/main" id="{EF49BD18-E963-469A-9F6B-218FF2C4F3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308555" y="4026391"/>
                <a:ext cx="196066" cy="197848"/>
              </a:xfrm>
              <a:prstGeom prst="rect">
                <a:avLst/>
              </a:prstGeom>
            </p:spPr>
          </p:pic>
        </p:grpSp>
      </p:grpSp>
      <p:pic>
        <p:nvPicPr>
          <p:cNvPr id="105" name="圖片 104">
            <a:extLst>
              <a:ext uri="{FF2B5EF4-FFF2-40B4-BE49-F238E27FC236}">
                <a16:creationId xmlns:a16="http://schemas.microsoft.com/office/drawing/2014/main" id="{95D5251E-53B7-4129-8FBC-7F15B2CD63B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417" y="3552969"/>
            <a:ext cx="720000" cy="720000"/>
          </a:xfrm>
          <a:prstGeom prst="rect">
            <a:avLst/>
          </a:prstGeom>
        </p:spPr>
      </p:pic>
      <p:pic>
        <p:nvPicPr>
          <p:cNvPr id="106" name="圖片 105">
            <a:extLst>
              <a:ext uri="{FF2B5EF4-FFF2-40B4-BE49-F238E27FC236}">
                <a16:creationId xmlns:a16="http://schemas.microsoft.com/office/drawing/2014/main" id="{FD50311F-062C-47FD-A2F0-855663E562E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612" y="3552969"/>
            <a:ext cx="720000" cy="720000"/>
          </a:xfrm>
          <a:prstGeom prst="rect">
            <a:avLst/>
          </a:prstGeom>
        </p:spPr>
      </p:pic>
      <p:pic>
        <p:nvPicPr>
          <p:cNvPr id="108" name="圖片 107">
            <a:extLst>
              <a:ext uri="{FF2B5EF4-FFF2-40B4-BE49-F238E27FC236}">
                <a16:creationId xmlns:a16="http://schemas.microsoft.com/office/drawing/2014/main" id="{DF62C8D5-028E-4826-AAEB-24CBDF7E69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4222" y="3552969"/>
            <a:ext cx="720000" cy="720000"/>
          </a:xfrm>
          <a:prstGeom prst="rect">
            <a:avLst/>
          </a:prstGeom>
        </p:spPr>
      </p:pic>
      <p:pic>
        <p:nvPicPr>
          <p:cNvPr id="80" name="圖片 79">
            <a:extLst>
              <a:ext uri="{FF2B5EF4-FFF2-40B4-BE49-F238E27FC236}">
                <a16:creationId xmlns:a16="http://schemas.microsoft.com/office/drawing/2014/main" id="{C52581E2-9B6E-4D37-92A0-0BA91FFCC9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7973179" y="3738640"/>
            <a:ext cx="397895" cy="403924"/>
          </a:xfrm>
          <a:prstGeom prst="rect">
            <a:avLst/>
          </a:prstGeom>
        </p:spPr>
      </p:pic>
      <p:pic>
        <p:nvPicPr>
          <p:cNvPr id="81" name="圖片 80">
            <a:extLst>
              <a:ext uri="{FF2B5EF4-FFF2-40B4-BE49-F238E27FC236}">
                <a16:creationId xmlns:a16="http://schemas.microsoft.com/office/drawing/2014/main" id="{1B429518-96D7-45D9-A5BB-4A85FAE96A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6697372" y="3738640"/>
            <a:ext cx="397895" cy="403924"/>
          </a:xfrm>
          <a:prstGeom prst="rect">
            <a:avLst/>
          </a:prstGeom>
        </p:spPr>
      </p:pic>
      <p:pic>
        <p:nvPicPr>
          <p:cNvPr id="82" name="圖片 81">
            <a:extLst>
              <a:ext uri="{FF2B5EF4-FFF2-40B4-BE49-F238E27FC236}">
                <a16:creationId xmlns:a16="http://schemas.microsoft.com/office/drawing/2014/main" id="{4C4FC2C9-607E-4988-AEB9-BA0DD42C86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421567" y="3738640"/>
            <a:ext cx="397895" cy="403923"/>
          </a:xfrm>
          <a:prstGeom prst="rect">
            <a:avLst/>
          </a:prstGeom>
        </p:spPr>
      </p:pic>
      <p:pic>
        <p:nvPicPr>
          <p:cNvPr id="111" name="圖片 110">
            <a:extLst>
              <a:ext uri="{FF2B5EF4-FFF2-40B4-BE49-F238E27FC236}">
                <a16:creationId xmlns:a16="http://schemas.microsoft.com/office/drawing/2014/main" id="{F87A7BAA-42DA-4C8F-A310-84F18FF2F2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7685898" y="3431883"/>
            <a:ext cx="324822" cy="324822"/>
          </a:xfrm>
          <a:prstGeom prst="rect">
            <a:avLst/>
          </a:prstGeom>
        </p:spPr>
      </p:pic>
      <p:pic>
        <p:nvPicPr>
          <p:cNvPr id="112" name="圖片 111">
            <a:extLst>
              <a:ext uri="{FF2B5EF4-FFF2-40B4-BE49-F238E27FC236}">
                <a16:creationId xmlns:a16="http://schemas.microsoft.com/office/drawing/2014/main" id="{686D3DE8-D272-4C3D-A4B9-5B529D3211F2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6387219" y="3431883"/>
            <a:ext cx="324822" cy="324822"/>
          </a:xfrm>
          <a:prstGeom prst="rect">
            <a:avLst/>
          </a:prstGeom>
        </p:spPr>
      </p:pic>
      <p:pic>
        <p:nvPicPr>
          <p:cNvPr id="113" name="圖片 112">
            <a:extLst>
              <a:ext uri="{FF2B5EF4-FFF2-40B4-BE49-F238E27FC236}">
                <a16:creationId xmlns:a16="http://schemas.microsoft.com/office/drawing/2014/main" id="{277EA6FA-8A7E-41CD-B662-2E08CD3957A9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5070773" y="3431883"/>
            <a:ext cx="324822" cy="324822"/>
          </a:xfrm>
          <a:prstGeom prst="rect">
            <a:avLst/>
          </a:prstGeom>
        </p:spPr>
      </p:pic>
      <p:sp>
        <p:nvSpPr>
          <p:cNvPr id="122" name="矩形: 圓角 121">
            <a:extLst>
              <a:ext uri="{FF2B5EF4-FFF2-40B4-BE49-F238E27FC236}">
                <a16:creationId xmlns:a16="http://schemas.microsoft.com/office/drawing/2014/main" id="{C030C565-4933-42B4-BAB1-DE0A3B0C0391}"/>
              </a:ext>
            </a:extLst>
          </p:cNvPr>
          <p:cNvSpPr/>
          <p:nvPr/>
        </p:nvSpPr>
        <p:spPr>
          <a:xfrm>
            <a:off x="1650045" y="4409902"/>
            <a:ext cx="1623350" cy="293020"/>
          </a:xfrm>
          <a:prstGeom prst="roundRect">
            <a:avLst>
              <a:gd name="adj" fmla="val 15120"/>
            </a:avLst>
          </a:prstGeom>
          <a:solidFill>
            <a:srgbClr val="C70039"/>
          </a:solidFill>
          <a:ln>
            <a:solidFill>
              <a:srgbClr val="C700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TW" altLang="en-US" sz="1600" b="1" dirty="0">
                <a:solidFill>
                  <a:schemeClr val="bg1"/>
                </a:solidFill>
              </a:rPr>
              <a:t>常見議題</a:t>
            </a:r>
          </a:p>
        </p:txBody>
      </p:sp>
      <p:grpSp>
        <p:nvGrpSpPr>
          <p:cNvPr id="93" name="群組 92">
            <a:extLst>
              <a:ext uri="{FF2B5EF4-FFF2-40B4-BE49-F238E27FC236}">
                <a16:creationId xmlns:a16="http://schemas.microsoft.com/office/drawing/2014/main" id="{E9C2F595-6799-468C-983C-B76AD5AAC5A3}"/>
              </a:ext>
            </a:extLst>
          </p:cNvPr>
          <p:cNvGrpSpPr/>
          <p:nvPr/>
        </p:nvGrpSpPr>
        <p:grpSpPr>
          <a:xfrm rot="10800000">
            <a:off x="4140377" y="3783836"/>
            <a:ext cx="172856" cy="307162"/>
            <a:chOff x="3707904" y="1269426"/>
            <a:chExt cx="271311" cy="482115"/>
          </a:xfrm>
        </p:grpSpPr>
        <p:grpSp>
          <p:nvGrpSpPr>
            <p:cNvPr id="97" name="群組 96">
              <a:extLst>
                <a:ext uri="{FF2B5EF4-FFF2-40B4-BE49-F238E27FC236}">
                  <a16:creationId xmlns:a16="http://schemas.microsoft.com/office/drawing/2014/main" id="{267577E5-7536-490D-B589-11A1D70F8FE1}"/>
                </a:ext>
              </a:extLst>
            </p:cNvPr>
            <p:cNvGrpSpPr/>
            <p:nvPr/>
          </p:nvGrpSpPr>
          <p:grpSpPr>
            <a:xfrm>
              <a:off x="3979215" y="1269426"/>
              <a:ext cx="0" cy="482115"/>
              <a:chOff x="3979215" y="1269426"/>
              <a:chExt cx="0" cy="482115"/>
            </a:xfrm>
          </p:grpSpPr>
          <p:cxnSp>
            <p:nvCxnSpPr>
              <p:cNvPr id="114" name="直線單箭頭接點 113">
                <a:extLst>
                  <a:ext uri="{FF2B5EF4-FFF2-40B4-BE49-F238E27FC236}">
                    <a16:creationId xmlns:a16="http://schemas.microsoft.com/office/drawing/2014/main" id="{84946651-CB0A-47AA-9D38-7C438F922463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線單箭頭接點 115">
                <a:extLst>
                  <a:ext uri="{FF2B5EF4-FFF2-40B4-BE49-F238E27FC236}">
                    <a16:creationId xmlns:a16="http://schemas.microsoft.com/office/drawing/2014/main" id="{DF1BD811-3B15-46C9-AB63-F1FA16E7D9C0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8" name="群組 97">
              <a:extLst>
                <a:ext uri="{FF2B5EF4-FFF2-40B4-BE49-F238E27FC236}">
                  <a16:creationId xmlns:a16="http://schemas.microsoft.com/office/drawing/2014/main" id="{7F494E43-D1C2-4EA8-BB8E-B3DB3E976B32}"/>
                </a:ext>
              </a:extLst>
            </p:cNvPr>
            <p:cNvGrpSpPr/>
            <p:nvPr/>
          </p:nvGrpSpPr>
          <p:grpSpPr>
            <a:xfrm>
              <a:off x="3707904" y="1269426"/>
              <a:ext cx="0" cy="482115"/>
              <a:chOff x="3979215" y="1269426"/>
              <a:chExt cx="0" cy="482115"/>
            </a:xfrm>
          </p:grpSpPr>
          <p:cxnSp>
            <p:nvCxnSpPr>
              <p:cNvPr id="107" name="直線單箭頭接點 106">
                <a:extLst>
                  <a:ext uri="{FF2B5EF4-FFF2-40B4-BE49-F238E27FC236}">
                    <a16:creationId xmlns:a16="http://schemas.microsoft.com/office/drawing/2014/main" id="{C6DBF5B9-C46A-4B39-A9E6-EAD0ED5C0498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線單箭頭接點 108">
                <a:extLst>
                  <a:ext uri="{FF2B5EF4-FFF2-40B4-BE49-F238E27FC236}">
                    <a16:creationId xmlns:a16="http://schemas.microsoft.com/office/drawing/2014/main" id="{740CD5C9-EFE2-4D5F-8ACB-9E1B4410A4BA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9" name="矩形: 圓角 98">
            <a:extLst>
              <a:ext uri="{FF2B5EF4-FFF2-40B4-BE49-F238E27FC236}">
                <a16:creationId xmlns:a16="http://schemas.microsoft.com/office/drawing/2014/main" id="{288E187F-A1EF-4AFF-9C59-0DBE3D852BED}"/>
              </a:ext>
            </a:extLst>
          </p:cNvPr>
          <p:cNvSpPr/>
          <p:nvPr/>
        </p:nvSpPr>
        <p:spPr>
          <a:xfrm>
            <a:off x="5683551" y="4409902"/>
            <a:ext cx="1623350" cy="293020"/>
          </a:xfrm>
          <a:prstGeom prst="roundRect">
            <a:avLst>
              <a:gd name="adj" fmla="val 15120"/>
            </a:avLst>
          </a:prstGeom>
          <a:solidFill>
            <a:srgbClr val="203775"/>
          </a:solidFill>
          <a:ln>
            <a:solidFill>
              <a:srgbClr val="2037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TW" altLang="en-US" sz="1600" b="1" dirty="0">
                <a:solidFill>
                  <a:schemeClr val="bg1"/>
                </a:solidFill>
              </a:rPr>
              <a:t>開發團隊</a:t>
            </a:r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8EC4FE63-089E-4768-9E83-996244E3AFB5}"/>
              </a:ext>
            </a:extLst>
          </p:cNvPr>
          <p:cNvSpPr txBox="1"/>
          <p:nvPr/>
        </p:nvSpPr>
        <p:spPr>
          <a:xfrm>
            <a:off x="2302703" y="942623"/>
            <a:ext cx="9129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dist"/>
            <a:r>
              <a:rPr lang="zh-TW" altLang="en-US" dirty="0">
                <a:solidFill>
                  <a:srgbClr val="2F528F"/>
                </a:solidFill>
              </a:rPr>
              <a:t>模型開發</a:t>
            </a:r>
          </a:p>
        </p:txBody>
      </p:sp>
      <p:sp>
        <p:nvSpPr>
          <p:cNvPr id="101" name="矩形: 圓角 100">
            <a:extLst>
              <a:ext uri="{FF2B5EF4-FFF2-40B4-BE49-F238E27FC236}">
                <a16:creationId xmlns:a16="http://schemas.microsoft.com/office/drawing/2014/main" id="{08BCB9ED-41E0-4E77-9CFC-361660FF633D}"/>
              </a:ext>
            </a:extLst>
          </p:cNvPr>
          <p:cNvSpPr/>
          <p:nvPr/>
        </p:nvSpPr>
        <p:spPr>
          <a:xfrm>
            <a:off x="1700571" y="986951"/>
            <a:ext cx="643544" cy="219120"/>
          </a:xfrm>
          <a:prstGeom prst="roundRect">
            <a:avLst/>
          </a:prstGeom>
          <a:solidFill>
            <a:srgbClr val="2F528F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b="1" dirty="0">
                <a:solidFill>
                  <a:schemeClr val="bg1"/>
                </a:solidFill>
              </a:rPr>
              <a:t>Step 1</a:t>
            </a:r>
            <a:endParaRPr lang="zh-TW" altLang="en-US" sz="1100" b="1" dirty="0">
              <a:solidFill>
                <a:schemeClr val="bg1"/>
              </a:solidFill>
            </a:endParaRPr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475FFFC9-8152-4718-B588-9FE552957ED0}"/>
              </a:ext>
            </a:extLst>
          </p:cNvPr>
          <p:cNvSpPr txBox="1"/>
          <p:nvPr/>
        </p:nvSpPr>
        <p:spPr>
          <a:xfrm>
            <a:off x="7402015" y="942623"/>
            <a:ext cx="9129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zh-TW" altLang="en-US" sz="1400" b="1" dirty="0">
                <a:solidFill>
                  <a:srgbClr val="2F528F"/>
                </a:solidFill>
              </a:rPr>
              <a:t>調參優化</a:t>
            </a:r>
          </a:p>
        </p:txBody>
      </p:sp>
      <p:sp>
        <p:nvSpPr>
          <p:cNvPr id="103" name="矩形: 圓角 102">
            <a:extLst>
              <a:ext uri="{FF2B5EF4-FFF2-40B4-BE49-F238E27FC236}">
                <a16:creationId xmlns:a16="http://schemas.microsoft.com/office/drawing/2014/main" id="{AD41B2DD-7D3C-4BC1-8FC5-8D680D081AE8}"/>
              </a:ext>
            </a:extLst>
          </p:cNvPr>
          <p:cNvSpPr/>
          <p:nvPr/>
        </p:nvSpPr>
        <p:spPr>
          <a:xfrm>
            <a:off x="6799885" y="986951"/>
            <a:ext cx="643544" cy="219120"/>
          </a:xfrm>
          <a:prstGeom prst="roundRect">
            <a:avLst/>
          </a:prstGeom>
          <a:solidFill>
            <a:srgbClr val="2F528F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b="1">
                <a:solidFill>
                  <a:schemeClr val="bg1"/>
                </a:solidFill>
              </a:rPr>
              <a:t>Step 3</a:t>
            </a:r>
            <a:endParaRPr lang="zh-TW" altLang="en-US" sz="1100" b="1" dirty="0">
              <a:solidFill>
                <a:schemeClr val="bg1"/>
              </a:solidFill>
            </a:endParaRPr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11EAE7A0-5A22-4478-AEED-B4776EDCA3CB}"/>
              </a:ext>
            </a:extLst>
          </p:cNvPr>
          <p:cNvSpPr txBox="1"/>
          <p:nvPr/>
        </p:nvSpPr>
        <p:spPr>
          <a:xfrm>
            <a:off x="5064645" y="942623"/>
            <a:ext cx="9129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zh-TW" altLang="en-US" sz="1400" b="1" dirty="0">
                <a:solidFill>
                  <a:srgbClr val="2F528F"/>
                </a:solidFill>
              </a:rPr>
              <a:t>程式開發</a:t>
            </a:r>
          </a:p>
        </p:txBody>
      </p:sp>
      <p:sp>
        <p:nvSpPr>
          <p:cNvPr id="110" name="矩形: 圓角 109">
            <a:extLst>
              <a:ext uri="{FF2B5EF4-FFF2-40B4-BE49-F238E27FC236}">
                <a16:creationId xmlns:a16="http://schemas.microsoft.com/office/drawing/2014/main" id="{9C2E2ED4-6CEA-4C9C-BE00-5E926AA0DF4B}"/>
              </a:ext>
            </a:extLst>
          </p:cNvPr>
          <p:cNvSpPr/>
          <p:nvPr/>
        </p:nvSpPr>
        <p:spPr>
          <a:xfrm>
            <a:off x="4462513" y="986951"/>
            <a:ext cx="643544" cy="219120"/>
          </a:xfrm>
          <a:prstGeom prst="roundRect">
            <a:avLst/>
          </a:prstGeom>
          <a:solidFill>
            <a:srgbClr val="2F528F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b="1" dirty="0">
                <a:solidFill>
                  <a:schemeClr val="bg1"/>
                </a:solidFill>
              </a:rPr>
              <a:t>Step 2</a:t>
            </a:r>
            <a:endParaRPr lang="zh-TW" altLang="en-US" sz="1100" b="1" dirty="0">
              <a:solidFill>
                <a:schemeClr val="bg1"/>
              </a:solidFill>
            </a:endParaRPr>
          </a:p>
        </p:txBody>
      </p:sp>
      <p:cxnSp>
        <p:nvCxnSpPr>
          <p:cNvPr id="117" name="接點: 肘形 116">
            <a:extLst>
              <a:ext uri="{FF2B5EF4-FFF2-40B4-BE49-F238E27FC236}">
                <a16:creationId xmlns:a16="http://schemas.microsoft.com/office/drawing/2014/main" id="{3343017F-0CEE-4F61-87C0-414653ED3958}"/>
              </a:ext>
            </a:extLst>
          </p:cNvPr>
          <p:cNvCxnSpPr>
            <a:cxnSpLocks/>
          </p:cNvCxnSpPr>
          <p:nvPr/>
        </p:nvCxnSpPr>
        <p:spPr>
          <a:xfrm rot="5400000">
            <a:off x="6282256" y="1009001"/>
            <a:ext cx="12700" cy="3575912"/>
          </a:xfrm>
          <a:prstGeom prst="bentConnector3">
            <a:avLst>
              <a:gd name="adj1" fmla="val 3025000"/>
            </a:avLst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群組 119">
            <a:extLst>
              <a:ext uri="{FF2B5EF4-FFF2-40B4-BE49-F238E27FC236}">
                <a16:creationId xmlns:a16="http://schemas.microsoft.com/office/drawing/2014/main" id="{97CFCD4A-6C7E-41DF-92BF-F3DAB102DB2B}"/>
              </a:ext>
            </a:extLst>
          </p:cNvPr>
          <p:cNvGrpSpPr/>
          <p:nvPr/>
        </p:nvGrpSpPr>
        <p:grpSpPr>
          <a:xfrm>
            <a:off x="3859818" y="1009469"/>
            <a:ext cx="102640" cy="182390"/>
            <a:chOff x="3707904" y="1269426"/>
            <a:chExt cx="271311" cy="482115"/>
          </a:xfrm>
        </p:grpSpPr>
        <p:grpSp>
          <p:nvGrpSpPr>
            <p:cNvPr id="121" name="群組 120">
              <a:extLst>
                <a:ext uri="{FF2B5EF4-FFF2-40B4-BE49-F238E27FC236}">
                  <a16:creationId xmlns:a16="http://schemas.microsoft.com/office/drawing/2014/main" id="{DE27A31F-F6CD-4EEA-B3C9-E211D8D2E66A}"/>
                </a:ext>
              </a:extLst>
            </p:cNvPr>
            <p:cNvGrpSpPr/>
            <p:nvPr/>
          </p:nvGrpSpPr>
          <p:grpSpPr>
            <a:xfrm>
              <a:off x="3979215" y="1269426"/>
              <a:ext cx="0" cy="482115"/>
              <a:chOff x="3979215" y="1269426"/>
              <a:chExt cx="0" cy="482115"/>
            </a:xfrm>
          </p:grpSpPr>
          <p:cxnSp>
            <p:nvCxnSpPr>
              <p:cNvPr id="126" name="直線單箭頭接點 125">
                <a:extLst>
                  <a:ext uri="{FF2B5EF4-FFF2-40B4-BE49-F238E27FC236}">
                    <a16:creationId xmlns:a16="http://schemas.microsoft.com/office/drawing/2014/main" id="{60AE9403-8256-4D01-8497-AAFCD234809E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線單箭頭接點 126">
                <a:extLst>
                  <a:ext uri="{FF2B5EF4-FFF2-40B4-BE49-F238E27FC236}">
                    <a16:creationId xmlns:a16="http://schemas.microsoft.com/office/drawing/2014/main" id="{2299F924-7059-4E22-84BB-CFE35EDF5340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群組 122">
              <a:extLst>
                <a:ext uri="{FF2B5EF4-FFF2-40B4-BE49-F238E27FC236}">
                  <a16:creationId xmlns:a16="http://schemas.microsoft.com/office/drawing/2014/main" id="{6B48356D-19FE-4834-BAB0-269E2EF40A26}"/>
                </a:ext>
              </a:extLst>
            </p:cNvPr>
            <p:cNvGrpSpPr/>
            <p:nvPr/>
          </p:nvGrpSpPr>
          <p:grpSpPr>
            <a:xfrm>
              <a:off x="3707904" y="1269426"/>
              <a:ext cx="0" cy="482115"/>
              <a:chOff x="3979215" y="1269426"/>
              <a:chExt cx="0" cy="482115"/>
            </a:xfrm>
          </p:grpSpPr>
          <p:cxnSp>
            <p:nvCxnSpPr>
              <p:cNvPr id="124" name="直線單箭頭接點 123">
                <a:extLst>
                  <a:ext uri="{FF2B5EF4-FFF2-40B4-BE49-F238E27FC236}">
                    <a16:creationId xmlns:a16="http://schemas.microsoft.com/office/drawing/2014/main" id="{C8D4D186-93F9-480D-9C69-897336A1389D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線單箭頭接點 124">
                <a:extLst>
                  <a:ext uri="{FF2B5EF4-FFF2-40B4-BE49-F238E27FC236}">
                    <a16:creationId xmlns:a16="http://schemas.microsoft.com/office/drawing/2014/main" id="{F258FAF0-F0EB-40E2-97D9-333335A01932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8" name="群組 127">
            <a:extLst>
              <a:ext uri="{FF2B5EF4-FFF2-40B4-BE49-F238E27FC236}">
                <a16:creationId xmlns:a16="http://schemas.microsoft.com/office/drawing/2014/main" id="{00593CF4-81F6-482C-A2EA-704C5384FA9B}"/>
              </a:ext>
            </a:extLst>
          </p:cNvPr>
          <p:cNvGrpSpPr/>
          <p:nvPr/>
        </p:nvGrpSpPr>
        <p:grpSpPr>
          <a:xfrm>
            <a:off x="6408859" y="1009198"/>
            <a:ext cx="102640" cy="182390"/>
            <a:chOff x="3707904" y="1269426"/>
            <a:chExt cx="271311" cy="482115"/>
          </a:xfrm>
        </p:grpSpPr>
        <p:grpSp>
          <p:nvGrpSpPr>
            <p:cNvPr id="130" name="群組 129">
              <a:extLst>
                <a:ext uri="{FF2B5EF4-FFF2-40B4-BE49-F238E27FC236}">
                  <a16:creationId xmlns:a16="http://schemas.microsoft.com/office/drawing/2014/main" id="{4E5A7BAD-9417-40F7-B6DF-1E980E0B86D5}"/>
                </a:ext>
              </a:extLst>
            </p:cNvPr>
            <p:cNvGrpSpPr/>
            <p:nvPr/>
          </p:nvGrpSpPr>
          <p:grpSpPr>
            <a:xfrm>
              <a:off x="3979215" y="1269426"/>
              <a:ext cx="0" cy="482115"/>
              <a:chOff x="3979215" y="1269426"/>
              <a:chExt cx="0" cy="482115"/>
            </a:xfrm>
          </p:grpSpPr>
          <p:cxnSp>
            <p:nvCxnSpPr>
              <p:cNvPr id="134" name="直線單箭頭接點 133">
                <a:extLst>
                  <a:ext uri="{FF2B5EF4-FFF2-40B4-BE49-F238E27FC236}">
                    <a16:creationId xmlns:a16="http://schemas.microsoft.com/office/drawing/2014/main" id="{79ED95C8-88DA-4A70-8115-96E293E19E21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線單箭頭接點 134">
                <a:extLst>
                  <a:ext uri="{FF2B5EF4-FFF2-40B4-BE49-F238E27FC236}">
                    <a16:creationId xmlns:a16="http://schemas.microsoft.com/office/drawing/2014/main" id="{6F28C119-D865-4C75-A708-97E476C69FEC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1" name="群組 130">
              <a:extLst>
                <a:ext uri="{FF2B5EF4-FFF2-40B4-BE49-F238E27FC236}">
                  <a16:creationId xmlns:a16="http://schemas.microsoft.com/office/drawing/2014/main" id="{1F4322EC-CFB0-4A5C-84D7-D1BEF5BDF075}"/>
                </a:ext>
              </a:extLst>
            </p:cNvPr>
            <p:cNvGrpSpPr/>
            <p:nvPr/>
          </p:nvGrpSpPr>
          <p:grpSpPr>
            <a:xfrm>
              <a:off x="3707904" y="1269426"/>
              <a:ext cx="0" cy="482115"/>
              <a:chOff x="3979215" y="1269426"/>
              <a:chExt cx="0" cy="482115"/>
            </a:xfrm>
          </p:grpSpPr>
          <p:cxnSp>
            <p:nvCxnSpPr>
              <p:cNvPr id="132" name="直線單箭頭接點 131">
                <a:extLst>
                  <a:ext uri="{FF2B5EF4-FFF2-40B4-BE49-F238E27FC236}">
                    <a16:creationId xmlns:a16="http://schemas.microsoft.com/office/drawing/2014/main" id="{19C2F98B-E460-4D1D-960D-1AB5414A3042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線單箭頭接點 132">
                <a:extLst>
                  <a:ext uri="{FF2B5EF4-FFF2-40B4-BE49-F238E27FC236}">
                    <a16:creationId xmlns:a16="http://schemas.microsoft.com/office/drawing/2014/main" id="{62177674-521B-4A8A-8458-1764E9845D7D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CB06CBCD-6CD9-4A1B-AF99-5EEFF61424C1}"/>
              </a:ext>
            </a:extLst>
          </p:cNvPr>
          <p:cNvSpPr/>
          <p:nvPr/>
        </p:nvSpPr>
        <p:spPr>
          <a:xfrm>
            <a:off x="3921759" y="942975"/>
            <a:ext cx="4710595" cy="233838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6" name="矩形: 圓角 135">
            <a:extLst>
              <a:ext uri="{FF2B5EF4-FFF2-40B4-BE49-F238E27FC236}">
                <a16:creationId xmlns:a16="http://schemas.microsoft.com/office/drawing/2014/main" id="{6019ECC9-8F26-499F-868A-4C6265DB9444}"/>
              </a:ext>
            </a:extLst>
          </p:cNvPr>
          <p:cNvSpPr/>
          <p:nvPr/>
        </p:nvSpPr>
        <p:spPr>
          <a:xfrm>
            <a:off x="6601955" y="2412451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2037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rgbClr val="203775"/>
                </a:solidFill>
              </a:rPr>
              <a:t>執行實驗</a:t>
            </a:r>
          </a:p>
        </p:txBody>
      </p:sp>
      <p:sp>
        <p:nvSpPr>
          <p:cNvPr id="138" name="矩形: 圓角 137">
            <a:extLst>
              <a:ext uri="{FF2B5EF4-FFF2-40B4-BE49-F238E27FC236}">
                <a16:creationId xmlns:a16="http://schemas.microsoft.com/office/drawing/2014/main" id="{9D5E1B9F-86C0-4D08-B1DA-C520BD82B85B}"/>
              </a:ext>
            </a:extLst>
          </p:cNvPr>
          <p:cNvSpPr/>
          <p:nvPr/>
        </p:nvSpPr>
        <p:spPr>
          <a:xfrm>
            <a:off x="6606125" y="1577355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chemeClr val="accent6">
                    <a:lumMod val="50000"/>
                  </a:schemeClr>
                </a:solidFill>
              </a:rPr>
              <a:t>產出報表</a:t>
            </a:r>
          </a:p>
        </p:txBody>
      </p:sp>
      <p:sp>
        <p:nvSpPr>
          <p:cNvPr id="139" name="矩形: 圓角 138">
            <a:extLst>
              <a:ext uri="{FF2B5EF4-FFF2-40B4-BE49-F238E27FC236}">
                <a16:creationId xmlns:a16="http://schemas.microsoft.com/office/drawing/2014/main" id="{3C8B4A96-15C6-4155-9607-B20682C65298}"/>
              </a:ext>
            </a:extLst>
          </p:cNvPr>
          <p:cNvSpPr/>
          <p:nvPr/>
        </p:nvSpPr>
        <p:spPr>
          <a:xfrm>
            <a:off x="7670039" y="1577355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chemeClr val="accent6">
                    <a:lumMod val="50000"/>
                  </a:schemeClr>
                </a:solidFill>
              </a:rPr>
              <a:t>分析回饋</a:t>
            </a:r>
          </a:p>
        </p:txBody>
      </p:sp>
      <p:sp>
        <p:nvSpPr>
          <p:cNvPr id="140" name="矩形: 圓角 139">
            <a:extLst>
              <a:ext uri="{FF2B5EF4-FFF2-40B4-BE49-F238E27FC236}">
                <a16:creationId xmlns:a16="http://schemas.microsoft.com/office/drawing/2014/main" id="{45F42E6D-934D-496A-A60E-713A6EA507A9}"/>
              </a:ext>
            </a:extLst>
          </p:cNvPr>
          <p:cNvSpPr/>
          <p:nvPr/>
        </p:nvSpPr>
        <p:spPr>
          <a:xfrm>
            <a:off x="7665869" y="2412451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2037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rgbClr val="203775"/>
                </a:solidFill>
              </a:rPr>
              <a:t>模型異動</a:t>
            </a:r>
          </a:p>
        </p:txBody>
      </p:sp>
    </p:spTree>
    <p:extLst>
      <p:ext uri="{BB962C8B-B14F-4D97-AF65-F5344CB8AC3E}">
        <p14:creationId xmlns:p14="http://schemas.microsoft.com/office/powerpoint/2010/main" val="3430696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F0F85A-D8BE-489F-8A26-3F9E8BB6D3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專案動機｜</a:t>
            </a:r>
            <a:r>
              <a:rPr lang="zh-TW" altLang="en-US" b="0" dirty="0"/>
              <a:t>提升數規模型開發效率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B04F98-C67E-4BB2-A8FC-D45C046C6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04602B-3F3A-44D6-8FC7-8D6198579B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/>
              <a:t>01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BDA344-228E-467F-9CAE-213808D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B1EDA-9669-4099-AA83-49C2D8E17945}" type="slidenum">
              <a:rPr lang="zh-TW" altLang="en-US" smtClean="0"/>
              <a:t>9</a:t>
            </a:fld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E2D1FA36-AD5C-4B54-AF63-C797303B27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1329" y="4874676"/>
            <a:ext cx="7657256" cy="273600"/>
          </a:xfrm>
        </p:spPr>
        <p:txBody>
          <a:bodyPr/>
          <a:lstStyle/>
          <a:p>
            <a:endParaRPr lang="zh-TW" altLang="en-US" b="0" dirty="0"/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700AF3AC-69BF-43AD-B734-FFC1F57C7F73}"/>
              </a:ext>
            </a:extLst>
          </p:cNvPr>
          <p:cNvSpPr/>
          <p:nvPr/>
        </p:nvSpPr>
        <p:spPr>
          <a:xfrm>
            <a:off x="536471" y="1254311"/>
            <a:ext cx="8095885" cy="966962"/>
          </a:xfrm>
          <a:prstGeom prst="rect">
            <a:avLst/>
          </a:prstGeom>
          <a:solidFill>
            <a:srgbClr val="F4F9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3" name="直線接點 152">
            <a:extLst>
              <a:ext uri="{FF2B5EF4-FFF2-40B4-BE49-F238E27FC236}">
                <a16:creationId xmlns:a16="http://schemas.microsoft.com/office/drawing/2014/main" id="{01146C62-B875-45E7-BCBC-7A795C68EEBD}"/>
              </a:ext>
            </a:extLst>
          </p:cNvPr>
          <p:cNvCxnSpPr>
            <a:cxnSpLocks/>
          </p:cNvCxnSpPr>
          <p:nvPr/>
        </p:nvCxnSpPr>
        <p:spPr>
          <a:xfrm flipH="1">
            <a:off x="532364" y="1254311"/>
            <a:ext cx="8100000" cy="0"/>
          </a:xfrm>
          <a:prstGeom prst="line">
            <a:avLst/>
          </a:prstGeom>
          <a:ln w="9525">
            <a:solidFill>
              <a:srgbClr val="222A3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手繪多邊形: 圖案 153">
            <a:extLst>
              <a:ext uri="{FF2B5EF4-FFF2-40B4-BE49-F238E27FC236}">
                <a16:creationId xmlns:a16="http://schemas.microsoft.com/office/drawing/2014/main" id="{F90FD048-E35B-468F-B169-9526EA27ED68}"/>
              </a:ext>
            </a:extLst>
          </p:cNvPr>
          <p:cNvSpPr/>
          <p:nvPr/>
        </p:nvSpPr>
        <p:spPr>
          <a:xfrm>
            <a:off x="536471" y="2220200"/>
            <a:ext cx="8095885" cy="1058943"/>
          </a:xfrm>
          <a:custGeom>
            <a:avLst/>
            <a:gdLst>
              <a:gd name="connsiteX0" fmla="*/ 0 w 8095885"/>
              <a:gd name="connsiteY0" fmla="*/ 0 h 1058943"/>
              <a:gd name="connsiteX1" fmla="*/ 8095885 w 8095885"/>
              <a:gd name="connsiteY1" fmla="*/ 0 h 1058943"/>
              <a:gd name="connsiteX2" fmla="*/ 8095885 w 8095885"/>
              <a:gd name="connsiteY2" fmla="*/ 1058943 h 1058943"/>
              <a:gd name="connsiteX3" fmla="*/ 0 w 8095885"/>
              <a:gd name="connsiteY3" fmla="*/ 1058943 h 1058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95885" h="1058943">
                <a:moveTo>
                  <a:pt x="0" y="0"/>
                </a:moveTo>
                <a:lnTo>
                  <a:pt x="8095885" y="0"/>
                </a:lnTo>
                <a:lnTo>
                  <a:pt x="8095885" y="1058943"/>
                </a:lnTo>
                <a:lnTo>
                  <a:pt x="0" y="1058943"/>
                </a:lnTo>
                <a:close/>
              </a:path>
            </a:pathLst>
          </a:custGeom>
          <a:solidFill>
            <a:srgbClr val="F2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cxnSp>
        <p:nvCxnSpPr>
          <p:cNvPr id="157" name="直線接點 156">
            <a:extLst>
              <a:ext uri="{FF2B5EF4-FFF2-40B4-BE49-F238E27FC236}">
                <a16:creationId xmlns:a16="http://schemas.microsoft.com/office/drawing/2014/main" id="{5F49C5C8-D448-4EFF-80CB-AEAC0386F566}"/>
              </a:ext>
            </a:extLst>
          </p:cNvPr>
          <p:cNvCxnSpPr>
            <a:cxnSpLocks/>
          </p:cNvCxnSpPr>
          <p:nvPr/>
        </p:nvCxnSpPr>
        <p:spPr>
          <a:xfrm>
            <a:off x="532364" y="2225308"/>
            <a:ext cx="81000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54E5CDCA-0580-4710-BF96-D6AEDEDDB21A}"/>
              </a:ext>
            </a:extLst>
          </p:cNvPr>
          <p:cNvCxnSpPr>
            <a:cxnSpLocks/>
          </p:cNvCxnSpPr>
          <p:nvPr/>
        </p:nvCxnSpPr>
        <p:spPr>
          <a:xfrm>
            <a:off x="1018321" y="939142"/>
            <a:ext cx="0" cy="2340000"/>
          </a:xfrm>
          <a:prstGeom prst="line">
            <a:avLst/>
          </a:prstGeom>
          <a:ln w="9525" cap="rnd">
            <a:solidFill>
              <a:srgbClr val="222A3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接點: 肘形 158">
            <a:extLst>
              <a:ext uri="{FF2B5EF4-FFF2-40B4-BE49-F238E27FC236}">
                <a16:creationId xmlns:a16="http://schemas.microsoft.com/office/drawing/2014/main" id="{9F1EC317-3045-40D7-ABD9-E715073F454E}"/>
              </a:ext>
            </a:extLst>
          </p:cNvPr>
          <p:cNvCxnSpPr>
            <a:cxnSpLocks/>
            <a:stCxn id="182" idx="0"/>
            <a:endCxn id="170" idx="2"/>
          </p:cNvCxnSpPr>
          <p:nvPr/>
        </p:nvCxnSpPr>
        <p:spPr>
          <a:xfrm rot="5400000">
            <a:off x="3691248" y="663346"/>
            <a:ext cx="95112" cy="4172110"/>
          </a:xfrm>
          <a:prstGeom prst="bentConnector3">
            <a:avLst>
              <a:gd name="adj1" fmla="val 400435"/>
            </a:avLst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單箭頭接點 159">
            <a:extLst>
              <a:ext uri="{FF2B5EF4-FFF2-40B4-BE49-F238E27FC236}">
                <a16:creationId xmlns:a16="http://schemas.microsoft.com/office/drawing/2014/main" id="{D1D3D275-5845-4055-9E47-93C58CCE3BF7}"/>
              </a:ext>
            </a:extLst>
          </p:cNvPr>
          <p:cNvCxnSpPr>
            <a:cxnSpLocks/>
            <a:stCxn id="173" idx="0"/>
          </p:cNvCxnSpPr>
          <p:nvPr/>
        </p:nvCxnSpPr>
        <p:spPr>
          <a:xfrm>
            <a:off x="3299425" y="2701845"/>
            <a:ext cx="0" cy="37795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單箭頭接點 164">
            <a:extLst>
              <a:ext uri="{FF2B5EF4-FFF2-40B4-BE49-F238E27FC236}">
                <a16:creationId xmlns:a16="http://schemas.microsoft.com/office/drawing/2014/main" id="{61F92987-CF5B-4578-9B88-92ED8EE0E3DD}"/>
              </a:ext>
            </a:extLst>
          </p:cNvPr>
          <p:cNvCxnSpPr>
            <a:cxnSpLocks/>
          </p:cNvCxnSpPr>
          <p:nvPr/>
        </p:nvCxnSpPr>
        <p:spPr>
          <a:xfrm flipV="1">
            <a:off x="7006298" y="1961861"/>
            <a:ext cx="4170" cy="45059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線單箭頭接點 165">
            <a:extLst>
              <a:ext uri="{FF2B5EF4-FFF2-40B4-BE49-F238E27FC236}">
                <a16:creationId xmlns:a16="http://schemas.microsoft.com/office/drawing/2014/main" id="{1E5E9478-BB9C-4B37-9719-BB79A7BB3287}"/>
              </a:ext>
            </a:extLst>
          </p:cNvPr>
          <p:cNvCxnSpPr>
            <a:cxnSpLocks/>
          </p:cNvCxnSpPr>
          <p:nvPr/>
        </p:nvCxnSpPr>
        <p:spPr>
          <a:xfrm flipH="1">
            <a:off x="8070212" y="1961861"/>
            <a:ext cx="4170" cy="45059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單箭頭接點 167">
            <a:extLst>
              <a:ext uri="{FF2B5EF4-FFF2-40B4-BE49-F238E27FC236}">
                <a16:creationId xmlns:a16="http://schemas.microsoft.com/office/drawing/2014/main" id="{C3FD8FE0-642F-4B9A-A64D-E33EEC807535}"/>
              </a:ext>
            </a:extLst>
          </p:cNvPr>
          <p:cNvCxnSpPr>
            <a:cxnSpLocks/>
          </p:cNvCxnSpPr>
          <p:nvPr/>
        </p:nvCxnSpPr>
        <p:spPr>
          <a:xfrm>
            <a:off x="7414811" y="1769608"/>
            <a:ext cx="255228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矩形: 圓角 168">
            <a:extLst>
              <a:ext uri="{FF2B5EF4-FFF2-40B4-BE49-F238E27FC236}">
                <a16:creationId xmlns:a16="http://schemas.microsoft.com/office/drawing/2014/main" id="{DFF70A04-CAC7-44D3-9ED5-73404298B8B0}"/>
              </a:ext>
            </a:extLst>
          </p:cNvPr>
          <p:cNvSpPr/>
          <p:nvPr/>
        </p:nvSpPr>
        <p:spPr>
          <a:xfrm>
            <a:off x="1252576" y="1568450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chemeClr val="accent6">
                    <a:lumMod val="50000"/>
                  </a:schemeClr>
                </a:solidFill>
              </a:rPr>
              <a:t>問題定義</a:t>
            </a:r>
          </a:p>
        </p:txBody>
      </p:sp>
      <p:sp>
        <p:nvSpPr>
          <p:cNvPr id="170" name="矩形: 圓角 169">
            <a:extLst>
              <a:ext uri="{FF2B5EF4-FFF2-40B4-BE49-F238E27FC236}">
                <a16:creationId xmlns:a16="http://schemas.microsoft.com/office/drawing/2014/main" id="{C7300303-714A-45D1-BA2A-F6D32B3592B6}"/>
              </a:ext>
            </a:extLst>
          </p:cNvPr>
          <p:cNvSpPr/>
          <p:nvPr/>
        </p:nvSpPr>
        <p:spPr>
          <a:xfrm>
            <a:off x="1248406" y="2412451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2037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rgbClr val="203775"/>
                </a:solidFill>
              </a:rPr>
              <a:t>需求分析</a:t>
            </a:r>
          </a:p>
        </p:txBody>
      </p:sp>
      <p:sp>
        <p:nvSpPr>
          <p:cNvPr id="171" name="矩形: 圓角 170">
            <a:extLst>
              <a:ext uri="{FF2B5EF4-FFF2-40B4-BE49-F238E27FC236}">
                <a16:creationId xmlns:a16="http://schemas.microsoft.com/office/drawing/2014/main" id="{0F55FB91-DE3F-4F71-9C14-A6B9F3B24302}"/>
              </a:ext>
            </a:extLst>
          </p:cNvPr>
          <p:cNvSpPr/>
          <p:nvPr/>
        </p:nvSpPr>
        <p:spPr>
          <a:xfrm>
            <a:off x="2261525" y="2412451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2037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rgbClr val="203775"/>
                </a:solidFill>
              </a:rPr>
              <a:t>模型建立</a:t>
            </a:r>
          </a:p>
        </p:txBody>
      </p:sp>
      <p:sp>
        <p:nvSpPr>
          <p:cNvPr id="172" name="矩形: 圓角 171">
            <a:extLst>
              <a:ext uri="{FF2B5EF4-FFF2-40B4-BE49-F238E27FC236}">
                <a16:creationId xmlns:a16="http://schemas.microsoft.com/office/drawing/2014/main" id="{A391ED53-FD38-4E8E-9D40-CEF805172475}"/>
              </a:ext>
            </a:extLst>
          </p:cNvPr>
          <p:cNvSpPr/>
          <p:nvPr/>
        </p:nvSpPr>
        <p:spPr>
          <a:xfrm>
            <a:off x="2265695" y="1568450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chemeClr val="accent6">
                    <a:lumMod val="50000"/>
                  </a:schemeClr>
                </a:solidFill>
              </a:rPr>
              <a:t>需求驗證</a:t>
            </a:r>
          </a:p>
        </p:txBody>
      </p:sp>
      <p:sp>
        <p:nvSpPr>
          <p:cNvPr id="173" name="菱形 172">
            <a:extLst>
              <a:ext uri="{FF2B5EF4-FFF2-40B4-BE49-F238E27FC236}">
                <a16:creationId xmlns:a16="http://schemas.microsoft.com/office/drawing/2014/main" id="{E2570378-C9AF-4E8E-9E9F-B8F59BA97D9A}"/>
              </a:ext>
            </a:extLst>
          </p:cNvPr>
          <p:cNvSpPr/>
          <p:nvPr/>
        </p:nvSpPr>
        <p:spPr>
          <a:xfrm flipV="1">
            <a:off x="3202284" y="2507563"/>
            <a:ext cx="194282" cy="194282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174" name="直線單箭頭接點 173">
            <a:extLst>
              <a:ext uri="{FF2B5EF4-FFF2-40B4-BE49-F238E27FC236}">
                <a16:creationId xmlns:a16="http://schemas.microsoft.com/office/drawing/2014/main" id="{0BF17131-D0B2-41A5-BDA4-B4BE56670590}"/>
              </a:ext>
            </a:extLst>
          </p:cNvPr>
          <p:cNvCxnSpPr>
            <a:cxnSpLocks/>
            <a:stCxn id="169" idx="2"/>
            <a:endCxn id="170" idx="0"/>
          </p:cNvCxnSpPr>
          <p:nvPr/>
        </p:nvCxnSpPr>
        <p:spPr>
          <a:xfrm flipH="1">
            <a:off x="1652749" y="1952956"/>
            <a:ext cx="4170" cy="459495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單箭頭接點 174">
            <a:extLst>
              <a:ext uri="{FF2B5EF4-FFF2-40B4-BE49-F238E27FC236}">
                <a16:creationId xmlns:a16="http://schemas.microsoft.com/office/drawing/2014/main" id="{569FEE3B-32C6-40FF-B3D4-EA0CFF5B2D74}"/>
              </a:ext>
            </a:extLst>
          </p:cNvPr>
          <p:cNvCxnSpPr>
            <a:cxnSpLocks/>
            <a:stCxn id="170" idx="3"/>
            <a:endCxn id="171" idx="1"/>
          </p:cNvCxnSpPr>
          <p:nvPr/>
        </p:nvCxnSpPr>
        <p:spPr>
          <a:xfrm>
            <a:off x="2057092" y="2604704"/>
            <a:ext cx="204433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單箭頭接點 175">
            <a:extLst>
              <a:ext uri="{FF2B5EF4-FFF2-40B4-BE49-F238E27FC236}">
                <a16:creationId xmlns:a16="http://schemas.microsoft.com/office/drawing/2014/main" id="{F791390B-C412-499D-9E92-C928B3B09F31}"/>
              </a:ext>
            </a:extLst>
          </p:cNvPr>
          <p:cNvCxnSpPr>
            <a:cxnSpLocks/>
            <a:stCxn id="171" idx="0"/>
            <a:endCxn id="172" idx="2"/>
          </p:cNvCxnSpPr>
          <p:nvPr/>
        </p:nvCxnSpPr>
        <p:spPr>
          <a:xfrm flipV="1">
            <a:off x="2665868" y="1952956"/>
            <a:ext cx="4170" cy="459495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接點: 肘形 176">
            <a:extLst>
              <a:ext uri="{FF2B5EF4-FFF2-40B4-BE49-F238E27FC236}">
                <a16:creationId xmlns:a16="http://schemas.microsoft.com/office/drawing/2014/main" id="{C50616C0-3371-4ADF-AD8E-E87545EB00C8}"/>
              </a:ext>
            </a:extLst>
          </p:cNvPr>
          <p:cNvCxnSpPr>
            <a:cxnSpLocks/>
            <a:stCxn id="172" idx="3"/>
            <a:endCxn id="173" idx="2"/>
          </p:cNvCxnSpPr>
          <p:nvPr/>
        </p:nvCxnSpPr>
        <p:spPr>
          <a:xfrm>
            <a:off x="3074381" y="1760703"/>
            <a:ext cx="225044" cy="746860"/>
          </a:xfrm>
          <a:prstGeom prst="bentConnector2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線單箭頭接點 177">
            <a:extLst>
              <a:ext uri="{FF2B5EF4-FFF2-40B4-BE49-F238E27FC236}">
                <a16:creationId xmlns:a16="http://schemas.microsoft.com/office/drawing/2014/main" id="{AC26F369-750E-443B-AC3D-595CA11069E9}"/>
              </a:ext>
            </a:extLst>
          </p:cNvPr>
          <p:cNvCxnSpPr>
            <a:cxnSpLocks/>
            <a:stCxn id="182" idx="3"/>
          </p:cNvCxnSpPr>
          <p:nvPr/>
        </p:nvCxnSpPr>
        <p:spPr>
          <a:xfrm>
            <a:off x="5922000" y="2604704"/>
            <a:ext cx="679955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矩形: 圓角 178">
            <a:extLst>
              <a:ext uri="{FF2B5EF4-FFF2-40B4-BE49-F238E27FC236}">
                <a16:creationId xmlns:a16="http://schemas.microsoft.com/office/drawing/2014/main" id="{4B28B814-7C17-4FDA-A7DF-B57DB4017274}"/>
              </a:ext>
            </a:extLst>
          </p:cNvPr>
          <p:cNvSpPr/>
          <p:nvPr/>
        </p:nvSpPr>
        <p:spPr>
          <a:xfrm>
            <a:off x="4089957" y="2412451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2037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rgbClr val="203775"/>
                </a:solidFill>
              </a:rPr>
              <a:t>程式開發</a:t>
            </a:r>
          </a:p>
        </p:txBody>
      </p:sp>
      <p:sp>
        <p:nvSpPr>
          <p:cNvPr id="180" name="矩形: 圓角 179">
            <a:extLst>
              <a:ext uri="{FF2B5EF4-FFF2-40B4-BE49-F238E27FC236}">
                <a16:creationId xmlns:a16="http://schemas.microsoft.com/office/drawing/2014/main" id="{42379B4F-BAC6-4A70-A371-FF9D3B1D55F4}"/>
              </a:ext>
            </a:extLst>
          </p:cNvPr>
          <p:cNvSpPr/>
          <p:nvPr/>
        </p:nvSpPr>
        <p:spPr>
          <a:xfrm>
            <a:off x="4094127" y="1562925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chemeClr val="accent6">
                    <a:lumMod val="50000"/>
                  </a:schemeClr>
                </a:solidFill>
              </a:rPr>
              <a:t>測試驗證</a:t>
            </a:r>
          </a:p>
        </p:txBody>
      </p:sp>
      <p:cxnSp>
        <p:nvCxnSpPr>
          <p:cNvPr id="181" name="直線單箭頭接點 180">
            <a:extLst>
              <a:ext uri="{FF2B5EF4-FFF2-40B4-BE49-F238E27FC236}">
                <a16:creationId xmlns:a16="http://schemas.microsoft.com/office/drawing/2014/main" id="{6559AEF5-1EDB-4176-9FE0-FF987C1678A1}"/>
              </a:ext>
            </a:extLst>
          </p:cNvPr>
          <p:cNvCxnSpPr>
            <a:cxnSpLocks/>
            <a:stCxn id="179" idx="0"/>
            <a:endCxn id="180" idx="2"/>
          </p:cNvCxnSpPr>
          <p:nvPr/>
        </p:nvCxnSpPr>
        <p:spPr>
          <a:xfrm flipV="1">
            <a:off x="4494300" y="1947431"/>
            <a:ext cx="4170" cy="46502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菱形 181">
            <a:extLst>
              <a:ext uri="{FF2B5EF4-FFF2-40B4-BE49-F238E27FC236}">
                <a16:creationId xmlns:a16="http://schemas.microsoft.com/office/drawing/2014/main" id="{37A6D464-3CC0-420D-B7DB-A6A6A88BBE7E}"/>
              </a:ext>
            </a:extLst>
          </p:cNvPr>
          <p:cNvSpPr/>
          <p:nvPr/>
        </p:nvSpPr>
        <p:spPr>
          <a:xfrm flipV="1">
            <a:off x="5727718" y="2507563"/>
            <a:ext cx="194282" cy="194282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183" name="接點: 肘形 182">
            <a:extLst>
              <a:ext uri="{FF2B5EF4-FFF2-40B4-BE49-F238E27FC236}">
                <a16:creationId xmlns:a16="http://schemas.microsoft.com/office/drawing/2014/main" id="{FC9074EE-A4A1-4A1A-BC89-2E00AA86B7E8}"/>
              </a:ext>
            </a:extLst>
          </p:cNvPr>
          <p:cNvCxnSpPr>
            <a:cxnSpLocks/>
            <a:stCxn id="180" idx="3"/>
            <a:endCxn id="182" idx="2"/>
          </p:cNvCxnSpPr>
          <p:nvPr/>
        </p:nvCxnSpPr>
        <p:spPr>
          <a:xfrm>
            <a:off x="4902813" y="1755178"/>
            <a:ext cx="922046" cy="752385"/>
          </a:xfrm>
          <a:prstGeom prst="bentConnector2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線單箭頭接點 183">
            <a:extLst>
              <a:ext uri="{FF2B5EF4-FFF2-40B4-BE49-F238E27FC236}">
                <a16:creationId xmlns:a16="http://schemas.microsoft.com/office/drawing/2014/main" id="{76A2DAD7-E682-437E-B150-88671DE0B1C6}"/>
              </a:ext>
            </a:extLst>
          </p:cNvPr>
          <p:cNvCxnSpPr>
            <a:cxnSpLocks/>
            <a:stCxn id="182" idx="1"/>
            <a:endCxn id="179" idx="3"/>
          </p:cNvCxnSpPr>
          <p:nvPr/>
        </p:nvCxnSpPr>
        <p:spPr>
          <a:xfrm flipH="1">
            <a:off x="4898643" y="2604704"/>
            <a:ext cx="829075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文字方塊 185">
            <a:extLst>
              <a:ext uri="{FF2B5EF4-FFF2-40B4-BE49-F238E27FC236}">
                <a16:creationId xmlns:a16="http://schemas.microsoft.com/office/drawing/2014/main" id="{1E09CE13-5E52-4A70-BD17-C0C2B0DFCA65}"/>
              </a:ext>
            </a:extLst>
          </p:cNvPr>
          <p:cNvSpPr txBox="1"/>
          <p:nvPr/>
        </p:nvSpPr>
        <p:spPr>
          <a:xfrm>
            <a:off x="651396" y="2353321"/>
            <a:ext cx="252000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dirty="0">
                <a:solidFill>
                  <a:srgbClr val="203775"/>
                </a:solidFill>
              </a:rPr>
              <a:t>開</a:t>
            </a:r>
            <a:endParaRPr lang="en-US" altLang="zh-TW" dirty="0">
              <a:solidFill>
                <a:srgbClr val="203775"/>
              </a:solidFill>
            </a:endParaRPr>
          </a:p>
          <a:p>
            <a:r>
              <a:rPr lang="zh-TW" altLang="en-US" dirty="0">
                <a:solidFill>
                  <a:srgbClr val="203775"/>
                </a:solidFill>
              </a:rPr>
              <a:t>發</a:t>
            </a:r>
            <a:endParaRPr lang="en-US" altLang="zh-TW" dirty="0">
              <a:solidFill>
                <a:srgbClr val="203775"/>
              </a:solidFill>
            </a:endParaRPr>
          </a:p>
          <a:p>
            <a:r>
              <a:rPr lang="zh-TW" altLang="en-US" dirty="0">
                <a:solidFill>
                  <a:srgbClr val="203775"/>
                </a:solidFill>
              </a:rPr>
              <a:t>者</a:t>
            </a:r>
          </a:p>
        </p:txBody>
      </p:sp>
      <p:sp>
        <p:nvSpPr>
          <p:cNvPr id="188" name="文字方塊 187">
            <a:extLst>
              <a:ext uri="{FF2B5EF4-FFF2-40B4-BE49-F238E27FC236}">
                <a16:creationId xmlns:a16="http://schemas.microsoft.com/office/drawing/2014/main" id="{3020F737-ABF5-46BB-84AB-93876CA6982B}"/>
              </a:ext>
            </a:extLst>
          </p:cNvPr>
          <p:cNvSpPr txBox="1"/>
          <p:nvPr/>
        </p:nvSpPr>
        <p:spPr>
          <a:xfrm>
            <a:off x="651396" y="1370478"/>
            <a:ext cx="252000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dirty="0">
                <a:solidFill>
                  <a:schemeClr val="accent6">
                    <a:lumMod val="50000"/>
                  </a:schemeClr>
                </a:solidFill>
              </a:rPr>
              <a:t>使</a:t>
            </a:r>
            <a:endParaRPr lang="en-US" altLang="zh-TW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zh-TW" altLang="en-US" dirty="0">
                <a:solidFill>
                  <a:schemeClr val="accent6">
                    <a:lumMod val="50000"/>
                  </a:schemeClr>
                </a:solidFill>
              </a:rPr>
              <a:t>用</a:t>
            </a:r>
            <a:endParaRPr lang="en-US" altLang="zh-TW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zh-TW" altLang="en-US" dirty="0">
                <a:solidFill>
                  <a:schemeClr val="accent6">
                    <a:lumMod val="50000"/>
                  </a:schemeClr>
                </a:solidFill>
              </a:rPr>
              <a:t>者</a:t>
            </a:r>
          </a:p>
        </p:txBody>
      </p:sp>
      <p:cxnSp>
        <p:nvCxnSpPr>
          <p:cNvPr id="192" name="直線接點 191">
            <a:extLst>
              <a:ext uri="{FF2B5EF4-FFF2-40B4-BE49-F238E27FC236}">
                <a16:creationId xmlns:a16="http://schemas.microsoft.com/office/drawing/2014/main" id="{A16139A6-E225-4123-8319-A9FB1B1677A9}"/>
              </a:ext>
            </a:extLst>
          </p:cNvPr>
          <p:cNvCxnSpPr>
            <a:cxnSpLocks/>
          </p:cNvCxnSpPr>
          <p:nvPr/>
        </p:nvCxnSpPr>
        <p:spPr>
          <a:xfrm>
            <a:off x="8632364" y="939142"/>
            <a:ext cx="0" cy="2340000"/>
          </a:xfrm>
          <a:prstGeom prst="line">
            <a:avLst/>
          </a:prstGeom>
          <a:ln w="9525" cap="rnd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線單箭頭接點 192">
            <a:extLst>
              <a:ext uri="{FF2B5EF4-FFF2-40B4-BE49-F238E27FC236}">
                <a16:creationId xmlns:a16="http://schemas.microsoft.com/office/drawing/2014/main" id="{63629FAA-1C92-411C-B2A4-C562E50C3EB9}"/>
              </a:ext>
            </a:extLst>
          </p:cNvPr>
          <p:cNvCxnSpPr>
            <a:cxnSpLocks/>
            <a:stCxn id="173" idx="3"/>
            <a:endCxn id="179" idx="1"/>
          </p:cNvCxnSpPr>
          <p:nvPr/>
        </p:nvCxnSpPr>
        <p:spPr>
          <a:xfrm>
            <a:off x="3396566" y="2604704"/>
            <a:ext cx="693391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4" name="群組 193">
            <a:extLst>
              <a:ext uri="{FF2B5EF4-FFF2-40B4-BE49-F238E27FC236}">
                <a16:creationId xmlns:a16="http://schemas.microsoft.com/office/drawing/2014/main" id="{5770C848-615A-42CD-A41C-5240D3E918E4}"/>
              </a:ext>
            </a:extLst>
          </p:cNvPr>
          <p:cNvGrpSpPr/>
          <p:nvPr/>
        </p:nvGrpSpPr>
        <p:grpSpPr>
          <a:xfrm>
            <a:off x="5989689" y="2496982"/>
            <a:ext cx="393679" cy="215444"/>
            <a:chOff x="6132292" y="3912592"/>
            <a:chExt cx="393679" cy="215444"/>
          </a:xfrm>
          <a:solidFill>
            <a:srgbClr val="EAF2FA"/>
          </a:solidFill>
        </p:grpSpPr>
        <p:sp>
          <p:nvSpPr>
            <p:cNvPr id="195" name="矩形 194">
              <a:extLst>
                <a:ext uri="{FF2B5EF4-FFF2-40B4-BE49-F238E27FC236}">
                  <a16:creationId xmlns:a16="http://schemas.microsoft.com/office/drawing/2014/main" id="{8FCD2901-B9F4-4F19-AEBF-D7378AD91685}"/>
                </a:ext>
              </a:extLst>
            </p:cNvPr>
            <p:cNvSpPr/>
            <p:nvPr/>
          </p:nvSpPr>
          <p:spPr>
            <a:xfrm>
              <a:off x="6184527" y="3951016"/>
              <a:ext cx="289209" cy="142685"/>
            </a:xfrm>
            <a:prstGeom prst="rect">
              <a:avLst/>
            </a:prstGeom>
            <a:solidFill>
              <a:srgbClr val="F2F7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6" name="文字方塊 195">
              <a:extLst>
                <a:ext uri="{FF2B5EF4-FFF2-40B4-BE49-F238E27FC236}">
                  <a16:creationId xmlns:a16="http://schemas.microsoft.com/office/drawing/2014/main" id="{4FF902EF-931A-468C-BC52-1020B8583AF9}"/>
                </a:ext>
              </a:extLst>
            </p:cNvPr>
            <p:cNvSpPr txBox="1"/>
            <p:nvPr/>
          </p:nvSpPr>
          <p:spPr>
            <a:xfrm>
              <a:off x="6132292" y="3912592"/>
              <a:ext cx="39367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sz="800" dirty="0"/>
                <a:t>通過</a:t>
              </a:r>
            </a:p>
          </p:txBody>
        </p:sp>
      </p:grpSp>
      <p:grpSp>
        <p:nvGrpSpPr>
          <p:cNvPr id="197" name="群組 196">
            <a:extLst>
              <a:ext uri="{FF2B5EF4-FFF2-40B4-BE49-F238E27FC236}">
                <a16:creationId xmlns:a16="http://schemas.microsoft.com/office/drawing/2014/main" id="{CFA9EA35-DEA9-46E6-8203-2FDBD24DA960}"/>
              </a:ext>
            </a:extLst>
          </p:cNvPr>
          <p:cNvGrpSpPr/>
          <p:nvPr/>
        </p:nvGrpSpPr>
        <p:grpSpPr>
          <a:xfrm>
            <a:off x="5024942" y="2493412"/>
            <a:ext cx="593006" cy="215444"/>
            <a:chOff x="5239763" y="3630897"/>
            <a:chExt cx="593006" cy="215444"/>
          </a:xfrm>
        </p:grpSpPr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id="{304D1E32-79FE-4274-AF07-6CF282F46AE2}"/>
                </a:ext>
              </a:extLst>
            </p:cNvPr>
            <p:cNvSpPr/>
            <p:nvPr/>
          </p:nvSpPr>
          <p:spPr>
            <a:xfrm>
              <a:off x="5316133" y="3667276"/>
              <a:ext cx="440267" cy="142685"/>
            </a:xfrm>
            <a:prstGeom prst="rect">
              <a:avLst/>
            </a:prstGeom>
            <a:solidFill>
              <a:srgbClr val="F2F7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9" name="文字方塊 198">
              <a:extLst>
                <a:ext uri="{FF2B5EF4-FFF2-40B4-BE49-F238E27FC236}">
                  <a16:creationId xmlns:a16="http://schemas.microsoft.com/office/drawing/2014/main" id="{6261AF20-3841-4E8E-B384-130C1376FFCF}"/>
                </a:ext>
              </a:extLst>
            </p:cNvPr>
            <p:cNvSpPr txBox="1"/>
            <p:nvPr/>
          </p:nvSpPr>
          <p:spPr>
            <a:xfrm>
              <a:off x="5239763" y="3630897"/>
              <a:ext cx="59300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sz="800" dirty="0"/>
                <a:t>程式錯誤</a:t>
              </a:r>
            </a:p>
          </p:txBody>
        </p:sp>
      </p:grpSp>
      <p:grpSp>
        <p:nvGrpSpPr>
          <p:cNvPr id="200" name="群組 199">
            <a:extLst>
              <a:ext uri="{FF2B5EF4-FFF2-40B4-BE49-F238E27FC236}">
                <a16:creationId xmlns:a16="http://schemas.microsoft.com/office/drawing/2014/main" id="{4DA2326B-2935-4C5C-A78E-C10483AF5C49}"/>
              </a:ext>
            </a:extLst>
          </p:cNvPr>
          <p:cNvGrpSpPr/>
          <p:nvPr/>
        </p:nvGrpSpPr>
        <p:grpSpPr>
          <a:xfrm>
            <a:off x="3002922" y="2776695"/>
            <a:ext cx="593006" cy="215444"/>
            <a:chOff x="4572000" y="3630897"/>
            <a:chExt cx="593006" cy="215444"/>
          </a:xfrm>
          <a:noFill/>
        </p:grpSpPr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BE07FAFF-0F44-4BCD-82B1-0067E52069EA}"/>
                </a:ext>
              </a:extLst>
            </p:cNvPr>
            <p:cNvSpPr/>
            <p:nvPr/>
          </p:nvSpPr>
          <p:spPr>
            <a:xfrm>
              <a:off x="4648370" y="3667276"/>
              <a:ext cx="440267" cy="142685"/>
            </a:xfrm>
            <a:prstGeom prst="rect">
              <a:avLst/>
            </a:prstGeom>
            <a:solidFill>
              <a:srgbClr val="F2F7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2" name="文字方塊 201">
              <a:extLst>
                <a:ext uri="{FF2B5EF4-FFF2-40B4-BE49-F238E27FC236}">
                  <a16:creationId xmlns:a16="http://schemas.microsoft.com/office/drawing/2014/main" id="{F1BCCC1F-2B56-488C-ABE4-75249196639B}"/>
                </a:ext>
              </a:extLst>
            </p:cNvPr>
            <p:cNvSpPr txBox="1"/>
            <p:nvPr/>
          </p:nvSpPr>
          <p:spPr>
            <a:xfrm>
              <a:off x="4572000" y="3630897"/>
              <a:ext cx="593006" cy="215444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sz="800" dirty="0"/>
                <a:t>模型錯誤</a:t>
              </a:r>
            </a:p>
          </p:txBody>
        </p:sp>
      </p:grpSp>
      <p:grpSp>
        <p:nvGrpSpPr>
          <p:cNvPr id="203" name="群組 202">
            <a:extLst>
              <a:ext uri="{FF2B5EF4-FFF2-40B4-BE49-F238E27FC236}">
                <a16:creationId xmlns:a16="http://schemas.microsoft.com/office/drawing/2014/main" id="{08374A9F-D84A-4BD0-88D1-5DAB114E3BCE}"/>
              </a:ext>
            </a:extLst>
          </p:cNvPr>
          <p:cNvGrpSpPr/>
          <p:nvPr/>
        </p:nvGrpSpPr>
        <p:grpSpPr>
          <a:xfrm>
            <a:off x="3436442" y="2496982"/>
            <a:ext cx="393679" cy="215444"/>
            <a:chOff x="6132292" y="3912592"/>
            <a:chExt cx="393679" cy="215444"/>
          </a:xfrm>
          <a:noFill/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87B87CAB-D683-4B43-AA36-4E7DF4B609EB}"/>
                </a:ext>
              </a:extLst>
            </p:cNvPr>
            <p:cNvSpPr/>
            <p:nvPr/>
          </p:nvSpPr>
          <p:spPr>
            <a:xfrm>
              <a:off x="6184527" y="3951016"/>
              <a:ext cx="289209" cy="142685"/>
            </a:xfrm>
            <a:prstGeom prst="rect">
              <a:avLst/>
            </a:prstGeom>
            <a:solidFill>
              <a:srgbClr val="F2F7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5" name="文字方塊 204">
              <a:extLst>
                <a:ext uri="{FF2B5EF4-FFF2-40B4-BE49-F238E27FC236}">
                  <a16:creationId xmlns:a16="http://schemas.microsoft.com/office/drawing/2014/main" id="{F48AD740-CB8A-4FCA-916D-7B3B0AE760F3}"/>
                </a:ext>
              </a:extLst>
            </p:cNvPr>
            <p:cNvSpPr txBox="1"/>
            <p:nvPr/>
          </p:nvSpPr>
          <p:spPr>
            <a:xfrm>
              <a:off x="6132292" y="3912592"/>
              <a:ext cx="393679" cy="215444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sz="800" dirty="0"/>
                <a:t>通過</a:t>
              </a:r>
            </a:p>
          </p:txBody>
        </p:sp>
      </p:grpSp>
      <p:grpSp>
        <p:nvGrpSpPr>
          <p:cNvPr id="206" name="群組 205">
            <a:extLst>
              <a:ext uri="{FF2B5EF4-FFF2-40B4-BE49-F238E27FC236}">
                <a16:creationId xmlns:a16="http://schemas.microsoft.com/office/drawing/2014/main" id="{84758429-EFFA-46DF-9087-F629EC8AF3DC}"/>
              </a:ext>
            </a:extLst>
          </p:cNvPr>
          <p:cNvGrpSpPr/>
          <p:nvPr/>
        </p:nvGrpSpPr>
        <p:grpSpPr>
          <a:xfrm>
            <a:off x="5529710" y="2776695"/>
            <a:ext cx="593006" cy="215444"/>
            <a:chOff x="4572000" y="3630897"/>
            <a:chExt cx="593006" cy="215444"/>
          </a:xfrm>
        </p:grpSpPr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CAEA0E56-C977-4714-8B7D-7448D60B1FBE}"/>
                </a:ext>
              </a:extLst>
            </p:cNvPr>
            <p:cNvSpPr/>
            <p:nvPr/>
          </p:nvSpPr>
          <p:spPr>
            <a:xfrm>
              <a:off x="4648370" y="3667276"/>
              <a:ext cx="440267" cy="142685"/>
            </a:xfrm>
            <a:prstGeom prst="rect">
              <a:avLst/>
            </a:prstGeom>
            <a:solidFill>
              <a:srgbClr val="F2F7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8" name="文字方塊 207">
              <a:extLst>
                <a:ext uri="{FF2B5EF4-FFF2-40B4-BE49-F238E27FC236}">
                  <a16:creationId xmlns:a16="http://schemas.microsoft.com/office/drawing/2014/main" id="{467DB6E4-D09B-411C-9BDC-C7F001EAB2FB}"/>
                </a:ext>
              </a:extLst>
            </p:cNvPr>
            <p:cNvSpPr txBox="1"/>
            <p:nvPr/>
          </p:nvSpPr>
          <p:spPr>
            <a:xfrm>
              <a:off x="4572000" y="3630897"/>
              <a:ext cx="59300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TW" altLang="en-US" sz="800" dirty="0"/>
                <a:t>模型錯誤</a:t>
              </a:r>
            </a:p>
          </p:txBody>
        </p:sp>
      </p:grpSp>
      <p:cxnSp>
        <p:nvCxnSpPr>
          <p:cNvPr id="209" name="直線接點 208">
            <a:extLst>
              <a:ext uri="{FF2B5EF4-FFF2-40B4-BE49-F238E27FC236}">
                <a16:creationId xmlns:a16="http://schemas.microsoft.com/office/drawing/2014/main" id="{7C3405CE-A252-4A60-9AA1-377153C40922}"/>
              </a:ext>
            </a:extLst>
          </p:cNvPr>
          <p:cNvCxnSpPr>
            <a:cxnSpLocks/>
          </p:cNvCxnSpPr>
          <p:nvPr/>
        </p:nvCxnSpPr>
        <p:spPr>
          <a:xfrm flipH="1">
            <a:off x="1012825" y="939142"/>
            <a:ext cx="7619539" cy="0"/>
          </a:xfrm>
          <a:prstGeom prst="line">
            <a:avLst/>
          </a:prstGeom>
          <a:ln w="9525">
            <a:solidFill>
              <a:srgbClr val="222A3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線接點 209">
            <a:extLst>
              <a:ext uri="{FF2B5EF4-FFF2-40B4-BE49-F238E27FC236}">
                <a16:creationId xmlns:a16="http://schemas.microsoft.com/office/drawing/2014/main" id="{8058EDBA-D610-43CC-845F-1CA12875ADFE}"/>
              </a:ext>
            </a:extLst>
          </p:cNvPr>
          <p:cNvCxnSpPr>
            <a:cxnSpLocks/>
          </p:cNvCxnSpPr>
          <p:nvPr/>
        </p:nvCxnSpPr>
        <p:spPr>
          <a:xfrm flipH="1">
            <a:off x="531813" y="3279143"/>
            <a:ext cx="8100552" cy="0"/>
          </a:xfrm>
          <a:prstGeom prst="line">
            <a:avLst/>
          </a:prstGeom>
          <a:ln w="9525">
            <a:solidFill>
              <a:srgbClr val="222A3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線接點 210">
            <a:extLst>
              <a:ext uri="{FF2B5EF4-FFF2-40B4-BE49-F238E27FC236}">
                <a16:creationId xmlns:a16="http://schemas.microsoft.com/office/drawing/2014/main" id="{1A7F3988-CABF-4FA7-984E-4727D075D546}"/>
              </a:ext>
            </a:extLst>
          </p:cNvPr>
          <p:cNvCxnSpPr>
            <a:cxnSpLocks/>
          </p:cNvCxnSpPr>
          <p:nvPr/>
        </p:nvCxnSpPr>
        <p:spPr>
          <a:xfrm>
            <a:off x="536471" y="1254311"/>
            <a:ext cx="0" cy="2022323"/>
          </a:xfrm>
          <a:prstGeom prst="line">
            <a:avLst/>
          </a:prstGeom>
          <a:ln w="9525" cap="rnd">
            <a:solidFill>
              <a:srgbClr val="222A35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矩形 211">
            <a:extLst>
              <a:ext uri="{FF2B5EF4-FFF2-40B4-BE49-F238E27FC236}">
                <a16:creationId xmlns:a16="http://schemas.microsoft.com/office/drawing/2014/main" id="{C670E76A-49B7-4D88-AF3F-AD0046AE6D82}"/>
              </a:ext>
            </a:extLst>
          </p:cNvPr>
          <p:cNvSpPr/>
          <p:nvPr/>
        </p:nvSpPr>
        <p:spPr>
          <a:xfrm>
            <a:off x="540579" y="2230967"/>
            <a:ext cx="8091775" cy="105039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9D7DC571-CCD2-4592-BC58-789593AD6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8428" y="3946275"/>
            <a:ext cx="593392" cy="593392"/>
          </a:xfrm>
          <a:prstGeom prst="rect">
            <a:avLst/>
          </a:prstGeom>
        </p:spPr>
      </p:pic>
      <p:pic>
        <p:nvPicPr>
          <p:cNvPr id="145" name="圖片 144">
            <a:extLst>
              <a:ext uri="{FF2B5EF4-FFF2-40B4-BE49-F238E27FC236}">
                <a16:creationId xmlns:a16="http://schemas.microsoft.com/office/drawing/2014/main" id="{BF809BF3-598A-475E-8E60-0A1607770F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4259221" y="3946275"/>
            <a:ext cx="593392" cy="593392"/>
          </a:xfrm>
          <a:prstGeom prst="rect">
            <a:avLst/>
          </a:prstGeom>
        </p:spPr>
      </p:pic>
      <p:grpSp>
        <p:nvGrpSpPr>
          <p:cNvPr id="25" name="群組 24">
            <a:extLst>
              <a:ext uri="{FF2B5EF4-FFF2-40B4-BE49-F238E27FC236}">
                <a16:creationId xmlns:a16="http://schemas.microsoft.com/office/drawing/2014/main" id="{18692E31-D355-4A15-AB4F-67528AA9579E}"/>
              </a:ext>
            </a:extLst>
          </p:cNvPr>
          <p:cNvGrpSpPr/>
          <p:nvPr/>
        </p:nvGrpSpPr>
        <p:grpSpPr>
          <a:xfrm>
            <a:off x="3264421" y="3507310"/>
            <a:ext cx="1082219" cy="1097452"/>
            <a:chOff x="5659069" y="3608565"/>
            <a:chExt cx="1082219" cy="1097452"/>
          </a:xfrm>
        </p:grpSpPr>
        <p:pic>
          <p:nvPicPr>
            <p:cNvPr id="122" name="圖片 121">
              <a:extLst>
                <a:ext uri="{FF2B5EF4-FFF2-40B4-BE49-F238E27FC236}">
                  <a16:creationId xmlns:a16="http://schemas.microsoft.com/office/drawing/2014/main" id="{571F9D57-AB3F-475A-AA57-A22DB8A30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23637" y="3608565"/>
              <a:ext cx="720000" cy="720000"/>
            </a:xfrm>
            <a:prstGeom prst="rect">
              <a:avLst/>
            </a:prstGeom>
          </p:spPr>
        </p:pic>
        <p:sp>
          <p:nvSpPr>
            <p:cNvPr id="123" name="矩形: 圓角 122">
              <a:extLst>
                <a:ext uri="{FF2B5EF4-FFF2-40B4-BE49-F238E27FC236}">
                  <a16:creationId xmlns:a16="http://schemas.microsoft.com/office/drawing/2014/main" id="{40922C07-AB3B-4594-8F8C-FA27E50478CD}"/>
                </a:ext>
              </a:extLst>
            </p:cNvPr>
            <p:cNvSpPr/>
            <p:nvPr/>
          </p:nvSpPr>
          <p:spPr>
            <a:xfrm>
              <a:off x="5659069" y="4412997"/>
              <a:ext cx="1082219" cy="293020"/>
            </a:xfrm>
            <a:prstGeom prst="roundRect">
              <a:avLst>
                <a:gd name="adj" fmla="val 15120"/>
              </a:avLst>
            </a:prstGeom>
            <a:solidFill>
              <a:srgbClr val="203775"/>
            </a:solidFill>
            <a:ln>
              <a:solidFill>
                <a:srgbClr val="2037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zh-TW" altLang="en-US" sz="1400" b="1" dirty="0">
                  <a:solidFill>
                    <a:schemeClr val="bg1"/>
                  </a:solidFill>
                </a:rPr>
                <a:t>開發者</a:t>
              </a:r>
            </a:p>
          </p:txBody>
        </p:sp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50507B4F-E661-4911-8B9E-EF73455411FB}"/>
              </a:ext>
            </a:extLst>
          </p:cNvPr>
          <p:cNvGrpSpPr/>
          <p:nvPr/>
        </p:nvGrpSpPr>
        <p:grpSpPr>
          <a:xfrm>
            <a:off x="6328422" y="3479087"/>
            <a:ext cx="1082219" cy="1116225"/>
            <a:chOff x="1067297" y="3577948"/>
            <a:chExt cx="1082219" cy="1116225"/>
          </a:xfrm>
        </p:grpSpPr>
        <p:pic>
          <p:nvPicPr>
            <p:cNvPr id="125" name="圖片 124">
              <a:extLst>
                <a:ext uri="{FF2B5EF4-FFF2-40B4-BE49-F238E27FC236}">
                  <a16:creationId xmlns:a16="http://schemas.microsoft.com/office/drawing/2014/main" id="{64EA51FF-4A9F-4D54-ADB3-9EA5E17DCA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8406" y="3577948"/>
              <a:ext cx="720000" cy="720000"/>
            </a:xfrm>
            <a:prstGeom prst="rect">
              <a:avLst/>
            </a:prstGeom>
          </p:spPr>
        </p:pic>
        <p:sp>
          <p:nvSpPr>
            <p:cNvPr id="126" name="矩形: 圓角 125">
              <a:extLst>
                <a:ext uri="{FF2B5EF4-FFF2-40B4-BE49-F238E27FC236}">
                  <a16:creationId xmlns:a16="http://schemas.microsoft.com/office/drawing/2014/main" id="{AB7E399B-E8A0-4C01-9D64-F96101E9ACC5}"/>
                </a:ext>
              </a:extLst>
            </p:cNvPr>
            <p:cNvSpPr/>
            <p:nvPr/>
          </p:nvSpPr>
          <p:spPr>
            <a:xfrm>
              <a:off x="1067297" y="4401153"/>
              <a:ext cx="1082219" cy="293020"/>
            </a:xfrm>
            <a:prstGeom prst="roundRect">
              <a:avLst>
                <a:gd name="adj" fmla="val 15120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rgbClr val="3857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zh-TW" altLang="en-US" sz="1400" b="1" dirty="0">
                  <a:solidFill>
                    <a:schemeClr val="bg1"/>
                  </a:solidFill>
                </a:rPr>
                <a:t>使用者</a:t>
              </a:r>
            </a:p>
          </p:txBody>
        </p:sp>
      </p:grpSp>
      <p:pic>
        <p:nvPicPr>
          <p:cNvPr id="228" name="圖片 227">
            <a:extLst>
              <a:ext uri="{FF2B5EF4-FFF2-40B4-BE49-F238E27FC236}">
                <a16:creationId xmlns:a16="http://schemas.microsoft.com/office/drawing/2014/main" id="{0B392345-81C1-41D4-A4E0-69928C1FBA6D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49437" y="3512157"/>
            <a:ext cx="720000" cy="720000"/>
          </a:xfrm>
          <a:prstGeom prst="rect">
            <a:avLst/>
          </a:prstGeom>
        </p:spPr>
      </p:pic>
      <p:sp>
        <p:nvSpPr>
          <p:cNvPr id="229" name="矩形: 圓角 228">
            <a:extLst>
              <a:ext uri="{FF2B5EF4-FFF2-40B4-BE49-F238E27FC236}">
                <a16:creationId xmlns:a16="http://schemas.microsoft.com/office/drawing/2014/main" id="{A6049A4E-53C5-473A-962B-9DC24585C39B}"/>
              </a:ext>
            </a:extLst>
          </p:cNvPr>
          <p:cNvSpPr/>
          <p:nvPr/>
        </p:nvSpPr>
        <p:spPr>
          <a:xfrm>
            <a:off x="4776193" y="4313339"/>
            <a:ext cx="1106138" cy="293020"/>
          </a:xfrm>
          <a:prstGeom prst="roundRect">
            <a:avLst>
              <a:gd name="adj" fmla="val 15120"/>
            </a:avLst>
          </a:prstGeom>
          <a:noFill/>
          <a:ln>
            <a:solidFill>
              <a:srgbClr val="6E84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TW" altLang="en-US" sz="1400" b="1" dirty="0">
                <a:solidFill>
                  <a:srgbClr val="6E849C"/>
                </a:solidFill>
              </a:rPr>
              <a:t>語言模型</a:t>
            </a:r>
          </a:p>
        </p:txBody>
      </p:sp>
      <p:pic>
        <p:nvPicPr>
          <p:cNvPr id="234" name="圖片 233">
            <a:extLst>
              <a:ext uri="{FF2B5EF4-FFF2-40B4-BE49-F238E27FC236}">
                <a16:creationId xmlns:a16="http://schemas.microsoft.com/office/drawing/2014/main" id="{C903357D-055A-48E1-A486-DCF6892A3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50203" y="3946275"/>
            <a:ext cx="593392" cy="593392"/>
          </a:xfrm>
          <a:prstGeom prst="rect">
            <a:avLst/>
          </a:prstGeom>
        </p:spPr>
      </p:pic>
      <p:pic>
        <p:nvPicPr>
          <p:cNvPr id="121" name="圖片 120">
            <a:extLst>
              <a:ext uri="{FF2B5EF4-FFF2-40B4-BE49-F238E27FC236}">
                <a16:creationId xmlns:a16="http://schemas.microsoft.com/office/drawing/2014/main" id="{B0FE92FB-394F-49A4-AD64-3F169F3C9D90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5540" y="3512157"/>
            <a:ext cx="720000" cy="720000"/>
          </a:xfrm>
          <a:prstGeom prst="rect">
            <a:avLst/>
          </a:prstGeom>
        </p:spPr>
      </p:pic>
      <p:sp>
        <p:nvSpPr>
          <p:cNvPr id="124" name="矩形: 圓角 123">
            <a:extLst>
              <a:ext uri="{FF2B5EF4-FFF2-40B4-BE49-F238E27FC236}">
                <a16:creationId xmlns:a16="http://schemas.microsoft.com/office/drawing/2014/main" id="{9950E857-BA32-429B-818A-0EF8C8E53383}"/>
              </a:ext>
            </a:extLst>
          </p:cNvPr>
          <p:cNvSpPr/>
          <p:nvPr/>
        </p:nvSpPr>
        <p:spPr>
          <a:xfrm>
            <a:off x="1712296" y="4313339"/>
            <a:ext cx="1106138" cy="293020"/>
          </a:xfrm>
          <a:prstGeom prst="roundRect">
            <a:avLst>
              <a:gd name="adj" fmla="val 15120"/>
            </a:avLst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zh-TW" sz="1400" b="1" dirty="0">
                <a:solidFill>
                  <a:srgbClr val="7030A0"/>
                </a:solidFill>
              </a:rPr>
              <a:t>MILP APIs</a:t>
            </a:r>
            <a:endParaRPr lang="zh-TW" altLang="en-US" sz="1400" b="1" dirty="0">
              <a:solidFill>
                <a:srgbClr val="7030A0"/>
              </a:solidFill>
            </a:endParaRP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2464A7CD-7A4D-4B27-8869-67EBF68D4936}"/>
              </a:ext>
            </a:extLst>
          </p:cNvPr>
          <p:cNvSpPr txBox="1"/>
          <p:nvPr/>
        </p:nvSpPr>
        <p:spPr>
          <a:xfrm>
            <a:off x="2302703" y="942623"/>
            <a:ext cx="9129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dist"/>
            <a:r>
              <a:rPr lang="zh-TW" altLang="en-US" dirty="0">
                <a:solidFill>
                  <a:srgbClr val="2F528F"/>
                </a:solidFill>
              </a:rPr>
              <a:t>模型開發</a:t>
            </a:r>
          </a:p>
        </p:txBody>
      </p:sp>
      <p:sp>
        <p:nvSpPr>
          <p:cNvPr id="80" name="矩形: 圓角 79">
            <a:extLst>
              <a:ext uri="{FF2B5EF4-FFF2-40B4-BE49-F238E27FC236}">
                <a16:creationId xmlns:a16="http://schemas.microsoft.com/office/drawing/2014/main" id="{3EB03F49-FD0C-429D-B360-B887A0367172}"/>
              </a:ext>
            </a:extLst>
          </p:cNvPr>
          <p:cNvSpPr/>
          <p:nvPr/>
        </p:nvSpPr>
        <p:spPr>
          <a:xfrm>
            <a:off x="1700571" y="986951"/>
            <a:ext cx="643544" cy="219120"/>
          </a:xfrm>
          <a:prstGeom prst="roundRect">
            <a:avLst/>
          </a:prstGeom>
          <a:solidFill>
            <a:srgbClr val="2F528F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b="1" dirty="0">
                <a:solidFill>
                  <a:schemeClr val="bg1"/>
                </a:solidFill>
              </a:rPr>
              <a:t>Step 1</a:t>
            </a:r>
            <a:endParaRPr lang="zh-TW" altLang="en-US" sz="1100" b="1" dirty="0">
              <a:solidFill>
                <a:schemeClr val="bg1"/>
              </a:solidFill>
            </a:endParaRP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BCE02970-4A4F-4C37-8203-AFC7D5E3329B}"/>
              </a:ext>
            </a:extLst>
          </p:cNvPr>
          <p:cNvSpPr txBox="1"/>
          <p:nvPr/>
        </p:nvSpPr>
        <p:spPr>
          <a:xfrm>
            <a:off x="7402015" y="942623"/>
            <a:ext cx="9129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zh-TW" altLang="en-US" sz="1400" b="1" dirty="0">
                <a:solidFill>
                  <a:srgbClr val="2F528F"/>
                </a:solidFill>
              </a:rPr>
              <a:t>調參優化</a:t>
            </a:r>
          </a:p>
        </p:txBody>
      </p:sp>
      <p:sp>
        <p:nvSpPr>
          <p:cNvPr id="82" name="矩形: 圓角 81">
            <a:extLst>
              <a:ext uri="{FF2B5EF4-FFF2-40B4-BE49-F238E27FC236}">
                <a16:creationId xmlns:a16="http://schemas.microsoft.com/office/drawing/2014/main" id="{94735279-E1DF-438F-BD56-89EBE0C568FD}"/>
              </a:ext>
            </a:extLst>
          </p:cNvPr>
          <p:cNvSpPr/>
          <p:nvPr/>
        </p:nvSpPr>
        <p:spPr>
          <a:xfrm>
            <a:off x="6799885" y="986951"/>
            <a:ext cx="643544" cy="219120"/>
          </a:xfrm>
          <a:prstGeom prst="roundRect">
            <a:avLst/>
          </a:prstGeom>
          <a:solidFill>
            <a:srgbClr val="2F528F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b="1">
                <a:solidFill>
                  <a:schemeClr val="bg1"/>
                </a:solidFill>
              </a:rPr>
              <a:t>Step 3</a:t>
            </a:r>
            <a:endParaRPr lang="zh-TW" altLang="en-US" sz="1100" b="1" dirty="0">
              <a:solidFill>
                <a:schemeClr val="bg1"/>
              </a:solidFill>
            </a:endParaRP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7FB43194-2761-427B-AAC1-44C98FF6F126}"/>
              </a:ext>
            </a:extLst>
          </p:cNvPr>
          <p:cNvSpPr txBox="1"/>
          <p:nvPr/>
        </p:nvSpPr>
        <p:spPr>
          <a:xfrm>
            <a:off x="5064645" y="942623"/>
            <a:ext cx="91298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zh-TW" altLang="en-US" sz="1400" b="1" dirty="0">
                <a:solidFill>
                  <a:srgbClr val="2F528F"/>
                </a:solidFill>
              </a:rPr>
              <a:t>程式開發</a:t>
            </a:r>
          </a:p>
        </p:txBody>
      </p:sp>
      <p:sp>
        <p:nvSpPr>
          <p:cNvPr id="84" name="矩形: 圓角 83">
            <a:extLst>
              <a:ext uri="{FF2B5EF4-FFF2-40B4-BE49-F238E27FC236}">
                <a16:creationId xmlns:a16="http://schemas.microsoft.com/office/drawing/2014/main" id="{66B1D1CA-D167-430F-972D-29E4B3B2679A}"/>
              </a:ext>
            </a:extLst>
          </p:cNvPr>
          <p:cNvSpPr/>
          <p:nvPr/>
        </p:nvSpPr>
        <p:spPr>
          <a:xfrm>
            <a:off x="4462513" y="986951"/>
            <a:ext cx="643544" cy="219120"/>
          </a:xfrm>
          <a:prstGeom prst="roundRect">
            <a:avLst/>
          </a:prstGeom>
          <a:solidFill>
            <a:srgbClr val="2F528F"/>
          </a:solidFill>
          <a:ln>
            <a:solidFill>
              <a:srgbClr val="2F52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b="1" dirty="0">
                <a:solidFill>
                  <a:schemeClr val="bg1"/>
                </a:solidFill>
              </a:rPr>
              <a:t>Step 2</a:t>
            </a:r>
            <a:endParaRPr lang="zh-TW" altLang="en-US" sz="1100" b="1" dirty="0">
              <a:solidFill>
                <a:schemeClr val="bg1"/>
              </a:solidFill>
            </a:endParaRPr>
          </a:p>
        </p:txBody>
      </p:sp>
      <p:cxnSp>
        <p:nvCxnSpPr>
          <p:cNvPr id="85" name="接點: 肘形 84">
            <a:extLst>
              <a:ext uri="{FF2B5EF4-FFF2-40B4-BE49-F238E27FC236}">
                <a16:creationId xmlns:a16="http://schemas.microsoft.com/office/drawing/2014/main" id="{912B2E19-9DBF-484C-8313-91ED6DB6BBCE}"/>
              </a:ext>
            </a:extLst>
          </p:cNvPr>
          <p:cNvCxnSpPr>
            <a:cxnSpLocks/>
          </p:cNvCxnSpPr>
          <p:nvPr/>
        </p:nvCxnSpPr>
        <p:spPr>
          <a:xfrm rot="5400000">
            <a:off x="6282256" y="1009001"/>
            <a:ext cx="12700" cy="3575912"/>
          </a:xfrm>
          <a:prstGeom prst="bentConnector3">
            <a:avLst>
              <a:gd name="adj1" fmla="val 3025000"/>
            </a:avLst>
          </a:prstGeom>
          <a:ln>
            <a:solidFill>
              <a:schemeClr val="tx1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群組 88">
            <a:extLst>
              <a:ext uri="{FF2B5EF4-FFF2-40B4-BE49-F238E27FC236}">
                <a16:creationId xmlns:a16="http://schemas.microsoft.com/office/drawing/2014/main" id="{0E01CA97-70BE-4505-91ED-B596BEDEED67}"/>
              </a:ext>
            </a:extLst>
          </p:cNvPr>
          <p:cNvGrpSpPr/>
          <p:nvPr/>
        </p:nvGrpSpPr>
        <p:grpSpPr>
          <a:xfrm>
            <a:off x="3859818" y="1009469"/>
            <a:ext cx="102640" cy="182390"/>
            <a:chOff x="3707904" y="1269426"/>
            <a:chExt cx="271311" cy="482115"/>
          </a:xfrm>
        </p:grpSpPr>
        <p:grpSp>
          <p:nvGrpSpPr>
            <p:cNvPr id="90" name="群組 89">
              <a:extLst>
                <a:ext uri="{FF2B5EF4-FFF2-40B4-BE49-F238E27FC236}">
                  <a16:creationId xmlns:a16="http://schemas.microsoft.com/office/drawing/2014/main" id="{788C0337-94BE-4CAC-80AE-574E355B49D1}"/>
                </a:ext>
              </a:extLst>
            </p:cNvPr>
            <p:cNvGrpSpPr/>
            <p:nvPr/>
          </p:nvGrpSpPr>
          <p:grpSpPr>
            <a:xfrm>
              <a:off x="3979215" y="1269426"/>
              <a:ext cx="0" cy="482115"/>
              <a:chOff x="3979215" y="1269426"/>
              <a:chExt cx="0" cy="482115"/>
            </a:xfrm>
          </p:grpSpPr>
          <p:cxnSp>
            <p:nvCxnSpPr>
              <p:cNvPr id="94" name="直線單箭頭接點 93">
                <a:extLst>
                  <a:ext uri="{FF2B5EF4-FFF2-40B4-BE49-F238E27FC236}">
                    <a16:creationId xmlns:a16="http://schemas.microsoft.com/office/drawing/2014/main" id="{610C16BB-104C-4522-BD1A-89DE4131B788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單箭頭接點 94">
                <a:extLst>
                  <a:ext uri="{FF2B5EF4-FFF2-40B4-BE49-F238E27FC236}">
                    <a16:creationId xmlns:a16="http://schemas.microsoft.com/office/drawing/2014/main" id="{58E4AD5D-BDEA-4A83-BBE8-40AA3FC2A0C1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群組 90">
              <a:extLst>
                <a:ext uri="{FF2B5EF4-FFF2-40B4-BE49-F238E27FC236}">
                  <a16:creationId xmlns:a16="http://schemas.microsoft.com/office/drawing/2014/main" id="{D871667A-FE72-446C-9B31-389D0D8EB058}"/>
                </a:ext>
              </a:extLst>
            </p:cNvPr>
            <p:cNvGrpSpPr/>
            <p:nvPr/>
          </p:nvGrpSpPr>
          <p:grpSpPr>
            <a:xfrm>
              <a:off x="3707904" y="1269426"/>
              <a:ext cx="0" cy="482115"/>
              <a:chOff x="3979215" y="1269426"/>
              <a:chExt cx="0" cy="482115"/>
            </a:xfrm>
          </p:grpSpPr>
          <p:cxnSp>
            <p:nvCxnSpPr>
              <p:cNvPr id="92" name="直線單箭頭接點 91">
                <a:extLst>
                  <a:ext uri="{FF2B5EF4-FFF2-40B4-BE49-F238E27FC236}">
                    <a16:creationId xmlns:a16="http://schemas.microsoft.com/office/drawing/2014/main" id="{0B15963A-071E-4EB3-B008-E352E5598B51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線單箭頭接點 92">
                <a:extLst>
                  <a:ext uri="{FF2B5EF4-FFF2-40B4-BE49-F238E27FC236}">
                    <a16:creationId xmlns:a16="http://schemas.microsoft.com/office/drawing/2014/main" id="{00C2BCCC-1AC6-4E35-A416-4A407537ED97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FA5F77FF-B40B-48CF-B32A-F650B0563D8A}"/>
              </a:ext>
            </a:extLst>
          </p:cNvPr>
          <p:cNvGrpSpPr/>
          <p:nvPr/>
        </p:nvGrpSpPr>
        <p:grpSpPr>
          <a:xfrm>
            <a:off x="6408859" y="1009198"/>
            <a:ext cx="102640" cy="182390"/>
            <a:chOff x="3707904" y="1269426"/>
            <a:chExt cx="271311" cy="482115"/>
          </a:xfrm>
        </p:grpSpPr>
        <p:grpSp>
          <p:nvGrpSpPr>
            <p:cNvPr id="97" name="群組 96">
              <a:extLst>
                <a:ext uri="{FF2B5EF4-FFF2-40B4-BE49-F238E27FC236}">
                  <a16:creationId xmlns:a16="http://schemas.microsoft.com/office/drawing/2014/main" id="{2ECBBFCA-2AF5-41E1-9041-80636C66F44F}"/>
                </a:ext>
              </a:extLst>
            </p:cNvPr>
            <p:cNvGrpSpPr/>
            <p:nvPr/>
          </p:nvGrpSpPr>
          <p:grpSpPr>
            <a:xfrm>
              <a:off x="3979215" y="1269426"/>
              <a:ext cx="0" cy="482115"/>
              <a:chOff x="3979215" y="1269426"/>
              <a:chExt cx="0" cy="482115"/>
            </a:xfrm>
          </p:grpSpPr>
          <p:cxnSp>
            <p:nvCxnSpPr>
              <p:cNvPr id="101" name="直線單箭頭接點 100">
                <a:extLst>
                  <a:ext uri="{FF2B5EF4-FFF2-40B4-BE49-F238E27FC236}">
                    <a16:creationId xmlns:a16="http://schemas.microsoft.com/office/drawing/2014/main" id="{05FA40CB-1228-4123-97F3-C414FE946326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線單箭頭接點 101">
                <a:extLst>
                  <a:ext uri="{FF2B5EF4-FFF2-40B4-BE49-F238E27FC236}">
                    <a16:creationId xmlns:a16="http://schemas.microsoft.com/office/drawing/2014/main" id="{39293742-A969-4BCF-AD0D-C3B2D33F7924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8" name="群組 97">
              <a:extLst>
                <a:ext uri="{FF2B5EF4-FFF2-40B4-BE49-F238E27FC236}">
                  <a16:creationId xmlns:a16="http://schemas.microsoft.com/office/drawing/2014/main" id="{21152242-DE53-4048-B807-DA43836F67C2}"/>
                </a:ext>
              </a:extLst>
            </p:cNvPr>
            <p:cNvGrpSpPr/>
            <p:nvPr/>
          </p:nvGrpSpPr>
          <p:grpSpPr>
            <a:xfrm>
              <a:off x="3707904" y="1269426"/>
              <a:ext cx="0" cy="482115"/>
              <a:chOff x="3979215" y="1269426"/>
              <a:chExt cx="0" cy="482115"/>
            </a:xfrm>
          </p:grpSpPr>
          <p:cxnSp>
            <p:nvCxnSpPr>
              <p:cNvPr id="99" name="直線單箭頭接點 98">
                <a:extLst>
                  <a:ext uri="{FF2B5EF4-FFF2-40B4-BE49-F238E27FC236}">
                    <a16:creationId xmlns:a16="http://schemas.microsoft.com/office/drawing/2014/main" id="{A140C7B8-9416-41C7-924C-FE912E0FF946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線單箭頭接點 99">
                <a:extLst>
                  <a:ext uri="{FF2B5EF4-FFF2-40B4-BE49-F238E27FC236}">
                    <a16:creationId xmlns:a16="http://schemas.microsoft.com/office/drawing/2014/main" id="{668F1DBE-DDEC-4FFE-9DEE-E053E4C82B7D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3" name="矩形: 圓角 102">
            <a:extLst>
              <a:ext uri="{FF2B5EF4-FFF2-40B4-BE49-F238E27FC236}">
                <a16:creationId xmlns:a16="http://schemas.microsoft.com/office/drawing/2014/main" id="{57AE1673-351E-4BA7-AA20-9383F9A7BA3F}"/>
              </a:ext>
            </a:extLst>
          </p:cNvPr>
          <p:cNvSpPr/>
          <p:nvPr/>
        </p:nvSpPr>
        <p:spPr>
          <a:xfrm>
            <a:off x="6601955" y="2412451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2037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rgbClr val="203775"/>
                </a:solidFill>
              </a:rPr>
              <a:t>執行實驗</a:t>
            </a:r>
          </a:p>
        </p:txBody>
      </p:sp>
      <p:sp>
        <p:nvSpPr>
          <p:cNvPr id="104" name="矩形: 圓角 103">
            <a:extLst>
              <a:ext uri="{FF2B5EF4-FFF2-40B4-BE49-F238E27FC236}">
                <a16:creationId xmlns:a16="http://schemas.microsoft.com/office/drawing/2014/main" id="{E8B9BC32-3BD6-4591-A4ED-A66C30377113}"/>
              </a:ext>
            </a:extLst>
          </p:cNvPr>
          <p:cNvSpPr/>
          <p:nvPr/>
        </p:nvSpPr>
        <p:spPr>
          <a:xfrm>
            <a:off x="6606125" y="1577355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chemeClr val="accent6">
                    <a:lumMod val="50000"/>
                  </a:schemeClr>
                </a:solidFill>
              </a:rPr>
              <a:t>產出報表</a:t>
            </a:r>
          </a:p>
        </p:txBody>
      </p:sp>
      <p:sp>
        <p:nvSpPr>
          <p:cNvPr id="105" name="矩形: 圓角 104">
            <a:extLst>
              <a:ext uri="{FF2B5EF4-FFF2-40B4-BE49-F238E27FC236}">
                <a16:creationId xmlns:a16="http://schemas.microsoft.com/office/drawing/2014/main" id="{214B0DA9-46E4-43A0-AB58-BEAFF6336BAC}"/>
              </a:ext>
            </a:extLst>
          </p:cNvPr>
          <p:cNvSpPr/>
          <p:nvPr/>
        </p:nvSpPr>
        <p:spPr>
          <a:xfrm>
            <a:off x="7670039" y="1577355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chemeClr val="accent6">
                    <a:lumMod val="50000"/>
                  </a:schemeClr>
                </a:solidFill>
              </a:rPr>
              <a:t>分析回饋</a:t>
            </a:r>
          </a:p>
        </p:txBody>
      </p:sp>
      <p:sp>
        <p:nvSpPr>
          <p:cNvPr id="106" name="矩形: 圓角 105">
            <a:extLst>
              <a:ext uri="{FF2B5EF4-FFF2-40B4-BE49-F238E27FC236}">
                <a16:creationId xmlns:a16="http://schemas.microsoft.com/office/drawing/2014/main" id="{89253495-E7E2-44B4-BC4C-CCC195034819}"/>
              </a:ext>
            </a:extLst>
          </p:cNvPr>
          <p:cNvSpPr/>
          <p:nvPr/>
        </p:nvSpPr>
        <p:spPr>
          <a:xfrm>
            <a:off x="7665869" y="2412451"/>
            <a:ext cx="808686" cy="384506"/>
          </a:xfrm>
          <a:prstGeom prst="roundRect">
            <a:avLst>
              <a:gd name="adj" fmla="val 6775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2037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100" b="1" dirty="0">
                <a:solidFill>
                  <a:srgbClr val="203775"/>
                </a:solidFill>
              </a:rPr>
              <a:t>模型異動</a:t>
            </a:r>
          </a:p>
        </p:txBody>
      </p:sp>
    </p:spTree>
    <p:extLst>
      <p:ext uri="{BB962C8B-B14F-4D97-AF65-F5344CB8AC3E}">
        <p14:creationId xmlns:p14="http://schemas.microsoft.com/office/powerpoint/2010/main" val="2980607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A27549E5-BF19-47C3-8ACE-587B46F9BB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Environment</a:t>
            </a:r>
            <a:r>
              <a:rPr lang="zh-TW" altLang="en-US" dirty="0"/>
              <a:t> </a:t>
            </a:r>
            <a:endParaRPr lang="en-US" altLang="zh-TW" dirty="0"/>
          </a:p>
          <a:p>
            <a:r>
              <a:rPr lang="en-US" altLang="zh-TW" dirty="0"/>
              <a:t>&amp;</a:t>
            </a:r>
            <a:r>
              <a:rPr lang="zh-TW" altLang="en-US" dirty="0"/>
              <a:t> </a:t>
            </a:r>
            <a:r>
              <a:rPr lang="en-US" altLang="zh-TW" dirty="0"/>
              <a:t>Project</a:t>
            </a:r>
            <a:r>
              <a:rPr lang="zh-TW" altLang="en-US" dirty="0"/>
              <a:t> </a:t>
            </a:r>
            <a:r>
              <a:rPr lang="en-US" altLang="zh-TW" dirty="0"/>
              <a:t>Scope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D2B9A5F-ADC2-41BD-BB9F-411AEEF7FC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TW" altLang="en-US" dirty="0"/>
              <a:t>開發環境</a:t>
            </a:r>
            <a:endParaRPr lang="en-US" altLang="zh-TW" dirty="0"/>
          </a:p>
          <a:p>
            <a:r>
              <a:rPr lang="zh-TW" altLang="en-US" dirty="0"/>
              <a:t>專案整體架構說明</a:t>
            </a:r>
          </a:p>
        </p:txBody>
      </p:sp>
    </p:spTree>
    <p:extLst>
      <p:ext uri="{BB962C8B-B14F-4D97-AF65-F5344CB8AC3E}">
        <p14:creationId xmlns:p14="http://schemas.microsoft.com/office/powerpoint/2010/main" val="3473519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F0F85A-D8BE-489F-8A26-3F9E8BB6D3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開發環境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B04F98-C67E-4BB2-A8FC-D45C046C6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Environment 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04602B-3F3A-44D6-8FC7-8D6198579B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/>
              <a:t>02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BDA344-228E-467F-9CAE-213808D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B1EDA-9669-4099-AA83-49C2D8E17945}" type="slidenum">
              <a:rPr lang="zh-TW" altLang="en-US" smtClean="0"/>
              <a:t>11</a:t>
            </a:fld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E2D1FA36-AD5C-4B54-AF63-C797303B27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AC1D63C-0781-41E9-9B97-2A5DCC356D42}"/>
              </a:ext>
            </a:extLst>
          </p:cNvPr>
          <p:cNvCxnSpPr>
            <a:cxnSpLocks/>
          </p:cNvCxnSpPr>
          <p:nvPr/>
        </p:nvCxnSpPr>
        <p:spPr>
          <a:xfrm>
            <a:off x="4572000" y="1616602"/>
            <a:ext cx="0" cy="23420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058276B1-DC42-4929-9FBA-8B2632BF7111}"/>
              </a:ext>
            </a:extLst>
          </p:cNvPr>
          <p:cNvGrpSpPr/>
          <p:nvPr/>
        </p:nvGrpSpPr>
        <p:grpSpPr>
          <a:xfrm>
            <a:off x="1582042" y="1556224"/>
            <a:ext cx="2514395" cy="906402"/>
            <a:chOff x="1557604" y="1588641"/>
            <a:chExt cx="2514395" cy="906402"/>
          </a:xfrm>
        </p:grpSpPr>
        <p:grpSp>
          <p:nvGrpSpPr>
            <p:cNvPr id="69" name="群組 68">
              <a:extLst>
                <a:ext uri="{FF2B5EF4-FFF2-40B4-BE49-F238E27FC236}">
                  <a16:creationId xmlns:a16="http://schemas.microsoft.com/office/drawing/2014/main" id="{D5465B35-255C-40D2-81AB-93B7DF101687}"/>
                </a:ext>
              </a:extLst>
            </p:cNvPr>
            <p:cNvGrpSpPr/>
            <p:nvPr/>
          </p:nvGrpSpPr>
          <p:grpSpPr>
            <a:xfrm>
              <a:off x="1557604" y="1991210"/>
              <a:ext cx="2514395" cy="503833"/>
              <a:chOff x="3707756" y="1160557"/>
              <a:chExt cx="2514395" cy="503833"/>
            </a:xfrm>
          </p:grpSpPr>
          <p:grpSp>
            <p:nvGrpSpPr>
              <p:cNvPr id="62" name="群組 61">
                <a:extLst>
                  <a:ext uri="{FF2B5EF4-FFF2-40B4-BE49-F238E27FC236}">
                    <a16:creationId xmlns:a16="http://schemas.microsoft.com/office/drawing/2014/main" id="{F1D9D311-D2BF-4C29-BBB4-95391B573387}"/>
                  </a:ext>
                </a:extLst>
              </p:cNvPr>
              <p:cNvGrpSpPr/>
              <p:nvPr/>
            </p:nvGrpSpPr>
            <p:grpSpPr>
              <a:xfrm>
                <a:off x="3952429" y="1160557"/>
                <a:ext cx="2269722" cy="503833"/>
                <a:chOff x="3952429" y="1160557"/>
                <a:chExt cx="2269722" cy="503833"/>
              </a:xfrm>
            </p:grpSpPr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1CE1A5FE-7F37-4431-9DDC-90624305A677}"/>
                    </a:ext>
                  </a:extLst>
                </p:cNvPr>
                <p:cNvSpPr txBox="1"/>
                <p:nvPr/>
              </p:nvSpPr>
              <p:spPr>
                <a:xfrm>
                  <a:off x="3952429" y="1160557"/>
                  <a:ext cx="226972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400" b="1" dirty="0">
                      <a:solidFill>
                        <a:srgbClr val="364F81"/>
                      </a:solidFill>
                    </a:rPr>
                    <a:t>IT</a:t>
                  </a:r>
                  <a:r>
                    <a:rPr lang="zh-TW" altLang="en-US" sz="1400" b="1" dirty="0">
                      <a:solidFill>
                        <a:srgbClr val="364F81"/>
                      </a:solidFill>
                    </a:rPr>
                    <a:t> </a:t>
                  </a:r>
                  <a:r>
                    <a:rPr lang="en-US" altLang="zh-TW" sz="1400" b="1" dirty="0">
                      <a:solidFill>
                        <a:srgbClr val="364F81"/>
                      </a:solidFill>
                    </a:rPr>
                    <a:t>DMPS</a:t>
                  </a:r>
                  <a:r>
                    <a:rPr lang="zh-TW" altLang="en-US" sz="1400" b="1" dirty="0">
                      <a:solidFill>
                        <a:srgbClr val="364F81"/>
                      </a:solidFill>
                    </a:rPr>
                    <a:t> </a:t>
                  </a:r>
                  <a:r>
                    <a:rPr lang="en-US" altLang="zh-TW" sz="1400" b="1" dirty="0">
                      <a:solidFill>
                        <a:srgbClr val="364F81"/>
                      </a:solidFill>
                    </a:rPr>
                    <a:t>(Windows)</a:t>
                  </a:r>
                  <a:endParaRPr lang="zh-TW" altLang="en-US" sz="1400" b="1" dirty="0">
                    <a:solidFill>
                      <a:srgbClr val="364F81"/>
                    </a:solidFill>
                  </a:endParaRPr>
                </a:p>
              </p:txBody>
            </p:sp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7692D56-7EA0-4402-8CE4-A1D973F50687}"/>
                    </a:ext>
                  </a:extLst>
                </p:cNvPr>
                <p:cNvSpPr txBox="1"/>
                <p:nvPr/>
              </p:nvSpPr>
              <p:spPr>
                <a:xfrm>
                  <a:off x="4247585" y="1433558"/>
                  <a:ext cx="1672254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TW" sz="900" dirty="0">
                      <a:solidFill>
                        <a:schemeClr val="bg1">
                          <a:lumMod val="50000"/>
                        </a:schemeClr>
                      </a:solidFill>
                    </a:rPr>
                    <a:t>Visual Studio &amp; Claude Code</a:t>
                  </a:r>
                </a:p>
              </p:txBody>
            </p:sp>
          </p:grpSp>
          <p:pic>
            <p:nvPicPr>
              <p:cNvPr id="20" name="圖片 19">
                <a:extLst>
                  <a:ext uri="{FF2B5EF4-FFF2-40B4-BE49-F238E27FC236}">
                    <a16:creationId xmlns:a16="http://schemas.microsoft.com/office/drawing/2014/main" id="{024918C8-ED3D-4CAF-A1C1-39ACEF369168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707756" y="1250891"/>
                <a:ext cx="338554" cy="338554"/>
              </a:xfrm>
              <a:prstGeom prst="rect">
                <a:avLst/>
              </a:prstGeom>
            </p:spPr>
          </p:pic>
        </p:grp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B51ED764-6453-4812-919B-FB6BC49F2840}"/>
                </a:ext>
              </a:extLst>
            </p:cNvPr>
            <p:cNvSpPr txBox="1"/>
            <p:nvPr/>
          </p:nvSpPr>
          <p:spPr>
            <a:xfrm>
              <a:off x="1614722" y="1588641"/>
              <a:ext cx="2325569" cy="374571"/>
            </a:xfrm>
            <a:prstGeom prst="roundRect">
              <a:avLst/>
            </a:prstGeom>
            <a:solidFill>
              <a:srgbClr val="364F8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b="1" dirty="0">
                  <a:solidFill>
                    <a:schemeClr val="bg1"/>
                  </a:solidFill>
                </a:rPr>
                <a:t>開發環境 與 </a:t>
              </a:r>
              <a:r>
                <a:rPr lang="en-US" altLang="zh-TW" sz="1600" b="1" dirty="0">
                  <a:solidFill>
                    <a:schemeClr val="bg1"/>
                  </a:solidFill>
                </a:rPr>
                <a:t>IDE</a:t>
              </a:r>
              <a:r>
                <a:rPr lang="zh-TW" altLang="en-US" sz="1600" b="1" dirty="0">
                  <a:solidFill>
                    <a:schemeClr val="bg1"/>
                  </a:solidFill>
                </a:rPr>
                <a:t>工具</a:t>
              </a:r>
            </a:p>
          </p:txBody>
        </p:sp>
      </p:grpSp>
      <p:grpSp>
        <p:nvGrpSpPr>
          <p:cNvPr id="77" name="群組 76">
            <a:extLst>
              <a:ext uri="{FF2B5EF4-FFF2-40B4-BE49-F238E27FC236}">
                <a16:creationId xmlns:a16="http://schemas.microsoft.com/office/drawing/2014/main" id="{CBBAB5AB-6DC2-47D9-ADB7-A3B8C5806893}"/>
              </a:ext>
            </a:extLst>
          </p:cNvPr>
          <p:cNvGrpSpPr/>
          <p:nvPr/>
        </p:nvGrpSpPr>
        <p:grpSpPr>
          <a:xfrm>
            <a:off x="5179272" y="1556224"/>
            <a:ext cx="2325568" cy="921791"/>
            <a:chOff x="5154834" y="1588641"/>
            <a:chExt cx="2325568" cy="921791"/>
          </a:xfrm>
        </p:grpSpPr>
        <p:grpSp>
          <p:nvGrpSpPr>
            <p:cNvPr id="68" name="群組 67">
              <a:extLst>
                <a:ext uri="{FF2B5EF4-FFF2-40B4-BE49-F238E27FC236}">
                  <a16:creationId xmlns:a16="http://schemas.microsoft.com/office/drawing/2014/main" id="{D05F2279-C87E-4574-869E-AF61E8335701}"/>
                </a:ext>
              </a:extLst>
            </p:cNvPr>
            <p:cNvGrpSpPr/>
            <p:nvPr/>
          </p:nvGrpSpPr>
          <p:grpSpPr>
            <a:xfrm>
              <a:off x="5305081" y="1991210"/>
              <a:ext cx="2175316" cy="519222"/>
              <a:chOff x="3964652" y="2159685"/>
              <a:chExt cx="2175316" cy="519222"/>
            </a:xfrm>
          </p:grpSpPr>
          <p:grpSp>
            <p:nvGrpSpPr>
              <p:cNvPr id="63" name="群組 62">
                <a:extLst>
                  <a:ext uri="{FF2B5EF4-FFF2-40B4-BE49-F238E27FC236}">
                    <a16:creationId xmlns:a16="http://schemas.microsoft.com/office/drawing/2014/main" id="{009B435E-8B6A-4B66-BAD0-9E35FA69A06A}"/>
                  </a:ext>
                </a:extLst>
              </p:cNvPr>
              <p:cNvGrpSpPr/>
              <p:nvPr/>
            </p:nvGrpSpPr>
            <p:grpSpPr>
              <a:xfrm>
                <a:off x="4211968" y="2159685"/>
                <a:ext cx="1928000" cy="519222"/>
                <a:chOff x="4211968" y="2159686"/>
                <a:chExt cx="1928000" cy="519222"/>
              </a:xfrm>
            </p:grpSpPr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FDF9F754-6F8B-496A-AB32-3BEAC025E14B}"/>
                    </a:ext>
                  </a:extLst>
                </p:cNvPr>
                <p:cNvSpPr txBox="1"/>
                <p:nvPr/>
              </p:nvSpPr>
              <p:spPr>
                <a:xfrm>
                  <a:off x="4211968" y="2159686"/>
                  <a:ext cx="192800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400" b="1" dirty="0">
                      <a:solidFill>
                        <a:srgbClr val="7030A0"/>
                      </a:solidFill>
                    </a:rPr>
                    <a:t>MILP Dev. APIs</a:t>
                  </a:r>
                  <a:endParaRPr lang="zh-TW" altLang="en-US" sz="1400" b="1" dirty="0">
                    <a:solidFill>
                      <a:srgbClr val="7030A0"/>
                    </a:solidFill>
                  </a:endParaRPr>
                </a:p>
              </p:txBody>
            </p:sp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3A5D11FA-22FD-4EB0-9407-6404C00D9D57}"/>
                    </a:ext>
                  </a:extLst>
                </p:cNvPr>
                <p:cNvSpPr txBox="1"/>
                <p:nvPr/>
              </p:nvSpPr>
              <p:spPr>
                <a:xfrm>
                  <a:off x="4710135" y="2432687"/>
                  <a:ext cx="93166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000" dirty="0">
                      <a:solidFill>
                        <a:schemeClr val="bg1">
                          <a:lumMod val="50000"/>
                        </a:schemeClr>
                      </a:solidFill>
                    </a:rPr>
                    <a:t>C# Version</a:t>
                  </a:r>
                  <a:endParaRPr lang="zh-TW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pic>
            <p:nvPicPr>
              <p:cNvPr id="23" name="圖片 22">
                <a:extLst>
                  <a:ext uri="{FF2B5EF4-FFF2-40B4-BE49-F238E27FC236}">
                    <a16:creationId xmlns:a16="http://schemas.microsoft.com/office/drawing/2014/main" id="{AFF2F8B8-EFAE-4CD2-85AB-40EDD24EA671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964652" y="2250019"/>
                <a:ext cx="338554" cy="338554"/>
              </a:xfrm>
              <a:prstGeom prst="rect">
                <a:avLst/>
              </a:prstGeom>
            </p:spPr>
          </p:pic>
        </p:grp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78275502-32FD-4233-9BA8-C70837930F68}"/>
                </a:ext>
              </a:extLst>
            </p:cNvPr>
            <p:cNvSpPr txBox="1"/>
            <p:nvPr/>
          </p:nvSpPr>
          <p:spPr>
            <a:xfrm>
              <a:off x="5154834" y="1588641"/>
              <a:ext cx="2325568" cy="374571"/>
            </a:xfrm>
            <a:prstGeom prst="roundRect">
              <a:avLst/>
            </a:prstGeom>
            <a:solidFill>
              <a:srgbClr val="7030A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b="1" dirty="0">
                  <a:solidFill>
                    <a:schemeClr val="bg1"/>
                  </a:solidFill>
                </a:rPr>
                <a:t>數規模型程式開發環境</a:t>
              </a:r>
            </a:p>
          </p:txBody>
        </p:sp>
      </p:grpSp>
      <p:grpSp>
        <p:nvGrpSpPr>
          <p:cNvPr id="78" name="群組 77">
            <a:extLst>
              <a:ext uri="{FF2B5EF4-FFF2-40B4-BE49-F238E27FC236}">
                <a16:creationId xmlns:a16="http://schemas.microsoft.com/office/drawing/2014/main" id="{E1530BFF-8D1C-4C24-9CBD-E2C90F82C726}"/>
              </a:ext>
            </a:extLst>
          </p:cNvPr>
          <p:cNvGrpSpPr/>
          <p:nvPr/>
        </p:nvGrpSpPr>
        <p:grpSpPr>
          <a:xfrm>
            <a:off x="1639160" y="3087949"/>
            <a:ext cx="2325578" cy="931123"/>
            <a:chOff x="1614722" y="3120366"/>
            <a:chExt cx="2325578" cy="931123"/>
          </a:xfrm>
        </p:grpSpPr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996CF0F0-D86C-4993-B90F-C900B4A95099}"/>
                </a:ext>
              </a:extLst>
            </p:cNvPr>
            <p:cNvSpPr txBox="1"/>
            <p:nvPr/>
          </p:nvSpPr>
          <p:spPr>
            <a:xfrm>
              <a:off x="1614722" y="3120366"/>
              <a:ext cx="2325578" cy="374571"/>
            </a:xfrm>
            <a:prstGeom prst="roundRect">
              <a:avLst/>
            </a:prstGeom>
            <a:solidFill>
              <a:srgbClr val="034BDB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b="1" dirty="0">
                  <a:solidFill>
                    <a:schemeClr val="bg1"/>
                  </a:solidFill>
                </a:rPr>
                <a:t>大型語言模型</a:t>
              </a:r>
            </a:p>
          </p:txBody>
        </p:sp>
        <p:grpSp>
          <p:nvGrpSpPr>
            <p:cNvPr id="67" name="群組 66">
              <a:extLst>
                <a:ext uri="{FF2B5EF4-FFF2-40B4-BE49-F238E27FC236}">
                  <a16:creationId xmlns:a16="http://schemas.microsoft.com/office/drawing/2014/main" id="{1A702DAB-CAAC-4EB1-9012-9B2406F6864F}"/>
                </a:ext>
              </a:extLst>
            </p:cNvPr>
            <p:cNvGrpSpPr/>
            <p:nvPr/>
          </p:nvGrpSpPr>
          <p:grpSpPr>
            <a:xfrm>
              <a:off x="1686679" y="3522935"/>
              <a:ext cx="2253620" cy="528554"/>
              <a:chOff x="3934573" y="3158814"/>
              <a:chExt cx="2253620" cy="528554"/>
            </a:xfrm>
          </p:grpSpPr>
          <p:pic>
            <p:nvPicPr>
              <p:cNvPr id="52" name="圖片 51">
                <a:extLst>
                  <a:ext uri="{FF2B5EF4-FFF2-40B4-BE49-F238E27FC236}">
                    <a16:creationId xmlns:a16="http://schemas.microsoft.com/office/drawing/2014/main" id="{DF09F477-CA79-4E4B-AB45-CB876335E3B5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934573" y="3253814"/>
                <a:ext cx="332507" cy="338554"/>
              </a:xfrm>
              <a:prstGeom prst="rect">
                <a:avLst/>
              </a:prstGeom>
            </p:spPr>
          </p:pic>
          <p:grpSp>
            <p:nvGrpSpPr>
              <p:cNvPr id="64" name="群組 63">
                <a:extLst>
                  <a:ext uri="{FF2B5EF4-FFF2-40B4-BE49-F238E27FC236}">
                    <a16:creationId xmlns:a16="http://schemas.microsoft.com/office/drawing/2014/main" id="{ACE4DE3F-5E43-417C-8A70-D99FE5EA6798}"/>
                  </a:ext>
                </a:extLst>
              </p:cNvPr>
              <p:cNvGrpSpPr/>
              <p:nvPr/>
            </p:nvGrpSpPr>
            <p:grpSpPr>
              <a:xfrm>
                <a:off x="4211967" y="3158814"/>
                <a:ext cx="1976226" cy="528554"/>
                <a:chOff x="4211967" y="3158815"/>
                <a:chExt cx="1976226" cy="528554"/>
              </a:xfrm>
            </p:grpSpPr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3345D9BB-C51B-48E9-B405-D53F96C10452}"/>
                    </a:ext>
                  </a:extLst>
                </p:cNvPr>
                <p:cNvSpPr txBox="1"/>
                <p:nvPr/>
              </p:nvSpPr>
              <p:spPr>
                <a:xfrm>
                  <a:off x="4211967" y="3158815"/>
                  <a:ext cx="197622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400" b="1" dirty="0">
                      <a:solidFill>
                        <a:srgbClr val="034BDB"/>
                      </a:solidFill>
                    </a:rPr>
                    <a:t>IMC-DEV/AI-CODING </a:t>
                  </a:r>
                </a:p>
              </p:txBody>
            </p:sp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B3D5F3E8-7343-43F4-8B62-7645EB518EFC}"/>
                    </a:ext>
                  </a:extLst>
                </p:cNvPr>
                <p:cNvSpPr txBox="1"/>
                <p:nvPr/>
              </p:nvSpPr>
              <p:spPr>
                <a:xfrm>
                  <a:off x="4362754" y="3441148"/>
                  <a:ext cx="1723549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TW" altLang="en-US" sz="1000" dirty="0">
                      <a:solidFill>
                        <a:schemeClr val="bg1">
                          <a:lumMod val="50000"/>
                        </a:schemeClr>
                      </a:solidFill>
                    </a:rPr>
                    <a:t>公司目前提供的最新版模型</a:t>
                  </a:r>
                </a:p>
              </p:txBody>
            </p:sp>
          </p:grpSp>
        </p:grpSp>
      </p:grpSp>
      <p:grpSp>
        <p:nvGrpSpPr>
          <p:cNvPr id="75" name="群組 74">
            <a:extLst>
              <a:ext uri="{FF2B5EF4-FFF2-40B4-BE49-F238E27FC236}">
                <a16:creationId xmlns:a16="http://schemas.microsoft.com/office/drawing/2014/main" id="{8EB37749-F6D7-4602-9655-B2CEA46D659D}"/>
              </a:ext>
            </a:extLst>
          </p:cNvPr>
          <p:cNvGrpSpPr/>
          <p:nvPr/>
        </p:nvGrpSpPr>
        <p:grpSpPr>
          <a:xfrm>
            <a:off x="5179272" y="3087949"/>
            <a:ext cx="2325568" cy="964843"/>
            <a:chOff x="5154834" y="3120366"/>
            <a:chExt cx="2325568" cy="964843"/>
          </a:xfrm>
        </p:grpSpPr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F4AC1874-C217-423E-BFE8-DFF1A97AE1B9}"/>
                </a:ext>
              </a:extLst>
            </p:cNvPr>
            <p:cNvSpPr txBox="1"/>
            <p:nvPr/>
          </p:nvSpPr>
          <p:spPr>
            <a:xfrm>
              <a:off x="5154834" y="3120366"/>
              <a:ext cx="2325568" cy="374571"/>
            </a:xfrm>
            <a:prstGeom prst="roundRect">
              <a:avLst/>
            </a:prstGeom>
            <a:solidFill>
              <a:srgbClr val="C61814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600" b="1" dirty="0">
                  <a:solidFill>
                    <a:schemeClr val="bg1"/>
                  </a:solidFill>
                </a:rPr>
                <a:t>數學規劃商用求解器</a:t>
              </a:r>
            </a:p>
          </p:txBody>
        </p:sp>
        <p:grpSp>
          <p:nvGrpSpPr>
            <p:cNvPr id="66" name="群組 65">
              <a:extLst>
                <a:ext uri="{FF2B5EF4-FFF2-40B4-BE49-F238E27FC236}">
                  <a16:creationId xmlns:a16="http://schemas.microsoft.com/office/drawing/2014/main" id="{C6B62788-6027-40BC-B9AC-89D1248B49A0}"/>
                </a:ext>
              </a:extLst>
            </p:cNvPr>
            <p:cNvGrpSpPr/>
            <p:nvPr/>
          </p:nvGrpSpPr>
          <p:grpSpPr>
            <a:xfrm>
              <a:off x="5175709" y="3489221"/>
              <a:ext cx="2304688" cy="595988"/>
              <a:chOff x="3834625" y="4125868"/>
              <a:chExt cx="2304688" cy="595988"/>
            </a:xfrm>
          </p:grpSpPr>
          <p:pic>
            <p:nvPicPr>
              <p:cNvPr id="48" name="圖片 47">
                <a:extLst>
                  <a:ext uri="{FF2B5EF4-FFF2-40B4-BE49-F238E27FC236}">
                    <a16:creationId xmlns:a16="http://schemas.microsoft.com/office/drawing/2014/main" id="{ED7A8ED4-7FC1-4B4E-9D42-2C9565C78B57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834625" y="4125868"/>
                <a:ext cx="595988" cy="595988"/>
              </a:xfrm>
              <a:prstGeom prst="rect">
                <a:avLst/>
              </a:prstGeom>
            </p:spPr>
          </p:pic>
          <p:grpSp>
            <p:nvGrpSpPr>
              <p:cNvPr id="65" name="群組 64">
                <a:extLst>
                  <a:ext uri="{FF2B5EF4-FFF2-40B4-BE49-F238E27FC236}">
                    <a16:creationId xmlns:a16="http://schemas.microsoft.com/office/drawing/2014/main" id="{73C2BC25-23B1-4906-A923-0AC86D58AAF3}"/>
                  </a:ext>
                </a:extLst>
              </p:cNvPr>
              <p:cNvGrpSpPr/>
              <p:nvPr/>
            </p:nvGrpSpPr>
            <p:grpSpPr>
              <a:xfrm>
                <a:off x="4211967" y="4159585"/>
                <a:ext cx="1927346" cy="528555"/>
                <a:chOff x="4211967" y="4159585"/>
                <a:chExt cx="1927346" cy="528555"/>
              </a:xfrm>
            </p:grpSpPr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E9F3A54F-AC14-4D9D-A90B-0E73D8974321}"/>
                    </a:ext>
                  </a:extLst>
                </p:cNvPr>
                <p:cNvSpPr txBox="1"/>
                <p:nvPr/>
              </p:nvSpPr>
              <p:spPr>
                <a:xfrm>
                  <a:off x="4211967" y="4159585"/>
                  <a:ext cx="192734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1400" b="1" dirty="0">
                      <a:solidFill>
                        <a:srgbClr val="C00000"/>
                      </a:solidFill>
                    </a:rPr>
                    <a:t>CPLEX</a:t>
                  </a:r>
                </a:p>
              </p:txBody>
            </p:sp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4ECE79D1-0977-414E-9E8B-A0AA0E42877F}"/>
                    </a:ext>
                  </a:extLst>
                </p:cNvPr>
                <p:cNvSpPr txBox="1"/>
                <p:nvPr/>
              </p:nvSpPr>
              <p:spPr>
                <a:xfrm>
                  <a:off x="4672612" y="4441919"/>
                  <a:ext cx="1005403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TW" sz="1000" dirty="0">
                      <a:solidFill>
                        <a:schemeClr val="bg1">
                          <a:lumMod val="50000"/>
                        </a:schemeClr>
                      </a:solidFill>
                    </a:rPr>
                    <a:t>Version 22.1.1</a:t>
                  </a:r>
                  <a:endParaRPr lang="zh-TW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37755255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群組 79">
            <a:extLst>
              <a:ext uri="{FF2B5EF4-FFF2-40B4-BE49-F238E27FC236}">
                <a16:creationId xmlns:a16="http://schemas.microsoft.com/office/drawing/2014/main" id="{66F06846-AD8C-4FCD-8E71-9C12B32EE520}"/>
              </a:ext>
            </a:extLst>
          </p:cNvPr>
          <p:cNvGrpSpPr/>
          <p:nvPr/>
        </p:nvGrpSpPr>
        <p:grpSpPr>
          <a:xfrm>
            <a:off x="239395" y="909692"/>
            <a:ext cx="8712968" cy="1409955"/>
            <a:chOff x="446561" y="934036"/>
            <a:chExt cx="8712968" cy="1707613"/>
          </a:xfrm>
        </p:grpSpPr>
        <p:sp>
          <p:nvSpPr>
            <p:cNvPr id="81" name="矩形: 圓角 80">
              <a:extLst>
                <a:ext uri="{FF2B5EF4-FFF2-40B4-BE49-F238E27FC236}">
                  <a16:creationId xmlns:a16="http://schemas.microsoft.com/office/drawing/2014/main" id="{317CBF5E-F4CA-45C7-9C53-E454C51C00DF}"/>
                </a:ext>
              </a:extLst>
            </p:cNvPr>
            <p:cNvSpPr/>
            <p:nvPr/>
          </p:nvSpPr>
          <p:spPr>
            <a:xfrm>
              <a:off x="446561" y="934036"/>
              <a:ext cx="8712968" cy="1707613"/>
            </a:xfrm>
            <a:prstGeom prst="roundRect">
              <a:avLst>
                <a:gd name="adj" fmla="val 3439"/>
              </a:avLst>
            </a:prstGeom>
            <a:solidFill>
              <a:srgbClr val="F2F2F2">
                <a:alpha val="5098"/>
              </a:srgbClr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  <a:effectLst>
              <a:innerShdw blurRad="63500" dist="50800" dir="13500000">
                <a:schemeClr val="bg1">
                  <a:lumMod val="95000"/>
                  <a:alpha val="5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82" name="直線接點 81">
              <a:extLst>
                <a:ext uri="{FF2B5EF4-FFF2-40B4-BE49-F238E27FC236}">
                  <a16:creationId xmlns:a16="http://schemas.microsoft.com/office/drawing/2014/main" id="{31B33EAB-9F6D-4A13-874F-A4701965D2E1}"/>
                </a:ext>
              </a:extLst>
            </p:cNvPr>
            <p:cNvCxnSpPr>
              <a:cxnSpLocks/>
            </p:cNvCxnSpPr>
            <p:nvPr/>
          </p:nvCxnSpPr>
          <p:spPr>
            <a:xfrm>
              <a:off x="1957203" y="1216845"/>
              <a:ext cx="0" cy="1216516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BDF0F85A-D8BE-489F-8A26-3F9E8BB6D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54" y="427411"/>
            <a:ext cx="7605553" cy="264977"/>
          </a:xfrm>
        </p:spPr>
        <p:txBody>
          <a:bodyPr/>
          <a:lstStyle/>
          <a:p>
            <a:r>
              <a:rPr lang="zh-TW" altLang="en-US" dirty="0"/>
              <a:t>兩大主軸｜</a:t>
            </a:r>
            <a:r>
              <a:rPr lang="zh-TW" altLang="en-US" b="0" dirty="0"/>
              <a:t>由大型語言模型驅動之數學規劃模型輔助開發框架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B04F98-C67E-4BB2-A8FC-D45C046C6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175" y="212009"/>
            <a:ext cx="5904507" cy="168954"/>
          </a:xfrm>
        </p:spPr>
        <p:txBody>
          <a:bodyPr/>
          <a:lstStyle/>
          <a:p>
            <a:r>
              <a:rPr lang="en-US" altLang="zh-TW" dirty="0"/>
              <a:t>Framework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04602B-3F3A-44D6-8FC7-8D6198579B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512" y="415908"/>
            <a:ext cx="504800" cy="287982"/>
          </a:xfrm>
        </p:spPr>
        <p:txBody>
          <a:bodyPr/>
          <a:lstStyle/>
          <a:p>
            <a:r>
              <a:rPr lang="en-US" altLang="zh-TW" dirty="0"/>
              <a:t>02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BDA344-228E-467F-9CAE-213808D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855534"/>
            <a:ext cx="717094" cy="274637"/>
          </a:xfrm>
        </p:spPr>
        <p:txBody>
          <a:bodyPr/>
          <a:lstStyle/>
          <a:p>
            <a:fld id="{16BB1EDA-9669-4099-AA83-49C2D8E17945}" type="slidenum">
              <a:rPr lang="zh-TW" altLang="en-US" smtClean="0"/>
              <a:pPr/>
              <a:t>12</a:t>
            </a:fld>
            <a:endParaRPr lang="zh-TW" altLang="en-US" dirty="0"/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E8BEA1AB-CAB2-4D10-9BA8-711742332D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zh-TW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270DD160-E32D-4BF2-9EAA-BBD715431CF5}"/>
              </a:ext>
            </a:extLst>
          </p:cNvPr>
          <p:cNvGrpSpPr/>
          <p:nvPr/>
        </p:nvGrpSpPr>
        <p:grpSpPr>
          <a:xfrm>
            <a:off x="235296" y="2935568"/>
            <a:ext cx="8712968" cy="1409955"/>
            <a:chOff x="250825" y="971296"/>
            <a:chExt cx="8712968" cy="1707613"/>
          </a:xfrm>
        </p:grpSpPr>
        <p:sp>
          <p:nvSpPr>
            <p:cNvPr id="227" name="矩形: 圓角 226">
              <a:extLst>
                <a:ext uri="{FF2B5EF4-FFF2-40B4-BE49-F238E27FC236}">
                  <a16:creationId xmlns:a16="http://schemas.microsoft.com/office/drawing/2014/main" id="{D153C1D6-6734-489E-A1CD-94F955AE1C91}"/>
                </a:ext>
              </a:extLst>
            </p:cNvPr>
            <p:cNvSpPr/>
            <p:nvPr/>
          </p:nvSpPr>
          <p:spPr>
            <a:xfrm>
              <a:off x="250825" y="971296"/>
              <a:ext cx="8712968" cy="1707613"/>
            </a:xfrm>
            <a:prstGeom prst="roundRect">
              <a:avLst>
                <a:gd name="adj" fmla="val 3439"/>
              </a:avLst>
            </a:prstGeom>
            <a:solidFill>
              <a:srgbClr val="F2F2F2">
                <a:alpha val="5098"/>
              </a:srgbClr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  <a:effectLst>
              <a:innerShdw blurRad="63500" dist="50800" dir="13500000">
                <a:schemeClr val="bg1">
                  <a:lumMod val="95000"/>
                  <a:alpha val="5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E159CA4E-B93D-4C1F-BD2C-201DA8B3742F}"/>
                </a:ext>
              </a:extLst>
            </p:cNvPr>
            <p:cNvCxnSpPr>
              <a:cxnSpLocks/>
            </p:cNvCxnSpPr>
            <p:nvPr/>
          </p:nvCxnSpPr>
          <p:spPr>
            <a:xfrm>
              <a:off x="1957203" y="1216845"/>
              <a:ext cx="0" cy="1216516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9" name="圖片 218">
            <a:extLst>
              <a:ext uri="{FF2B5EF4-FFF2-40B4-BE49-F238E27FC236}">
                <a16:creationId xmlns:a16="http://schemas.microsoft.com/office/drawing/2014/main" id="{58B6B064-D02A-48B9-9A81-1522F5E85A1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6867" y="1224408"/>
            <a:ext cx="900000" cy="900000"/>
          </a:xfrm>
          <a:prstGeom prst="rect">
            <a:avLst/>
          </a:prstGeom>
        </p:spPr>
      </p:pic>
      <p:grpSp>
        <p:nvGrpSpPr>
          <p:cNvPr id="22" name="群組 21">
            <a:extLst>
              <a:ext uri="{FF2B5EF4-FFF2-40B4-BE49-F238E27FC236}">
                <a16:creationId xmlns:a16="http://schemas.microsoft.com/office/drawing/2014/main" id="{B9434376-AA9E-42C3-AC23-DC5BCDBC8E4C}"/>
              </a:ext>
            </a:extLst>
          </p:cNvPr>
          <p:cNvGrpSpPr/>
          <p:nvPr/>
        </p:nvGrpSpPr>
        <p:grpSpPr>
          <a:xfrm>
            <a:off x="2099946" y="1085078"/>
            <a:ext cx="2586477" cy="560357"/>
            <a:chOff x="-1836712" y="2761239"/>
            <a:chExt cx="2586477" cy="560357"/>
          </a:xfrm>
        </p:grpSpPr>
        <p:sp>
          <p:nvSpPr>
            <p:cNvPr id="230" name="文字方塊 229">
              <a:extLst>
                <a:ext uri="{FF2B5EF4-FFF2-40B4-BE49-F238E27FC236}">
                  <a16:creationId xmlns:a16="http://schemas.microsoft.com/office/drawing/2014/main" id="{E0324334-F062-451B-AE22-06AF3FC34C1F}"/>
                </a:ext>
              </a:extLst>
            </p:cNvPr>
            <p:cNvSpPr txBox="1"/>
            <p:nvPr/>
          </p:nvSpPr>
          <p:spPr>
            <a:xfrm>
              <a:off x="-1836712" y="2761239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1100" b="1" dirty="0">
                  <a:solidFill>
                    <a:schemeClr val="bg1">
                      <a:lumMod val="65000"/>
                    </a:schemeClr>
                  </a:solidFill>
                </a:rPr>
                <a:t>開發</a:t>
              </a:r>
            </a:p>
          </p:txBody>
        </p:sp>
        <p:sp>
          <p:nvSpPr>
            <p:cNvPr id="231" name="文字方塊 230">
              <a:extLst>
                <a:ext uri="{FF2B5EF4-FFF2-40B4-BE49-F238E27FC236}">
                  <a16:creationId xmlns:a16="http://schemas.microsoft.com/office/drawing/2014/main" id="{351DC7D0-F37B-4B79-BE2F-F15DEDFFDBAD}"/>
                </a:ext>
              </a:extLst>
            </p:cNvPr>
            <p:cNvSpPr txBox="1"/>
            <p:nvPr/>
          </p:nvSpPr>
          <p:spPr>
            <a:xfrm>
              <a:off x="-1836712" y="2921486"/>
              <a:ext cx="25864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solidFill>
                    <a:srgbClr val="7030A0"/>
                  </a:solidFill>
                </a:rPr>
                <a:t>MILP Dev.</a:t>
              </a:r>
              <a:r>
                <a:rPr lang="zh-TW" altLang="en-US" sz="2000" b="1" dirty="0">
                  <a:solidFill>
                    <a:srgbClr val="7030A0"/>
                  </a:solidFill>
                </a:rPr>
                <a:t> </a:t>
              </a:r>
              <a:r>
                <a:rPr lang="en-US" altLang="zh-TW" sz="2000" b="1" dirty="0">
                  <a:solidFill>
                    <a:srgbClr val="7030A0"/>
                  </a:solidFill>
                </a:rPr>
                <a:t>APIs</a:t>
              </a:r>
              <a:r>
                <a:rPr lang="zh-TW" altLang="en-US" sz="2000" b="1" dirty="0">
                  <a:solidFill>
                    <a:srgbClr val="7030A0"/>
                  </a:solidFill>
                </a:rPr>
                <a:t> </a:t>
              </a:r>
              <a:r>
                <a:rPr lang="en-US" altLang="zh-TW" sz="2000" b="1" dirty="0">
                  <a:solidFill>
                    <a:srgbClr val="7030A0"/>
                  </a:solidFill>
                </a:rPr>
                <a:t>(C#)</a:t>
              </a:r>
            </a:p>
          </p:txBody>
        </p:sp>
      </p:grpSp>
      <p:sp>
        <p:nvSpPr>
          <p:cNvPr id="236" name="文字方塊 235">
            <a:extLst>
              <a:ext uri="{FF2B5EF4-FFF2-40B4-BE49-F238E27FC236}">
                <a16:creationId xmlns:a16="http://schemas.microsoft.com/office/drawing/2014/main" id="{D03A0DE4-5CA7-4D49-9D9A-050FEAA75E8C}"/>
              </a:ext>
            </a:extLst>
          </p:cNvPr>
          <p:cNvSpPr txBox="1"/>
          <p:nvPr/>
        </p:nvSpPr>
        <p:spPr>
          <a:xfrm>
            <a:off x="5472795" y="1651130"/>
            <a:ext cx="2889134" cy="340519"/>
          </a:xfrm>
          <a:prstGeom prst="round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−"/>
            </a:pPr>
            <a:r>
              <a:rPr lang="zh-TW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數學模型程式開發標準</a:t>
            </a:r>
            <a:endParaRPr lang="zh-TW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7" name="文字方塊 236">
            <a:extLst>
              <a:ext uri="{FF2B5EF4-FFF2-40B4-BE49-F238E27FC236}">
                <a16:creationId xmlns:a16="http://schemas.microsoft.com/office/drawing/2014/main" id="{33F38494-6D64-4ECE-BAF4-892AA0C45825}"/>
              </a:ext>
            </a:extLst>
          </p:cNvPr>
          <p:cNvSpPr txBox="1"/>
          <p:nvPr/>
        </p:nvSpPr>
        <p:spPr>
          <a:xfrm>
            <a:off x="2448459" y="1645435"/>
            <a:ext cx="2889134" cy="340519"/>
          </a:xfrm>
          <a:prstGeom prst="round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−"/>
            </a:pPr>
            <a:r>
              <a:rPr lang="zh-TW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模型程式的分層式架構</a:t>
            </a:r>
          </a:p>
        </p:txBody>
      </p:sp>
      <p:sp>
        <p:nvSpPr>
          <p:cNvPr id="239" name="文字方塊 238">
            <a:extLst>
              <a:ext uri="{FF2B5EF4-FFF2-40B4-BE49-F238E27FC236}">
                <a16:creationId xmlns:a16="http://schemas.microsoft.com/office/drawing/2014/main" id="{40914AF7-4B16-47B3-9F63-747D0F5907FF}"/>
              </a:ext>
            </a:extLst>
          </p:cNvPr>
          <p:cNvSpPr txBox="1"/>
          <p:nvPr/>
        </p:nvSpPr>
        <p:spPr>
          <a:xfrm>
            <a:off x="2448459" y="1927556"/>
            <a:ext cx="2889134" cy="340519"/>
          </a:xfrm>
          <a:prstGeom prst="round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−"/>
            </a:pPr>
            <a:r>
              <a:rPr lang="zh-TW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求解器與資料處理整合</a:t>
            </a:r>
            <a:endParaRPr lang="zh-TW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0" name="文字方塊 239">
            <a:extLst>
              <a:ext uri="{FF2B5EF4-FFF2-40B4-BE49-F238E27FC236}">
                <a16:creationId xmlns:a16="http://schemas.microsoft.com/office/drawing/2014/main" id="{4FFB62E4-9855-4004-8416-CC52BAE0CA65}"/>
              </a:ext>
            </a:extLst>
          </p:cNvPr>
          <p:cNvSpPr txBox="1"/>
          <p:nvPr/>
        </p:nvSpPr>
        <p:spPr>
          <a:xfrm>
            <a:off x="5472795" y="1933251"/>
            <a:ext cx="2889134" cy="340519"/>
          </a:xfrm>
          <a:prstGeom prst="round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−"/>
            </a:pPr>
            <a:r>
              <a:rPr lang="zh-TW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程式跨專案的可重用性</a:t>
            </a:r>
            <a:endParaRPr lang="zh-TW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16" name="圖片 215">
            <a:extLst>
              <a:ext uri="{FF2B5EF4-FFF2-40B4-BE49-F238E27FC236}">
                <a16:creationId xmlns:a16="http://schemas.microsoft.com/office/drawing/2014/main" id="{B127A854-B18A-429B-88BF-08F7B515B0B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1340" y="3196792"/>
            <a:ext cx="900000" cy="900000"/>
          </a:xfrm>
          <a:prstGeom prst="rect">
            <a:avLst/>
          </a:prstGeom>
        </p:spPr>
      </p:pic>
      <p:grpSp>
        <p:nvGrpSpPr>
          <p:cNvPr id="23" name="群組 22">
            <a:extLst>
              <a:ext uri="{FF2B5EF4-FFF2-40B4-BE49-F238E27FC236}">
                <a16:creationId xmlns:a16="http://schemas.microsoft.com/office/drawing/2014/main" id="{510A7BF1-335F-434C-9E66-33C69073D9F0}"/>
              </a:ext>
            </a:extLst>
          </p:cNvPr>
          <p:cNvGrpSpPr/>
          <p:nvPr/>
        </p:nvGrpSpPr>
        <p:grpSpPr>
          <a:xfrm>
            <a:off x="2088419" y="2978256"/>
            <a:ext cx="1723549" cy="560357"/>
            <a:chOff x="-1836712" y="3563631"/>
            <a:chExt cx="1723549" cy="560357"/>
          </a:xfrm>
        </p:grpSpPr>
        <p:sp>
          <p:nvSpPr>
            <p:cNvPr id="232" name="文字方塊 231">
              <a:extLst>
                <a:ext uri="{FF2B5EF4-FFF2-40B4-BE49-F238E27FC236}">
                  <a16:creationId xmlns:a16="http://schemas.microsoft.com/office/drawing/2014/main" id="{25FD38A7-58B4-47EE-AB22-5A2C29BAD563}"/>
                </a:ext>
              </a:extLst>
            </p:cNvPr>
            <p:cNvSpPr txBox="1"/>
            <p:nvPr/>
          </p:nvSpPr>
          <p:spPr>
            <a:xfrm>
              <a:off x="-1836712" y="3563631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1100" b="1" dirty="0">
                  <a:solidFill>
                    <a:schemeClr val="bg1">
                      <a:lumMod val="65000"/>
                    </a:schemeClr>
                  </a:solidFill>
                </a:rPr>
                <a:t>引導</a:t>
              </a:r>
            </a:p>
          </p:txBody>
        </p:sp>
        <p:sp>
          <p:nvSpPr>
            <p:cNvPr id="233" name="文字方塊 232">
              <a:extLst>
                <a:ext uri="{FF2B5EF4-FFF2-40B4-BE49-F238E27FC236}">
                  <a16:creationId xmlns:a16="http://schemas.microsoft.com/office/drawing/2014/main" id="{4345D860-009B-4754-8D3F-2A2E0E9DFA5B}"/>
                </a:ext>
              </a:extLst>
            </p:cNvPr>
            <p:cNvSpPr txBox="1"/>
            <p:nvPr/>
          </p:nvSpPr>
          <p:spPr>
            <a:xfrm>
              <a:off x="-1836712" y="3723878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solidFill>
                    <a:srgbClr val="002060"/>
                  </a:solidFill>
                </a:rPr>
                <a:t>大型語言模型</a:t>
              </a:r>
              <a:endParaRPr lang="en-US" altLang="zh-TW" sz="2000" b="1" dirty="0">
                <a:solidFill>
                  <a:srgbClr val="002060"/>
                </a:solidFill>
              </a:endParaRPr>
            </a:p>
          </p:txBody>
        </p:sp>
      </p:grpSp>
      <p:sp>
        <p:nvSpPr>
          <p:cNvPr id="241" name="文字方塊 240">
            <a:extLst>
              <a:ext uri="{FF2B5EF4-FFF2-40B4-BE49-F238E27FC236}">
                <a16:creationId xmlns:a16="http://schemas.microsoft.com/office/drawing/2014/main" id="{50835857-1A40-4921-879B-9D487C0BDE22}"/>
              </a:ext>
            </a:extLst>
          </p:cNvPr>
          <p:cNvSpPr txBox="1"/>
          <p:nvPr/>
        </p:nvSpPr>
        <p:spPr>
          <a:xfrm>
            <a:off x="5472795" y="3650474"/>
            <a:ext cx="2889134" cy="340519"/>
          </a:xfrm>
          <a:prstGeom prst="round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−"/>
            </a:pPr>
            <a:r>
              <a:rPr lang="zh-TW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依規範穩定結果輸出</a:t>
            </a:r>
            <a:endParaRPr lang="zh-TW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2" name="文字方塊 241">
            <a:extLst>
              <a:ext uri="{FF2B5EF4-FFF2-40B4-BE49-F238E27FC236}">
                <a16:creationId xmlns:a16="http://schemas.microsoft.com/office/drawing/2014/main" id="{1A2DF44A-C48A-4DDA-AFA7-B6C16936161C}"/>
              </a:ext>
            </a:extLst>
          </p:cNvPr>
          <p:cNvSpPr txBox="1"/>
          <p:nvPr/>
        </p:nvSpPr>
        <p:spPr>
          <a:xfrm>
            <a:off x="2448459" y="3912952"/>
            <a:ext cx="2889134" cy="340519"/>
          </a:xfrm>
          <a:prstGeom prst="round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−"/>
            </a:pPr>
            <a:r>
              <a:rPr lang="zh-TW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多階段建模任務處理</a:t>
            </a:r>
          </a:p>
        </p:txBody>
      </p:sp>
      <p:sp>
        <p:nvSpPr>
          <p:cNvPr id="243" name="文字方塊 242">
            <a:extLst>
              <a:ext uri="{FF2B5EF4-FFF2-40B4-BE49-F238E27FC236}">
                <a16:creationId xmlns:a16="http://schemas.microsoft.com/office/drawing/2014/main" id="{EE83C42A-024A-48E9-A4A3-DA1103BABDFD}"/>
              </a:ext>
            </a:extLst>
          </p:cNvPr>
          <p:cNvSpPr txBox="1"/>
          <p:nvPr/>
        </p:nvSpPr>
        <p:spPr>
          <a:xfrm>
            <a:off x="2448459" y="3650475"/>
            <a:ext cx="2889134" cy="340519"/>
          </a:xfrm>
          <a:prstGeom prst="round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−"/>
            </a:pPr>
            <a:r>
              <a:rPr lang="en-US" altLang="zh-TW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Claude.md</a:t>
            </a:r>
            <a:endParaRPr lang="zh-TW" alt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4181A778-6BF6-4797-B717-06987C8BFCBD}"/>
              </a:ext>
            </a:extLst>
          </p:cNvPr>
          <p:cNvSpPr txBox="1"/>
          <p:nvPr/>
        </p:nvSpPr>
        <p:spPr>
          <a:xfrm>
            <a:off x="5472795" y="3907011"/>
            <a:ext cx="2889134" cy="340519"/>
          </a:xfrm>
          <a:prstGeom prst="round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−"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dirty="0"/>
              <a:t>提供 </a:t>
            </a:r>
            <a:r>
              <a:rPr lang="en-US" altLang="zh-TW" dirty="0"/>
              <a:t>API</a:t>
            </a:r>
            <a:r>
              <a:rPr lang="zh-TW" altLang="en-US" dirty="0"/>
              <a:t> 開發面建議</a:t>
            </a:r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59AC34FC-9C43-4E4B-AB9D-239CE28AF6DD}"/>
              </a:ext>
            </a:extLst>
          </p:cNvPr>
          <p:cNvSpPr txBox="1"/>
          <p:nvPr/>
        </p:nvSpPr>
        <p:spPr>
          <a:xfrm>
            <a:off x="235295" y="2394839"/>
            <a:ext cx="8712968" cy="300082"/>
          </a:xfrm>
          <a:prstGeom prst="rect">
            <a:avLst/>
          </a:prstGeom>
          <a:solidFill>
            <a:srgbClr val="F1F1FD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solidFill>
                  <a:srgbClr val="7030A0"/>
                </a:solidFill>
              </a:rPr>
              <a:t>API </a:t>
            </a:r>
            <a:r>
              <a:rPr lang="zh-TW" altLang="en-US" b="1" dirty="0">
                <a:solidFill>
                  <a:srgbClr val="7030A0"/>
                </a:solidFill>
              </a:rPr>
              <a:t>層定義數學模型開發標準 → 規範 </a:t>
            </a:r>
            <a:r>
              <a:rPr lang="en-US" altLang="zh-TW" b="1" dirty="0">
                <a:solidFill>
                  <a:srgbClr val="7030A0"/>
                </a:solidFill>
              </a:rPr>
              <a:t>LLM </a:t>
            </a:r>
            <a:r>
              <a:rPr lang="zh-TW" altLang="en-US" b="1" dirty="0">
                <a:solidFill>
                  <a:srgbClr val="7030A0"/>
                </a:solidFill>
              </a:rPr>
              <a:t>產出穩定、可重用的模型程式</a:t>
            </a: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0FA35AAE-AB3A-404F-8D32-DAFB4E81BD53}"/>
              </a:ext>
            </a:extLst>
          </p:cNvPr>
          <p:cNvSpPr txBox="1"/>
          <p:nvPr/>
        </p:nvSpPr>
        <p:spPr>
          <a:xfrm>
            <a:off x="235295" y="4392399"/>
            <a:ext cx="8712968" cy="3000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solidFill>
                  <a:schemeClr val="accent1">
                    <a:lumMod val="50000"/>
                  </a:schemeClr>
                </a:solidFill>
              </a:rPr>
              <a:t>LLM </a:t>
            </a:r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依規範接手：設計模型 → 轉譯 </a:t>
            </a:r>
            <a:r>
              <a:rPr lang="en-US" altLang="zh-TW" b="1" dirty="0">
                <a:solidFill>
                  <a:schemeClr val="accent1">
                    <a:lumMod val="50000"/>
                  </a:schemeClr>
                </a:solidFill>
              </a:rPr>
              <a:t>API </a:t>
            </a:r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程式 → 調參跑實驗</a:t>
            </a:r>
          </a:p>
        </p:txBody>
      </p:sp>
    </p:spTree>
    <p:extLst>
      <p:ext uri="{BB962C8B-B14F-4D97-AF65-F5344CB8AC3E}">
        <p14:creationId xmlns:p14="http://schemas.microsoft.com/office/powerpoint/2010/main" val="4038979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19D9AD68-D9E3-4739-8A36-4DEDD80DA1D5}"/>
              </a:ext>
            </a:extLst>
          </p:cNvPr>
          <p:cNvSpPr/>
          <p:nvPr/>
        </p:nvSpPr>
        <p:spPr>
          <a:xfrm>
            <a:off x="213507" y="2327782"/>
            <a:ext cx="8710406" cy="2432352"/>
          </a:xfrm>
          <a:prstGeom prst="roundRect">
            <a:avLst>
              <a:gd name="adj" fmla="val 2739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n-ea"/>
            </a:endParaRPr>
          </a:p>
        </p:txBody>
      </p:sp>
      <p:sp>
        <p:nvSpPr>
          <p:cNvPr id="80" name="矩形: 圓角 79">
            <a:extLst>
              <a:ext uri="{FF2B5EF4-FFF2-40B4-BE49-F238E27FC236}">
                <a16:creationId xmlns:a16="http://schemas.microsoft.com/office/drawing/2014/main" id="{D8C666A4-260D-48FA-A329-E442DAB8700F}"/>
              </a:ext>
            </a:extLst>
          </p:cNvPr>
          <p:cNvSpPr/>
          <p:nvPr/>
        </p:nvSpPr>
        <p:spPr>
          <a:xfrm>
            <a:off x="3251199" y="2407706"/>
            <a:ext cx="5597088" cy="2255186"/>
          </a:xfrm>
          <a:prstGeom prst="roundRect">
            <a:avLst>
              <a:gd name="adj" fmla="val 4428"/>
            </a:avLst>
          </a:prstGeom>
          <a:solidFill>
            <a:srgbClr val="E4E3F9"/>
          </a:solidFill>
          <a:ln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n-ea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DF0F85A-D8BE-489F-8A26-3F9E8BB6D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54" y="427411"/>
            <a:ext cx="7605553" cy="264977"/>
          </a:xfrm>
        </p:spPr>
        <p:txBody>
          <a:bodyPr/>
          <a:lstStyle/>
          <a:p>
            <a:r>
              <a:rPr lang="zh-TW" altLang="en-US" dirty="0"/>
              <a:t>框架定位 ｜</a:t>
            </a:r>
            <a:r>
              <a:rPr lang="zh-TW" altLang="en-US" b="0" dirty="0"/>
              <a:t> 雙層架構、三階段任務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B04F98-C67E-4BB2-A8FC-D45C046C6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175" y="212009"/>
            <a:ext cx="5904507" cy="168954"/>
          </a:xfrm>
        </p:spPr>
        <p:txBody>
          <a:bodyPr/>
          <a:lstStyle/>
          <a:p>
            <a:r>
              <a:rPr lang="en-US" altLang="zh-TW" dirty="0"/>
              <a:t>Framework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04602B-3F3A-44D6-8FC7-8D6198579B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512" y="415908"/>
            <a:ext cx="504800" cy="287982"/>
          </a:xfrm>
        </p:spPr>
        <p:txBody>
          <a:bodyPr/>
          <a:lstStyle/>
          <a:p>
            <a:r>
              <a:rPr lang="en-US" altLang="zh-TW" dirty="0"/>
              <a:t>02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BDA344-228E-467F-9CAE-213808D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855534"/>
            <a:ext cx="717094" cy="274637"/>
          </a:xfrm>
        </p:spPr>
        <p:txBody>
          <a:bodyPr/>
          <a:lstStyle/>
          <a:p>
            <a:fld id="{16BB1EDA-9669-4099-AA83-49C2D8E17945}" type="slidenum">
              <a:rPr lang="zh-TW" altLang="en-US" smtClean="0"/>
              <a:pPr/>
              <a:t>13</a:t>
            </a:fld>
            <a:endParaRPr lang="zh-TW" altLang="en-US" dirty="0"/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57FEF43C-F3D5-48B2-9DF1-34B6566DDA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6A82C2AC-668F-4A65-A922-B8FD1740941D}"/>
              </a:ext>
            </a:extLst>
          </p:cNvPr>
          <p:cNvGrpSpPr/>
          <p:nvPr/>
        </p:nvGrpSpPr>
        <p:grpSpPr>
          <a:xfrm>
            <a:off x="220087" y="854637"/>
            <a:ext cx="2927791" cy="1378520"/>
            <a:chOff x="272710" y="813931"/>
            <a:chExt cx="2927791" cy="1378520"/>
          </a:xfrm>
        </p:grpSpPr>
        <p:grpSp>
          <p:nvGrpSpPr>
            <p:cNvPr id="146" name="群組 145">
              <a:extLst>
                <a:ext uri="{FF2B5EF4-FFF2-40B4-BE49-F238E27FC236}">
                  <a16:creationId xmlns:a16="http://schemas.microsoft.com/office/drawing/2014/main" id="{B916802D-A1B1-417F-A794-1B4BC25C19EC}"/>
                </a:ext>
              </a:extLst>
            </p:cNvPr>
            <p:cNvGrpSpPr/>
            <p:nvPr/>
          </p:nvGrpSpPr>
          <p:grpSpPr>
            <a:xfrm>
              <a:off x="272710" y="1132393"/>
              <a:ext cx="2927791" cy="1060058"/>
              <a:chOff x="6917117" y="5526745"/>
              <a:chExt cx="2927791" cy="1060058"/>
            </a:xfrm>
          </p:grpSpPr>
          <p:sp>
            <p:nvSpPr>
              <p:cNvPr id="147" name="矩形: 圓角 146">
                <a:extLst>
                  <a:ext uri="{FF2B5EF4-FFF2-40B4-BE49-F238E27FC236}">
                    <a16:creationId xmlns:a16="http://schemas.microsoft.com/office/drawing/2014/main" id="{850EF880-9EC2-4E1E-8442-0E968E7859E6}"/>
                  </a:ext>
                </a:extLst>
              </p:cNvPr>
              <p:cNvSpPr/>
              <p:nvPr/>
            </p:nvSpPr>
            <p:spPr>
              <a:xfrm>
                <a:off x="6917117" y="5526745"/>
                <a:ext cx="2927791" cy="1060058"/>
              </a:xfrm>
              <a:prstGeom prst="roundRect">
                <a:avLst>
                  <a:gd name="adj" fmla="val 598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rgbClr val="00206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latin typeface="+mn-ea"/>
                </a:endParaRPr>
              </a:p>
            </p:txBody>
          </p:sp>
          <p:grpSp>
            <p:nvGrpSpPr>
              <p:cNvPr id="148" name="群組 147">
                <a:extLst>
                  <a:ext uri="{FF2B5EF4-FFF2-40B4-BE49-F238E27FC236}">
                    <a16:creationId xmlns:a16="http://schemas.microsoft.com/office/drawing/2014/main" id="{918A4365-B9A5-43B6-8DF5-E9419B5150FA}"/>
                  </a:ext>
                </a:extLst>
              </p:cNvPr>
              <p:cNvGrpSpPr/>
              <p:nvPr/>
            </p:nvGrpSpPr>
            <p:grpSpPr>
              <a:xfrm>
                <a:off x="7110594" y="5602853"/>
                <a:ext cx="697627" cy="948374"/>
                <a:chOff x="7968755" y="2634039"/>
                <a:chExt cx="697627" cy="948374"/>
              </a:xfrm>
            </p:grpSpPr>
            <p:pic>
              <p:nvPicPr>
                <p:cNvPr id="157" name="圖片 156">
                  <a:extLst>
                    <a:ext uri="{FF2B5EF4-FFF2-40B4-BE49-F238E27FC236}">
                      <a16:creationId xmlns:a16="http://schemas.microsoft.com/office/drawing/2014/main" id="{5C626B1D-2E3F-429A-BB13-5728F98B1C5C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047569" y="2634039"/>
                  <a:ext cx="540000" cy="540000"/>
                </a:xfrm>
                <a:prstGeom prst="rect">
                  <a:avLst/>
                </a:prstGeom>
              </p:spPr>
            </p:pic>
            <p:sp>
              <p:nvSpPr>
                <p:cNvPr id="158" name="文字方塊 157">
                  <a:extLst>
                    <a:ext uri="{FF2B5EF4-FFF2-40B4-BE49-F238E27FC236}">
                      <a16:creationId xmlns:a16="http://schemas.microsoft.com/office/drawing/2014/main" id="{4502F8BA-57CD-4E1A-8F22-9ED2A01CD47E}"/>
                    </a:ext>
                  </a:extLst>
                </p:cNvPr>
                <p:cNvSpPr txBox="1"/>
                <p:nvPr/>
              </p:nvSpPr>
              <p:spPr>
                <a:xfrm>
                  <a:off x="7968755" y="3182303"/>
                  <a:ext cx="69762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defTabSz="685783"/>
                  <a:r>
                    <a:rPr lang="zh-TW" altLang="en-US" sz="1000" b="1" dirty="0">
                      <a:solidFill>
                        <a:schemeClr val="accent1">
                          <a:lumMod val="75000"/>
                        </a:schemeClr>
                      </a:solidFill>
                      <a:latin typeface="+mn-ea"/>
                    </a:rPr>
                    <a:t>大型語言</a:t>
                  </a:r>
                  <a:endParaRPr lang="en-US" altLang="zh-TW" sz="1000" b="1" dirty="0">
                    <a:solidFill>
                      <a:schemeClr val="accent1">
                        <a:lumMod val="75000"/>
                      </a:schemeClr>
                    </a:solidFill>
                    <a:latin typeface="+mn-ea"/>
                  </a:endParaRPr>
                </a:p>
                <a:p>
                  <a:pPr algn="ctr" defTabSz="685783"/>
                  <a:r>
                    <a:rPr lang="zh-TW" altLang="en-US" sz="1000" b="1" dirty="0">
                      <a:solidFill>
                        <a:schemeClr val="accent1">
                          <a:lumMod val="75000"/>
                        </a:schemeClr>
                      </a:solidFill>
                      <a:latin typeface="+mn-ea"/>
                    </a:rPr>
                    <a:t>模型</a:t>
                  </a:r>
                  <a:endParaRPr lang="en-US" altLang="zh-TW" sz="1000" b="1" dirty="0">
                    <a:solidFill>
                      <a:schemeClr val="accent1">
                        <a:lumMod val="75000"/>
                      </a:schemeClr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149" name="群組 148">
                <a:extLst>
                  <a:ext uri="{FF2B5EF4-FFF2-40B4-BE49-F238E27FC236}">
                    <a16:creationId xmlns:a16="http://schemas.microsoft.com/office/drawing/2014/main" id="{3F03A31F-BC1A-4C5D-8BB6-DD0C1B118B1F}"/>
                  </a:ext>
                </a:extLst>
              </p:cNvPr>
              <p:cNvGrpSpPr/>
              <p:nvPr/>
            </p:nvGrpSpPr>
            <p:grpSpPr>
              <a:xfrm>
                <a:off x="9040154" y="5602853"/>
                <a:ext cx="697627" cy="948374"/>
                <a:chOff x="10175349" y="2634039"/>
                <a:chExt cx="697627" cy="948374"/>
              </a:xfrm>
            </p:grpSpPr>
            <p:pic>
              <p:nvPicPr>
                <p:cNvPr id="155" name="圖片 154">
                  <a:extLst>
                    <a:ext uri="{FF2B5EF4-FFF2-40B4-BE49-F238E27FC236}">
                      <a16:creationId xmlns:a16="http://schemas.microsoft.com/office/drawing/2014/main" id="{2E2AAEDF-80FA-4500-B804-DF94789F0A27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254158" y="2634039"/>
                  <a:ext cx="540000" cy="540000"/>
                </a:xfrm>
                <a:prstGeom prst="rect">
                  <a:avLst/>
                </a:prstGeom>
              </p:spPr>
            </p:pic>
            <p:sp>
              <p:nvSpPr>
                <p:cNvPr id="156" name="文字方塊 155">
                  <a:extLst>
                    <a:ext uri="{FF2B5EF4-FFF2-40B4-BE49-F238E27FC236}">
                      <a16:creationId xmlns:a16="http://schemas.microsoft.com/office/drawing/2014/main" id="{81727618-E961-430E-979B-6724FEDE0553}"/>
                    </a:ext>
                  </a:extLst>
                </p:cNvPr>
                <p:cNvSpPr txBox="1"/>
                <p:nvPr/>
              </p:nvSpPr>
              <p:spPr>
                <a:xfrm>
                  <a:off x="10175349" y="3182303"/>
                  <a:ext cx="697627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defTabSz="685783"/>
                  <a:r>
                    <a:rPr lang="zh-TW" altLang="en-US" sz="1000" b="1" dirty="0">
                      <a:solidFill>
                        <a:schemeClr val="accent1">
                          <a:lumMod val="75000"/>
                        </a:schemeClr>
                      </a:solidFill>
                      <a:latin typeface="+mn-ea"/>
                    </a:rPr>
                    <a:t>參考專案</a:t>
                  </a:r>
                  <a:endParaRPr lang="en-US" altLang="zh-TW" sz="1000" b="1" dirty="0">
                    <a:solidFill>
                      <a:schemeClr val="accent1">
                        <a:lumMod val="75000"/>
                      </a:schemeClr>
                    </a:solidFill>
                    <a:latin typeface="+mn-ea"/>
                  </a:endParaRPr>
                </a:p>
                <a:p>
                  <a:pPr algn="ctr" defTabSz="685783"/>
                  <a:r>
                    <a:rPr lang="zh-TW" altLang="en-US" sz="1000" b="1" dirty="0">
                      <a:solidFill>
                        <a:schemeClr val="accent1">
                          <a:lumMod val="75000"/>
                        </a:schemeClr>
                      </a:solidFill>
                      <a:latin typeface="+mn-ea"/>
                    </a:rPr>
                    <a:t>範例程式</a:t>
                  </a:r>
                  <a:endParaRPr lang="en-US" altLang="zh-TW" sz="1000" b="1" dirty="0">
                    <a:solidFill>
                      <a:schemeClr val="accent1">
                        <a:lumMod val="75000"/>
                      </a:schemeClr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150" name="群組 149">
                <a:extLst>
                  <a:ext uri="{FF2B5EF4-FFF2-40B4-BE49-F238E27FC236}">
                    <a16:creationId xmlns:a16="http://schemas.microsoft.com/office/drawing/2014/main" id="{8EC41886-0AED-4EBC-8A04-A6B04096F51A}"/>
                  </a:ext>
                </a:extLst>
              </p:cNvPr>
              <p:cNvGrpSpPr/>
              <p:nvPr/>
            </p:nvGrpSpPr>
            <p:grpSpPr>
              <a:xfrm>
                <a:off x="7906531" y="5602853"/>
                <a:ext cx="978153" cy="934666"/>
                <a:chOff x="8900121" y="2634039"/>
                <a:chExt cx="978153" cy="934666"/>
              </a:xfrm>
            </p:grpSpPr>
            <p:pic>
              <p:nvPicPr>
                <p:cNvPr id="153" name="圖片 152">
                  <a:extLst>
                    <a:ext uri="{FF2B5EF4-FFF2-40B4-BE49-F238E27FC236}">
                      <a16:creationId xmlns:a16="http://schemas.microsoft.com/office/drawing/2014/main" id="{79D05A0A-6373-4F6E-8A2D-A43F05DC53A1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9119189" y="2634039"/>
                  <a:ext cx="540000" cy="540000"/>
                </a:xfrm>
                <a:prstGeom prst="rect">
                  <a:avLst/>
                </a:prstGeom>
              </p:spPr>
            </p:pic>
            <p:sp>
              <p:nvSpPr>
                <p:cNvPr id="154" name="文字方塊 153">
                  <a:extLst>
                    <a:ext uri="{FF2B5EF4-FFF2-40B4-BE49-F238E27FC236}">
                      <a16:creationId xmlns:a16="http://schemas.microsoft.com/office/drawing/2014/main" id="{9E3EED39-1ACF-4539-90CD-7868493BE5F9}"/>
                    </a:ext>
                  </a:extLst>
                </p:cNvPr>
                <p:cNvSpPr txBox="1"/>
                <p:nvPr/>
              </p:nvSpPr>
              <p:spPr>
                <a:xfrm>
                  <a:off x="8900121" y="3168595"/>
                  <a:ext cx="97815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defTabSz="685783"/>
                  <a:r>
                    <a:rPr lang="en-US" altLang="zh-TW" sz="1000" b="1" dirty="0">
                      <a:solidFill>
                        <a:schemeClr val="accent1">
                          <a:lumMod val="75000"/>
                        </a:schemeClr>
                      </a:solidFill>
                      <a:latin typeface="+mn-ea"/>
                    </a:rPr>
                    <a:t>Claud.md</a:t>
                  </a:r>
                </a:p>
                <a:p>
                  <a:pPr algn="ctr" defTabSz="685783"/>
                  <a:r>
                    <a:rPr lang="zh-TW" altLang="en-US" sz="1000" b="1" dirty="0">
                      <a:solidFill>
                        <a:schemeClr val="accent1">
                          <a:lumMod val="75000"/>
                        </a:schemeClr>
                      </a:solidFill>
                      <a:latin typeface="+mn-ea"/>
                    </a:rPr>
                    <a:t>規範生成結果</a:t>
                  </a:r>
                </a:p>
              </p:txBody>
            </p:sp>
          </p:grpSp>
          <p:sp>
            <p:nvSpPr>
              <p:cNvPr id="151" name="十字形 150">
                <a:extLst>
                  <a:ext uri="{FF2B5EF4-FFF2-40B4-BE49-F238E27FC236}">
                    <a16:creationId xmlns:a16="http://schemas.microsoft.com/office/drawing/2014/main" id="{D258B44D-13D0-4675-88C6-21299F735A83}"/>
                  </a:ext>
                </a:extLst>
              </p:cNvPr>
              <p:cNvSpPr/>
              <p:nvPr/>
            </p:nvSpPr>
            <p:spPr>
              <a:xfrm>
                <a:off x="7828635" y="5771469"/>
                <a:ext cx="207392" cy="207392"/>
              </a:xfrm>
              <a:prstGeom prst="plus">
                <a:avLst>
                  <a:gd name="adj" fmla="val 40481"/>
                </a:avLst>
              </a:prstGeom>
              <a:solidFill>
                <a:srgbClr val="364F81"/>
              </a:solidFill>
              <a:ln>
                <a:solidFill>
                  <a:srgbClr val="364F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+mn-ea"/>
                </a:endParaRPr>
              </a:p>
            </p:txBody>
          </p:sp>
          <p:sp>
            <p:nvSpPr>
              <p:cNvPr id="152" name="十字形 151">
                <a:extLst>
                  <a:ext uri="{FF2B5EF4-FFF2-40B4-BE49-F238E27FC236}">
                    <a16:creationId xmlns:a16="http://schemas.microsoft.com/office/drawing/2014/main" id="{0E9F7D11-CB62-4FE1-AF47-8DB637D8B437}"/>
                  </a:ext>
                </a:extLst>
              </p:cNvPr>
              <p:cNvSpPr/>
              <p:nvPr/>
            </p:nvSpPr>
            <p:spPr>
              <a:xfrm>
                <a:off x="8797707" y="5771469"/>
                <a:ext cx="207392" cy="207392"/>
              </a:xfrm>
              <a:prstGeom prst="plus">
                <a:avLst>
                  <a:gd name="adj" fmla="val 40481"/>
                </a:avLst>
              </a:prstGeom>
              <a:solidFill>
                <a:srgbClr val="364F81"/>
              </a:solidFill>
              <a:ln>
                <a:solidFill>
                  <a:srgbClr val="364F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+mn-ea"/>
                </a:endParaRPr>
              </a:p>
            </p:txBody>
          </p:sp>
        </p:grpSp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7E9141BA-CC53-4276-B526-AE86D4A87DD0}"/>
                </a:ext>
              </a:extLst>
            </p:cNvPr>
            <p:cNvGrpSpPr/>
            <p:nvPr/>
          </p:nvGrpSpPr>
          <p:grpSpPr>
            <a:xfrm>
              <a:off x="723109" y="813931"/>
              <a:ext cx="2140797" cy="276999"/>
              <a:chOff x="855784" y="808655"/>
              <a:chExt cx="2140797" cy="276999"/>
            </a:xfrm>
          </p:grpSpPr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4E1DDA24-EDF8-4960-BF97-6BB6CC7BB5E9}"/>
                  </a:ext>
                </a:extLst>
              </p:cNvPr>
              <p:cNvSpPr txBox="1"/>
              <p:nvPr/>
            </p:nvSpPr>
            <p:spPr>
              <a:xfrm>
                <a:off x="1084891" y="808655"/>
                <a:ext cx="19116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b="1" dirty="0">
                    <a:solidFill>
                      <a:srgbClr val="364F81"/>
                    </a:solidFill>
                  </a:rPr>
                  <a:t>LLM Reasoning Module</a:t>
                </a:r>
                <a:endParaRPr lang="zh-TW" altLang="en-US" sz="1200" b="1" dirty="0">
                  <a:solidFill>
                    <a:srgbClr val="364F81"/>
                  </a:solidFill>
                </a:endParaRPr>
              </a:p>
            </p:txBody>
          </p:sp>
          <p:pic>
            <p:nvPicPr>
              <p:cNvPr id="161" name="圖片 160">
                <a:extLst>
                  <a:ext uri="{FF2B5EF4-FFF2-40B4-BE49-F238E27FC236}">
                    <a16:creationId xmlns:a16="http://schemas.microsoft.com/office/drawing/2014/main" id="{3DA35EA7-B68D-4A0A-A194-7B36ED5AF5A3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55784" y="821154"/>
                <a:ext cx="252000" cy="252000"/>
              </a:xfrm>
              <a:prstGeom prst="rect">
                <a:avLst/>
              </a:prstGeom>
            </p:spPr>
          </p:pic>
        </p:grp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9ACF8436-273F-4D52-8690-083F9D39C0DD}"/>
              </a:ext>
            </a:extLst>
          </p:cNvPr>
          <p:cNvGrpSpPr/>
          <p:nvPr/>
        </p:nvGrpSpPr>
        <p:grpSpPr>
          <a:xfrm>
            <a:off x="5051659" y="854637"/>
            <a:ext cx="2210860" cy="276999"/>
            <a:chOff x="4200154" y="808655"/>
            <a:chExt cx="2210860" cy="276999"/>
          </a:xfrm>
        </p:grpSpPr>
        <p:sp>
          <p:nvSpPr>
            <p:cNvPr id="126" name="文字方塊 125">
              <a:extLst>
                <a:ext uri="{FF2B5EF4-FFF2-40B4-BE49-F238E27FC236}">
                  <a16:creationId xmlns:a16="http://schemas.microsoft.com/office/drawing/2014/main" id="{3F828060-AF0D-4FC0-B31C-8E993AF58F71}"/>
                </a:ext>
              </a:extLst>
            </p:cNvPr>
            <p:cNvSpPr txBox="1"/>
            <p:nvPr/>
          </p:nvSpPr>
          <p:spPr>
            <a:xfrm>
              <a:off x="4425716" y="808655"/>
              <a:ext cx="19852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b="1" dirty="0">
                  <a:solidFill>
                    <a:srgbClr val="7030A0"/>
                  </a:solidFill>
                </a:rPr>
                <a:t>MILP Development APIs</a:t>
              </a:r>
              <a:endParaRPr lang="zh-TW" altLang="en-US" sz="1200" b="1" dirty="0">
                <a:solidFill>
                  <a:srgbClr val="7030A0"/>
                </a:solidFill>
              </a:endParaRPr>
            </a:p>
          </p:txBody>
        </p:sp>
        <p:pic>
          <p:nvPicPr>
            <p:cNvPr id="127" name="圖片 126">
              <a:extLst>
                <a:ext uri="{FF2B5EF4-FFF2-40B4-BE49-F238E27FC236}">
                  <a16:creationId xmlns:a16="http://schemas.microsoft.com/office/drawing/2014/main" id="{DAE0E5DE-B307-41F0-8791-2EBED1656F60}"/>
                </a:ext>
              </a:extLst>
            </p:cNvPr>
            <p:cNvPicPr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200154" y="821154"/>
              <a:ext cx="252000" cy="252000"/>
            </a:xfrm>
            <a:prstGeom prst="rect">
              <a:avLst/>
            </a:prstGeom>
          </p:spPr>
        </p:pic>
      </p:grpSp>
      <p:sp>
        <p:nvSpPr>
          <p:cNvPr id="129" name="矩形: 圓角 128">
            <a:extLst>
              <a:ext uri="{FF2B5EF4-FFF2-40B4-BE49-F238E27FC236}">
                <a16:creationId xmlns:a16="http://schemas.microsoft.com/office/drawing/2014/main" id="{CE40067E-4579-4715-A7F5-3D4518BE6787}"/>
              </a:ext>
            </a:extLst>
          </p:cNvPr>
          <p:cNvSpPr/>
          <p:nvPr/>
        </p:nvSpPr>
        <p:spPr>
          <a:xfrm>
            <a:off x="3272451" y="1168300"/>
            <a:ext cx="5651462" cy="1060058"/>
          </a:xfrm>
          <a:prstGeom prst="roundRect">
            <a:avLst>
              <a:gd name="adj" fmla="val 5980"/>
            </a:avLst>
          </a:prstGeom>
          <a:solidFill>
            <a:srgbClr val="E4E3F9"/>
          </a:solidFill>
          <a:ln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n-ea"/>
            </a:endParaRPr>
          </a:p>
        </p:txBody>
      </p:sp>
      <p:pic>
        <p:nvPicPr>
          <p:cNvPr id="144" name="圖片 143">
            <a:extLst>
              <a:ext uri="{FF2B5EF4-FFF2-40B4-BE49-F238E27FC236}">
                <a16:creationId xmlns:a16="http://schemas.microsoft.com/office/drawing/2014/main" id="{F701BF82-F075-43ED-81A3-39B636E88718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5201" y="1248065"/>
            <a:ext cx="540000" cy="540000"/>
          </a:xfrm>
          <a:prstGeom prst="rect">
            <a:avLst/>
          </a:prstGeom>
        </p:spPr>
      </p:pic>
      <p:sp>
        <p:nvSpPr>
          <p:cNvPr id="145" name="文字方塊 144">
            <a:extLst>
              <a:ext uri="{FF2B5EF4-FFF2-40B4-BE49-F238E27FC236}">
                <a16:creationId xmlns:a16="http://schemas.microsoft.com/office/drawing/2014/main" id="{422FC5FC-973F-4960-BEC0-9E424295E091}"/>
              </a:ext>
            </a:extLst>
          </p:cNvPr>
          <p:cNvSpPr txBox="1"/>
          <p:nvPr/>
        </p:nvSpPr>
        <p:spPr>
          <a:xfrm>
            <a:off x="3390507" y="1796329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85783"/>
            <a:r>
              <a:rPr lang="zh-TW" altLang="en-US" sz="1000" b="1" dirty="0">
                <a:solidFill>
                  <a:srgbClr val="7030A0"/>
                </a:solidFill>
                <a:latin typeface="+mn-ea"/>
              </a:rPr>
              <a:t>求解器</a:t>
            </a:r>
            <a:endParaRPr lang="en-US" altLang="zh-TW" sz="1000" b="1" dirty="0">
              <a:solidFill>
                <a:srgbClr val="7030A0"/>
              </a:solidFill>
              <a:latin typeface="+mn-ea"/>
            </a:endParaRPr>
          </a:p>
          <a:p>
            <a:pPr algn="ctr" defTabSz="685783"/>
            <a:r>
              <a:rPr lang="zh-TW" altLang="en-US" sz="1000" b="1" dirty="0">
                <a:solidFill>
                  <a:srgbClr val="7030A0"/>
                </a:solidFill>
                <a:latin typeface="+mn-ea"/>
              </a:rPr>
              <a:t>引擎</a:t>
            </a:r>
            <a:endParaRPr lang="en-US" altLang="zh-TW" sz="1000" b="1" dirty="0">
              <a:solidFill>
                <a:srgbClr val="7030A0"/>
              </a:solidFill>
              <a:latin typeface="+mn-ea"/>
            </a:endParaRPr>
          </a:p>
        </p:txBody>
      </p:sp>
      <p:pic>
        <p:nvPicPr>
          <p:cNvPr id="142" name="圖片 141">
            <a:extLst>
              <a:ext uri="{FF2B5EF4-FFF2-40B4-BE49-F238E27FC236}">
                <a16:creationId xmlns:a16="http://schemas.microsoft.com/office/drawing/2014/main" id="{2CFD5640-B069-4511-8212-02609E54A6DB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240" y="1248065"/>
            <a:ext cx="540000" cy="540000"/>
          </a:xfrm>
          <a:prstGeom prst="rect">
            <a:avLst/>
          </a:prstGeom>
        </p:spPr>
      </p:pic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C9BBB103-44A9-4484-9518-E4CAC27922FC}"/>
              </a:ext>
            </a:extLst>
          </p:cNvPr>
          <p:cNvSpPr txBox="1"/>
          <p:nvPr/>
        </p:nvSpPr>
        <p:spPr>
          <a:xfrm>
            <a:off x="5391546" y="1787940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85783"/>
            <a:r>
              <a:rPr lang="zh-TW" altLang="en-US" sz="1000" b="1" dirty="0">
                <a:solidFill>
                  <a:srgbClr val="7030A0"/>
                </a:solidFill>
                <a:latin typeface="+mn-ea"/>
              </a:rPr>
              <a:t>資料庫</a:t>
            </a:r>
            <a:endParaRPr lang="en-US" altLang="zh-TW" sz="1000" b="1" dirty="0">
              <a:solidFill>
                <a:srgbClr val="7030A0"/>
              </a:solidFill>
              <a:latin typeface="+mn-ea"/>
            </a:endParaRPr>
          </a:p>
          <a:p>
            <a:pPr algn="ctr" defTabSz="685783"/>
            <a:r>
              <a:rPr lang="zh-TW" altLang="en-US" sz="1000" b="1" dirty="0">
                <a:solidFill>
                  <a:srgbClr val="7030A0"/>
                </a:solidFill>
                <a:latin typeface="+mn-ea"/>
              </a:rPr>
              <a:t>管理</a:t>
            </a:r>
            <a:endParaRPr lang="en-US" altLang="zh-TW" sz="1000" b="1" dirty="0">
              <a:solidFill>
                <a:srgbClr val="7030A0"/>
              </a:solidFill>
              <a:latin typeface="+mn-ea"/>
            </a:endParaRPr>
          </a:p>
        </p:txBody>
      </p:sp>
      <p:pic>
        <p:nvPicPr>
          <p:cNvPr id="140" name="圖片 139">
            <a:extLst>
              <a:ext uri="{FF2B5EF4-FFF2-40B4-BE49-F238E27FC236}">
                <a16:creationId xmlns:a16="http://schemas.microsoft.com/office/drawing/2014/main" id="{4D359CEA-D50F-4325-A761-EF5403280B66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063" y="1248065"/>
            <a:ext cx="540000" cy="540000"/>
          </a:xfrm>
          <a:prstGeom prst="rect">
            <a:avLst/>
          </a:prstGeom>
        </p:spPr>
      </p:pic>
      <p:sp>
        <p:nvSpPr>
          <p:cNvPr id="141" name="文字方塊 140">
            <a:extLst>
              <a:ext uri="{FF2B5EF4-FFF2-40B4-BE49-F238E27FC236}">
                <a16:creationId xmlns:a16="http://schemas.microsoft.com/office/drawing/2014/main" id="{ED45F962-346C-439F-BDE7-A03F2B294DB2}"/>
              </a:ext>
            </a:extLst>
          </p:cNvPr>
          <p:cNvSpPr txBox="1"/>
          <p:nvPr/>
        </p:nvSpPr>
        <p:spPr>
          <a:xfrm>
            <a:off x="6353054" y="1787782"/>
            <a:ext cx="4780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85783"/>
            <a:r>
              <a:rPr lang="en-US" altLang="zh-TW" sz="1000" b="1" dirty="0">
                <a:solidFill>
                  <a:srgbClr val="7030A0"/>
                </a:solidFill>
                <a:latin typeface="+mn-ea"/>
              </a:rPr>
              <a:t>CSV</a:t>
            </a:r>
            <a:r>
              <a:rPr lang="zh-TW" altLang="en-US" sz="1000" b="1" dirty="0">
                <a:solidFill>
                  <a:srgbClr val="7030A0"/>
                </a:solidFill>
                <a:latin typeface="+mn-ea"/>
              </a:rPr>
              <a:t> </a:t>
            </a:r>
            <a:endParaRPr lang="en-US" altLang="zh-TW" sz="1000" b="1" dirty="0">
              <a:solidFill>
                <a:srgbClr val="7030A0"/>
              </a:solidFill>
              <a:latin typeface="+mn-ea"/>
            </a:endParaRPr>
          </a:p>
          <a:p>
            <a:pPr algn="ctr" defTabSz="685783"/>
            <a:r>
              <a:rPr lang="zh-TW" altLang="en-US" sz="1000" b="1" dirty="0">
                <a:solidFill>
                  <a:srgbClr val="7030A0"/>
                </a:solidFill>
                <a:latin typeface="+mn-ea"/>
              </a:rPr>
              <a:t>管理</a:t>
            </a:r>
            <a:endParaRPr lang="en-US" altLang="zh-TW" sz="1000" b="1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138" name="文字方塊 137">
            <a:extLst>
              <a:ext uri="{FF2B5EF4-FFF2-40B4-BE49-F238E27FC236}">
                <a16:creationId xmlns:a16="http://schemas.microsoft.com/office/drawing/2014/main" id="{9498F2AB-7840-4303-A776-947FF7052E22}"/>
              </a:ext>
            </a:extLst>
          </p:cNvPr>
          <p:cNvSpPr txBox="1"/>
          <p:nvPr/>
        </p:nvSpPr>
        <p:spPr>
          <a:xfrm>
            <a:off x="7223195" y="178376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85783"/>
            <a:r>
              <a:rPr lang="zh-TW" altLang="en-US" sz="1000" b="1" dirty="0">
                <a:solidFill>
                  <a:srgbClr val="7030A0"/>
                </a:solidFill>
                <a:latin typeface="+mn-ea"/>
              </a:rPr>
              <a:t>執行日誌</a:t>
            </a:r>
            <a:endParaRPr lang="en-US" altLang="zh-TW" sz="1000" b="1" dirty="0">
              <a:solidFill>
                <a:srgbClr val="7030A0"/>
              </a:solidFill>
              <a:latin typeface="+mn-ea"/>
            </a:endParaRPr>
          </a:p>
          <a:p>
            <a:pPr algn="ctr" defTabSz="685783"/>
            <a:r>
              <a:rPr lang="zh-TW" altLang="en-US" sz="1000" b="1" dirty="0">
                <a:solidFill>
                  <a:srgbClr val="7030A0"/>
                </a:solidFill>
                <a:latin typeface="+mn-ea"/>
              </a:rPr>
              <a:t>管理</a:t>
            </a:r>
            <a:endParaRPr lang="en-US" altLang="zh-TW" sz="1000" b="1" dirty="0">
              <a:solidFill>
                <a:srgbClr val="7030A0"/>
              </a:solidFill>
              <a:latin typeface="+mn-ea"/>
            </a:endParaRPr>
          </a:p>
        </p:txBody>
      </p:sp>
      <p:pic>
        <p:nvPicPr>
          <p:cNvPr id="139" name="圖片 138">
            <a:extLst>
              <a:ext uri="{FF2B5EF4-FFF2-40B4-BE49-F238E27FC236}">
                <a16:creationId xmlns:a16="http://schemas.microsoft.com/office/drawing/2014/main" id="{777836D2-0E0A-4019-A16A-A09FAD9898D8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05203" y="1246920"/>
            <a:ext cx="533609" cy="534254"/>
          </a:xfrm>
          <a:prstGeom prst="rect">
            <a:avLst/>
          </a:prstGeom>
        </p:spPr>
      </p:pic>
      <p:sp>
        <p:nvSpPr>
          <p:cNvPr id="135" name="十字形 134">
            <a:extLst>
              <a:ext uri="{FF2B5EF4-FFF2-40B4-BE49-F238E27FC236}">
                <a16:creationId xmlns:a16="http://schemas.microsoft.com/office/drawing/2014/main" id="{4E53C0EC-3EB9-448E-805F-0AA122619BE9}"/>
              </a:ext>
            </a:extLst>
          </p:cNvPr>
          <p:cNvSpPr/>
          <p:nvPr/>
        </p:nvSpPr>
        <p:spPr>
          <a:xfrm>
            <a:off x="5107285" y="1442410"/>
            <a:ext cx="207392" cy="207392"/>
          </a:xfrm>
          <a:prstGeom prst="plus">
            <a:avLst>
              <a:gd name="adj" fmla="val 40481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n-ea"/>
            </a:endParaRPr>
          </a:p>
        </p:txBody>
      </p:sp>
      <p:sp>
        <p:nvSpPr>
          <p:cNvPr id="136" name="十字形 135">
            <a:extLst>
              <a:ext uri="{FF2B5EF4-FFF2-40B4-BE49-F238E27FC236}">
                <a16:creationId xmlns:a16="http://schemas.microsoft.com/office/drawing/2014/main" id="{346C3464-74EC-494D-8350-11095C6FF1A2}"/>
              </a:ext>
            </a:extLst>
          </p:cNvPr>
          <p:cNvSpPr/>
          <p:nvPr/>
        </p:nvSpPr>
        <p:spPr>
          <a:xfrm>
            <a:off x="6037802" y="1442410"/>
            <a:ext cx="207392" cy="207392"/>
          </a:xfrm>
          <a:prstGeom prst="plus">
            <a:avLst>
              <a:gd name="adj" fmla="val 40481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n-ea"/>
            </a:endParaRPr>
          </a:p>
        </p:txBody>
      </p:sp>
      <p:sp>
        <p:nvSpPr>
          <p:cNvPr id="137" name="十字形 136">
            <a:extLst>
              <a:ext uri="{FF2B5EF4-FFF2-40B4-BE49-F238E27FC236}">
                <a16:creationId xmlns:a16="http://schemas.microsoft.com/office/drawing/2014/main" id="{63C931CE-D182-408D-BC42-2CAB6BABDA90}"/>
              </a:ext>
            </a:extLst>
          </p:cNvPr>
          <p:cNvSpPr/>
          <p:nvPr/>
        </p:nvSpPr>
        <p:spPr>
          <a:xfrm>
            <a:off x="6938932" y="1442410"/>
            <a:ext cx="207392" cy="207392"/>
          </a:xfrm>
          <a:prstGeom prst="plus">
            <a:avLst>
              <a:gd name="adj" fmla="val 40481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n-ea"/>
            </a:endParaRPr>
          </a:p>
        </p:txBody>
      </p:sp>
      <p:pic>
        <p:nvPicPr>
          <p:cNvPr id="7" name="圖片 6" descr="一張含有 螢幕擷取畫面, 行, 鮮豔, 設計 的圖片&#10;&#10;AI 產生的內容可能不正確。">
            <a:extLst>
              <a:ext uri="{FF2B5EF4-FFF2-40B4-BE49-F238E27FC236}">
                <a16:creationId xmlns:a16="http://schemas.microsoft.com/office/drawing/2014/main" id="{0164CD83-CA32-4F12-96B1-B8F5E48D133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242" y="1298373"/>
            <a:ext cx="534956" cy="534956"/>
          </a:xfrm>
          <a:prstGeom prst="rect">
            <a:avLst/>
          </a:prstGeom>
        </p:spPr>
      </p:pic>
      <p:sp>
        <p:nvSpPr>
          <p:cNvPr id="203" name="文字方塊 202">
            <a:extLst>
              <a:ext uri="{FF2B5EF4-FFF2-40B4-BE49-F238E27FC236}">
                <a16:creationId xmlns:a16="http://schemas.microsoft.com/office/drawing/2014/main" id="{057788BA-AD20-4342-931C-14F2385777DF}"/>
              </a:ext>
            </a:extLst>
          </p:cNvPr>
          <p:cNvSpPr txBox="1"/>
          <p:nvPr/>
        </p:nvSpPr>
        <p:spPr>
          <a:xfrm>
            <a:off x="4321024" y="1794198"/>
            <a:ext cx="709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783"/>
            <a:r>
              <a:rPr lang="zh-TW" altLang="en-US" sz="1000" b="1" dirty="0">
                <a:solidFill>
                  <a:srgbClr val="7030A0"/>
                </a:solidFill>
                <a:latin typeface="+mn-ea"/>
              </a:rPr>
              <a:t>調參工具</a:t>
            </a:r>
            <a:endParaRPr lang="en-US" altLang="zh-TW" sz="1000" b="1" dirty="0">
              <a:solidFill>
                <a:srgbClr val="7030A0"/>
              </a:solidFill>
              <a:latin typeface="+mn-ea"/>
            </a:endParaRPr>
          </a:p>
          <a:p>
            <a:pPr algn="ctr" defTabSz="685783"/>
            <a:r>
              <a:rPr lang="zh-TW" altLang="en-US" sz="1000" b="1" dirty="0">
                <a:solidFill>
                  <a:srgbClr val="7030A0"/>
                </a:solidFill>
                <a:latin typeface="+mn-ea"/>
              </a:rPr>
              <a:t>管理</a:t>
            </a:r>
            <a:endParaRPr lang="en-US" altLang="zh-TW" sz="1000" b="1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204" name="十字形 203">
            <a:extLst>
              <a:ext uri="{FF2B5EF4-FFF2-40B4-BE49-F238E27FC236}">
                <a16:creationId xmlns:a16="http://schemas.microsoft.com/office/drawing/2014/main" id="{0688DF27-2417-4F18-B13D-3B18A527601F}"/>
              </a:ext>
            </a:extLst>
          </p:cNvPr>
          <p:cNvSpPr/>
          <p:nvPr/>
        </p:nvSpPr>
        <p:spPr>
          <a:xfrm>
            <a:off x="4036763" y="1442410"/>
            <a:ext cx="207392" cy="207392"/>
          </a:xfrm>
          <a:prstGeom prst="plus">
            <a:avLst>
              <a:gd name="adj" fmla="val 40481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n-ea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B3B5F09F-2A30-4589-A764-33B155CEB485}"/>
              </a:ext>
            </a:extLst>
          </p:cNvPr>
          <p:cNvSpPr txBox="1"/>
          <p:nvPr/>
        </p:nvSpPr>
        <p:spPr>
          <a:xfrm>
            <a:off x="8296790" y="1783764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85783"/>
            <a:r>
              <a:rPr lang="zh-TW" altLang="en-US" sz="1000" b="1" dirty="0">
                <a:solidFill>
                  <a:srgbClr val="7030A0"/>
                </a:solidFill>
                <a:latin typeface="+mn-ea"/>
              </a:rPr>
              <a:t>程式</a:t>
            </a:r>
            <a:endParaRPr lang="en-US" altLang="zh-TW" sz="1000" b="1" dirty="0">
              <a:solidFill>
                <a:srgbClr val="7030A0"/>
              </a:solidFill>
              <a:latin typeface="+mn-ea"/>
            </a:endParaRPr>
          </a:p>
          <a:p>
            <a:pPr algn="ctr" defTabSz="685783"/>
            <a:r>
              <a:rPr lang="zh-TW" altLang="en-US" sz="1000" b="1" dirty="0">
                <a:solidFill>
                  <a:srgbClr val="7030A0"/>
                </a:solidFill>
                <a:latin typeface="+mn-ea"/>
              </a:rPr>
              <a:t>生成器</a:t>
            </a:r>
          </a:p>
        </p:txBody>
      </p:sp>
      <p:pic>
        <p:nvPicPr>
          <p:cNvPr id="71" name="圖片 70">
            <a:extLst>
              <a:ext uri="{FF2B5EF4-FFF2-40B4-BE49-F238E27FC236}">
                <a16:creationId xmlns:a16="http://schemas.microsoft.com/office/drawing/2014/main" id="{102022DB-ADC8-418A-971D-86559F7EE569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14678" y="1250241"/>
            <a:ext cx="533609" cy="527612"/>
          </a:xfrm>
          <a:prstGeom prst="rect">
            <a:avLst/>
          </a:prstGeom>
        </p:spPr>
      </p:pic>
      <p:sp>
        <p:nvSpPr>
          <p:cNvPr id="72" name="十字形 71">
            <a:extLst>
              <a:ext uri="{FF2B5EF4-FFF2-40B4-BE49-F238E27FC236}">
                <a16:creationId xmlns:a16="http://schemas.microsoft.com/office/drawing/2014/main" id="{DCB3B360-A97E-4A36-88AF-41660DD2C2F7}"/>
              </a:ext>
            </a:extLst>
          </p:cNvPr>
          <p:cNvSpPr/>
          <p:nvPr/>
        </p:nvSpPr>
        <p:spPr>
          <a:xfrm>
            <a:off x="7948407" y="1442410"/>
            <a:ext cx="207392" cy="207392"/>
          </a:xfrm>
          <a:prstGeom prst="plus">
            <a:avLst>
              <a:gd name="adj" fmla="val 40481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2639A1-B593-444A-A383-AC285DB8E344}"/>
              </a:ext>
            </a:extLst>
          </p:cNvPr>
          <p:cNvSpPr/>
          <p:nvPr/>
        </p:nvSpPr>
        <p:spPr>
          <a:xfrm>
            <a:off x="460964" y="2740698"/>
            <a:ext cx="2405093" cy="24121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b="1" dirty="0">
                <a:solidFill>
                  <a:schemeClr val="bg1"/>
                </a:solidFill>
              </a:rPr>
              <a:t>Phase1: Modeling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209CDB8F-DAAB-41E2-B898-BF6B7F89AB26}"/>
              </a:ext>
            </a:extLst>
          </p:cNvPr>
          <p:cNvSpPr/>
          <p:nvPr/>
        </p:nvSpPr>
        <p:spPr>
          <a:xfrm>
            <a:off x="3366163" y="2740698"/>
            <a:ext cx="2405093" cy="241212"/>
          </a:xfrm>
          <a:prstGeom prst="rect">
            <a:avLst/>
          </a:prstGeom>
          <a:solidFill>
            <a:srgbClr val="5F29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b="1" dirty="0">
                <a:solidFill>
                  <a:schemeClr val="bg1"/>
                </a:solidFill>
              </a:rPr>
              <a:t>Phase2: Coding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44150B42-A574-46A3-8049-2B231CF5A0CF}"/>
              </a:ext>
            </a:extLst>
          </p:cNvPr>
          <p:cNvSpPr/>
          <p:nvPr/>
        </p:nvSpPr>
        <p:spPr>
          <a:xfrm>
            <a:off x="6271363" y="2740698"/>
            <a:ext cx="2405093" cy="241212"/>
          </a:xfrm>
          <a:prstGeom prst="rect">
            <a:avLst/>
          </a:prstGeom>
          <a:solidFill>
            <a:srgbClr val="5F29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b="1" dirty="0">
                <a:solidFill>
                  <a:schemeClr val="bg1"/>
                </a:solidFill>
              </a:rPr>
              <a:t>Phase3: Tuning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EAFC51F2-438E-41B9-9AC4-3C0FA4E6FDB5}"/>
              </a:ext>
            </a:extLst>
          </p:cNvPr>
          <p:cNvGrpSpPr/>
          <p:nvPr/>
        </p:nvGrpSpPr>
        <p:grpSpPr>
          <a:xfrm>
            <a:off x="3079184" y="2798063"/>
            <a:ext cx="73852" cy="126482"/>
            <a:chOff x="3707904" y="1269426"/>
            <a:chExt cx="271311" cy="482115"/>
          </a:xfrm>
          <a:solidFill>
            <a:schemeClr val="bg1"/>
          </a:solidFill>
        </p:grpSpPr>
        <p:grpSp>
          <p:nvGrpSpPr>
            <p:cNvPr id="52" name="群組 51">
              <a:extLst>
                <a:ext uri="{FF2B5EF4-FFF2-40B4-BE49-F238E27FC236}">
                  <a16:creationId xmlns:a16="http://schemas.microsoft.com/office/drawing/2014/main" id="{8A118EB7-C86C-4E04-B1FD-70A4ECF2C0E4}"/>
                </a:ext>
              </a:extLst>
            </p:cNvPr>
            <p:cNvGrpSpPr/>
            <p:nvPr/>
          </p:nvGrpSpPr>
          <p:grpSpPr>
            <a:xfrm>
              <a:off x="3979215" y="1269426"/>
              <a:ext cx="0" cy="482115"/>
              <a:chOff x="3979215" y="1269426"/>
              <a:chExt cx="0" cy="482115"/>
            </a:xfrm>
            <a:grpFill/>
          </p:grpSpPr>
          <p:cxnSp>
            <p:nvCxnSpPr>
              <p:cNvPr id="56" name="直線單箭頭接點 55">
                <a:extLst>
                  <a:ext uri="{FF2B5EF4-FFF2-40B4-BE49-F238E27FC236}">
                    <a16:creationId xmlns:a16="http://schemas.microsoft.com/office/drawing/2014/main" id="{6F74C900-23D6-4C44-ACD6-9513CCE2C6CB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grpFill/>
              <a:ln w="19050" cap="rnd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線單箭頭接點 56">
                <a:extLst>
                  <a:ext uri="{FF2B5EF4-FFF2-40B4-BE49-F238E27FC236}">
                    <a16:creationId xmlns:a16="http://schemas.microsoft.com/office/drawing/2014/main" id="{A1BCBE05-F700-4E77-8449-29853BEF8A8A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grpFill/>
              <a:ln w="19050" cap="rnd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B58A2093-0F4C-44DA-A308-C33832216A05}"/>
                </a:ext>
              </a:extLst>
            </p:cNvPr>
            <p:cNvGrpSpPr/>
            <p:nvPr/>
          </p:nvGrpSpPr>
          <p:grpSpPr>
            <a:xfrm>
              <a:off x="3707904" y="1269426"/>
              <a:ext cx="0" cy="482115"/>
              <a:chOff x="3979215" y="1269426"/>
              <a:chExt cx="0" cy="482115"/>
            </a:xfrm>
            <a:grpFill/>
          </p:grpSpPr>
          <p:cxnSp>
            <p:nvCxnSpPr>
              <p:cNvPr id="54" name="直線單箭頭接點 53">
                <a:extLst>
                  <a:ext uri="{FF2B5EF4-FFF2-40B4-BE49-F238E27FC236}">
                    <a16:creationId xmlns:a16="http://schemas.microsoft.com/office/drawing/2014/main" id="{6267909E-73D7-4814-8130-8EFC41598BA5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grpFill/>
              <a:ln w="19050" cap="rnd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線單箭頭接點 54">
                <a:extLst>
                  <a:ext uri="{FF2B5EF4-FFF2-40B4-BE49-F238E27FC236}">
                    <a16:creationId xmlns:a16="http://schemas.microsoft.com/office/drawing/2014/main" id="{7AAAE1C6-E15F-4FE0-AD6F-BB14F54C5591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grpFill/>
              <a:ln w="19050" cap="rnd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4F563114-C826-4E69-B113-5BEE7598557C}"/>
              </a:ext>
            </a:extLst>
          </p:cNvPr>
          <p:cNvGrpSpPr/>
          <p:nvPr/>
        </p:nvGrpSpPr>
        <p:grpSpPr>
          <a:xfrm>
            <a:off x="5984384" y="2798063"/>
            <a:ext cx="73852" cy="126482"/>
            <a:chOff x="3707904" y="1269426"/>
            <a:chExt cx="271311" cy="482115"/>
          </a:xfrm>
          <a:solidFill>
            <a:schemeClr val="bg1"/>
          </a:solidFill>
        </p:grpSpPr>
        <p:grpSp>
          <p:nvGrpSpPr>
            <p:cNvPr id="59" name="群組 58">
              <a:extLst>
                <a:ext uri="{FF2B5EF4-FFF2-40B4-BE49-F238E27FC236}">
                  <a16:creationId xmlns:a16="http://schemas.microsoft.com/office/drawing/2014/main" id="{D8CBC843-EE2A-4C1D-A0F8-95B861B151E4}"/>
                </a:ext>
              </a:extLst>
            </p:cNvPr>
            <p:cNvGrpSpPr/>
            <p:nvPr/>
          </p:nvGrpSpPr>
          <p:grpSpPr>
            <a:xfrm>
              <a:off x="3979215" y="1269426"/>
              <a:ext cx="0" cy="482115"/>
              <a:chOff x="3979215" y="1269426"/>
              <a:chExt cx="0" cy="482115"/>
            </a:xfrm>
            <a:grpFill/>
          </p:grpSpPr>
          <p:cxnSp>
            <p:nvCxnSpPr>
              <p:cNvPr id="63" name="直線單箭頭接點 62">
                <a:extLst>
                  <a:ext uri="{FF2B5EF4-FFF2-40B4-BE49-F238E27FC236}">
                    <a16:creationId xmlns:a16="http://schemas.microsoft.com/office/drawing/2014/main" id="{3DD402EE-8F8B-40D5-8C4D-D2389EB2A176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grpFill/>
              <a:ln w="19050" cap="rnd">
                <a:solidFill>
                  <a:srgbClr val="7030A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線單箭頭接點 63">
                <a:extLst>
                  <a:ext uri="{FF2B5EF4-FFF2-40B4-BE49-F238E27FC236}">
                    <a16:creationId xmlns:a16="http://schemas.microsoft.com/office/drawing/2014/main" id="{B16C117F-E43D-4E46-9654-76748857B800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grpFill/>
              <a:ln w="19050" cap="rnd">
                <a:solidFill>
                  <a:srgbClr val="7030A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群組 59">
              <a:extLst>
                <a:ext uri="{FF2B5EF4-FFF2-40B4-BE49-F238E27FC236}">
                  <a16:creationId xmlns:a16="http://schemas.microsoft.com/office/drawing/2014/main" id="{D25E232D-481B-4979-B53D-D2B9E2D611C2}"/>
                </a:ext>
              </a:extLst>
            </p:cNvPr>
            <p:cNvGrpSpPr/>
            <p:nvPr/>
          </p:nvGrpSpPr>
          <p:grpSpPr>
            <a:xfrm>
              <a:off x="3707904" y="1269426"/>
              <a:ext cx="0" cy="482115"/>
              <a:chOff x="3979215" y="1269426"/>
              <a:chExt cx="0" cy="482115"/>
            </a:xfrm>
            <a:grpFill/>
          </p:grpSpPr>
          <p:cxnSp>
            <p:nvCxnSpPr>
              <p:cNvPr id="61" name="直線單箭頭接點 60">
                <a:extLst>
                  <a:ext uri="{FF2B5EF4-FFF2-40B4-BE49-F238E27FC236}">
                    <a16:creationId xmlns:a16="http://schemas.microsoft.com/office/drawing/2014/main" id="{52E1F7CD-7F0A-48E6-8E6A-490A52082B58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grpFill/>
              <a:ln w="19050" cap="rnd">
                <a:solidFill>
                  <a:srgbClr val="7030A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線單箭頭接點 61">
                <a:extLst>
                  <a:ext uri="{FF2B5EF4-FFF2-40B4-BE49-F238E27FC236}">
                    <a16:creationId xmlns:a16="http://schemas.microsoft.com/office/drawing/2014/main" id="{7FBE6676-7FD3-4513-9E5B-A58500EE6955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grpFill/>
              <a:ln w="19050" cap="rnd">
                <a:solidFill>
                  <a:srgbClr val="7030A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40B38438-EDAD-448F-89F7-BB7FAF806936}"/>
              </a:ext>
            </a:extLst>
          </p:cNvPr>
          <p:cNvSpPr txBox="1"/>
          <p:nvPr/>
        </p:nvSpPr>
        <p:spPr>
          <a:xfrm>
            <a:off x="460964" y="2363534"/>
            <a:ext cx="19116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364F81"/>
                </a:solidFill>
              </a:rPr>
              <a:t>AI-Based</a:t>
            </a:r>
            <a:endParaRPr lang="zh-TW" altLang="en-US" sz="1200" b="1" dirty="0">
              <a:solidFill>
                <a:srgbClr val="364F81"/>
              </a:solidFill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FD201C60-CB27-436C-8B6B-66DCBAFFC563}"/>
              </a:ext>
            </a:extLst>
          </p:cNvPr>
          <p:cNvSpPr txBox="1"/>
          <p:nvPr/>
        </p:nvSpPr>
        <p:spPr>
          <a:xfrm>
            <a:off x="3546423" y="2432607"/>
            <a:ext cx="19116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7030A0"/>
                </a:solidFill>
              </a:rPr>
              <a:t>API-Based</a:t>
            </a:r>
            <a:endParaRPr lang="zh-TW" altLang="en-US" sz="1200" b="1" dirty="0">
              <a:solidFill>
                <a:srgbClr val="7030A0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57C0BFE-DEDA-445A-8001-E31E63C4620E}"/>
              </a:ext>
            </a:extLst>
          </p:cNvPr>
          <p:cNvSpPr txBox="1"/>
          <p:nvPr/>
        </p:nvSpPr>
        <p:spPr>
          <a:xfrm>
            <a:off x="460964" y="3047021"/>
            <a:ext cx="2405094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解析數學問題敘述</a:t>
            </a:r>
            <a:endParaRPr lang="en-US" altLang="zh-TW" dirty="0"/>
          </a:p>
          <a:p>
            <a:r>
              <a:rPr lang="zh-TW" altLang="en-US" b="0" i="0" dirty="0">
                <a:effectLst/>
                <a:latin typeface="Inter"/>
              </a:rPr>
              <a:t>↓</a:t>
            </a:r>
            <a:endParaRPr lang="en-US" altLang="zh-TW" b="0" i="0" dirty="0">
              <a:effectLst/>
              <a:latin typeface="Inter"/>
            </a:endParaRPr>
          </a:p>
          <a:p>
            <a:r>
              <a:rPr lang="zh-TW" altLang="en-US" b="0" i="0" dirty="0">
                <a:effectLst/>
                <a:latin typeface="Inter"/>
              </a:rPr>
              <a:t>設計 集合</a:t>
            </a:r>
            <a:r>
              <a:rPr lang="en-US" altLang="zh-TW" b="0" i="0" dirty="0">
                <a:effectLst/>
                <a:latin typeface="Inter"/>
              </a:rPr>
              <a:t>×</a:t>
            </a:r>
            <a:r>
              <a:rPr lang="zh-TW" altLang="en-US" b="0" i="0" dirty="0">
                <a:effectLst/>
                <a:latin typeface="Inter"/>
              </a:rPr>
              <a:t>參數</a:t>
            </a:r>
            <a:endParaRPr lang="en-US" altLang="zh-TW" b="0" i="0" dirty="0">
              <a:effectLst/>
              <a:latin typeface="Inter"/>
            </a:endParaRPr>
          </a:p>
          <a:p>
            <a:r>
              <a:rPr lang="zh-TW" altLang="en-US" b="0" i="0" dirty="0">
                <a:effectLst/>
                <a:latin typeface="Inter"/>
              </a:rPr>
              <a:t>↓</a:t>
            </a:r>
            <a:endParaRPr lang="en-US" altLang="zh-TW" dirty="0">
              <a:latin typeface="Inter"/>
            </a:endParaRPr>
          </a:p>
          <a:p>
            <a:r>
              <a:rPr lang="zh-TW" altLang="en-US" b="0" i="0" dirty="0">
                <a:effectLst/>
                <a:latin typeface="Inter"/>
              </a:rPr>
              <a:t>設計 變數 </a:t>
            </a:r>
            <a:r>
              <a:rPr lang="en-US" altLang="zh-TW" b="0" i="0" dirty="0">
                <a:effectLst/>
                <a:latin typeface="Inter"/>
              </a:rPr>
              <a:t>× </a:t>
            </a:r>
            <a:r>
              <a:rPr lang="zh-TW" altLang="en-US" dirty="0">
                <a:latin typeface="Inter"/>
              </a:rPr>
              <a:t>限制式</a:t>
            </a:r>
            <a:r>
              <a:rPr lang="zh-TW" altLang="en-US" b="0" i="0" dirty="0">
                <a:effectLst/>
                <a:latin typeface="Inter"/>
              </a:rPr>
              <a:t> </a:t>
            </a:r>
            <a:r>
              <a:rPr lang="en-US" altLang="zh-TW" b="0" i="0" dirty="0">
                <a:effectLst/>
                <a:latin typeface="Inter"/>
              </a:rPr>
              <a:t>× </a:t>
            </a:r>
            <a:r>
              <a:rPr lang="zh-TW" altLang="en-US" b="0" i="0" dirty="0">
                <a:effectLst/>
                <a:latin typeface="Inter"/>
              </a:rPr>
              <a:t>目標式</a:t>
            </a:r>
            <a:endParaRPr lang="zh-TW" altLang="en-US" dirty="0"/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3210472E-387A-4037-9E39-519BDB45BC28}"/>
              </a:ext>
            </a:extLst>
          </p:cNvPr>
          <p:cNvSpPr txBox="1"/>
          <p:nvPr/>
        </p:nvSpPr>
        <p:spPr>
          <a:xfrm>
            <a:off x="460964" y="4330685"/>
            <a:ext cx="233424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i="0" dirty="0">
                <a:solidFill>
                  <a:srgbClr val="002060"/>
                </a:solidFill>
                <a:effectLst/>
                <a:latin typeface="Inter"/>
              </a:rPr>
              <a:t>✓ Model.md</a:t>
            </a:r>
            <a:endParaRPr lang="zh-TW" altLang="en-US" dirty="0">
              <a:solidFill>
                <a:srgbClr val="002060"/>
              </a:solidFill>
            </a:endParaRPr>
          </a:p>
        </p:txBody>
      </p: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159BDC6E-10CB-43D7-8BCC-5B9AA4368058}"/>
              </a:ext>
            </a:extLst>
          </p:cNvPr>
          <p:cNvSpPr txBox="1"/>
          <p:nvPr/>
        </p:nvSpPr>
        <p:spPr>
          <a:xfrm>
            <a:off x="3366162" y="3047021"/>
            <a:ext cx="2405094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0" i="0" dirty="0">
                <a:effectLst/>
                <a:latin typeface="Inter"/>
              </a:rPr>
              <a:t>模型物件檢驗</a:t>
            </a:r>
            <a:br>
              <a:rPr lang="zh-TW" altLang="en-US" dirty="0"/>
            </a:br>
            <a:r>
              <a:rPr lang="zh-TW" altLang="en-US" b="0" i="0" dirty="0">
                <a:effectLst/>
                <a:latin typeface="Inter"/>
              </a:rPr>
              <a:t>↓</a:t>
            </a:r>
            <a:br>
              <a:rPr lang="zh-TW" altLang="en-US" dirty="0"/>
            </a:br>
            <a:r>
              <a:rPr lang="zh-TW" altLang="en-US" dirty="0"/>
              <a:t>轉譯為 </a:t>
            </a:r>
            <a:r>
              <a:rPr lang="en-US" altLang="zh-TW" dirty="0"/>
              <a:t>API Code</a:t>
            </a:r>
            <a:br>
              <a:rPr lang="en-US" altLang="zh-TW" dirty="0"/>
            </a:br>
            <a:r>
              <a:rPr lang="en-US" altLang="zh-TW" b="0" i="0" dirty="0">
                <a:effectLst/>
                <a:latin typeface="Inter"/>
              </a:rPr>
              <a:t>↓</a:t>
            </a:r>
            <a:br>
              <a:rPr lang="en-US" altLang="zh-TW" dirty="0"/>
            </a:br>
            <a:r>
              <a:rPr lang="zh-TW" altLang="en-US" dirty="0"/>
              <a:t>創建實驗環境</a:t>
            </a:r>
          </a:p>
        </p:txBody>
      </p: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3E17B97B-D68B-4F98-B096-427AF64C1F46}"/>
              </a:ext>
            </a:extLst>
          </p:cNvPr>
          <p:cNvSpPr txBox="1"/>
          <p:nvPr/>
        </p:nvSpPr>
        <p:spPr>
          <a:xfrm>
            <a:off x="3437008" y="4330685"/>
            <a:ext cx="233424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i="0" dirty="0">
                <a:solidFill>
                  <a:srgbClr val="7030A0"/>
                </a:solidFill>
                <a:effectLst/>
                <a:latin typeface="Inter"/>
              </a:rPr>
              <a:t>✓ API</a:t>
            </a:r>
            <a:r>
              <a:rPr lang="zh-TW" altLang="en-US" b="1" i="0" dirty="0">
                <a:solidFill>
                  <a:srgbClr val="7030A0"/>
                </a:solidFill>
                <a:effectLst/>
                <a:latin typeface="Inter"/>
              </a:rPr>
              <a:t> </a:t>
            </a:r>
            <a:r>
              <a:rPr lang="en-US" altLang="zh-TW" b="1" i="0" dirty="0">
                <a:solidFill>
                  <a:srgbClr val="7030A0"/>
                </a:solidFill>
                <a:effectLst/>
                <a:latin typeface="Inter"/>
              </a:rPr>
              <a:t>Model Code</a:t>
            </a:r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1E399838-DCDC-4C43-82A1-8D2F6D10656D}"/>
              </a:ext>
            </a:extLst>
          </p:cNvPr>
          <p:cNvSpPr txBox="1"/>
          <p:nvPr/>
        </p:nvSpPr>
        <p:spPr>
          <a:xfrm>
            <a:off x="6271362" y="3047021"/>
            <a:ext cx="2405094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Inter"/>
              </a:rPr>
              <a:t>定義</a:t>
            </a:r>
            <a:r>
              <a:rPr lang="zh-TW" altLang="en-US" b="0" i="0" dirty="0">
                <a:effectLst/>
                <a:latin typeface="Inter"/>
              </a:rPr>
              <a:t>實驗設計</a:t>
            </a:r>
            <a:br>
              <a:rPr lang="zh-TW" altLang="en-US" dirty="0"/>
            </a:br>
            <a:r>
              <a:rPr lang="zh-TW" altLang="en-US" b="0" i="0" dirty="0">
                <a:effectLst/>
                <a:latin typeface="Inter"/>
              </a:rPr>
              <a:t>↓</a:t>
            </a:r>
            <a:br>
              <a:rPr lang="zh-TW" altLang="en-US" dirty="0"/>
            </a:br>
            <a:r>
              <a:rPr lang="zh-TW" altLang="en-US" dirty="0"/>
              <a:t>迭代</a:t>
            </a:r>
            <a:r>
              <a:rPr lang="zh-TW" altLang="en-US" b="0" i="0" dirty="0">
                <a:effectLst/>
                <a:latin typeface="Inter"/>
              </a:rPr>
              <a:t>調整 </a:t>
            </a:r>
            <a:r>
              <a:rPr lang="en-US" altLang="zh-TW" b="0" i="0" dirty="0">
                <a:effectLst/>
                <a:latin typeface="Inter"/>
              </a:rPr>
              <a:t>Solver</a:t>
            </a:r>
            <a:r>
              <a:rPr lang="zh-TW" altLang="en-US" b="0" i="0" dirty="0">
                <a:effectLst/>
                <a:latin typeface="Inter"/>
              </a:rPr>
              <a:t> </a:t>
            </a:r>
            <a:r>
              <a:rPr lang="zh-TW" altLang="en-US" dirty="0">
                <a:latin typeface="Inter"/>
              </a:rPr>
              <a:t>參數</a:t>
            </a:r>
            <a:br>
              <a:rPr lang="zh-TW" altLang="en-US" dirty="0"/>
            </a:br>
            <a:r>
              <a:rPr lang="zh-TW" altLang="en-US" b="0" i="0" dirty="0">
                <a:effectLst/>
                <a:latin typeface="Inter"/>
              </a:rPr>
              <a:t>↓</a:t>
            </a:r>
            <a:br>
              <a:rPr lang="zh-TW" altLang="en-US" dirty="0"/>
            </a:br>
            <a:r>
              <a:rPr lang="zh-TW" altLang="en-US" dirty="0"/>
              <a:t>嘗試最佳參數設定</a:t>
            </a:r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95133383-13F8-4DEC-A235-A04379DFF488}"/>
              </a:ext>
            </a:extLst>
          </p:cNvPr>
          <p:cNvSpPr txBox="1"/>
          <p:nvPr/>
        </p:nvSpPr>
        <p:spPr>
          <a:xfrm>
            <a:off x="6342208" y="4330685"/>
            <a:ext cx="233424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i="0" dirty="0">
                <a:solidFill>
                  <a:srgbClr val="7030A0"/>
                </a:solidFill>
                <a:effectLst/>
                <a:latin typeface="Inter"/>
              </a:rPr>
              <a:t>✓ CSV </a:t>
            </a:r>
            <a:r>
              <a:rPr lang="zh-TW" altLang="en-US" b="1" i="0" dirty="0">
                <a:solidFill>
                  <a:srgbClr val="7030A0"/>
                </a:solidFill>
                <a:effectLst/>
                <a:latin typeface="Inter"/>
              </a:rPr>
              <a:t>實驗報告</a:t>
            </a:r>
            <a:endParaRPr lang="zh-TW" altLang="en-US" dirty="0">
              <a:solidFill>
                <a:srgbClr val="7030A0"/>
              </a:solidFill>
            </a:endParaRPr>
          </a:p>
        </p:txBody>
      </p:sp>
      <p:pic>
        <p:nvPicPr>
          <p:cNvPr id="93" name="圖片 92">
            <a:extLst>
              <a:ext uri="{FF2B5EF4-FFF2-40B4-BE49-F238E27FC236}">
                <a16:creationId xmlns:a16="http://schemas.microsoft.com/office/drawing/2014/main" id="{74A41722-068D-4D18-BD45-0E95DFAB7287}"/>
              </a:ext>
            </a:extLst>
          </p:cNvPr>
          <p:cNvPicPr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43121" y="2655029"/>
            <a:ext cx="404495" cy="405000"/>
          </a:xfrm>
          <a:prstGeom prst="rect">
            <a:avLst/>
          </a:prstGeom>
        </p:spPr>
      </p:pic>
      <p:pic>
        <p:nvPicPr>
          <p:cNvPr id="94" name="圖片 93">
            <a:extLst>
              <a:ext uri="{FF2B5EF4-FFF2-40B4-BE49-F238E27FC236}">
                <a16:creationId xmlns:a16="http://schemas.microsoft.com/office/drawing/2014/main" id="{84043F22-923A-4233-A470-7FC9C467F14B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80251" y="2657554"/>
            <a:ext cx="404495" cy="399949"/>
          </a:xfrm>
          <a:prstGeom prst="rect">
            <a:avLst/>
          </a:prstGeom>
        </p:spPr>
      </p:pic>
      <p:pic>
        <p:nvPicPr>
          <p:cNvPr id="95" name="圖片 94">
            <a:extLst>
              <a:ext uri="{FF2B5EF4-FFF2-40B4-BE49-F238E27FC236}">
                <a16:creationId xmlns:a16="http://schemas.microsoft.com/office/drawing/2014/main" id="{27452E74-0EE9-416F-BA9D-731E54BDDB87}"/>
              </a:ext>
            </a:extLst>
          </p:cNvPr>
          <p:cNvPicPr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73101" y="2655281"/>
            <a:ext cx="404495" cy="404495"/>
          </a:xfrm>
          <a:prstGeom prst="rect">
            <a:avLst/>
          </a:prstGeom>
        </p:spPr>
      </p:pic>
      <p:pic>
        <p:nvPicPr>
          <p:cNvPr id="98" name="圖片 97">
            <a:extLst>
              <a:ext uri="{FF2B5EF4-FFF2-40B4-BE49-F238E27FC236}">
                <a16:creationId xmlns:a16="http://schemas.microsoft.com/office/drawing/2014/main" id="{D2553423-E8A6-48B5-9853-AA6CF69A8B6B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701" y="2368729"/>
            <a:ext cx="252000" cy="252000"/>
          </a:xfrm>
          <a:prstGeom prst="rect">
            <a:avLst/>
          </a:prstGeom>
        </p:spPr>
      </p:pic>
      <p:pic>
        <p:nvPicPr>
          <p:cNvPr id="99" name="圖片 98">
            <a:extLst>
              <a:ext uri="{FF2B5EF4-FFF2-40B4-BE49-F238E27FC236}">
                <a16:creationId xmlns:a16="http://schemas.microsoft.com/office/drawing/2014/main" id="{3C89D58A-B11C-4759-89C0-31AF3E0EA402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6359" y="2441936"/>
            <a:ext cx="252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7287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454AC9D5-29AB-4746-9770-5797D3510B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MILP Development APIs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826AD35-8E09-413A-86E0-539B95C7B9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9417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F0F85A-D8BE-489F-8A26-3F9E8BB6D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54" y="427411"/>
            <a:ext cx="7605553" cy="264977"/>
          </a:xfrm>
        </p:spPr>
        <p:txBody>
          <a:bodyPr/>
          <a:lstStyle/>
          <a:p>
            <a:r>
              <a:rPr lang="zh-TW" altLang="en-US" dirty="0"/>
              <a:t>框架說明｜</a:t>
            </a:r>
            <a:r>
              <a:rPr lang="zh-TW" altLang="en-US" b="0" dirty="0"/>
              <a:t>數規模型開發流程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B04F98-C67E-4BB2-A8FC-D45C046C6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175" y="212009"/>
            <a:ext cx="5904507" cy="168954"/>
          </a:xfrm>
        </p:spPr>
        <p:txBody>
          <a:bodyPr/>
          <a:lstStyle/>
          <a:p>
            <a:r>
              <a:rPr lang="en-US" altLang="zh-TW" dirty="0"/>
              <a:t>Dev. Framework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04602B-3F3A-44D6-8FC7-8D6198579B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512" y="415908"/>
            <a:ext cx="504800" cy="287982"/>
          </a:xfrm>
        </p:spPr>
        <p:txBody>
          <a:bodyPr/>
          <a:lstStyle/>
          <a:p>
            <a:r>
              <a:rPr lang="en-US" altLang="zh-TW" dirty="0"/>
              <a:t>02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BDA344-228E-467F-9CAE-213808D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855534"/>
            <a:ext cx="717094" cy="274637"/>
          </a:xfrm>
        </p:spPr>
        <p:txBody>
          <a:bodyPr/>
          <a:lstStyle/>
          <a:p>
            <a:fld id="{16BB1EDA-9669-4099-AA83-49C2D8E17945}" type="slidenum">
              <a:rPr lang="zh-TW" altLang="en-US" smtClean="0"/>
              <a:pPr/>
              <a:t>15</a:t>
            </a:fld>
            <a:endParaRPr lang="zh-TW" altLang="en-US" dirty="0"/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57FEF43C-F3D5-48B2-9DF1-34B6566DDA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1964" y="4869900"/>
            <a:ext cx="7657256" cy="273600"/>
          </a:xfrm>
        </p:spPr>
        <p:txBody>
          <a:bodyPr/>
          <a:lstStyle/>
          <a:p>
            <a:endParaRPr lang="zh-TW" altLang="en-US" dirty="0"/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7A4C3EB7-2AEC-4047-8FC0-C4207C1DD3F1}"/>
              </a:ext>
            </a:extLst>
          </p:cNvPr>
          <p:cNvGrpSpPr/>
          <p:nvPr/>
        </p:nvGrpSpPr>
        <p:grpSpPr>
          <a:xfrm>
            <a:off x="2980948" y="888874"/>
            <a:ext cx="3182104" cy="369332"/>
            <a:chOff x="2980948" y="791987"/>
            <a:chExt cx="3182104" cy="369332"/>
          </a:xfrm>
        </p:grpSpPr>
        <p:sp>
          <p:nvSpPr>
            <p:cNvPr id="397" name="文字方塊 396">
              <a:extLst>
                <a:ext uri="{FF2B5EF4-FFF2-40B4-BE49-F238E27FC236}">
                  <a16:creationId xmlns:a16="http://schemas.microsoft.com/office/drawing/2014/main" id="{1F850734-32F0-4527-B326-07999AA78689}"/>
                </a:ext>
              </a:extLst>
            </p:cNvPr>
            <p:cNvSpPr txBox="1"/>
            <p:nvPr/>
          </p:nvSpPr>
          <p:spPr>
            <a:xfrm>
              <a:off x="3340947" y="791987"/>
              <a:ext cx="28221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800" b="1" dirty="0">
                  <a:solidFill>
                    <a:srgbClr val="7030A0"/>
                  </a:solidFill>
                </a:rPr>
                <a:t>MILP Development APIs</a:t>
              </a:r>
              <a:endParaRPr lang="zh-TW" altLang="en-US" sz="1800" b="1" dirty="0">
                <a:solidFill>
                  <a:srgbClr val="7030A0"/>
                </a:solidFill>
              </a:endParaRPr>
            </a:p>
          </p:txBody>
        </p:sp>
        <p:pic>
          <p:nvPicPr>
            <p:cNvPr id="398" name="圖片 397">
              <a:extLst>
                <a:ext uri="{FF2B5EF4-FFF2-40B4-BE49-F238E27FC236}">
                  <a16:creationId xmlns:a16="http://schemas.microsoft.com/office/drawing/2014/main" id="{96565A8C-C32D-4DBE-84B8-1276D778E59A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80948" y="791987"/>
              <a:ext cx="360000" cy="360000"/>
            </a:xfrm>
            <a:prstGeom prst="rect">
              <a:avLst/>
            </a:prstGeom>
          </p:spPr>
        </p:pic>
      </p:grpSp>
      <p:sp>
        <p:nvSpPr>
          <p:cNvPr id="226" name="矩形: 圓角 225">
            <a:extLst>
              <a:ext uri="{FF2B5EF4-FFF2-40B4-BE49-F238E27FC236}">
                <a16:creationId xmlns:a16="http://schemas.microsoft.com/office/drawing/2014/main" id="{A92C69F6-6668-47B7-92F5-A74ECD0A52D9}"/>
              </a:ext>
            </a:extLst>
          </p:cNvPr>
          <p:cNvSpPr/>
          <p:nvPr/>
        </p:nvSpPr>
        <p:spPr>
          <a:xfrm>
            <a:off x="434474" y="1507405"/>
            <a:ext cx="1205254" cy="1775057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228" name="矩形: 圓角 227">
            <a:extLst>
              <a:ext uri="{FF2B5EF4-FFF2-40B4-BE49-F238E27FC236}">
                <a16:creationId xmlns:a16="http://schemas.microsoft.com/office/drawing/2014/main" id="{BEE442EE-ADA8-4484-BC62-E398E9614453}"/>
              </a:ext>
            </a:extLst>
          </p:cNvPr>
          <p:cNvSpPr/>
          <p:nvPr/>
        </p:nvSpPr>
        <p:spPr>
          <a:xfrm>
            <a:off x="434474" y="1507405"/>
            <a:ext cx="1205254" cy="1775057"/>
          </a:xfrm>
          <a:prstGeom prst="roundRect">
            <a:avLst/>
          </a:prstGeom>
          <a:solidFill>
            <a:srgbClr val="F5F5F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231" name="文字方塊 230">
            <a:extLst>
              <a:ext uri="{FF2B5EF4-FFF2-40B4-BE49-F238E27FC236}">
                <a16:creationId xmlns:a16="http://schemas.microsoft.com/office/drawing/2014/main" id="{535C93F9-5021-405E-AE09-67026829D1BB}"/>
              </a:ext>
            </a:extLst>
          </p:cNvPr>
          <p:cNvSpPr txBox="1"/>
          <p:nvPr/>
        </p:nvSpPr>
        <p:spPr>
          <a:xfrm>
            <a:off x="544957" y="2055975"/>
            <a:ext cx="999436" cy="351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zh-TW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標準化開發流程</a:t>
            </a:r>
            <a:endParaRPr lang="en-US" altLang="zh-TW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algn="ctr" defTabSz="685783"/>
            <a:r>
              <a:rPr lang="zh-TW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提供模組化 </a:t>
            </a:r>
            <a:r>
              <a:rPr lang="en-US" altLang="zh-TW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APIs</a:t>
            </a:r>
            <a:endParaRPr lang="zh-TW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232" name="文字方塊 231">
            <a:extLst>
              <a:ext uri="{FF2B5EF4-FFF2-40B4-BE49-F238E27FC236}">
                <a16:creationId xmlns:a16="http://schemas.microsoft.com/office/drawing/2014/main" id="{D16B8E4D-8B22-4AB0-A28C-8627D825D2FE}"/>
              </a:ext>
            </a:extLst>
          </p:cNvPr>
          <p:cNvSpPr txBox="1"/>
          <p:nvPr/>
        </p:nvSpPr>
        <p:spPr>
          <a:xfrm>
            <a:off x="537384" y="1682625"/>
            <a:ext cx="9994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zh-TW" altLang="en-US" sz="1000" b="1" dirty="0">
                <a:solidFill>
                  <a:srgbClr val="7030A0"/>
                </a:solidFill>
                <a:latin typeface="+mn-ea"/>
              </a:rPr>
              <a:t>求解器引擎</a:t>
            </a:r>
            <a:endParaRPr lang="en-US" altLang="zh-TW" sz="1000" b="1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233" name="文字方塊 232">
            <a:extLst>
              <a:ext uri="{FF2B5EF4-FFF2-40B4-BE49-F238E27FC236}">
                <a16:creationId xmlns:a16="http://schemas.microsoft.com/office/drawing/2014/main" id="{25737A15-D6FB-4CD7-9D3B-7FC117217D6D}"/>
              </a:ext>
            </a:extLst>
          </p:cNvPr>
          <p:cNvSpPr txBox="1"/>
          <p:nvPr/>
        </p:nvSpPr>
        <p:spPr>
          <a:xfrm>
            <a:off x="502285" y="1836012"/>
            <a:ext cx="1069631" cy="205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en-US" altLang="zh-TW" sz="7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OptEngine</a:t>
            </a:r>
          </a:p>
        </p:txBody>
      </p:sp>
      <p:cxnSp>
        <p:nvCxnSpPr>
          <p:cNvPr id="234" name="直線接點 233">
            <a:extLst>
              <a:ext uri="{FF2B5EF4-FFF2-40B4-BE49-F238E27FC236}">
                <a16:creationId xmlns:a16="http://schemas.microsoft.com/office/drawing/2014/main" id="{F3495210-AFDA-4C3C-B92D-E2F3CBE23F70}"/>
              </a:ext>
            </a:extLst>
          </p:cNvPr>
          <p:cNvCxnSpPr>
            <a:cxnSpLocks/>
          </p:cNvCxnSpPr>
          <p:nvPr/>
        </p:nvCxnSpPr>
        <p:spPr>
          <a:xfrm>
            <a:off x="561472" y="2505007"/>
            <a:ext cx="951258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5" name="圖片 234">
            <a:extLst>
              <a:ext uri="{FF2B5EF4-FFF2-40B4-BE49-F238E27FC236}">
                <a16:creationId xmlns:a16="http://schemas.microsoft.com/office/drawing/2014/main" id="{570F3B32-7E6E-421C-86E5-51C89A7E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3769" y="2601128"/>
            <a:ext cx="526665" cy="5266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024A936C-11B3-4ECF-8C90-EC0E43EB01FE}"/>
              </a:ext>
            </a:extLst>
          </p:cNvPr>
          <p:cNvGrpSpPr/>
          <p:nvPr/>
        </p:nvGrpSpPr>
        <p:grpSpPr>
          <a:xfrm>
            <a:off x="1844586" y="1507405"/>
            <a:ext cx="1205254" cy="1775057"/>
            <a:chOff x="1844586" y="1507405"/>
            <a:chExt cx="1205254" cy="1775057"/>
          </a:xfrm>
        </p:grpSpPr>
        <p:sp>
          <p:nvSpPr>
            <p:cNvPr id="245" name="矩形: 圓角 244">
              <a:extLst>
                <a:ext uri="{FF2B5EF4-FFF2-40B4-BE49-F238E27FC236}">
                  <a16:creationId xmlns:a16="http://schemas.microsoft.com/office/drawing/2014/main" id="{3256BF38-72DC-4456-B8AB-336DB6B33ECC}"/>
                </a:ext>
              </a:extLst>
            </p:cNvPr>
            <p:cNvSpPr/>
            <p:nvPr/>
          </p:nvSpPr>
          <p:spPr>
            <a:xfrm>
              <a:off x="1844586" y="1507405"/>
              <a:ext cx="1205254" cy="177505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13500000" algn="br" rotWithShape="0">
                <a:schemeClr val="bg1">
                  <a:lumMod val="9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246" name="矩形: 圓角 245">
              <a:extLst>
                <a:ext uri="{FF2B5EF4-FFF2-40B4-BE49-F238E27FC236}">
                  <a16:creationId xmlns:a16="http://schemas.microsoft.com/office/drawing/2014/main" id="{5FCB95BC-8E23-4C73-A615-70B3277C021F}"/>
                </a:ext>
              </a:extLst>
            </p:cNvPr>
            <p:cNvSpPr/>
            <p:nvPr/>
          </p:nvSpPr>
          <p:spPr>
            <a:xfrm>
              <a:off x="1844586" y="1507405"/>
              <a:ext cx="1205254" cy="177505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247" name="文字方塊 246">
              <a:extLst>
                <a:ext uri="{FF2B5EF4-FFF2-40B4-BE49-F238E27FC236}">
                  <a16:creationId xmlns:a16="http://schemas.microsoft.com/office/drawing/2014/main" id="{CCA110C8-E35D-4DD7-8455-F64A4366670A}"/>
                </a:ext>
              </a:extLst>
            </p:cNvPr>
            <p:cNvSpPr txBox="1"/>
            <p:nvPr/>
          </p:nvSpPr>
          <p:spPr>
            <a:xfrm>
              <a:off x="1955069" y="2055975"/>
              <a:ext cx="99943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zh-TW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標準化實驗流程</a:t>
              </a:r>
              <a:endParaRPr lang="en-US" altLang="zh-TW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  <a:p>
              <a:pPr algn="ctr" defTabSz="685783"/>
              <a:r>
                <a:rPr lang="zh-TW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參數與模型抽象化</a:t>
              </a:r>
            </a:p>
          </p:txBody>
        </p:sp>
        <p:sp>
          <p:nvSpPr>
            <p:cNvPr id="248" name="文字方塊 247">
              <a:extLst>
                <a:ext uri="{FF2B5EF4-FFF2-40B4-BE49-F238E27FC236}">
                  <a16:creationId xmlns:a16="http://schemas.microsoft.com/office/drawing/2014/main" id="{21AB74B0-ADDF-4BF3-8B5A-807EF09CA06B}"/>
                </a:ext>
              </a:extLst>
            </p:cNvPr>
            <p:cNvSpPr txBox="1"/>
            <p:nvPr/>
          </p:nvSpPr>
          <p:spPr>
            <a:xfrm>
              <a:off x="1947496" y="1682625"/>
              <a:ext cx="99943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zh-TW" altLang="en-US" sz="1000" b="1" dirty="0">
                  <a:solidFill>
                    <a:schemeClr val="accent6">
                      <a:lumMod val="50000"/>
                    </a:schemeClr>
                  </a:solidFill>
                  <a:latin typeface="+mn-ea"/>
                </a:rPr>
                <a:t>實驗管理</a:t>
              </a:r>
            </a:p>
          </p:txBody>
        </p:sp>
        <p:sp>
          <p:nvSpPr>
            <p:cNvPr id="249" name="文字方塊 248">
              <a:extLst>
                <a:ext uri="{FF2B5EF4-FFF2-40B4-BE49-F238E27FC236}">
                  <a16:creationId xmlns:a16="http://schemas.microsoft.com/office/drawing/2014/main" id="{18C315E4-DF2E-4727-AC05-EB4F17D9E121}"/>
                </a:ext>
              </a:extLst>
            </p:cNvPr>
            <p:cNvSpPr txBox="1"/>
            <p:nvPr/>
          </p:nvSpPr>
          <p:spPr>
            <a:xfrm>
              <a:off x="1912397" y="1836012"/>
              <a:ext cx="1069631" cy="2052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en-US" altLang="zh-TW" sz="7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Experiment</a:t>
              </a:r>
              <a:r>
                <a:rPr lang="zh-TW" altLang="en-US" sz="7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 </a:t>
              </a:r>
              <a:r>
                <a:rPr lang="en-US" altLang="zh-TW" sz="7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Tool</a:t>
              </a:r>
            </a:p>
          </p:txBody>
        </p:sp>
        <p:cxnSp>
          <p:nvCxnSpPr>
            <p:cNvPr id="250" name="直線接點 249">
              <a:extLst>
                <a:ext uri="{FF2B5EF4-FFF2-40B4-BE49-F238E27FC236}">
                  <a16:creationId xmlns:a16="http://schemas.microsoft.com/office/drawing/2014/main" id="{BFD81459-19E7-4F12-92B3-EAFB39A30059}"/>
                </a:ext>
              </a:extLst>
            </p:cNvPr>
            <p:cNvCxnSpPr>
              <a:cxnSpLocks/>
            </p:cNvCxnSpPr>
            <p:nvPr/>
          </p:nvCxnSpPr>
          <p:spPr>
            <a:xfrm>
              <a:off x="1971584" y="2505007"/>
              <a:ext cx="951258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1" name="圖片 250">
              <a:extLst>
                <a:ext uri="{FF2B5EF4-FFF2-40B4-BE49-F238E27FC236}">
                  <a16:creationId xmlns:a16="http://schemas.microsoft.com/office/drawing/2014/main" id="{E2B4D6E4-0A04-4A8F-93F1-274ECAABB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83881" y="2601128"/>
              <a:ext cx="526665" cy="5266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7" name="矩形: 圓角 236">
            <a:extLst>
              <a:ext uri="{FF2B5EF4-FFF2-40B4-BE49-F238E27FC236}">
                <a16:creationId xmlns:a16="http://schemas.microsoft.com/office/drawing/2014/main" id="{AFD5F21D-8677-4A45-AE99-2EB2F654CF69}"/>
              </a:ext>
            </a:extLst>
          </p:cNvPr>
          <p:cNvSpPr/>
          <p:nvPr/>
        </p:nvSpPr>
        <p:spPr>
          <a:xfrm>
            <a:off x="6074923" y="1507405"/>
            <a:ext cx="1205254" cy="1775057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238" name="矩形: 圓角 237">
            <a:extLst>
              <a:ext uri="{FF2B5EF4-FFF2-40B4-BE49-F238E27FC236}">
                <a16:creationId xmlns:a16="http://schemas.microsoft.com/office/drawing/2014/main" id="{9E82866A-DAA9-431B-BE35-3F2D4B5DF08F}"/>
              </a:ext>
            </a:extLst>
          </p:cNvPr>
          <p:cNvSpPr/>
          <p:nvPr/>
        </p:nvSpPr>
        <p:spPr>
          <a:xfrm>
            <a:off x="6074923" y="1507405"/>
            <a:ext cx="1205254" cy="1775057"/>
          </a:xfrm>
          <a:prstGeom prst="roundRect">
            <a:avLst/>
          </a:prstGeom>
          <a:solidFill>
            <a:srgbClr val="F5F5F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239" name="文字方塊 238">
            <a:extLst>
              <a:ext uri="{FF2B5EF4-FFF2-40B4-BE49-F238E27FC236}">
                <a16:creationId xmlns:a16="http://schemas.microsoft.com/office/drawing/2014/main" id="{2E4D1401-7490-4ACF-8BAC-5E5905D5C9EC}"/>
              </a:ext>
            </a:extLst>
          </p:cNvPr>
          <p:cNvSpPr txBox="1"/>
          <p:nvPr/>
        </p:nvSpPr>
        <p:spPr>
          <a:xfrm>
            <a:off x="6185406" y="2055975"/>
            <a:ext cx="999436" cy="351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zh-TW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追蹤程式執行</a:t>
            </a:r>
            <a:endParaRPr lang="en-US" altLang="zh-TW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algn="ctr" defTabSz="685783"/>
            <a:r>
              <a:rPr lang="zh-TW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錯誤資訊</a:t>
            </a:r>
            <a:endParaRPr lang="en-US" altLang="zh-TW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240" name="文字方塊 239">
            <a:extLst>
              <a:ext uri="{FF2B5EF4-FFF2-40B4-BE49-F238E27FC236}">
                <a16:creationId xmlns:a16="http://schemas.microsoft.com/office/drawing/2014/main" id="{233B4310-7A4B-4B3D-8925-B63546941C0D}"/>
              </a:ext>
            </a:extLst>
          </p:cNvPr>
          <p:cNvSpPr txBox="1"/>
          <p:nvPr/>
        </p:nvSpPr>
        <p:spPr>
          <a:xfrm>
            <a:off x="6177833" y="1682625"/>
            <a:ext cx="9994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zh-TW" altLang="en-US" sz="1000" b="1">
                <a:solidFill>
                  <a:srgbClr val="7030A0"/>
                </a:solidFill>
                <a:latin typeface="+mn-ea"/>
              </a:rPr>
              <a:t>執行日誌管理</a:t>
            </a:r>
            <a:endParaRPr lang="en-US" altLang="zh-TW" sz="1000" b="1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241" name="文字方塊 240">
            <a:extLst>
              <a:ext uri="{FF2B5EF4-FFF2-40B4-BE49-F238E27FC236}">
                <a16:creationId xmlns:a16="http://schemas.microsoft.com/office/drawing/2014/main" id="{8784ACD4-EBC1-4A70-A6C1-A370EE7BAC48}"/>
              </a:ext>
            </a:extLst>
          </p:cNvPr>
          <p:cNvSpPr txBox="1"/>
          <p:nvPr/>
        </p:nvSpPr>
        <p:spPr>
          <a:xfrm>
            <a:off x="6142734" y="1836012"/>
            <a:ext cx="1069631" cy="205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en-US" altLang="zh-TW" sz="7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Log Manager</a:t>
            </a:r>
          </a:p>
        </p:txBody>
      </p:sp>
      <p:cxnSp>
        <p:nvCxnSpPr>
          <p:cNvPr id="242" name="直線接點 241">
            <a:extLst>
              <a:ext uri="{FF2B5EF4-FFF2-40B4-BE49-F238E27FC236}">
                <a16:creationId xmlns:a16="http://schemas.microsoft.com/office/drawing/2014/main" id="{D9BA8E4C-4DF2-480C-947B-150F10C6CF36}"/>
              </a:ext>
            </a:extLst>
          </p:cNvPr>
          <p:cNvCxnSpPr>
            <a:cxnSpLocks/>
          </p:cNvCxnSpPr>
          <p:nvPr/>
        </p:nvCxnSpPr>
        <p:spPr>
          <a:xfrm>
            <a:off x="6201921" y="2505007"/>
            <a:ext cx="951258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3" name="圖片 242">
            <a:extLst>
              <a:ext uri="{FF2B5EF4-FFF2-40B4-BE49-F238E27FC236}">
                <a16:creationId xmlns:a16="http://schemas.microsoft.com/office/drawing/2014/main" id="{4A0AFC9D-713C-42D3-91E8-15AD50A7C1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13774" y="2596626"/>
            <a:ext cx="527551" cy="53566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矩形: 圓角 208">
            <a:extLst>
              <a:ext uri="{FF2B5EF4-FFF2-40B4-BE49-F238E27FC236}">
                <a16:creationId xmlns:a16="http://schemas.microsoft.com/office/drawing/2014/main" id="{D14BFE5E-6BDC-476A-BF8F-6DD7D9827941}"/>
              </a:ext>
            </a:extLst>
          </p:cNvPr>
          <p:cNvSpPr/>
          <p:nvPr/>
        </p:nvSpPr>
        <p:spPr>
          <a:xfrm>
            <a:off x="4664811" y="1507405"/>
            <a:ext cx="1205254" cy="177505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210" name="矩形: 圓角 209">
            <a:extLst>
              <a:ext uri="{FF2B5EF4-FFF2-40B4-BE49-F238E27FC236}">
                <a16:creationId xmlns:a16="http://schemas.microsoft.com/office/drawing/2014/main" id="{83EEEC23-5B00-4440-ACDE-411D4B2EA8AB}"/>
              </a:ext>
            </a:extLst>
          </p:cNvPr>
          <p:cNvSpPr/>
          <p:nvPr/>
        </p:nvSpPr>
        <p:spPr>
          <a:xfrm>
            <a:off x="4664811" y="1507405"/>
            <a:ext cx="1205254" cy="177505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211" name="文字方塊 210">
            <a:extLst>
              <a:ext uri="{FF2B5EF4-FFF2-40B4-BE49-F238E27FC236}">
                <a16:creationId xmlns:a16="http://schemas.microsoft.com/office/drawing/2014/main" id="{E02B162A-2B10-4797-B709-2861A7A09F48}"/>
              </a:ext>
            </a:extLst>
          </p:cNvPr>
          <p:cNvSpPr txBox="1"/>
          <p:nvPr/>
        </p:nvSpPr>
        <p:spPr>
          <a:xfrm>
            <a:off x="4775294" y="2055975"/>
            <a:ext cx="999436" cy="3517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defTabSz="685783"/>
            <a:r>
              <a:rPr lang="zh-TW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支援</a:t>
            </a:r>
            <a:r>
              <a:rPr lang="en-US" altLang="zh-TW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CSV </a:t>
            </a:r>
          </a:p>
          <a:p>
            <a:pPr algn="ctr" defTabSz="685783"/>
            <a:r>
              <a:rPr lang="zh-TW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輸入輸出</a:t>
            </a:r>
            <a:endParaRPr lang="en-US" altLang="zh-TW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213" name="文字方塊 212">
            <a:extLst>
              <a:ext uri="{FF2B5EF4-FFF2-40B4-BE49-F238E27FC236}">
                <a16:creationId xmlns:a16="http://schemas.microsoft.com/office/drawing/2014/main" id="{053F9C6D-7F05-4631-B839-ED5BF46CDD80}"/>
              </a:ext>
            </a:extLst>
          </p:cNvPr>
          <p:cNvSpPr txBox="1"/>
          <p:nvPr/>
        </p:nvSpPr>
        <p:spPr>
          <a:xfrm>
            <a:off x="4732622" y="1836012"/>
            <a:ext cx="1069631" cy="205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defTabSz="685783"/>
            <a:r>
              <a:rPr lang="en-US" altLang="zh-TW" sz="7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CSV Tool</a:t>
            </a:r>
          </a:p>
        </p:txBody>
      </p:sp>
      <p:cxnSp>
        <p:nvCxnSpPr>
          <p:cNvPr id="214" name="直線接點 213">
            <a:extLst>
              <a:ext uri="{FF2B5EF4-FFF2-40B4-BE49-F238E27FC236}">
                <a16:creationId xmlns:a16="http://schemas.microsoft.com/office/drawing/2014/main" id="{F81E2233-CEFD-4127-96EC-93590E8463D2}"/>
              </a:ext>
            </a:extLst>
          </p:cNvPr>
          <p:cNvCxnSpPr>
            <a:cxnSpLocks/>
          </p:cNvCxnSpPr>
          <p:nvPr/>
        </p:nvCxnSpPr>
        <p:spPr>
          <a:xfrm>
            <a:off x="4791809" y="2505007"/>
            <a:ext cx="951258" cy="0"/>
          </a:xfrm>
          <a:prstGeom prst="line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5" name="圖片 214">
            <a:extLst>
              <a:ext uri="{FF2B5EF4-FFF2-40B4-BE49-F238E27FC236}">
                <a16:creationId xmlns:a16="http://schemas.microsoft.com/office/drawing/2014/main" id="{70E5B9D8-7E0E-4F97-B63C-B3636D38B1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1873" y="2598896"/>
            <a:ext cx="531129" cy="5311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</p:pic>
      <p:sp>
        <p:nvSpPr>
          <p:cNvPr id="212" name="文字方塊 211">
            <a:extLst>
              <a:ext uri="{FF2B5EF4-FFF2-40B4-BE49-F238E27FC236}">
                <a16:creationId xmlns:a16="http://schemas.microsoft.com/office/drawing/2014/main" id="{38FF8639-364F-4E16-9F80-30D5B2E0CD49}"/>
              </a:ext>
            </a:extLst>
          </p:cNvPr>
          <p:cNvSpPr txBox="1"/>
          <p:nvPr/>
        </p:nvSpPr>
        <p:spPr>
          <a:xfrm>
            <a:off x="4767721" y="1682625"/>
            <a:ext cx="9994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 defTabSz="685783">
              <a:defRPr sz="1050" b="1">
                <a:solidFill>
                  <a:srgbClr val="7030A0"/>
                </a:solidFill>
                <a:latin typeface="+mn-ea"/>
              </a:defRPr>
            </a:lvl1pPr>
          </a:lstStyle>
          <a:p>
            <a:r>
              <a:rPr lang="en-US" altLang="zh-TW" sz="1000" dirty="0">
                <a:solidFill>
                  <a:schemeClr val="accent4">
                    <a:lumMod val="75000"/>
                  </a:schemeClr>
                </a:solidFill>
              </a:rPr>
              <a:t>CSV</a:t>
            </a:r>
            <a:r>
              <a:rPr lang="zh-TW" altLang="en-US" sz="1000" dirty="0">
                <a:solidFill>
                  <a:schemeClr val="accent4">
                    <a:lumMod val="75000"/>
                  </a:schemeClr>
                </a:solidFill>
              </a:rPr>
              <a:t> 管理</a:t>
            </a:r>
            <a:endParaRPr lang="en-US" altLang="zh-TW" sz="10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17" name="矩形: 圓角 216">
            <a:extLst>
              <a:ext uri="{FF2B5EF4-FFF2-40B4-BE49-F238E27FC236}">
                <a16:creationId xmlns:a16="http://schemas.microsoft.com/office/drawing/2014/main" id="{18D465A3-C23C-46EF-B0F7-6EE0404A1172}"/>
              </a:ext>
            </a:extLst>
          </p:cNvPr>
          <p:cNvSpPr/>
          <p:nvPr/>
        </p:nvSpPr>
        <p:spPr>
          <a:xfrm>
            <a:off x="3254699" y="1507405"/>
            <a:ext cx="1205254" cy="177505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218" name="矩形: 圓角 217">
            <a:extLst>
              <a:ext uri="{FF2B5EF4-FFF2-40B4-BE49-F238E27FC236}">
                <a16:creationId xmlns:a16="http://schemas.microsoft.com/office/drawing/2014/main" id="{75D3541C-9CA9-44A9-BE2B-926D41C7F12C}"/>
              </a:ext>
            </a:extLst>
          </p:cNvPr>
          <p:cNvSpPr/>
          <p:nvPr/>
        </p:nvSpPr>
        <p:spPr>
          <a:xfrm>
            <a:off x="3254699" y="1507405"/>
            <a:ext cx="1205254" cy="177505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219" name="文字方塊 218">
            <a:extLst>
              <a:ext uri="{FF2B5EF4-FFF2-40B4-BE49-F238E27FC236}">
                <a16:creationId xmlns:a16="http://schemas.microsoft.com/office/drawing/2014/main" id="{B1D9EF8C-D7ED-4334-AEC5-E29344FF06C8}"/>
              </a:ext>
            </a:extLst>
          </p:cNvPr>
          <p:cNvSpPr txBox="1"/>
          <p:nvPr/>
        </p:nvSpPr>
        <p:spPr>
          <a:xfrm>
            <a:off x="3365182" y="2055975"/>
            <a:ext cx="999436" cy="3517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defTabSz="685783"/>
            <a:r>
              <a:rPr lang="zh-TW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支援資料庫</a:t>
            </a:r>
            <a:endParaRPr lang="en-US" altLang="zh-TW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algn="ctr" defTabSz="685783"/>
            <a:r>
              <a:rPr lang="zh-TW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連接輸入輸出</a:t>
            </a:r>
          </a:p>
        </p:txBody>
      </p:sp>
      <p:sp>
        <p:nvSpPr>
          <p:cNvPr id="221" name="文字方塊 220">
            <a:extLst>
              <a:ext uri="{FF2B5EF4-FFF2-40B4-BE49-F238E27FC236}">
                <a16:creationId xmlns:a16="http://schemas.microsoft.com/office/drawing/2014/main" id="{11B2750A-939A-4ED1-ABA8-2E71D5707D79}"/>
              </a:ext>
            </a:extLst>
          </p:cNvPr>
          <p:cNvSpPr txBox="1"/>
          <p:nvPr/>
        </p:nvSpPr>
        <p:spPr>
          <a:xfrm>
            <a:off x="3254700" y="1836012"/>
            <a:ext cx="1205251" cy="205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 defTabSz="685783"/>
            <a:r>
              <a:rPr lang="en-US" altLang="zh-TW" sz="7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Database Tool</a:t>
            </a:r>
          </a:p>
        </p:txBody>
      </p:sp>
      <p:cxnSp>
        <p:nvCxnSpPr>
          <p:cNvPr id="222" name="直線接點 221">
            <a:extLst>
              <a:ext uri="{FF2B5EF4-FFF2-40B4-BE49-F238E27FC236}">
                <a16:creationId xmlns:a16="http://schemas.microsoft.com/office/drawing/2014/main" id="{BDE3FDE6-168D-4C0E-BC32-BA09A82F4760}"/>
              </a:ext>
            </a:extLst>
          </p:cNvPr>
          <p:cNvCxnSpPr>
            <a:cxnSpLocks/>
          </p:cNvCxnSpPr>
          <p:nvPr/>
        </p:nvCxnSpPr>
        <p:spPr>
          <a:xfrm>
            <a:off x="3381697" y="2505007"/>
            <a:ext cx="951258" cy="0"/>
          </a:xfrm>
          <a:prstGeom prst="line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3" name="圖片 222">
            <a:extLst>
              <a:ext uri="{FF2B5EF4-FFF2-40B4-BE49-F238E27FC236}">
                <a16:creationId xmlns:a16="http://schemas.microsoft.com/office/drawing/2014/main" id="{A270E817-8EA8-450A-A454-F2D95A9ECD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93489" y="2596626"/>
            <a:ext cx="527673" cy="5356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</p:pic>
      <p:sp>
        <p:nvSpPr>
          <p:cNvPr id="220" name="文字方塊 219">
            <a:extLst>
              <a:ext uri="{FF2B5EF4-FFF2-40B4-BE49-F238E27FC236}">
                <a16:creationId xmlns:a16="http://schemas.microsoft.com/office/drawing/2014/main" id="{6B9EABA0-C76E-4420-8BF4-0FFC85AF1CCE}"/>
              </a:ext>
            </a:extLst>
          </p:cNvPr>
          <p:cNvSpPr txBox="1"/>
          <p:nvPr/>
        </p:nvSpPr>
        <p:spPr>
          <a:xfrm>
            <a:off x="3357609" y="1682625"/>
            <a:ext cx="9994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 defTabSz="685783">
              <a:defRPr sz="1050" b="1">
                <a:solidFill>
                  <a:srgbClr val="7030A0"/>
                </a:solidFill>
                <a:latin typeface="+mn-ea"/>
              </a:defRPr>
            </a:lvl1pPr>
          </a:lstStyle>
          <a:p>
            <a:r>
              <a:rPr lang="zh-TW" altLang="en-US" sz="1000" dirty="0">
                <a:solidFill>
                  <a:schemeClr val="accent4">
                    <a:lumMod val="75000"/>
                  </a:schemeClr>
                </a:solidFill>
              </a:rPr>
              <a:t>資料庫管理</a:t>
            </a:r>
            <a:endParaRPr lang="en-US" altLang="zh-TW" sz="10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6" name="左大括弧 25">
            <a:extLst>
              <a:ext uri="{FF2B5EF4-FFF2-40B4-BE49-F238E27FC236}">
                <a16:creationId xmlns:a16="http://schemas.microsoft.com/office/drawing/2014/main" id="{66C02C0E-E4D0-455D-B468-58F323660A52}"/>
              </a:ext>
            </a:extLst>
          </p:cNvPr>
          <p:cNvSpPr/>
          <p:nvPr/>
        </p:nvSpPr>
        <p:spPr>
          <a:xfrm rot="16200000">
            <a:off x="4450016" y="1361721"/>
            <a:ext cx="241713" cy="4228505"/>
          </a:xfrm>
          <a:prstGeom prst="leftBrace">
            <a:avLst>
              <a:gd name="adj1" fmla="val 0"/>
              <a:gd name="adj2" fmla="val 50000"/>
            </a:avLst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200"/>
          </a:p>
        </p:txBody>
      </p:sp>
      <p:sp>
        <p:nvSpPr>
          <p:cNvPr id="399" name="左大括弧 398">
            <a:extLst>
              <a:ext uri="{FF2B5EF4-FFF2-40B4-BE49-F238E27FC236}">
                <a16:creationId xmlns:a16="http://schemas.microsoft.com/office/drawing/2014/main" id="{ABA0A570-8A0D-49E6-BC0E-ADF40C06D672}"/>
              </a:ext>
            </a:extLst>
          </p:cNvPr>
          <p:cNvSpPr/>
          <p:nvPr/>
        </p:nvSpPr>
        <p:spPr>
          <a:xfrm rot="16200000">
            <a:off x="4450019" y="2671559"/>
            <a:ext cx="241713" cy="1608829"/>
          </a:xfrm>
          <a:prstGeom prst="leftBrace">
            <a:avLst>
              <a:gd name="adj1" fmla="val 0"/>
              <a:gd name="adj2" fmla="val 50000"/>
            </a:avLst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200"/>
          </a:p>
        </p:txBody>
      </p:sp>
      <p:sp>
        <p:nvSpPr>
          <p:cNvPr id="400" name="左大括弧 399">
            <a:extLst>
              <a:ext uri="{FF2B5EF4-FFF2-40B4-BE49-F238E27FC236}">
                <a16:creationId xmlns:a16="http://schemas.microsoft.com/office/drawing/2014/main" id="{4D71F8A7-AE9D-4BDB-A748-59F0EC932047}"/>
              </a:ext>
            </a:extLst>
          </p:cNvPr>
          <p:cNvSpPr/>
          <p:nvPr/>
        </p:nvSpPr>
        <p:spPr>
          <a:xfrm rot="16200000">
            <a:off x="923043" y="3475974"/>
            <a:ext cx="241713" cy="0"/>
          </a:xfrm>
          <a:prstGeom prst="leftBrace">
            <a:avLst>
              <a:gd name="adj1" fmla="val 0"/>
              <a:gd name="adj2" fmla="val 50000"/>
            </a:avLst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20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EC471143-EC62-4A49-8CAD-01E98569A1E1}"/>
              </a:ext>
            </a:extLst>
          </p:cNvPr>
          <p:cNvSpPr txBox="1"/>
          <p:nvPr/>
        </p:nvSpPr>
        <p:spPr>
          <a:xfrm>
            <a:off x="3833765" y="3606573"/>
            <a:ext cx="1474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b="1" dirty="0"/>
              <a:t>[Reference]</a:t>
            </a:r>
          </a:p>
          <a:p>
            <a:pPr algn="ctr"/>
            <a:r>
              <a:rPr lang="en-US" altLang="zh-TW" sz="800" dirty="0"/>
              <a:t>OptimFoundation.Core.dll</a:t>
            </a:r>
            <a:endParaRPr lang="zh-TW" altLang="en-US" sz="800" dirty="0"/>
          </a:p>
        </p:txBody>
      </p:sp>
      <p:sp>
        <p:nvSpPr>
          <p:cNvPr id="401" name="文字方塊 400">
            <a:extLst>
              <a:ext uri="{FF2B5EF4-FFF2-40B4-BE49-F238E27FC236}">
                <a16:creationId xmlns:a16="http://schemas.microsoft.com/office/drawing/2014/main" id="{5DDB08F3-3832-4295-AFD6-227A23A2D021}"/>
              </a:ext>
            </a:extLst>
          </p:cNvPr>
          <p:cNvSpPr txBox="1"/>
          <p:nvPr/>
        </p:nvSpPr>
        <p:spPr>
          <a:xfrm>
            <a:off x="244103" y="3606573"/>
            <a:ext cx="1600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b="1" dirty="0"/>
              <a:t>[Reference]</a:t>
            </a:r>
          </a:p>
          <a:p>
            <a:pPr algn="ctr"/>
            <a:r>
              <a:rPr lang="en-US" altLang="zh-TW" sz="800" dirty="0"/>
              <a:t>OptimFoundation.CPLEX.dll</a:t>
            </a:r>
          </a:p>
        </p:txBody>
      </p:sp>
      <p:sp>
        <p:nvSpPr>
          <p:cNvPr id="404" name="矩形: 圓角 403">
            <a:extLst>
              <a:ext uri="{FF2B5EF4-FFF2-40B4-BE49-F238E27FC236}">
                <a16:creationId xmlns:a16="http://schemas.microsoft.com/office/drawing/2014/main" id="{87A16977-E0F7-4147-AEAF-783A1C26499A}"/>
              </a:ext>
            </a:extLst>
          </p:cNvPr>
          <p:cNvSpPr/>
          <p:nvPr/>
        </p:nvSpPr>
        <p:spPr>
          <a:xfrm>
            <a:off x="7443031" y="1507405"/>
            <a:ext cx="1205254" cy="1775057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405" name="矩形: 圓角 404">
            <a:extLst>
              <a:ext uri="{FF2B5EF4-FFF2-40B4-BE49-F238E27FC236}">
                <a16:creationId xmlns:a16="http://schemas.microsoft.com/office/drawing/2014/main" id="{298F6B65-1663-4286-9C06-EF7A934D3DC3}"/>
              </a:ext>
            </a:extLst>
          </p:cNvPr>
          <p:cNvSpPr/>
          <p:nvPr/>
        </p:nvSpPr>
        <p:spPr>
          <a:xfrm>
            <a:off x="7443031" y="1507405"/>
            <a:ext cx="1205254" cy="1775057"/>
          </a:xfrm>
          <a:prstGeom prst="roundRect">
            <a:avLst/>
          </a:prstGeom>
          <a:solidFill>
            <a:srgbClr val="F5F5F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406" name="文字方塊 405">
            <a:extLst>
              <a:ext uri="{FF2B5EF4-FFF2-40B4-BE49-F238E27FC236}">
                <a16:creationId xmlns:a16="http://schemas.microsoft.com/office/drawing/2014/main" id="{B9E2B59F-1511-464C-BA18-50A0FE233F2B}"/>
              </a:ext>
            </a:extLst>
          </p:cNvPr>
          <p:cNvSpPr txBox="1"/>
          <p:nvPr/>
        </p:nvSpPr>
        <p:spPr>
          <a:xfrm>
            <a:off x="7553514" y="2055975"/>
            <a:ext cx="999436" cy="351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zh-TW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自動補全</a:t>
            </a:r>
            <a:endParaRPr lang="en-US" altLang="zh-TW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algn="ctr" defTabSz="685783"/>
            <a:r>
              <a:rPr lang="zh-TW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規範類別程式</a:t>
            </a:r>
            <a:endParaRPr lang="en-US" altLang="zh-TW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407" name="文字方塊 406">
            <a:extLst>
              <a:ext uri="{FF2B5EF4-FFF2-40B4-BE49-F238E27FC236}">
                <a16:creationId xmlns:a16="http://schemas.microsoft.com/office/drawing/2014/main" id="{22FC62A4-F29C-4BF6-9BEC-AC37574153EE}"/>
              </a:ext>
            </a:extLst>
          </p:cNvPr>
          <p:cNvSpPr txBox="1"/>
          <p:nvPr/>
        </p:nvSpPr>
        <p:spPr>
          <a:xfrm>
            <a:off x="7545941" y="1682625"/>
            <a:ext cx="9994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zh-TW" altLang="en-US" sz="1000" b="1" dirty="0">
                <a:solidFill>
                  <a:srgbClr val="7030A0"/>
                </a:solidFill>
                <a:latin typeface="+mn-ea"/>
              </a:rPr>
              <a:t>程式生成器</a:t>
            </a:r>
            <a:endParaRPr lang="en-US" altLang="zh-TW" sz="1000" b="1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408" name="文字方塊 407">
            <a:extLst>
              <a:ext uri="{FF2B5EF4-FFF2-40B4-BE49-F238E27FC236}">
                <a16:creationId xmlns:a16="http://schemas.microsoft.com/office/drawing/2014/main" id="{12CC6ABF-E5F1-44F7-BC34-C638664992F2}"/>
              </a:ext>
            </a:extLst>
          </p:cNvPr>
          <p:cNvSpPr txBox="1"/>
          <p:nvPr/>
        </p:nvSpPr>
        <p:spPr>
          <a:xfrm>
            <a:off x="7510842" y="1836012"/>
            <a:ext cx="1069631" cy="205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en-US" altLang="zh-TW" sz="7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Class Generator</a:t>
            </a:r>
          </a:p>
        </p:txBody>
      </p:sp>
      <p:cxnSp>
        <p:nvCxnSpPr>
          <p:cNvPr id="409" name="直線接點 408">
            <a:extLst>
              <a:ext uri="{FF2B5EF4-FFF2-40B4-BE49-F238E27FC236}">
                <a16:creationId xmlns:a16="http://schemas.microsoft.com/office/drawing/2014/main" id="{FFA82F8C-67AF-4736-A18B-754D8E0A0207}"/>
              </a:ext>
            </a:extLst>
          </p:cNvPr>
          <p:cNvCxnSpPr>
            <a:cxnSpLocks/>
          </p:cNvCxnSpPr>
          <p:nvPr/>
        </p:nvCxnSpPr>
        <p:spPr>
          <a:xfrm>
            <a:off x="7570029" y="2505007"/>
            <a:ext cx="951258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" name="圖片 409">
            <a:extLst>
              <a:ext uri="{FF2B5EF4-FFF2-40B4-BE49-F238E27FC236}">
                <a16:creationId xmlns:a16="http://schemas.microsoft.com/office/drawing/2014/main" id="{4AF72A33-8E77-487A-ABD5-FF8A98F079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1882" y="2600684"/>
            <a:ext cx="527551" cy="527551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文字方塊 410">
            <a:extLst>
              <a:ext uri="{FF2B5EF4-FFF2-40B4-BE49-F238E27FC236}">
                <a16:creationId xmlns:a16="http://schemas.microsoft.com/office/drawing/2014/main" id="{53B09373-27C5-4941-B111-45518EBCD9BE}"/>
              </a:ext>
            </a:extLst>
          </p:cNvPr>
          <p:cNvSpPr txBox="1"/>
          <p:nvPr/>
        </p:nvSpPr>
        <p:spPr>
          <a:xfrm>
            <a:off x="7233672" y="3606573"/>
            <a:ext cx="1623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b="1" dirty="0"/>
              <a:t>[Analyzer]</a:t>
            </a:r>
          </a:p>
          <a:p>
            <a:pPr algn="ctr"/>
            <a:r>
              <a:rPr lang="en-US" altLang="zh-TW" sz="800" dirty="0"/>
              <a:t>OptimFoundation.Generator.dll</a:t>
            </a:r>
          </a:p>
        </p:txBody>
      </p:sp>
      <p:sp>
        <p:nvSpPr>
          <p:cNvPr id="412" name="左大括弧 411">
            <a:extLst>
              <a:ext uri="{FF2B5EF4-FFF2-40B4-BE49-F238E27FC236}">
                <a16:creationId xmlns:a16="http://schemas.microsoft.com/office/drawing/2014/main" id="{D6EF8AC1-6F7D-4DD4-B2C4-A55F06EC4932}"/>
              </a:ext>
            </a:extLst>
          </p:cNvPr>
          <p:cNvSpPr/>
          <p:nvPr/>
        </p:nvSpPr>
        <p:spPr>
          <a:xfrm rot="16200000">
            <a:off x="7924801" y="3475975"/>
            <a:ext cx="241713" cy="0"/>
          </a:xfrm>
          <a:prstGeom prst="leftBrace">
            <a:avLst>
              <a:gd name="adj1" fmla="val 0"/>
              <a:gd name="adj2" fmla="val 50000"/>
            </a:avLst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200"/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C60F1D2C-547E-4E1C-8490-773583E9BC41}"/>
              </a:ext>
            </a:extLst>
          </p:cNvPr>
          <p:cNvGrpSpPr/>
          <p:nvPr/>
        </p:nvGrpSpPr>
        <p:grpSpPr>
          <a:xfrm>
            <a:off x="1126907" y="4254626"/>
            <a:ext cx="7258989" cy="427074"/>
            <a:chOff x="1128148" y="4232658"/>
            <a:chExt cx="7258989" cy="427074"/>
          </a:xfrm>
        </p:grpSpPr>
        <p:grpSp>
          <p:nvGrpSpPr>
            <p:cNvPr id="415" name="群組 414">
              <a:extLst>
                <a:ext uri="{FF2B5EF4-FFF2-40B4-BE49-F238E27FC236}">
                  <a16:creationId xmlns:a16="http://schemas.microsoft.com/office/drawing/2014/main" id="{7917F7E3-BCD3-4D03-984D-5D08B634FBE0}"/>
                </a:ext>
              </a:extLst>
            </p:cNvPr>
            <p:cNvGrpSpPr/>
            <p:nvPr/>
          </p:nvGrpSpPr>
          <p:grpSpPr>
            <a:xfrm>
              <a:off x="4983112" y="4232658"/>
              <a:ext cx="3404025" cy="427074"/>
              <a:chOff x="4996456" y="4216400"/>
              <a:chExt cx="3404025" cy="427074"/>
            </a:xfrm>
          </p:grpSpPr>
          <p:sp>
            <p:nvSpPr>
              <p:cNvPr id="416" name="矩形: 圓角 415">
                <a:extLst>
                  <a:ext uri="{FF2B5EF4-FFF2-40B4-BE49-F238E27FC236}">
                    <a16:creationId xmlns:a16="http://schemas.microsoft.com/office/drawing/2014/main" id="{F1CBBAAE-D958-4470-B854-5550EE7E4D70}"/>
                  </a:ext>
                </a:extLst>
              </p:cNvPr>
              <p:cNvSpPr/>
              <p:nvPr/>
            </p:nvSpPr>
            <p:spPr>
              <a:xfrm>
                <a:off x="4996456" y="4216400"/>
                <a:ext cx="3404025" cy="427074"/>
              </a:xfrm>
              <a:prstGeom prst="roundRect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b="1" dirty="0">
                    <a:solidFill>
                      <a:srgbClr val="7030A0"/>
                    </a:solidFill>
                  </a:rPr>
                  <a:t>　　分層式數學規劃模型程式開發架構</a:t>
                </a:r>
              </a:p>
            </p:txBody>
          </p:sp>
          <p:pic>
            <p:nvPicPr>
              <p:cNvPr id="417" name="圖片 416">
                <a:extLst>
                  <a:ext uri="{FF2B5EF4-FFF2-40B4-BE49-F238E27FC236}">
                    <a16:creationId xmlns:a16="http://schemas.microsoft.com/office/drawing/2014/main" id="{C00E067D-8A6C-4636-9935-568C0EFCF8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28005" y="4267516"/>
                <a:ext cx="324842" cy="324842"/>
              </a:xfrm>
              <a:prstGeom prst="rect">
                <a:avLst/>
              </a:prstGeom>
            </p:spPr>
          </p:pic>
        </p:grpSp>
        <p:sp>
          <p:nvSpPr>
            <p:cNvPr id="418" name="十字形 417">
              <a:extLst>
                <a:ext uri="{FF2B5EF4-FFF2-40B4-BE49-F238E27FC236}">
                  <a16:creationId xmlns:a16="http://schemas.microsoft.com/office/drawing/2014/main" id="{7D5E17E8-FC31-41F5-BA45-F9AF9DE7F6FD}"/>
                </a:ext>
              </a:extLst>
            </p:cNvPr>
            <p:cNvSpPr/>
            <p:nvPr/>
          </p:nvSpPr>
          <p:spPr>
            <a:xfrm>
              <a:off x="4423393" y="4298875"/>
              <a:ext cx="294640" cy="294640"/>
            </a:xfrm>
            <a:prstGeom prst="plus">
              <a:avLst>
                <a:gd name="adj" fmla="val 39356"/>
              </a:avLst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grpSp>
          <p:nvGrpSpPr>
            <p:cNvPr id="419" name="群組 418">
              <a:extLst>
                <a:ext uri="{FF2B5EF4-FFF2-40B4-BE49-F238E27FC236}">
                  <a16:creationId xmlns:a16="http://schemas.microsoft.com/office/drawing/2014/main" id="{DD169FF3-7E5B-4B71-B963-F280007E6F17}"/>
                </a:ext>
              </a:extLst>
            </p:cNvPr>
            <p:cNvGrpSpPr/>
            <p:nvPr/>
          </p:nvGrpSpPr>
          <p:grpSpPr>
            <a:xfrm>
              <a:off x="1128148" y="4232658"/>
              <a:ext cx="3060000" cy="427074"/>
              <a:chOff x="1141492" y="4216400"/>
              <a:chExt cx="3060000" cy="427074"/>
            </a:xfrm>
          </p:grpSpPr>
          <p:sp>
            <p:nvSpPr>
              <p:cNvPr id="420" name="矩形: 圓角 419">
                <a:extLst>
                  <a:ext uri="{FF2B5EF4-FFF2-40B4-BE49-F238E27FC236}">
                    <a16:creationId xmlns:a16="http://schemas.microsoft.com/office/drawing/2014/main" id="{DDDA7C27-886E-47CF-AE2E-2DA497F66BB0}"/>
                  </a:ext>
                </a:extLst>
              </p:cNvPr>
              <p:cNvSpPr/>
              <p:nvPr/>
            </p:nvSpPr>
            <p:spPr>
              <a:xfrm>
                <a:off x="1141492" y="4216400"/>
                <a:ext cx="3060000" cy="427074"/>
              </a:xfrm>
              <a:prstGeom prst="roundRect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b="1" dirty="0">
                    <a:solidFill>
                      <a:srgbClr val="7030A0"/>
                    </a:solidFill>
                  </a:rPr>
                  <a:t>     　跨專案間可重複使用模組化程式</a:t>
                </a:r>
              </a:p>
            </p:txBody>
          </p:sp>
          <p:pic>
            <p:nvPicPr>
              <p:cNvPr id="421" name="圖片 420">
                <a:extLst>
                  <a:ext uri="{FF2B5EF4-FFF2-40B4-BE49-F238E27FC236}">
                    <a16:creationId xmlns:a16="http://schemas.microsoft.com/office/drawing/2014/main" id="{26702157-65B2-4663-B4D0-2EE16BFC6F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34982" y="4267516"/>
                <a:ext cx="324842" cy="32484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39824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F0F85A-D8BE-489F-8A26-3F9E8BB6D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701" y="426656"/>
            <a:ext cx="7605553" cy="264977"/>
          </a:xfrm>
        </p:spPr>
        <p:txBody>
          <a:bodyPr/>
          <a:lstStyle/>
          <a:p>
            <a:r>
              <a:rPr lang="zh-TW" altLang="en-US" dirty="0"/>
              <a:t>框架說明｜</a:t>
            </a:r>
            <a:r>
              <a:rPr lang="zh-TW" altLang="en-US" b="0" dirty="0"/>
              <a:t>模型開發流程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B04F98-C67E-4BB2-A8FC-D45C046C6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Dev. Framework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04602B-3F3A-44D6-8FC7-8D6198579B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/>
              <a:t>02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BDA344-228E-467F-9CAE-213808D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B1EDA-9669-4099-AA83-49C2D8E17945}" type="slidenum">
              <a:rPr lang="zh-TW" altLang="en-US" smtClean="0"/>
              <a:t>16</a:t>
            </a:fld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E2D1FA36-AD5C-4B54-AF63-C797303B27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 b="0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A2520A3-D723-4426-976C-99FDB117E655}"/>
              </a:ext>
            </a:extLst>
          </p:cNvPr>
          <p:cNvSpPr/>
          <p:nvPr/>
        </p:nvSpPr>
        <p:spPr>
          <a:xfrm>
            <a:off x="4297474" y="4371109"/>
            <a:ext cx="4235339" cy="322996"/>
          </a:xfrm>
          <a:prstGeom prst="rect">
            <a:avLst/>
          </a:prstGeom>
          <a:solidFill>
            <a:srgbClr val="F1F1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rgbClr val="7030A0"/>
                </a:solidFill>
              </a:rPr>
              <a:t>標準化</a:t>
            </a:r>
            <a:r>
              <a:rPr lang="zh-TW" altLang="en-US" dirty="0">
                <a:solidFill>
                  <a:srgbClr val="7030A0"/>
                </a:solidFill>
              </a:rPr>
              <a:t> 與 </a:t>
            </a:r>
            <a:r>
              <a:rPr lang="zh-TW" altLang="en-US" b="1" dirty="0">
                <a:solidFill>
                  <a:srgbClr val="7030A0"/>
                </a:solidFill>
              </a:rPr>
              <a:t>模組化 </a:t>
            </a:r>
            <a:r>
              <a:rPr lang="zh-TW" altLang="en-US" dirty="0">
                <a:solidFill>
                  <a:srgbClr val="7030A0"/>
                </a:solidFill>
              </a:rPr>
              <a:t>模型元件 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0F3AF7CF-E9C6-4E7B-A74A-72C4017387D3}"/>
              </a:ext>
            </a:extLst>
          </p:cNvPr>
          <p:cNvSpPr txBox="1"/>
          <p:nvPr/>
        </p:nvSpPr>
        <p:spPr>
          <a:xfrm>
            <a:off x="3340947" y="823761"/>
            <a:ext cx="2822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800" b="1" dirty="0">
                <a:solidFill>
                  <a:srgbClr val="7030A0"/>
                </a:solidFill>
              </a:rPr>
              <a:t>MILP Development APIs</a:t>
            </a:r>
            <a:endParaRPr lang="zh-TW" altLang="en-US" sz="1800" b="1" dirty="0">
              <a:solidFill>
                <a:srgbClr val="7030A0"/>
              </a:solidFill>
            </a:endParaRP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F998B1A4-30E9-4D46-B23F-76821F64660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0948" y="823761"/>
            <a:ext cx="360000" cy="36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4" name="表格 63">
                <a:extLst>
                  <a:ext uri="{FF2B5EF4-FFF2-40B4-BE49-F238E27FC236}">
                    <a16:creationId xmlns:a16="http://schemas.microsoft.com/office/drawing/2014/main" id="{6CA755DF-56C6-40ED-B726-CB7814BB50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27"/>
                  </p:ext>
                </p:extLst>
              </p:nvPr>
            </p:nvGraphicFramePr>
            <p:xfrm>
              <a:off x="386238" y="3184422"/>
              <a:ext cx="3502327" cy="15139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29137">
                      <a:extLst>
                        <a:ext uri="{9D8B030D-6E8A-4147-A177-3AD203B41FA5}">
                          <a16:colId xmlns:a16="http://schemas.microsoft.com/office/drawing/2014/main" val="3275968915"/>
                        </a:ext>
                      </a:extLst>
                    </a:gridCol>
                    <a:gridCol w="328747">
                      <a:extLst>
                        <a:ext uri="{9D8B030D-6E8A-4147-A177-3AD203B41FA5}">
                          <a16:colId xmlns:a16="http://schemas.microsoft.com/office/drawing/2014/main" val="364237327"/>
                        </a:ext>
                      </a:extLst>
                    </a:gridCol>
                    <a:gridCol w="1835053">
                      <a:extLst>
                        <a:ext uri="{9D8B030D-6E8A-4147-A177-3AD203B41FA5}">
                          <a16:colId xmlns:a16="http://schemas.microsoft.com/office/drawing/2014/main" val="977361725"/>
                        </a:ext>
                      </a:extLst>
                    </a:gridCol>
                    <a:gridCol w="609390">
                      <a:extLst>
                        <a:ext uri="{9D8B030D-6E8A-4147-A177-3AD203B41FA5}">
                          <a16:colId xmlns:a16="http://schemas.microsoft.com/office/drawing/2014/main" val="1783272606"/>
                        </a:ext>
                      </a:extLst>
                    </a:gridCol>
                  </a:tblGrid>
                  <a:tr h="386473"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ts val="1800"/>
                            </a:lnSpc>
                          </a:pPr>
                          <a:r>
                            <a:rPr lang="en-US" altLang="zh-TW" sz="1050" b="0" kern="100" dirty="0">
                              <a:solidFill>
                                <a:srgbClr val="364F81"/>
                              </a:solidFill>
                              <a:effectLst/>
                            </a:rPr>
                            <a:t>m</a:t>
                          </a:r>
                          <a:r>
                            <a:rPr lang="en-US" sz="1050" b="0" kern="100" dirty="0">
                              <a:solidFill>
                                <a:srgbClr val="364F81"/>
                              </a:solidFill>
                              <a:effectLst/>
                            </a:rPr>
                            <a:t>aximize</a:t>
                          </a:r>
                          <a:endParaRPr lang="zh-TW" sz="1050" b="0" kern="100" dirty="0">
                            <a:solidFill>
                              <a:srgbClr val="364F81"/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ts val="1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altLang="zh-TW" sz="1050" b="0" i="1" kern="100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zh-TW" sz="1050" b="0" kern="100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zh-TW" sz="1050" b="0" kern="1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hangingPunct="0">
                            <a:lnSpc>
                              <a:spcPts val="1800"/>
                            </a:lnSpc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zh-TW" sz="1050" b="0" i="1" kern="10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050" b="0" i="1" kern="10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050" b="0" kern="100" smtClean="0">
                                      <a:solidFill>
                                        <a:srgbClr val="D26B42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1050" b="0" i="1" kern="10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zh-TW" sz="1050" b="0" i="1" kern="10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50" b="0" i="1" kern="10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sz="1050" b="0" i="1" kern="10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TW" sz="1050" b="0" i="1" kern="10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50" b="0" i="1" kern="10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050" b="0" i="1" kern="10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1050" b="0" kern="10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zh-TW" sz="1050" b="0" i="1" kern="10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050" b="0" i="1" kern="10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050" b="0" kern="100" smtClean="0">
                                          <a:solidFill>
                                            <a:srgbClr val="D26B42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sz="1050" b="0" i="1" kern="10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zh-TW" sz="1050" b="0" i="1" kern="100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050" b="0" i="1" kern="100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050" b="0" i="1" kern="100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zh-TW" sz="1050" b="0" i="1" kern="100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050" b="0" i="1" kern="100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1050" b="0" i="1" kern="100">
                                              <a:solidFill>
                                                <a:schemeClr val="tx1">
                                                  <a:lumMod val="85000"/>
                                                  <a:lumOff val="15000"/>
                                                </a:schemeClr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nary>
                            </m:oMath>
                          </a14:m>
                          <a:r>
                            <a:rPr lang="en-US" sz="1050" b="0" kern="1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 </a:t>
                          </a:r>
                          <a:endParaRPr lang="zh-TW" sz="1050" b="0" kern="1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ts val="1800"/>
                            </a:lnSpc>
                          </a:pPr>
                          <a:r>
                            <a:rPr lang="en-US" sz="1050" b="0" kern="1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 </a:t>
                          </a:r>
                          <a:endParaRPr lang="zh-TW" sz="1050" b="0" kern="1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7F7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144403"/>
                      </a:ext>
                    </a:extLst>
                  </a:tr>
                  <a:tr h="354481"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ts val="1800"/>
                            </a:lnSpc>
                          </a:pPr>
                          <a:r>
                            <a:rPr lang="en-US" altLang="zh-TW" sz="1050" b="0" kern="100" dirty="0">
                              <a:solidFill>
                                <a:srgbClr val="364F8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US" sz="1050" b="0" kern="100" dirty="0">
                              <a:solidFill>
                                <a:srgbClr val="364F81"/>
                              </a:solidFill>
                              <a:effectLst/>
                            </a:rPr>
                            <a:t>ubject to</a:t>
                          </a:r>
                          <a:endParaRPr lang="zh-TW" sz="1050" b="0" kern="100" dirty="0">
                            <a:solidFill>
                              <a:srgbClr val="364F81"/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ts val="1800"/>
                            </a:lnSpc>
                          </a:pPr>
                          <a:endParaRPr lang="zh-TW" sz="1050" b="0" kern="1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hangingPunct="0">
                            <a:lnSpc>
                              <a:spcPts val="1800"/>
                            </a:lnSpc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zh-TW" sz="1050" b="0" i="1" kern="10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050" b="0" i="1" kern="10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050" b="0" kern="100" smtClean="0">
                                      <a:solidFill>
                                        <a:srgbClr val="D26B42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1050" b="0" i="1" kern="10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zh-TW" sz="1050" b="0" i="1" kern="10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50" b="0" i="1" kern="10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1050" b="0" i="1" kern="10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TW" sz="1050" b="0" i="1" kern="10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50" b="0" i="1" kern="10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050" b="0" i="1" kern="10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1050" b="0" kern="10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zh-TW" sz="1050" b="0" i="1" kern="10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050" b="0" i="1" kern="10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050" b="0" kern="100" smtClean="0">
                                      <a:solidFill>
                                        <a:srgbClr val="D26B42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1050" b="0" i="1" kern="10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zh-TW" sz="1050" b="0" i="1" kern="10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50" b="0" i="1" kern="10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sz="1050" b="0" i="1" kern="10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𝑖𝑘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TW" sz="1050" b="0" i="1" kern="10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50" b="0" i="1" kern="10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050" b="0" i="1" kern="100">
                                          <a:solidFill>
                                            <a:schemeClr val="tx1">
                                              <a:lumMod val="85000"/>
                                              <a:lumOff val="15000"/>
                                            </a:schemeClr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1050" b="0" kern="10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zh-TW" sz="1050" b="0" i="1" kern="10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b="0" i="1" kern="10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050" b="0" i="1" kern="10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050" b="0" kern="1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 </a:t>
                          </a:r>
                          <a:endParaRPr lang="zh-TW" sz="1050" b="0" kern="1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hangingPunct="0">
                            <a:lnSpc>
                              <a:spcPts val="1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sz="1050" b="0" kern="10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sz="1050" b="0" i="1" kern="10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050" b="0" kern="100" smtClean="0">
                                  <a:solidFill>
                                    <a:srgbClr val="D26B42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050" b="0" i="1" kern="10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oMath>
                          </a14:m>
                          <a:r>
                            <a:rPr lang="en-US" sz="1050" b="0" kern="1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 </a:t>
                          </a:r>
                          <a:endParaRPr lang="zh-TW" sz="1050" b="0" kern="1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7F7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8980907"/>
                      </a:ext>
                    </a:extLst>
                  </a:tr>
                  <a:tr h="386473"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ts val="1800"/>
                            </a:lnSpc>
                          </a:pPr>
                          <a:r>
                            <a:rPr lang="en-US" sz="1050" b="0" kern="1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 </a:t>
                          </a:r>
                          <a:endParaRPr lang="zh-TW" sz="1050" b="0" kern="1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ts val="1800"/>
                            </a:lnSpc>
                          </a:pPr>
                          <a:endParaRPr lang="zh-TW" sz="1050" b="0" kern="1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ts val="1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1050" b="0" i="1" kern="100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b="0" i="1" kern="10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050" b="0" i="1" kern="10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1050" b="0" kern="100" smtClean="0">
                                    <a:solidFill>
                                      <a:srgbClr val="D26B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sSubSup>
                                  <m:sSubSupPr>
                                    <m:ctrlPr>
                                      <a:rPr lang="zh-TW" sz="1050" b="0" i="1" kern="10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50" b="0" kern="10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ℝ</m:t>
                                    </m:r>
                                  </m:e>
                                  <m:sub>
                                    <m:r>
                                      <a:rPr lang="en-US" sz="1050" b="0" i="1" kern="10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sz="1050" b="0" kern="10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sz="1050" b="0" kern="1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hangingPunct="0">
                            <a:lnSpc>
                              <a:spcPts val="1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sz="1050" b="0" kern="10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sz="1050" b="0" i="1" kern="10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050" b="0" kern="100" smtClean="0">
                                  <a:solidFill>
                                    <a:srgbClr val="D26B42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050" b="0" i="1" kern="10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oMath>
                          </a14:m>
                          <a:r>
                            <a:rPr lang="en-US" sz="1050" b="0" kern="1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 </a:t>
                          </a:r>
                          <a:endParaRPr lang="zh-TW" sz="1050" b="0" kern="1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7F7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654946"/>
                      </a:ext>
                    </a:extLst>
                  </a:tr>
                  <a:tr h="386473"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ts val="1800"/>
                            </a:lnSpc>
                          </a:pPr>
                          <a:r>
                            <a:rPr lang="en-US" sz="1050" b="0" kern="1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 </a:t>
                          </a:r>
                          <a:endParaRPr lang="zh-TW" sz="1050" b="0" kern="1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ts val="1800"/>
                            </a:lnSpc>
                          </a:pPr>
                          <a:endParaRPr lang="zh-TW" sz="1050" b="0" kern="1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ts val="18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sz="1050" b="0" i="1" kern="100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b="0" i="1" kern="10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050" b="0" i="1" kern="10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1050" b="0" kern="100" smtClean="0">
                                    <a:solidFill>
                                      <a:srgbClr val="D26B4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sSubSup>
                                  <m:sSubSupPr>
                                    <m:ctrlPr>
                                      <a:rPr lang="zh-TW" sz="1050" b="0" i="1" kern="100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50" b="0" kern="10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ℤ</m:t>
                                    </m:r>
                                  </m:e>
                                  <m:sub>
                                    <m:r>
                                      <a:rPr lang="en-US" sz="1050" b="0" i="1" kern="10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sz="1050" b="0" kern="10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sz="1050" b="0" kern="1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hangingPunct="0">
                            <a:lnSpc>
                              <a:spcPts val="1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sz="1050" b="0" kern="10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∀</m:t>
                              </m:r>
                              <m:r>
                                <a:rPr lang="en-US" sz="1050" b="0" i="1" kern="10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050" b="0" kern="100" smtClean="0">
                                  <a:solidFill>
                                    <a:srgbClr val="D26B42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050" b="0" i="1" kern="10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oMath>
                          </a14:m>
                          <a:r>
                            <a:rPr lang="en-US" sz="1050" b="0" kern="1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 </a:t>
                          </a:r>
                          <a:endParaRPr lang="zh-TW" sz="1050" b="0" kern="1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7F7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81175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4" name="表格 63">
                <a:extLst>
                  <a:ext uri="{FF2B5EF4-FFF2-40B4-BE49-F238E27FC236}">
                    <a16:creationId xmlns:a16="http://schemas.microsoft.com/office/drawing/2014/main" id="{6CA755DF-56C6-40ED-B726-CB7814BB50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27"/>
                  </p:ext>
                </p:extLst>
              </p:nvPr>
            </p:nvGraphicFramePr>
            <p:xfrm>
              <a:off x="386238" y="3184422"/>
              <a:ext cx="3502327" cy="15139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29137">
                      <a:extLst>
                        <a:ext uri="{9D8B030D-6E8A-4147-A177-3AD203B41FA5}">
                          <a16:colId xmlns:a16="http://schemas.microsoft.com/office/drawing/2014/main" val="3275968915"/>
                        </a:ext>
                      </a:extLst>
                    </a:gridCol>
                    <a:gridCol w="328747">
                      <a:extLst>
                        <a:ext uri="{9D8B030D-6E8A-4147-A177-3AD203B41FA5}">
                          <a16:colId xmlns:a16="http://schemas.microsoft.com/office/drawing/2014/main" val="364237327"/>
                        </a:ext>
                      </a:extLst>
                    </a:gridCol>
                    <a:gridCol w="1835053">
                      <a:extLst>
                        <a:ext uri="{9D8B030D-6E8A-4147-A177-3AD203B41FA5}">
                          <a16:colId xmlns:a16="http://schemas.microsoft.com/office/drawing/2014/main" val="977361725"/>
                        </a:ext>
                      </a:extLst>
                    </a:gridCol>
                    <a:gridCol w="609390">
                      <a:extLst>
                        <a:ext uri="{9D8B030D-6E8A-4147-A177-3AD203B41FA5}">
                          <a16:colId xmlns:a16="http://schemas.microsoft.com/office/drawing/2014/main" val="1783272606"/>
                        </a:ext>
                      </a:extLst>
                    </a:gridCol>
                  </a:tblGrid>
                  <a:tr h="386473"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ts val="1800"/>
                            </a:lnSpc>
                          </a:pPr>
                          <a:r>
                            <a:rPr lang="en-US" altLang="zh-TW" sz="1050" b="0" kern="100" dirty="0">
                              <a:solidFill>
                                <a:srgbClr val="364F81"/>
                              </a:solidFill>
                              <a:effectLst/>
                            </a:rPr>
                            <a:t>m</a:t>
                          </a:r>
                          <a:r>
                            <a:rPr lang="en-US" sz="1050" b="0" kern="100" dirty="0">
                              <a:solidFill>
                                <a:srgbClr val="364F81"/>
                              </a:solidFill>
                              <a:effectLst/>
                            </a:rPr>
                            <a:t>aximize</a:t>
                          </a:r>
                          <a:endParaRPr lang="zh-TW" sz="1050" b="0" kern="100" dirty="0">
                            <a:solidFill>
                              <a:srgbClr val="364F81"/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22222" t="-43750" r="-742593" b="-289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7807" t="-43750" r="-33223" b="-289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ts val="1800"/>
                            </a:lnSpc>
                          </a:pPr>
                          <a:r>
                            <a:rPr lang="en-US" sz="1050" b="0" kern="1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 </a:t>
                          </a:r>
                          <a:endParaRPr lang="zh-TW" sz="1050" b="0" kern="1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7F7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144403"/>
                      </a:ext>
                    </a:extLst>
                  </a:tr>
                  <a:tr h="354481"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ts val="1800"/>
                            </a:lnSpc>
                          </a:pPr>
                          <a:r>
                            <a:rPr lang="en-US" altLang="zh-TW" sz="1050" b="0" kern="100" dirty="0">
                              <a:solidFill>
                                <a:srgbClr val="364F8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US" sz="1050" b="0" kern="100" dirty="0">
                              <a:solidFill>
                                <a:srgbClr val="364F81"/>
                              </a:solidFill>
                              <a:effectLst/>
                            </a:rPr>
                            <a:t>ubject to</a:t>
                          </a:r>
                          <a:endParaRPr lang="zh-TW" sz="1050" b="0" kern="100" dirty="0">
                            <a:solidFill>
                              <a:srgbClr val="364F81"/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ts val="1800"/>
                            </a:lnSpc>
                          </a:pPr>
                          <a:endParaRPr lang="zh-TW" sz="1050" b="0" kern="1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7807" t="-158621" r="-33223" b="-218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75000" t="-158621" b="-2189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8980907"/>
                      </a:ext>
                    </a:extLst>
                  </a:tr>
                  <a:tr h="386473"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ts val="1800"/>
                            </a:lnSpc>
                          </a:pPr>
                          <a:r>
                            <a:rPr lang="en-US" sz="1050" b="0" kern="1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 </a:t>
                          </a:r>
                          <a:endParaRPr lang="zh-TW" sz="1050" b="0" kern="1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ts val="1800"/>
                            </a:lnSpc>
                          </a:pPr>
                          <a:endParaRPr lang="zh-TW" sz="1050" b="0" kern="1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7807" t="-238095" r="-33223" b="-101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75000" t="-238095" b="-1015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654946"/>
                      </a:ext>
                    </a:extLst>
                  </a:tr>
                  <a:tr h="386473"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ts val="1800"/>
                            </a:lnSpc>
                          </a:pPr>
                          <a:r>
                            <a:rPr lang="en-US" sz="1050" b="0" kern="1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 </a:t>
                          </a:r>
                          <a:endParaRPr lang="zh-TW" sz="1050" b="0" kern="1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hangingPunct="0">
                            <a:lnSpc>
                              <a:spcPts val="1800"/>
                            </a:lnSpc>
                          </a:pPr>
                          <a:endParaRPr lang="zh-TW" sz="1050" b="0" kern="1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7807" t="-332813" r="-332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49203" marR="49203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75000" t="-3328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811755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3" name="群組 22">
            <a:extLst>
              <a:ext uri="{FF2B5EF4-FFF2-40B4-BE49-F238E27FC236}">
                <a16:creationId xmlns:a16="http://schemas.microsoft.com/office/drawing/2014/main" id="{72CC4BC9-1519-413B-8B7E-DBB3DA0C7768}"/>
              </a:ext>
            </a:extLst>
          </p:cNvPr>
          <p:cNvGrpSpPr/>
          <p:nvPr/>
        </p:nvGrpSpPr>
        <p:grpSpPr>
          <a:xfrm>
            <a:off x="7009190" y="3620395"/>
            <a:ext cx="1558796" cy="413590"/>
            <a:chOff x="7405692" y="3256126"/>
            <a:chExt cx="1558796" cy="413590"/>
          </a:xfrm>
        </p:grpSpPr>
        <p:pic>
          <p:nvPicPr>
            <p:cNvPr id="99" name="圖片 98">
              <a:extLst>
                <a:ext uri="{FF2B5EF4-FFF2-40B4-BE49-F238E27FC236}">
                  <a16:creationId xmlns:a16="http://schemas.microsoft.com/office/drawing/2014/main" id="{55D908A4-3765-4CB8-A980-455C22DF2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707178" y="3342796"/>
              <a:ext cx="257310" cy="257310"/>
            </a:xfrm>
            <a:prstGeom prst="rect">
              <a:avLst/>
            </a:prstGeom>
          </p:spPr>
        </p:pic>
        <p:pic>
          <p:nvPicPr>
            <p:cNvPr id="100" name="圖片 99">
              <a:extLst>
                <a:ext uri="{FF2B5EF4-FFF2-40B4-BE49-F238E27FC236}">
                  <a16:creationId xmlns:a16="http://schemas.microsoft.com/office/drawing/2014/main" id="{E249E739-A987-4257-B67B-720A4D83B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8172465" y="3342796"/>
              <a:ext cx="257310" cy="257310"/>
            </a:xfrm>
            <a:prstGeom prst="rect">
              <a:avLst/>
            </a:prstGeom>
          </p:spPr>
        </p:pic>
        <p:grpSp>
          <p:nvGrpSpPr>
            <p:cNvPr id="101" name="群組 100">
              <a:extLst>
                <a:ext uri="{FF2B5EF4-FFF2-40B4-BE49-F238E27FC236}">
                  <a16:creationId xmlns:a16="http://schemas.microsoft.com/office/drawing/2014/main" id="{8BA7BED0-1245-4BC3-8E0D-7685FD1219A8}"/>
                </a:ext>
              </a:extLst>
            </p:cNvPr>
            <p:cNvGrpSpPr/>
            <p:nvPr/>
          </p:nvGrpSpPr>
          <p:grpSpPr>
            <a:xfrm>
              <a:off x="7405692" y="3256126"/>
              <a:ext cx="434082" cy="413590"/>
              <a:chOff x="7213236" y="154344"/>
              <a:chExt cx="434082" cy="413590"/>
            </a:xfrm>
          </p:grpSpPr>
          <p:pic>
            <p:nvPicPr>
              <p:cNvPr id="117" name="圖片 116">
                <a:extLst>
                  <a:ext uri="{FF2B5EF4-FFF2-40B4-BE49-F238E27FC236}">
                    <a16:creationId xmlns:a16="http://schemas.microsoft.com/office/drawing/2014/main" id="{A37E9459-F146-40BA-98D8-C768270254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7390008" y="310624"/>
                <a:ext cx="257310" cy="257310"/>
              </a:xfrm>
              <a:prstGeom prst="rect">
                <a:avLst/>
              </a:prstGeom>
            </p:spPr>
          </p:pic>
          <p:pic>
            <p:nvPicPr>
              <p:cNvPr id="118" name="圖片 117">
                <a:extLst>
                  <a:ext uri="{FF2B5EF4-FFF2-40B4-BE49-F238E27FC236}">
                    <a16:creationId xmlns:a16="http://schemas.microsoft.com/office/drawing/2014/main" id="{0B306269-E078-4B24-A19C-ED33E33277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7213236" y="310624"/>
                <a:ext cx="257310" cy="257310"/>
              </a:xfrm>
              <a:prstGeom prst="rect">
                <a:avLst/>
              </a:prstGeom>
            </p:spPr>
          </p:pic>
          <p:pic>
            <p:nvPicPr>
              <p:cNvPr id="116" name="圖片 115">
                <a:extLst>
                  <a:ext uri="{FF2B5EF4-FFF2-40B4-BE49-F238E27FC236}">
                    <a16:creationId xmlns:a16="http://schemas.microsoft.com/office/drawing/2014/main" id="{D674702E-A0A2-4973-A717-B2896CD6A3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7306380" y="154344"/>
                <a:ext cx="257310" cy="257310"/>
              </a:xfrm>
              <a:prstGeom prst="rect">
                <a:avLst/>
              </a:prstGeom>
            </p:spPr>
          </p:pic>
        </p:grpSp>
        <p:sp>
          <p:nvSpPr>
            <p:cNvPr id="102" name="十字形 101">
              <a:extLst>
                <a:ext uri="{FF2B5EF4-FFF2-40B4-BE49-F238E27FC236}">
                  <a16:creationId xmlns:a16="http://schemas.microsoft.com/office/drawing/2014/main" id="{BC0D5910-AFAB-4445-B8CA-F737F664B1BB}"/>
                </a:ext>
              </a:extLst>
            </p:cNvPr>
            <p:cNvSpPr/>
            <p:nvPr/>
          </p:nvSpPr>
          <p:spPr>
            <a:xfrm>
              <a:off x="7923401" y="3382430"/>
              <a:ext cx="178042" cy="178042"/>
            </a:xfrm>
            <a:prstGeom prst="plus">
              <a:avLst>
                <a:gd name="adj" fmla="val 37328"/>
              </a:avLst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5" name="等於 104">
              <a:extLst>
                <a:ext uri="{FF2B5EF4-FFF2-40B4-BE49-F238E27FC236}">
                  <a16:creationId xmlns:a16="http://schemas.microsoft.com/office/drawing/2014/main" id="{36506562-D6AB-4A88-899D-A6043CA8933C}"/>
                </a:ext>
              </a:extLst>
            </p:cNvPr>
            <p:cNvSpPr/>
            <p:nvPr/>
          </p:nvSpPr>
          <p:spPr>
            <a:xfrm>
              <a:off x="8500797" y="3383968"/>
              <a:ext cx="135359" cy="174966"/>
            </a:xfrm>
            <a:prstGeom prst="mathEqual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AAC18F2E-68D0-4F94-893D-3FD9131024E7}"/>
              </a:ext>
            </a:extLst>
          </p:cNvPr>
          <p:cNvGrpSpPr/>
          <p:nvPr/>
        </p:nvGrpSpPr>
        <p:grpSpPr>
          <a:xfrm>
            <a:off x="4359807" y="3318078"/>
            <a:ext cx="1890425" cy="416485"/>
            <a:chOff x="4835200" y="3169455"/>
            <a:chExt cx="1890425" cy="416485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A7BA2C25-D090-4CEF-97EE-2C0F0150D26A}"/>
                </a:ext>
              </a:extLst>
            </p:cNvPr>
            <p:cNvGrpSpPr/>
            <p:nvPr/>
          </p:nvGrpSpPr>
          <p:grpSpPr>
            <a:xfrm>
              <a:off x="4835200" y="3169455"/>
              <a:ext cx="1208794" cy="416485"/>
              <a:chOff x="5865721" y="3256126"/>
              <a:chExt cx="1208794" cy="416485"/>
            </a:xfrm>
          </p:grpSpPr>
          <p:sp>
            <p:nvSpPr>
              <p:cNvPr id="104" name="十字形 103">
                <a:extLst>
                  <a:ext uri="{FF2B5EF4-FFF2-40B4-BE49-F238E27FC236}">
                    <a16:creationId xmlns:a16="http://schemas.microsoft.com/office/drawing/2014/main" id="{F330933B-6BF6-422C-96D8-2877790BD099}"/>
                  </a:ext>
                </a:extLst>
              </p:cNvPr>
              <p:cNvSpPr/>
              <p:nvPr/>
            </p:nvSpPr>
            <p:spPr>
              <a:xfrm>
                <a:off x="6376979" y="3382430"/>
                <a:ext cx="178042" cy="178042"/>
              </a:xfrm>
              <a:prstGeom prst="plus">
                <a:avLst>
                  <a:gd name="adj" fmla="val 37328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106" name="群組 105">
                <a:extLst>
                  <a:ext uri="{FF2B5EF4-FFF2-40B4-BE49-F238E27FC236}">
                    <a16:creationId xmlns:a16="http://schemas.microsoft.com/office/drawing/2014/main" id="{4B37CFAF-CD76-42A2-8D4D-DF94AD07162D}"/>
                  </a:ext>
                </a:extLst>
              </p:cNvPr>
              <p:cNvGrpSpPr/>
              <p:nvPr/>
            </p:nvGrpSpPr>
            <p:grpSpPr>
              <a:xfrm>
                <a:off x="6638734" y="3256126"/>
                <a:ext cx="435781" cy="415937"/>
                <a:chOff x="7219489" y="154344"/>
                <a:chExt cx="435781" cy="415937"/>
              </a:xfrm>
            </p:grpSpPr>
            <p:pic>
              <p:nvPicPr>
                <p:cNvPr id="114" name="圖片 113">
                  <a:extLst>
                    <a:ext uri="{FF2B5EF4-FFF2-40B4-BE49-F238E27FC236}">
                      <a16:creationId xmlns:a16="http://schemas.microsoft.com/office/drawing/2014/main" id="{AF4C9C25-A98E-40D9-A30D-86C5D8CD62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397960" y="312971"/>
                  <a:ext cx="257310" cy="257310"/>
                </a:xfrm>
                <a:prstGeom prst="rect">
                  <a:avLst/>
                </a:prstGeom>
              </p:spPr>
            </p:pic>
            <p:pic>
              <p:nvPicPr>
                <p:cNvPr id="115" name="圖片 114">
                  <a:extLst>
                    <a:ext uri="{FF2B5EF4-FFF2-40B4-BE49-F238E27FC236}">
                      <a16:creationId xmlns:a16="http://schemas.microsoft.com/office/drawing/2014/main" id="{7A77FD00-9DD8-42A6-8B34-A6DA159CAB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219489" y="305590"/>
                  <a:ext cx="257310" cy="257310"/>
                </a:xfrm>
                <a:prstGeom prst="rect">
                  <a:avLst/>
                </a:prstGeom>
              </p:spPr>
            </p:pic>
            <p:pic>
              <p:nvPicPr>
                <p:cNvPr id="112" name="圖片 111">
                  <a:extLst>
                    <a:ext uri="{FF2B5EF4-FFF2-40B4-BE49-F238E27FC236}">
                      <a16:creationId xmlns:a16="http://schemas.microsoft.com/office/drawing/2014/main" id="{4F46FAAE-B405-4B80-8DBC-DDF772B67B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306380" y="154344"/>
                  <a:ext cx="257310" cy="257310"/>
                </a:xfrm>
                <a:prstGeom prst="rect">
                  <a:avLst/>
                </a:prstGeom>
              </p:spPr>
            </p:pic>
          </p:grpSp>
          <p:grpSp>
            <p:nvGrpSpPr>
              <p:cNvPr id="107" name="群組 106">
                <a:extLst>
                  <a:ext uri="{FF2B5EF4-FFF2-40B4-BE49-F238E27FC236}">
                    <a16:creationId xmlns:a16="http://schemas.microsoft.com/office/drawing/2014/main" id="{F8250006-7DEF-4129-A1F1-900CFAD0BAE6}"/>
                  </a:ext>
                </a:extLst>
              </p:cNvPr>
              <p:cNvGrpSpPr/>
              <p:nvPr/>
            </p:nvGrpSpPr>
            <p:grpSpPr>
              <a:xfrm>
                <a:off x="5865721" y="3256126"/>
                <a:ext cx="427631" cy="416485"/>
                <a:chOff x="7219687" y="154344"/>
                <a:chExt cx="427631" cy="416485"/>
              </a:xfrm>
            </p:grpSpPr>
            <p:pic>
              <p:nvPicPr>
                <p:cNvPr id="109" name="圖片 108">
                  <a:extLst>
                    <a:ext uri="{FF2B5EF4-FFF2-40B4-BE49-F238E27FC236}">
                      <a16:creationId xmlns:a16="http://schemas.microsoft.com/office/drawing/2014/main" id="{8B5CBAF1-E6B2-448F-B2E6-1216B30AA9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1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390008" y="313519"/>
                  <a:ext cx="257310" cy="257310"/>
                </a:xfrm>
                <a:prstGeom prst="rect">
                  <a:avLst/>
                </a:prstGeom>
              </p:spPr>
            </p:pic>
            <p:pic>
              <p:nvPicPr>
                <p:cNvPr id="111" name="圖片 110">
                  <a:extLst>
                    <a:ext uri="{FF2B5EF4-FFF2-40B4-BE49-F238E27FC236}">
                      <a16:creationId xmlns:a16="http://schemas.microsoft.com/office/drawing/2014/main" id="{D5CE5122-023E-4EAC-AE03-E2BB150F08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1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219687" y="307465"/>
                  <a:ext cx="257310" cy="257310"/>
                </a:xfrm>
                <a:prstGeom prst="rect">
                  <a:avLst/>
                </a:prstGeom>
              </p:spPr>
            </p:pic>
            <p:pic>
              <p:nvPicPr>
                <p:cNvPr id="108" name="圖片 107">
                  <a:extLst>
                    <a:ext uri="{FF2B5EF4-FFF2-40B4-BE49-F238E27FC236}">
                      <a16:creationId xmlns:a16="http://schemas.microsoft.com/office/drawing/2014/main" id="{A2F5B2E0-4139-45B7-830A-5F497E47D2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1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306380" y="154344"/>
                  <a:ext cx="257310" cy="257310"/>
                </a:xfrm>
                <a:prstGeom prst="rect">
                  <a:avLst/>
                </a:prstGeom>
              </p:spPr>
            </p:pic>
          </p:grpSp>
        </p:grpSp>
        <p:pic>
          <p:nvPicPr>
            <p:cNvPr id="119" name="圖片 118">
              <a:extLst>
                <a:ext uri="{FF2B5EF4-FFF2-40B4-BE49-F238E27FC236}">
                  <a16:creationId xmlns:a16="http://schemas.microsoft.com/office/drawing/2014/main" id="{ABE11D2C-3A96-49AB-B430-4ABA49AC4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468315" y="3256125"/>
              <a:ext cx="257310" cy="257310"/>
            </a:xfrm>
            <a:prstGeom prst="rect">
              <a:avLst/>
            </a:prstGeom>
          </p:spPr>
        </p:pic>
        <p:sp>
          <p:nvSpPr>
            <p:cNvPr id="120" name="等於 119">
              <a:extLst>
                <a:ext uri="{FF2B5EF4-FFF2-40B4-BE49-F238E27FC236}">
                  <a16:creationId xmlns:a16="http://schemas.microsoft.com/office/drawing/2014/main" id="{1F52938F-098A-42D7-A3A3-CC9448BD1376}"/>
                </a:ext>
              </a:extLst>
            </p:cNvPr>
            <p:cNvSpPr/>
            <p:nvPr/>
          </p:nvSpPr>
          <p:spPr>
            <a:xfrm>
              <a:off x="6197000" y="3297297"/>
              <a:ext cx="135359" cy="174966"/>
            </a:xfrm>
            <a:prstGeom prst="mathEqual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21" name="群組 120">
            <a:extLst>
              <a:ext uri="{FF2B5EF4-FFF2-40B4-BE49-F238E27FC236}">
                <a16:creationId xmlns:a16="http://schemas.microsoft.com/office/drawing/2014/main" id="{446F4DF2-E2C8-42AD-A355-1EB2BFBAC98D}"/>
              </a:ext>
            </a:extLst>
          </p:cNvPr>
          <p:cNvGrpSpPr/>
          <p:nvPr/>
        </p:nvGrpSpPr>
        <p:grpSpPr>
          <a:xfrm>
            <a:off x="4359659" y="3803221"/>
            <a:ext cx="1887580" cy="418739"/>
            <a:chOff x="4835052" y="3169455"/>
            <a:chExt cx="1887580" cy="418739"/>
          </a:xfrm>
        </p:grpSpPr>
        <p:grpSp>
          <p:nvGrpSpPr>
            <p:cNvPr id="122" name="群組 121">
              <a:extLst>
                <a:ext uri="{FF2B5EF4-FFF2-40B4-BE49-F238E27FC236}">
                  <a16:creationId xmlns:a16="http://schemas.microsoft.com/office/drawing/2014/main" id="{D6908963-2474-48FB-914D-AB06A6B30221}"/>
                </a:ext>
              </a:extLst>
            </p:cNvPr>
            <p:cNvGrpSpPr/>
            <p:nvPr/>
          </p:nvGrpSpPr>
          <p:grpSpPr>
            <a:xfrm>
              <a:off x="4835052" y="3169455"/>
              <a:ext cx="1201581" cy="418739"/>
              <a:chOff x="5865573" y="3256126"/>
              <a:chExt cx="1201581" cy="418739"/>
            </a:xfrm>
          </p:grpSpPr>
          <p:sp>
            <p:nvSpPr>
              <p:cNvPr id="125" name="十字形 124">
                <a:extLst>
                  <a:ext uri="{FF2B5EF4-FFF2-40B4-BE49-F238E27FC236}">
                    <a16:creationId xmlns:a16="http://schemas.microsoft.com/office/drawing/2014/main" id="{C06030FA-ECA1-442D-9BA2-DAB3E2929A39}"/>
                  </a:ext>
                </a:extLst>
              </p:cNvPr>
              <p:cNvSpPr/>
              <p:nvPr/>
            </p:nvSpPr>
            <p:spPr>
              <a:xfrm>
                <a:off x="6376979" y="3382430"/>
                <a:ext cx="178042" cy="178042"/>
              </a:xfrm>
              <a:prstGeom prst="plus">
                <a:avLst>
                  <a:gd name="adj" fmla="val 37328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126" name="群組 125">
                <a:extLst>
                  <a:ext uri="{FF2B5EF4-FFF2-40B4-BE49-F238E27FC236}">
                    <a16:creationId xmlns:a16="http://schemas.microsoft.com/office/drawing/2014/main" id="{BF729D97-CEA6-401F-8B58-883DF97E901A}"/>
                  </a:ext>
                </a:extLst>
              </p:cNvPr>
              <p:cNvGrpSpPr/>
              <p:nvPr/>
            </p:nvGrpSpPr>
            <p:grpSpPr>
              <a:xfrm>
                <a:off x="6632481" y="3256126"/>
                <a:ext cx="434673" cy="418739"/>
                <a:chOff x="7213236" y="154344"/>
                <a:chExt cx="434673" cy="418739"/>
              </a:xfrm>
            </p:grpSpPr>
            <p:pic>
              <p:nvPicPr>
                <p:cNvPr id="136" name="圖片 135">
                  <a:extLst>
                    <a:ext uri="{FF2B5EF4-FFF2-40B4-BE49-F238E27FC236}">
                      <a16:creationId xmlns:a16="http://schemas.microsoft.com/office/drawing/2014/main" id="{6911DA82-F11E-443F-995C-9BA2262131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390599" y="315773"/>
                  <a:ext cx="257310" cy="257310"/>
                </a:xfrm>
                <a:prstGeom prst="rect">
                  <a:avLst/>
                </a:prstGeom>
              </p:spPr>
            </p:pic>
            <p:pic>
              <p:nvPicPr>
                <p:cNvPr id="137" name="圖片 136">
                  <a:extLst>
                    <a:ext uri="{FF2B5EF4-FFF2-40B4-BE49-F238E27FC236}">
                      <a16:creationId xmlns:a16="http://schemas.microsoft.com/office/drawing/2014/main" id="{715EE550-1903-4AC7-A112-F2FA809D8E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213236" y="310879"/>
                  <a:ext cx="257310" cy="257310"/>
                </a:xfrm>
                <a:prstGeom prst="rect">
                  <a:avLst/>
                </a:prstGeom>
              </p:spPr>
            </p:pic>
            <p:pic>
              <p:nvPicPr>
                <p:cNvPr id="131" name="圖片 130">
                  <a:extLst>
                    <a:ext uri="{FF2B5EF4-FFF2-40B4-BE49-F238E27FC236}">
                      <a16:creationId xmlns:a16="http://schemas.microsoft.com/office/drawing/2014/main" id="{609422EF-17F7-48A7-BA20-C513D34B80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306380" y="154344"/>
                  <a:ext cx="257310" cy="257310"/>
                </a:xfrm>
                <a:prstGeom prst="rect">
                  <a:avLst/>
                </a:prstGeom>
              </p:spPr>
            </p:pic>
          </p:grpSp>
          <p:grpSp>
            <p:nvGrpSpPr>
              <p:cNvPr id="127" name="群組 126">
                <a:extLst>
                  <a:ext uri="{FF2B5EF4-FFF2-40B4-BE49-F238E27FC236}">
                    <a16:creationId xmlns:a16="http://schemas.microsoft.com/office/drawing/2014/main" id="{3678FB08-3E0D-4E14-AD0D-5EB72FF2C730}"/>
                  </a:ext>
                </a:extLst>
              </p:cNvPr>
              <p:cNvGrpSpPr/>
              <p:nvPr/>
            </p:nvGrpSpPr>
            <p:grpSpPr>
              <a:xfrm>
                <a:off x="5865573" y="3256126"/>
                <a:ext cx="435756" cy="414522"/>
                <a:chOff x="7219539" y="154344"/>
                <a:chExt cx="435756" cy="414522"/>
              </a:xfrm>
            </p:grpSpPr>
            <p:pic>
              <p:nvPicPr>
                <p:cNvPr id="129" name="圖片 128">
                  <a:extLst>
                    <a:ext uri="{FF2B5EF4-FFF2-40B4-BE49-F238E27FC236}">
                      <a16:creationId xmlns:a16="http://schemas.microsoft.com/office/drawing/2014/main" id="{F1D0955A-A948-4AE5-9F26-478DFC41DA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1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397985" y="310879"/>
                  <a:ext cx="257310" cy="257310"/>
                </a:xfrm>
                <a:prstGeom prst="rect">
                  <a:avLst/>
                </a:prstGeom>
              </p:spPr>
            </p:pic>
            <p:pic>
              <p:nvPicPr>
                <p:cNvPr id="130" name="圖片 129">
                  <a:extLst>
                    <a:ext uri="{FF2B5EF4-FFF2-40B4-BE49-F238E27FC236}">
                      <a16:creationId xmlns:a16="http://schemas.microsoft.com/office/drawing/2014/main" id="{01EA24C6-D762-457C-8631-87A7FD266F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1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219539" y="311556"/>
                  <a:ext cx="257310" cy="257310"/>
                </a:xfrm>
                <a:prstGeom prst="rect">
                  <a:avLst/>
                </a:prstGeom>
              </p:spPr>
            </p:pic>
            <p:pic>
              <p:nvPicPr>
                <p:cNvPr id="128" name="圖片 127">
                  <a:extLst>
                    <a:ext uri="{FF2B5EF4-FFF2-40B4-BE49-F238E27FC236}">
                      <a16:creationId xmlns:a16="http://schemas.microsoft.com/office/drawing/2014/main" id="{88672B2C-1C32-4ED9-AD11-05E67FB1AC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1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306380" y="154344"/>
                  <a:ext cx="257310" cy="257310"/>
                </a:xfrm>
                <a:prstGeom prst="rect">
                  <a:avLst/>
                </a:prstGeom>
              </p:spPr>
            </p:pic>
          </p:grpSp>
        </p:grpSp>
        <p:pic>
          <p:nvPicPr>
            <p:cNvPr id="123" name="圖片 122">
              <a:extLst>
                <a:ext uri="{FF2B5EF4-FFF2-40B4-BE49-F238E27FC236}">
                  <a16:creationId xmlns:a16="http://schemas.microsoft.com/office/drawing/2014/main" id="{91838C98-26BC-4CB5-96B4-CA35CA8511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471307" y="3256125"/>
              <a:ext cx="251325" cy="257310"/>
            </a:xfrm>
            <a:prstGeom prst="rect">
              <a:avLst/>
            </a:prstGeom>
          </p:spPr>
        </p:pic>
        <p:sp>
          <p:nvSpPr>
            <p:cNvPr id="124" name="等於 123">
              <a:extLst>
                <a:ext uri="{FF2B5EF4-FFF2-40B4-BE49-F238E27FC236}">
                  <a16:creationId xmlns:a16="http://schemas.microsoft.com/office/drawing/2014/main" id="{1924EC69-E8CC-4567-B3D4-135253815D9B}"/>
                </a:ext>
              </a:extLst>
            </p:cNvPr>
            <p:cNvSpPr/>
            <p:nvPr/>
          </p:nvSpPr>
          <p:spPr>
            <a:xfrm>
              <a:off x="6197000" y="3297297"/>
              <a:ext cx="135359" cy="174966"/>
            </a:xfrm>
            <a:prstGeom prst="mathEqual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1" name="群組 140">
            <a:extLst>
              <a:ext uri="{FF2B5EF4-FFF2-40B4-BE49-F238E27FC236}">
                <a16:creationId xmlns:a16="http://schemas.microsoft.com/office/drawing/2014/main" id="{F4FE98CB-95A4-4E05-8FA6-D88ECE222F85}"/>
              </a:ext>
            </a:extLst>
          </p:cNvPr>
          <p:cNvGrpSpPr/>
          <p:nvPr/>
        </p:nvGrpSpPr>
        <p:grpSpPr>
          <a:xfrm>
            <a:off x="6581404" y="3715516"/>
            <a:ext cx="102640" cy="182390"/>
            <a:chOff x="3707904" y="1269426"/>
            <a:chExt cx="271311" cy="482115"/>
          </a:xfrm>
        </p:grpSpPr>
        <p:grpSp>
          <p:nvGrpSpPr>
            <p:cNvPr id="142" name="群組 141">
              <a:extLst>
                <a:ext uri="{FF2B5EF4-FFF2-40B4-BE49-F238E27FC236}">
                  <a16:creationId xmlns:a16="http://schemas.microsoft.com/office/drawing/2014/main" id="{C588E2F5-1C00-4010-BD7F-F1BCC450E006}"/>
                </a:ext>
              </a:extLst>
            </p:cNvPr>
            <p:cNvGrpSpPr/>
            <p:nvPr/>
          </p:nvGrpSpPr>
          <p:grpSpPr>
            <a:xfrm>
              <a:off x="3979215" y="1269426"/>
              <a:ext cx="0" cy="482115"/>
              <a:chOff x="3979215" y="1269426"/>
              <a:chExt cx="0" cy="482115"/>
            </a:xfrm>
          </p:grpSpPr>
          <p:cxnSp>
            <p:nvCxnSpPr>
              <p:cNvPr id="146" name="直線單箭頭接點 145">
                <a:extLst>
                  <a:ext uri="{FF2B5EF4-FFF2-40B4-BE49-F238E27FC236}">
                    <a16:creationId xmlns:a16="http://schemas.microsoft.com/office/drawing/2014/main" id="{A321588D-6091-48E7-B8B2-30C0653467E2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7030A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線單箭頭接點 146">
                <a:extLst>
                  <a:ext uri="{FF2B5EF4-FFF2-40B4-BE49-F238E27FC236}">
                    <a16:creationId xmlns:a16="http://schemas.microsoft.com/office/drawing/2014/main" id="{FBD8915D-A237-407D-AE01-1522CE3DBC44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7030A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3" name="群組 142">
              <a:extLst>
                <a:ext uri="{FF2B5EF4-FFF2-40B4-BE49-F238E27FC236}">
                  <a16:creationId xmlns:a16="http://schemas.microsoft.com/office/drawing/2014/main" id="{899ABD8F-9E90-4B6B-A3D8-1D385545446F}"/>
                </a:ext>
              </a:extLst>
            </p:cNvPr>
            <p:cNvGrpSpPr/>
            <p:nvPr/>
          </p:nvGrpSpPr>
          <p:grpSpPr>
            <a:xfrm>
              <a:off x="3707904" y="1269426"/>
              <a:ext cx="0" cy="482115"/>
              <a:chOff x="3979215" y="1269426"/>
              <a:chExt cx="0" cy="482115"/>
            </a:xfrm>
          </p:grpSpPr>
          <p:cxnSp>
            <p:nvCxnSpPr>
              <p:cNvPr id="144" name="直線單箭頭接點 143">
                <a:extLst>
                  <a:ext uri="{FF2B5EF4-FFF2-40B4-BE49-F238E27FC236}">
                    <a16:creationId xmlns:a16="http://schemas.microsoft.com/office/drawing/2014/main" id="{99B7AC9A-B991-44E0-BB40-20F4E0CFE408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7030A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線單箭頭接點 144">
                <a:extLst>
                  <a:ext uri="{FF2B5EF4-FFF2-40B4-BE49-F238E27FC236}">
                    <a16:creationId xmlns:a16="http://schemas.microsoft.com/office/drawing/2014/main" id="{B281C642-0F62-474A-BA6E-DC435E835282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7030A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5" name="矩形: 圓角 164">
            <a:extLst>
              <a:ext uri="{FF2B5EF4-FFF2-40B4-BE49-F238E27FC236}">
                <a16:creationId xmlns:a16="http://schemas.microsoft.com/office/drawing/2014/main" id="{D1FB9490-5988-41AF-B2BC-2DEC563A8D30}"/>
              </a:ext>
            </a:extLst>
          </p:cNvPr>
          <p:cNvSpPr/>
          <p:nvPr/>
        </p:nvSpPr>
        <p:spPr>
          <a:xfrm>
            <a:off x="8394870" y="55476"/>
            <a:ext cx="638640" cy="63052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66" name="矩形: 圓角 165">
            <a:extLst>
              <a:ext uri="{FF2B5EF4-FFF2-40B4-BE49-F238E27FC236}">
                <a16:creationId xmlns:a16="http://schemas.microsoft.com/office/drawing/2014/main" id="{289881E7-3ADC-4DBB-A2D4-AC1215575F0A}"/>
              </a:ext>
            </a:extLst>
          </p:cNvPr>
          <p:cNvSpPr/>
          <p:nvPr/>
        </p:nvSpPr>
        <p:spPr>
          <a:xfrm>
            <a:off x="8394870" y="55476"/>
            <a:ext cx="638640" cy="63052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69" name="文字方塊 168">
            <a:extLst>
              <a:ext uri="{FF2B5EF4-FFF2-40B4-BE49-F238E27FC236}">
                <a16:creationId xmlns:a16="http://schemas.microsoft.com/office/drawing/2014/main" id="{AB287360-E245-4072-8458-1F3B4F89E108}"/>
              </a:ext>
            </a:extLst>
          </p:cNvPr>
          <p:cNvSpPr txBox="1"/>
          <p:nvPr/>
        </p:nvSpPr>
        <p:spPr>
          <a:xfrm>
            <a:off x="8454985" y="123338"/>
            <a:ext cx="52958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en-US" altLang="zh-TW" sz="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CSV</a:t>
            </a:r>
            <a:r>
              <a:rPr lang="zh-TW" altLang="en-US" sz="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 管理</a:t>
            </a:r>
            <a:endParaRPr lang="en-US" altLang="zh-TW" sz="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171" name="直線接點 170">
            <a:extLst>
              <a:ext uri="{FF2B5EF4-FFF2-40B4-BE49-F238E27FC236}">
                <a16:creationId xmlns:a16="http://schemas.microsoft.com/office/drawing/2014/main" id="{D6F71FB6-2D50-4933-8EB7-8A553C3BFD94}"/>
              </a:ext>
            </a:extLst>
          </p:cNvPr>
          <p:cNvCxnSpPr>
            <a:cxnSpLocks/>
          </p:cNvCxnSpPr>
          <p:nvPr/>
        </p:nvCxnSpPr>
        <p:spPr>
          <a:xfrm>
            <a:off x="8467751" y="275996"/>
            <a:ext cx="50405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2" name="圖片 171">
            <a:extLst>
              <a:ext uri="{FF2B5EF4-FFF2-40B4-BE49-F238E27FC236}">
                <a16:creationId xmlns:a16="http://schemas.microsoft.com/office/drawing/2014/main" id="{51D18863-6BA9-449C-B565-BDF8A65F3A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79060" y="325745"/>
            <a:ext cx="281434" cy="28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矩形: 圓角 173">
            <a:extLst>
              <a:ext uri="{FF2B5EF4-FFF2-40B4-BE49-F238E27FC236}">
                <a16:creationId xmlns:a16="http://schemas.microsoft.com/office/drawing/2014/main" id="{7CB0C3CA-2CD9-4710-9618-9565834E25C1}"/>
              </a:ext>
            </a:extLst>
          </p:cNvPr>
          <p:cNvSpPr/>
          <p:nvPr/>
        </p:nvSpPr>
        <p:spPr>
          <a:xfrm>
            <a:off x="7685348" y="55476"/>
            <a:ext cx="638640" cy="63052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A5A73245-19C2-4640-874E-D94F4FDB0486}"/>
              </a:ext>
            </a:extLst>
          </p:cNvPr>
          <p:cNvSpPr/>
          <p:nvPr/>
        </p:nvSpPr>
        <p:spPr>
          <a:xfrm>
            <a:off x="7685348" y="55476"/>
            <a:ext cx="638640" cy="63052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77" name="文字方塊 176">
            <a:extLst>
              <a:ext uri="{FF2B5EF4-FFF2-40B4-BE49-F238E27FC236}">
                <a16:creationId xmlns:a16="http://schemas.microsoft.com/office/drawing/2014/main" id="{001EDDC1-7C7B-4C6D-873D-8F4E0595BBDE}"/>
              </a:ext>
            </a:extLst>
          </p:cNvPr>
          <p:cNvSpPr txBox="1"/>
          <p:nvPr/>
        </p:nvSpPr>
        <p:spPr>
          <a:xfrm>
            <a:off x="7696519" y="123338"/>
            <a:ext cx="62746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zh-TW" altLang="en-US" sz="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資料庫管理</a:t>
            </a:r>
            <a:endParaRPr lang="en-US" altLang="zh-TW" sz="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179" name="直線接點 178">
            <a:extLst>
              <a:ext uri="{FF2B5EF4-FFF2-40B4-BE49-F238E27FC236}">
                <a16:creationId xmlns:a16="http://schemas.microsoft.com/office/drawing/2014/main" id="{8BDA4A3B-DD09-4D1A-AAE2-BB6448474F86}"/>
              </a:ext>
            </a:extLst>
          </p:cNvPr>
          <p:cNvCxnSpPr>
            <a:cxnSpLocks/>
          </p:cNvCxnSpPr>
          <p:nvPr/>
        </p:nvCxnSpPr>
        <p:spPr>
          <a:xfrm>
            <a:off x="7758228" y="275996"/>
            <a:ext cx="50405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" name="圖片 179">
            <a:extLst>
              <a:ext uri="{FF2B5EF4-FFF2-40B4-BE49-F238E27FC236}">
                <a16:creationId xmlns:a16="http://schemas.microsoft.com/office/drawing/2014/main" id="{0A0B6AF0-D7FD-42E2-822B-556C917918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452" y="324543"/>
            <a:ext cx="279602" cy="28384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矩形: 圓角 181">
            <a:extLst>
              <a:ext uri="{FF2B5EF4-FFF2-40B4-BE49-F238E27FC236}">
                <a16:creationId xmlns:a16="http://schemas.microsoft.com/office/drawing/2014/main" id="{478BD14E-697C-45D0-988F-061A9466876E}"/>
              </a:ext>
            </a:extLst>
          </p:cNvPr>
          <p:cNvSpPr/>
          <p:nvPr/>
        </p:nvSpPr>
        <p:spPr>
          <a:xfrm>
            <a:off x="6985000" y="55476"/>
            <a:ext cx="638640" cy="63052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83" name="矩形: 圓角 182">
            <a:extLst>
              <a:ext uri="{FF2B5EF4-FFF2-40B4-BE49-F238E27FC236}">
                <a16:creationId xmlns:a16="http://schemas.microsoft.com/office/drawing/2014/main" id="{80020789-0381-4823-9B6B-151FC75AA920}"/>
              </a:ext>
            </a:extLst>
          </p:cNvPr>
          <p:cNvSpPr/>
          <p:nvPr/>
        </p:nvSpPr>
        <p:spPr>
          <a:xfrm>
            <a:off x="6985000" y="55476"/>
            <a:ext cx="638640" cy="630523"/>
          </a:xfrm>
          <a:prstGeom prst="roundRect">
            <a:avLst/>
          </a:prstGeom>
          <a:solidFill>
            <a:srgbClr val="F5F5F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84" name="文字方塊 183">
            <a:extLst>
              <a:ext uri="{FF2B5EF4-FFF2-40B4-BE49-F238E27FC236}">
                <a16:creationId xmlns:a16="http://schemas.microsoft.com/office/drawing/2014/main" id="{3E5DF3B0-EDF6-47F3-ACB9-E09E213E0BB5}"/>
              </a:ext>
            </a:extLst>
          </p:cNvPr>
          <p:cNvSpPr txBox="1"/>
          <p:nvPr/>
        </p:nvSpPr>
        <p:spPr>
          <a:xfrm>
            <a:off x="6996171" y="123338"/>
            <a:ext cx="62746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zh-TW" altLang="en-US" sz="600" b="1" dirty="0">
                <a:solidFill>
                  <a:srgbClr val="7030A0"/>
                </a:solidFill>
                <a:latin typeface="+mn-ea"/>
              </a:rPr>
              <a:t>求解器引擎</a:t>
            </a:r>
          </a:p>
        </p:txBody>
      </p:sp>
      <p:cxnSp>
        <p:nvCxnSpPr>
          <p:cNvPr id="185" name="直線接點 184">
            <a:extLst>
              <a:ext uri="{FF2B5EF4-FFF2-40B4-BE49-F238E27FC236}">
                <a16:creationId xmlns:a16="http://schemas.microsoft.com/office/drawing/2014/main" id="{CC8CEDB0-6F94-457A-893E-963D8951D689}"/>
              </a:ext>
            </a:extLst>
          </p:cNvPr>
          <p:cNvCxnSpPr>
            <a:cxnSpLocks/>
          </p:cNvCxnSpPr>
          <p:nvPr/>
        </p:nvCxnSpPr>
        <p:spPr>
          <a:xfrm>
            <a:off x="7057880" y="275996"/>
            <a:ext cx="50405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6" name="圖片 185">
            <a:extLst>
              <a:ext uri="{FF2B5EF4-FFF2-40B4-BE49-F238E27FC236}">
                <a16:creationId xmlns:a16="http://schemas.microsoft.com/office/drawing/2014/main" id="{682DB53A-25C6-4EF9-8CE2-16B4B05F673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70104" y="325175"/>
            <a:ext cx="279602" cy="2825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群組 268">
            <a:extLst>
              <a:ext uri="{FF2B5EF4-FFF2-40B4-BE49-F238E27FC236}">
                <a16:creationId xmlns:a16="http://schemas.microsoft.com/office/drawing/2014/main" id="{FB5CAEBF-3FC7-4D06-B21B-E6361D22622E}"/>
              </a:ext>
            </a:extLst>
          </p:cNvPr>
          <p:cNvGrpSpPr/>
          <p:nvPr/>
        </p:nvGrpSpPr>
        <p:grpSpPr>
          <a:xfrm>
            <a:off x="409957" y="1082969"/>
            <a:ext cx="8122857" cy="2006701"/>
            <a:chOff x="409957" y="1082969"/>
            <a:chExt cx="8122857" cy="2006701"/>
          </a:xfrm>
        </p:grpSpPr>
        <p:sp>
          <p:nvSpPr>
            <p:cNvPr id="258" name="矩形 257">
              <a:extLst>
                <a:ext uri="{FF2B5EF4-FFF2-40B4-BE49-F238E27FC236}">
                  <a16:creationId xmlns:a16="http://schemas.microsoft.com/office/drawing/2014/main" id="{0A230B40-18C7-4CAE-B34A-A24FAC9421C6}"/>
                </a:ext>
              </a:extLst>
            </p:cNvPr>
            <p:cNvSpPr/>
            <p:nvPr/>
          </p:nvSpPr>
          <p:spPr>
            <a:xfrm>
              <a:off x="895884" y="1515082"/>
              <a:ext cx="1942735" cy="728074"/>
            </a:xfrm>
            <a:prstGeom prst="rect">
              <a:avLst/>
            </a:prstGeom>
            <a:noFill/>
            <a:ln>
              <a:solidFill>
                <a:srgbClr val="BF9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7" name="矩形 226">
              <a:extLst>
                <a:ext uri="{FF2B5EF4-FFF2-40B4-BE49-F238E27FC236}">
                  <a16:creationId xmlns:a16="http://schemas.microsoft.com/office/drawing/2014/main" id="{C5DBD834-84AF-4F23-BED9-37005D794084}"/>
                </a:ext>
              </a:extLst>
            </p:cNvPr>
            <p:cNvSpPr/>
            <p:nvPr/>
          </p:nvSpPr>
          <p:spPr>
            <a:xfrm>
              <a:off x="611186" y="1280723"/>
              <a:ext cx="7921628" cy="1808947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矩形: 圓角 7">
                  <a:extLst>
                    <a:ext uri="{FF2B5EF4-FFF2-40B4-BE49-F238E27FC236}">
                      <a16:creationId xmlns:a16="http://schemas.microsoft.com/office/drawing/2014/main" id="{A3C7FD55-E4A4-44D3-B7EA-A0DCBB581B91}"/>
                    </a:ext>
                  </a:extLst>
                </p:cNvPr>
                <p:cNvSpPr/>
                <p:nvPr/>
              </p:nvSpPr>
              <p:spPr>
                <a:xfrm>
                  <a:off x="996752" y="1745785"/>
                  <a:ext cx="893457" cy="399080"/>
                </a:xfrm>
                <a:prstGeom prst="roundRect">
                  <a:avLst>
                    <a:gd name="adj" fmla="val 9757"/>
                  </a:avLst>
                </a:prstGeom>
                <a:solidFill>
                  <a:srgbClr val="FFF2CC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sz="7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集合</a:t>
                  </a:r>
                  <a:endParaRPr lang="en-US" altLang="zh-TW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7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7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TW" sz="7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TW" sz="7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7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7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TW" sz="7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altLang="zh-TW" sz="7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7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7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TW" sz="70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8" name="矩形: 圓角 7">
                  <a:extLst>
                    <a:ext uri="{FF2B5EF4-FFF2-40B4-BE49-F238E27FC236}">
                      <a16:creationId xmlns:a16="http://schemas.microsoft.com/office/drawing/2014/main" id="{A3C7FD55-E4A4-44D3-B7EA-A0DCBB581B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752" y="1745785"/>
                  <a:ext cx="893457" cy="399080"/>
                </a:xfrm>
                <a:prstGeom prst="roundRect">
                  <a:avLst>
                    <a:gd name="adj" fmla="val 9757"/>
                  </a:avLst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矩形: 圓角 17">
                  <a:extLst>
                    <a:ext uri="{FF2B5EF4-FFF2-40B4-BE49-F238E27FC236}">
                      <a16:creationId xmlns:a16="http://schemas.microsoft.com/office/drawing/2014/main" id="{D3E9D072-98C8-41C4-B663-50BA84D7C4A1}"/>
                    </a:ext>
                  </a:extLst>
                </p:cNvPr>
                <p:cNvSpPr/>
                <p:nvPr/>
              </p:nvSpPr>
              <p:spPr>
                <a:xfrm>
                  <a:off x="2072993" y="2359935"/>
                  <a:ext cx="639840" cy="407339"/>
                </a:xfrm>
                <a:prstGeom prst="roundRect">
                  <a:avLst>
                    <a:gd name="adj" fmla="val 9757"/>
                  </a:avLst>
                </a:prstGeom>
                <a:solidFill>
                  <a:srgbClr val="F5F5FD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sz="7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變數</a:t>
                  </a:r>
                  <a:endParaRPr lang="en-US" altLang="zh-TW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</m:ctrlPr>
                          </m:sSubPr>
                          <m:e>
                            <m: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700" b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</m:ctrlPr>
                          </m:sSubPr>
                          <m:e>
                            <m: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zh-TW" altLang="en-US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8" name="矩形: 圓角 17">
                  <a:extLst>
                    <a:ext uri="{FF2B5EF4-FFF2-40B4-BE49-F238E27FC236}">
                      <a16:creationId xmlns:a16="http://schemas.microsoft.com/office/drawing/2014/main" id="{D3E9D072-98C8-41C4-B663-50BA84D7C4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2993" y="2359935"/>
                  <a:ext cx="639840" cy="407339"/>
                </a:xfrm>
                <a:prstGeom prst="roundRect">
                  <a:avLst>
                    <a:gd name="adj" fmla="val 9757"/>
                  </a:avLst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矩形: 圓角 18">
                  <a:extLst>
                    <a:ext uri="{FF2B5EF4-FFF2-40B4-BE49-F238E27FC236}">
                      <a16:creationId xmlns:a16="http://schemas.microsoft.com/office/drawing/2014/main" id="{93CCADFC-43B0-470A-A042-4398004BB091}"/>
                    </a:ext>
                  </a:extLst>
                </p:cNvPr>
                <p:cNvSpPr/>
                <p:nvPr/>
              </p:nvSpPr>
              <p:spPr>
                <a:xfrm>
                  <a:off x="2072993" y="1740778"/>
                  <a:ext cx="639840" cy="408067"/>
                </a:xfrm>
                <a:prstGeom prst="roundRect">
                  <a:avLst>
                    <a:gd name="adj" fmla="val 9757"/>
                  </a:avLst>
                </a:prstGeom>
                <a:solidFill>
                  <a:srgbClr val="FFF2CC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sz="7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參數</a:t>
                  </a:r>
                  <a:endParaRPr lang="en-US" altLang="zh-TW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7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700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TW" sz="7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altLang="zh-TW" sz="7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7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7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TW" sz="7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  <m:r>
                          <a:rPr lang="en-US" altLang="zh-TW" sz="7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US" altLang="zh-TW" sz="700" b="0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7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7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sz="7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7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7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7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TW" sz="7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sz="700" b="0" i="1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7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7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700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zh-TW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9" name="矩形: 圓角 18">
                  <a:extLst>
                    <a:ext uri="{FF2B5EF4-FFF2-40B4-BE49-F238E27FC236}">
                      <a16:creationId xmlns:a16="http://schemas.microsoft.com/office/drawing/2014/main" id="{93CCADFC-43B0-470A-A042-4398004BB0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2993" y="1740778"/>
                  <a:ext cx="639840" cy="408067"/>
                </a:xfrm>
                <a:prstGeom prst="roundRect">
                  <a:avLst>
                    <a:gd name="adj" fmla="val 9757"/>
                  </a:avLst>
                </a:prstGeom>
                <a:blipFill>
                  <a:blip r:embed="rId13"/>
                  <a:stretch>
                    <a:fillRect/>
                  </a:stretch>
                </a:blip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矩形: 圓角 19">
                  <a:extLst>
                    <a:ext uri="{FF2B5EF4-FFF2-40B4-BE49-F238E27FC236}">
                      <a16:creationId xmlns:a16="http://schemas.microsoft.com/office/drawing/2014/main" id="{DD5EBE46-A8FE-40F6-A6DC-7A7C6E29D244}"/>
                    </a:ext>
                  </a:extLst>
                </p:cNvPr>
                <p:cNvSpPr/>
                <p:nvPr/>
              </p:nvSpPr>
              <p:spPr>
                <a:xfrm>
                  <a:off x="3344218" y="1741507"/>
                  <a:ext cx="1617682" cy="407338"/>
                </a:xfrm>
                <a:prstGeom prst="roundRect">
                  <a:avLst>
                    <a:gd name="adj" fmla="val 9757"/>
                  </a:avLst>
                </a:prstGeom>
                <a:solidFill>
                  <a:srgbClr val="F5F5FD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7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RHS</a:t>
                  </a:r>
                  <a:r>
                    <a:rPr lang="zh-TW" altLang="en-US" sz="7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 表達式</a:t>
                  </a:r>
                  <a:endParaRPr lang="en-US" altLang="zh-TW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  <a:p>
                  <a:pPr algn="ctr"/>
                  <a14:m>
                    <m:oMath xmlns:m="http://schemas.openxmlformats.org/officeDocument/2006/math">
                      <m:r>
                        <a:rPr lang="en-US" altLang="zh-TW" sz="7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m:t>𝑅𝐻</m:t>
                      </m:r>
                      <m:sSub>
                        <m:sSubPr>
                          <m:ctrlP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</m:ctrlPr>
                        </m:sSubPr>
                        <m:e>
                          <m: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𝑆</m:t>
                          </m:r>
                        </m:e>
                        <m:sub>
                          <m: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𝑖</m:t>
                          </m:r>
                        </m:sub>
                      </m:sSub>
                      <m:r>
                        <a:rPr lang="en-US" altLang="zh-TW" sz="7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m:t>≔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</m:ctrlPr>
                        </m:naryPr>
                        <m:sub>
                          <m: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TW" sz="700" b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700" b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700" b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700" b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700" b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700" b="1" dirty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700" b="1" dirty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700" b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altLang="zh-TW" sz="7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</m:ctrlPr>
                        </m:naryPr>
                        <m:sub>
                          <m: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TW" sz="700" b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700" b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700" b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700" b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</a:rPr>
                                <m:t>𝑖𝑘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700" b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TW" sz="700" b="1" dirty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700" b="1" dirty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700" b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altLang="zh-TW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m:t>+</m:t>
                      </m:r>
                      <m:sSub>
                        <m:sSubPr>
                          <m:ctrlPr>
                            <a:rPr lang="en-US" altLang="zh-TW" sz="700" b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TW" sz="700" b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</a:rPr>
                              </m:ctrlPr>
                            </m:accPr>
                            <m:e>
                              <m:r>
                                <a:rPr lang="en-US" altLang="zh-TW" sz="700" b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altLang="zh-TW" sz="700" b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zh-TW" altLang="en-US" sz="7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>
            <p:sp>
              <p:nvSpPr>
                <p:cNvPr id="20" name="矩形: 圓角 19">
                  <a:extLst>
                    <a:ext uri="{FF2B5EF4-FFF2-40B4-BE49-F238E27FC236}">
                      <a16:creationId xmlns:a16="http://schemas.microsoft.com/office/drawing/2014/main" id="{DD5EBE46-A8FE-40F6-A6DC-7A7C6E29D24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4218" y="1741507"/>
                  <a:ext cx="1617682" cy="407338"/>
                </a:xfrm>
                <a:prstGeom prst="roundRect">
                  <a:avLst>
                    <a:gd name="adj" fmla="val 9757"/>
                  </a:avLst>
                </a:prstGeom>
                <a:blipFill>
                  <a:blip r:embed="rId14"/>
                  <a:stretch>
                    <a:fillRect b="-37681"/>
                  </a:stretch>
                </a:blip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矩形: 圓角 20">
                  <a:extLst>
                    <a:ext uri="{FF2B5EF4-FFF2-40B4-BE49-F238E27FC236}">
                      <a16:creationId xmlns:a16="http://schemas.microsoft.com/office/drawing/2014/main" id="{E1386724-2723-44CF-82C5-DC1FF644B6BB}"/>
                    </a:ext>
                  </a:extLst>
                </p:cNvPr>
                <p:cNvSpPr/>
                <p:nvPr/>
              </p:nvSpPr>
              <p:spPr>
                <a:xfrm>
                  <a:off x="3344218" y="2217621"/>
                  <a:ext cx="1617682" cy="407338"/>
                </a:xfrm>
                <a:prstGeom prst="roundRect">
                  <a:avLst>
                    <a:gd name="adj" fmla="val 9757"/>
                  </a:avLst>
                </a:prstGeom>
                <a:solidFill>
                  <a:srgbClr val="F5F5FD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7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LHS</a:t>
                  </a:r>
                  <a:r>
                    <a:rPr lang="zh-TW" altLang="en-US" sz="7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 表達式</a:t>
                  </a:r>
                  <a:endParaRPr lang="en-US" altLang="zh-TW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  <a:p>
                  <a:pPr algn="ctr"/>
                  <a14:m>
                    <m:oMath xmlns:m="http://schemas.openxmlformats.org/officeDocument/2006/math">
                      <m:r>
                        <a:rPr lang="en-US" altLang="zh-TW" sz="7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m:t>𝐿</m:t>
                      </m:r>
                      <m:r>
                        <a:rPr lang="en-US" altLang="zh-TW" sz="7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m:t>𝐻</m:t>
                      </m:r>
                      <m:sSub>
                        <m:sSubPr>
                          <m:ctrlP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</m:ctrlPr>
                        </m:sSubPr>
                        <m:e>
                          <m: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𝑆</m:t>
                          </m:r>
                        </m:e>
                        <m:sub>
                          <m: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𝑖</m:t>
                          </m:r>
                        </m:sub>
                      </m:sSub>
                      <m:r>
                        <a:rPr lang="en-US" altLang="zh-TW" sz="7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m:t>≔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</m:ctrlPr>
                        </m:naryPr>
                        <m:sub>
                          <m: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TW" sz="700" b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700" b="1" dirty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700" b="1" dirty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700" b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700" b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700" b="1" dirty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700" b="1" dirty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700" b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altLang="zh-TW" sz="7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</m:ctrlPr>
                        </m:naryPr>
                        <m:sub>
                          <m: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TW" sz="700" b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700" b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700" b="1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700" b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</a:rPr>
                                <m:t>𝑖𝑘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700" b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700" b="1" dirty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700" b="1" dirty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700" b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altLang="zh-TW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m:t>+</m:t>
                      </m:r>
                      <m:sSub>
                        <m:sSubPr>
                          <m:ctrlPr>
                            <a:rPr lang="en-US" altLang="zh-TW" sz="700" b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sz="700" b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</a:rPr>
                              </m:ctrlPr>
                            </m:accPr>
                            <m:e>
                              <m:r>
                                <a:rPr lang="en-US" altLang="zh-TW" sz="700" b="1" dirty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altLang="zh-TW" sz="700" b="1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zh-TW" altLang="en-US" sz="7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 </a:t>
                  </a:r>
                </a:p>
              </p:txBody>
            </p:sp>
          </mc:Choice>
          <mc:Fallback>
            <p:sp>
              <p:nvSpPr>
                <p:cNvPr id="21" name="矩形: 圓角 20">
                  <a:extLst>
                    <a:ext uri="{FF2B5EF4-FFF2-40B4-BE49-F238E27FC236}">
                      <a16:creationId xmlns:a16="http://schemas.microsoft.com/office/drawing/2014/main" id="{E1386724-2723-44CF-82C5-DC1FF644B6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4218" y="2217621"/>
                  <a:ext cx="1617682" cy="407338"/>
                </a:xfrm>
                <a:prstGeom prst="roundRect">
                  <a:avLst>
                    <a:gd name="adj" fmla="val 9757"/>
                  </a:avLst>
                </a:prstGeom>
                <a:blipFill>
                  <a:blip r:embed="rId15"/>
                  <a:stretch>
                    <a:fillRect b="-37681"/>
                  </a:stretch>
                </a:blip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接點: 肘形 23">
              <a:extLst>
                <a:ext uri="{FF2B5EF4-FFF2-40B4-BE49-F238E27FC236}">
                  <a16:creationId xmlns:a16="http://schemas.microsoft.com/office/drawing/2014/main" id="{2D5305A0-92F1-4999-86D4-72257ACD083C}"/>
                </a:ext>
              </a:extLst>
            </p:cNvPr>
            <p:cNvCxnSpPr>
              <a:cxnSpLocks/>
              <a:stCxn id="8" idx="3"/>
              <a:endCxn id="18" idx="1"/>
            </p:cNvCxnSpPr>
            <p:nvPr/>
          </p:nvCxnSpPr>
          <p:spPr>
            <a:xfrm>
              <a:off x="1890209" y="1945325"/>
              <a:ext cx="182784" cy="61828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接點: 肘形 26">
              <a:extLst>
                <a:ext uri="{FF2B5EF4-FFF2-40B4-BE49-F238E27FC236}">
                  <a16:creationId xmlns:a16="http://schemas.microsoft.com/office/drawing/2014/main" id="{227CD8F8-6157-4882-9CBE-8F7E102D5EC2}"/>
                </a:ext>
              </a:extLst>
            </p:cNvPr>
            <p:cNvCxnSpPr>
              <a:cxnSpLocks/>
              <a:stCxn id="8" idx="3"/>
              <a:endCxn id="19" idx="1"/>
            </p:cNvCxnSpPr>
            <p:nvPr/>
          </p:nvCxnSpPr>
          <p:spPr>
            <a:xfrm flipV="1">
              <a:off x="1890209" y="1944812"/>
              <a:ext cx="182784" cy="513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接點: 肘形 80">
              <a:extLst>
                <a:ext uri="{FF2B5EF4-FFF2-40B4-BE49-F238E27FC236}">
                  <a16:creationId xmlns:a16="http://schemas.microsoft.com/office/drawing/2014/main" id="{3CA051FE-5014-4B4D-8B43-FEECA4B40BC6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712834" y="1944812"/>
              <a:ext cx="167113" cy="233372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接點: 肘形 83">
              <a:extLst>
                <a:ext uri="{FF2B5EF4-FFF2-40B4-BE49-F238E27FC236}">
                  <a16:creationId xmlns:a16="http://schemas.microsoft.com/office/drawing/2014/main" id="{D4EBD90F-D4EE-4B91-B386-C868335165D6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V="1">
              <a:off x="2712833" y="2178183"/>
              <a:ext cx="82575" cy="385422"/>
            </a:xfrm>
            <a:prstGeom prst="bentConnector2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接點: 肘形 109">
              <a:extLst>
                <a:ext uri="{FF2B5EF4-FFF2-40B4-BE49-F238E27FC236}">
                  <a16:creationId xmlns:a16="http://schemas.microsoft.com/office/drawing/2014/main" id="{FAB0FF87-2AF0-4F8E-A961-D6A72B8F73EF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>
              <a:off x="4961900" y="1945177"/>
              <a:ext cx="143548" cy="23300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接點: 肘形 112">
              <a:extLst>
                <a:ext uri="{FF2B5EF4-FFF2-40B4-BE49-F238E27FC236}">
                  <a16:creationId xmlns:a16="http://schemas.microsoft.com/office/drawing/2014/main" id="{1B48C14E-22A4-44A0-B313-87F21FD32F70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 flipV="1">
              <a:off x="4961900" y="2178184"/>
              <a:ext cx="143548" cy="24310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2" name="矩形: 圓角 131">
                  <a:extLst>
                    <a:ext uri="{FF2B5EF4-FFF2-40B4-BE49-F238E27FC236}">
                      <a16:creationId xmlns:a16="http://schemas.microsoft.com/office/drawing/2014/main" id="{4A530A45-C5CD-43F4-99DD-F7FE4F679878}"/>
                    </a:ext>
                  </a:extLst>
                </p:cNvPr>
                <p:cNvSpPr/>
                <p:nvPr/>
              </p:nvSpPr>
              <p:spPr>
                <a:xfrm>
                  <a:off x="5508873" y="1444030"/>
                  <a:ext cx="918183" cy="297690"/>
                </a:xfrm>
                <a:prstGeom prst="roundRect">
                  <a:avLst>
                    <a:gd name="adj" fmla="val 9757"/>
                  </a:avLst>
                </a:prstGeom>
                <a:solidFill>
                  <a:srgbClr val="F5F5FD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sz="7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限制式類型</a:t>
                  </a:r>
                  <a:endParaRPr lang="en-US" altLang="zh-TW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  <m:t>Δ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  <m:t>i</m:t>
                            </m:r>
                          </m:sub>
                        </m:sSub>
                        <m:r>
                          <a:rPr lang="en-US" altLang="zh-TW" sz="700" b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</m:ctrlPr>
                          </m:dPr>
                          <m:e>
                            <m: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  <m:t>≤,≥,=</m:t>
                            </m:r>
                          </m:e>
                        </m:d>
                      </m:oMath>
                    </m:oMathPara>
                  </a14:m>
                  <a:endParaRPr lang="zh-TW" altLang="en-US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32" name="矩形: 圓角 131">
                  <a:extLst>
                    <a:ext uri="{FF2B5EF4-FFF2-40B4-BE49-F238E27FC236}">
                      <a16:creationId xmlns:a16="http://schemas.microsoft.com/office/drawing/2014/main" id="{4A530A45-C5CD-43F4-99DD-F7FE4F6798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8873" y="1444030"/>
                  <a:ext cx="918183" cy="297690"/>
                </a:xfrm>
                <a:prstGeom prst="roundRect">
                  <a:avLst>
                    <a:gd name="adj" fmla="val 9757"/>
                  </a:avLst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3" name="矩形: 圓角 132">
                  <a:extLst>
                    <a:ext uri="{FF2B5EF4-FFF2-40B4-BE49-F238E27FC236}">
                      <a16:creationId xmlns:a16="http://schemas.microsoft.com/office/drawing/2014/main" id="{EB91C751-06AB-4704-99C1-9E7B3415D90D}"/>
                    </a:ext>
                  </a:extLst>
                </p:cNvPr>
                <p:cNvSpPr/>
                <p:nvPr/>
              </p:nvSpPr>
              <p:spPr>
                <a:xfrm>
                  <a:off x="5508873" y="1857132"/>
                  <a:ext cx="918183" cy="297690"/>
                </a:xfrm>
                <a:prstGeom prst="roundRect">
                  <a:avLst>
                    <a:gd name="adj" fmla="val 9757"/>
                  </a:avLst>
                </a:prstGeom>
                <a:solidFill>
                  <a:srgbClr val="F5F5FD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sz="7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限制式</a:t>
                  </a:r>
                  <a:endParaRPr lang="en-US" altLang="zh-TW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700" b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  <m:t>𝐿𝐻</m:t>
                        </m:r>
                        <m:sSub>
                          <m:sSubPr>
                            <m:ctrlP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</m:ctrlPr>
                          </m:sSubPr>
                          <m:e>
                            <m: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700" b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  <m:t> </m:t>
                        </m:r>
                        <m:sSub>
                          <m:sSubPr>
                            <m:ctrlP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  <m:t>Δ</m:t>
                            </m:r>
                          </m:e>
                          <m:sub>
                            <m: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700" b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  <m:t> </m:t>
                        </m:r>
                        <m:r>
                          <a:rPr lang="en-US" altLang="zh-TW" sz="700" b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  <m:t>𝑅𝐻</m:t>
                        </m:r>
                        <m:sSub>
                          <m:sSubPr>
                            <m:ctrlP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</m:ctrlPr>
                          </m:sSubPr>
                          <m:e>
                            <m: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TW" altLang="en-US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33" name="矩形: 圓角 132">
                  <a:extLst>
                    <a:ext uri="{FF2B5EF4-FFF2-40B4-BE49-F238E27FC236}">
                      <a16:creationId xmlns:a16="http://schemas.microsoft.com/office/drawing/2014/main" id="{EB91C751-06AB-4704-99C1-9E7B3415D9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8873" y="1857132"/>
                  <a:ext cx="918183" cy="297690"/>
                </a:xfrm>
                <a:prstGeom prst="roundRect">
                  <a:avLst>
                    <a:gd name="adj" fmla="val 9757"/>
                  </a:avLst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4" name="矩形: 圓角 133">
                  <a:extLst>
                    <a:ext uri="{FF2B5EF4-FFF2-40B4-BE49-F238E27FC236}">
                      <a16:creationId xmlns:a16="http://schemas.microsoft.com/office/drawing/2014/main" id="{6C28EDC6-AB9B-4387-BD56-F58AF9AE46DF}"/>
                    </a:ext>
                  </a:extLst>
                </p:cNvPr>
                <p:cNvSpPr/>
                <p:nvPr/>
              </p:nvSpPr>
              <p:spPr>
                <a:xfrm>
                  <a:off x="5508873" y="2207184"/>
                  <a:ext cx="918183" cy="297690"/>
                </a:xfrm>
                <a:prstGeom prst="roundRect">
                  <a:avLst>
                    <a:gd name="adj" fmla="val 9757"/>
                  </a:avLst>
                </a:prstGeom>
                <a:solidFill>
                  <a:srgbClr val="F5F5FD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sz="7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目標式</a:t>
                  </a:r>
                  <a:endParaRPr lang="en-US" altLang="zh-TW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700" b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  <m:t>𝛿</m:t>
                        </m:r>
                        <m:d>
                          <m:dPr>
                            <m:ctrlP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</m:ctrlPr>
                          </m:dPr>
                          <m:e>
                            <m:r>
                              <a:rPr lang="en-US" altLang="zh-TW" sz="700" b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  <m:t>𝐿𝐻</m:t>
                            </m:r>
                            <m:sSub>
                              <m:sSubPr>
                                <m:ctrlPr>
                                  <a:rPr lang="en-US" altLang="zh-TW" sz="700" b="1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</a:rPr>
                                </m:ctrlPr>
                              </m:sSubPr>
                              <m:e>
                                <m:r>
                                  <a:rPr lang="en-US" altLang="zh-TW" sz="700" b="1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TW" sz="700" b="1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34" name="矩形: 圓角 133">
                  <a:extLst>
                    <a:ext uri="{FF2B5EF4-FFF2-40B4-BE49-F238E27FC236}">
                      <a16:creationId xmlns:a16="http://schemas.microsoft.com/office/drawing/2014/main" id="{6C28EDC6-AB9B-4387-BD56-F58AF9AE46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8873" y="2207184"/>
                  <a:ext cx="918183" cy="297690"/>
                </a:xfrm>
                <a:prstGeom prst="roundRect">
                  <a:avLst>
                    <a:gd name="adj" fmla="val 9757"/>
                  </a:avLst>
                </a:prstGeom>
                <a:blipFill>
                  <a:blip r:embed="rId18"/>
                  <a:stretch>
                    <a:fillRect/>
                  </a:stretch>
                </a:blip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5" name="矩形: 圓角 134">
                  <a:extLst>
                    <a:ext uri="{FF2B5EF4-FFF2-40B4-BE49-F238E27FC236}">
                      <a16:creationId xmlns:a16="http://schemas.microsoft.com/office/drawing/2014/main" id="{21FA3319-4B97-4975-84E3-508AB630D81C}"/>
                    </a:ext>
                  </a:extLst>
                </p:cNvPr>
                <p:cNvSpPr/>
                <p:nvPr/>
              </p:nvSpPr>
              <p:spPr>
                <a:xfrm>
                  <a:off x="5508873" y="2628673"/>
                  <a:ext cx="918183" cy="297690"/>
                </a:xfrm>
                <a:prstGeom prst="roundRect">
                  <a:avLst>
                    <a:gd name="adj" fmla="val 9757"/>
                  </a:avLst>
                </a:prstGeom>
                <a:solidFill>
                  <a:srgbClr val="F5F5FD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sz="7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目標式類型</a:t>
                  </a:r>
                  <a:endParaRPr lang="en-US" altLang="zh-TW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700" b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  <m:t>𝛿</m:t>
                        </m:r>
                        <m:r>
                          <a:rPr lang="en-US" altLang="zh-TW" sz="700" b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</m:ctrlPr>
                          </m:dPr>
                          <m:e>
                            <m: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  <m:t>𝑚𝑖𝑛</m:t>
                            </m:r>
                            <m: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  <m:t>, </m:t>
                            </m:r>
                            <m:r>
                              <a:rPr lang="en-US" altLang="zh-TW" sz="700" b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  <m:t>𝑚𝑎𝑥</m:t>
                            </m:r>
                          </m:e>
                        </m:d>
                      </m:oMath>
                    </m:oMathPara>
                  </a14:m>
                  <a:endParaRPr lang="zh-TW" altLang="en-US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35" name="矩形: 圓角 134">
                  <a:extLst>
                    <a:ext uri="{FF2B5EF4-FFF2-40B4-BE49-F238E27FC236}">
                      <a16:creationId xmlns:a16="http://schemas.microsoft.com/office/drawing/2014/main" id="{21FA3319-4B97-4975-84E3-508AB630D8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8873" y="2628673"/>
                  <a:ext cx="918183" cy="297690"/>
                </a:xfrm>
                <a:prstGeom prst="roundRect">
                  <a:avLst>
                    <a:gd name="adj" fmla="val 9757"/>
                  </a:avLst>
                </a:prstGeom>
                <a:blipFill>
                  <a:blip r:embed="rId19"/>
                  <a:stretch>
                    <a:fillRect/>
                  </a:stretch>
                </a:blip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8" name="接點: 肘形 137">
              <a:extLst>
                <a:ext uri="{FF2B5EF4-FFF2-40B4-BE49-F238E27FC236}">
                  <a16:creationId xmlns:a16="http://schemas.microsoft.com/office/drawing/2014/main" id="{6E4E5EC8-A5B8-4594-B0BA-7411210F864A}"/>
                </a:ext>
              </a:extLst>
            </p:cNvPr>
            <p:cNvCxnSpPr>
              <a:cxnSpLocks/>
              <a:endCxn id="133" idx="1"/>
            </p:cNvCxnSpPr>
            <p:nvPr/>
          </p:nvCxnSpPr>
          <p:spPr>
            <a:xfrm flipV="1">
              <a:off x="5105448" y="2005976"/>
              <a:ext cx="403425" cy="17220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接點: 肘形 138">
              <a:extLst>
                <a:ext uri="{FF2B5EF4-FFF2-40B4-BE49-F238E27FC236}">
                  <a16:creationId xmlns:a16="http://schemas.microsoft.com/office/drawing/2014/main" id="{0E797954-3179-4185-92EC-123E12FFAA75}"/>
                </a:ext>
              </a:extLst>
            </p:cNvPr>
            <p:cNvCxnSpPr>
              <a:cxnSpLocks/>
              <a:endCxn id="134" idx="1"/>
            </p:cNvCxnSpPr>
            <p:nvPr/>
          </p:nvCxnSpPr>
          <p:spPr>
            <a:xfrm>
              <a:off x="5105448" y="2178184"/>
              <a:ext cx="403425" cy="177845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7" name="矩形: 圓角 166">
                  <a:extLst>
                    <a:ext uri="{FF2B5EF4-FFF2-40B4-BE49-F238E27FC236}">
                      <a16:creationId xmlns:a16="http://schemas.microsoft.com/office/drawing/2014/main" id="{1190422A-1BE4-400A-8D07-EAF4DAC933EA}"/>
                    </a:ext>
                  </a:extLst>
                </p:cNvPr>
                <p:cNvSpPr/>
                <p:nvPr/>
              </p:nvSpPr>
              <p:spPr>
                <a:xfrm>
                  <a:off x="6643938" y="1978277"/>
                  <a:ext cx="688950" cy="408067"/>
                </a:xfrm>
                <a:prstGeom prst="roundRect">
                  <a:avLst>
                    <a:gd name="adj" fmla="val 9757"/>
                  </a:avLst>
                </a:prstGeom>
                <a:solidFill>
                  <a:srgbClr val="F5F5FD"/>
                </a:solid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sz="7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rPr>
                    <a:t>混整數規劃</a:t>
                  </a:r>
                  <a:endParaRPr lang="en-US" altLang="zh-TW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700" b="0" i="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altLang="zh-TW" sz="700" b="0" i="0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US" altLang="zh-TW" sz="700" b="0" i="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altLang="zh-TW" sz="700" b="0" i="0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oMath>
                    </m:oMathPara>
                  </a14:m>
                  <a:endParaRPr lang="zh-TW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67" name="矩形: 圓角 166">
                  <a:extLst>
                    <a:ext uri="{FF2B5EF4-FFF2-40B4-BE49-F238E27FC236}">
                      <a16:creationId xmlns:a16="http://schemas.microsoft.com/office/drawing/2014/main" id="{1190422A-1BE4-400A-8D07-EAF4DAC933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3938" y="1978277"/>
                  <a:ext cx="688950" cy="408067"/>
                </a:xfrm>
                <a:prstGeom prst="roundRect">
                  <a:avLst>
                    <a:gd name="adj" fmla="val 9757"/>
                  </a:avLst>
                </a:prstGeom>
                <a:blipFill>
                  <a:blip r:embed="rId20"/>
                  <a:stretch>
                    <a:fillRect/>
                  </a:stretch>
                </a:blipFill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3" name="接點: 肘形 202">
              <a:extLst>
                <a:ext uri="{FF2B5EF4-FFF2-40B4-BE49-F238E27FC236}">
                  <a16:creationId xmlns:a16="http://schemas.microsoft.com/office/drawing/2014/main" id="{169192BF-4193-4657-907B-0933822D6B29}"/>
                </a:ext>
              </a:extLst>
            </p:cNvPr>
            <p:cNvCxnSpPr>
              <a:cxnSpLocks/>
              <a:stCxn id="133" idx="3"/>
              <a:endCxn id="167" idx="1"/>
            </p:cNvCxnSpPr>
            <p:nvPr/>
          </p:nvCxnSpPr>
          <p:spPr>
            <a:xfrm>
              <a:off x="6427056" y="2005976"/>
              <a:ext cx="216882" cy="176334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7" name="接點: 肘形 206">
              <a:extLst>
                <a:ext uri="{FF2B5EF4-FFF2-40B4-BE49-F238E27FC236}">
                  <a16:creationId xmlns:a16="http://schemas.microsoft.com/office/drawing/2014/main" id="{4861FB56-FC21-40D9-9D21-A8E13B9476FD}"/>
                </a:ext>
              </a:extLst>
            </p:cNvPr>
            <p:cNvCxnSpPr>
              <a:cxnSpLocks/>
              <a:stCxn id="134" idx="3"/>
              <a:endCxn id="167" idx="1"/>
            </p:cNvCxnSpPr>
            <p:nvPr/>
          </p:nvCxnSpPr>
          <p:spPr>
            <a:xfrm flipV="1">
              <a:off x="6427056" y="2182311"/>
              <a:ext cx="216882" cy="173718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3A83CF40-17A7-42BF-A2AF-93F22F183831}"/>
                </a:ext>
              </a:extLst>
            </p:cNvPr>
            <p:cNvCxnSpPr>
              <a:stCxn id="135" idx="0"/>
              <a:endCxn id="134" idx="2"/>
            </p:cNvCxnSpPr>
            <p:nvPr/>
          </p:nvCxnSpPr>
          <p:spPr>
            <a:xfrm flipV="1">
              <a:off x="5967965" y="2504873"/>
              <a:ext cx="0" cy="12380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線單箭頭接點 45">
              <a:extLst>
                <a:ext uri="{FF2B5EF4-FFF2-40B4-BE49-F238E27FC236}">
                  <a16:creationId xmlns:a16="http://schemas.microsoft.com/office/drawing/2014/main" id="{DCFB9E67-5240-444A-9B7F-AB4EAE1698EA}"/>
                </a:ext>
              </a:extLst>
            </p:cNvPr>
            <p:cNvCxnSpPr>
              <a:cxnSpLocks/>
              <a:stCxn id="132" idx="2"/>
              <a:endCxn id="133" idx="0"/>
            </p:cNvCxnSpPr>
            <p:nvPr/>
          </p:nvCxnSpPr>
          <p:spPr>
            <a:xfrm>
              <a:off x="5967965" y="1741720"/>
              <a:ext cx="0" cy="115412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接點: 肘形 44">
              <a:extLst>
                <a:ext uri="{FF2B5EF4-FFF2-40B4-BE49-F238E27FC236}">
                  <a16:creationId xmlns:a16="http://schemas.microsoft.com/office/drawing/2014/main" id="{33B73A2B-8F81-456B-93FF-CEE2BE4274CC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 flipV="1">
              <a:off x="2801325" y="1945177"/>
              <a:ext cx="542892" cy="233008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接點: 肘形 47">
              <a:extLst>
                <a:ext uri="{FF2B5EF4-FFF2-40B4-BE49-F238E27FC236}">
                  <a16:creationId xmlns:a16="http://schemas.microsoft.com/office/drawing/2014/main" id="{6AF5B751-997F-4B00-8A81-A2DBD1612859}"/>
                </a:ext>
              </a:extLst>
            </p:cNvPr>
            <p:cNvCxnSpPr>
              <a:cxnSpLocks/>
            </p:cNvCxnSpPr>
            <p:nvPr/>
          </p:nvCxnSpPr>
          <p:spPr>
            <a:xfrm>
              <a:off x="2797969" y="2178844"/>
              <a:ext cx="546248" cy="38476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8" name="矩形: 圓角 207">
              <a:extLst>
                <a:ext uri="{FF2B5EF4-FFF2-40B4-BE49-F238E27FC236}">
                  <a16:creationId xmlns:a16="http://schemas.microsoft.com/office/drawing/2014/main" id="{60E97D8B-88EC-4DBD-9182-64C2C928D1EB}"/>
                </a:ext>
              </a:extLst>
            </p:cNvPr>
            <p:cNvSpPr/>
            <p:nvPr/>
          </p:nvSpPr>
          <p:spPr>
            <a:xfrm>
              <a:off x="7590680" y="1978277"/>
              <a:ext cx="688950" cy="408067"/>
            </a:xfrm>
            <a:prstGeom prst="roundRect">
              <a:avLst>
                <a:gd name="adj" fmla="val 9757"/>
              </a:avLst>
            </a:prstGeom>
            <a:solidFill>
              <a:srgbClr val="FFF2CC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輸出</a:t>
              </a:r>
              <a:endParaRPr lang="en-US" altLang="zh-TW" sz="7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zh-TW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求解結果</a:t>
              </a:r>
            </a:p>
          </p:txBody>
        </p:sp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97B20797-FAD1-4AA8-8FC2-12C258CF7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207584" y="2243156"/>
              <a:ext cx="257310" cy="257310"/>
            </a:xfrm>
            <a:prstGeom prst="rect">
              <a:avLst/>
            </a:prstGeom>
          </p:spPr>
        </p:pic>
        <p:pic>
          <p:nvPicPr>
            <p:cNvPr id="50" name="圖片 49">
              <a:extLst>
                <a:ext uri="{FF2B5EF4-FFF2-40B4-BE49-F238E27FC236}">
                  <a16:creationId xmlns:a16="http://schemas.microsoft.com/office/drawing/2014/main" id="{843107EC-967E-4A32-B865-856E4BE66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300229" y="2371811"/>
              <a:ext cx="257310" cy="257310"/>
            </a:xfrm>
            <a:prstGeom prst="rect">
              <a:avLst/>
            </a:prstGeom>
          </p:spPr>
        </p:pic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1FC60A47-F022-42AC-BEFD-DCB42BD98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2581309" y="1999612"/>
              <a:ext cx="257310" cy="257310"/>
            </a:xfrm>
            <a:prstGeom prst="rect">
              <a:avLst/>
            </a:prstGeom>
          </p:spPr>
        </p:pic>
        <p:pic>
          <p:nvPicPr>
            <p:cNvPr id="52" name="圖片 51">
              <a:extLst>
                <a:ext uri="{FF2B5EF4-FFF2-40B4-BE49-F238E27FC236}">
                  <a16:creationId xmlns:a16="http://schemas.microsoft.com/office/drawing/2014/main" id="{14EA6B9E-8CD3-4BFC-BC27-AD68FCEED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2574332" y="2664097"/>
              <a:ext cx="257310" cy="257310"/>
            </a:xfrm>
            <a:prstGeom prst="rect">
              <a:avLst/>
            </a:prstGeom>
          </p:spPr>
        </p:pic>
        <p:pic>
          <p:nvPicPr>
            <p:cNvPr id="54" name="圖片 53">
              <a:extLst>
                <a:ext uri="{FF2B5EF4-FFF2-40B4-BE49-F238E27FC236}">
                  <a16:creationId xmlns:a16="http://schemas.microsoft.com/office/drawing/2014/main" id="{CB95FCCC-1A4D-457A-9B08-D95C433B8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300229" y="2013373"/>
              <a:ext cx="257310" cy="257310"/>
            </a:xfrm>
            <a:prstGeom prst="rect">
              <a:avLst/>
            </a:prstGeom>
          </p:spPr>
        </p:pic>
        <p:cxnSp>
          <p:nvCxnSpPr>
            <p:cNvPr id="210" name="直線單箭頭接點 209">
              <a:extLst>
                <a:ext uri="{FF2B5EF4-FFF2-40B4-BE49-F238E27FC236}">
                  <a16:creationId xmlns:a16="http://schemas.microsoft.com/office/drawing/2014/main" id="{F6AFD49A-D471-4012-BFE2-771E23E16FC4}"/>
                </a:ext>
              </a:extLst>
            </p:cNvPr>
            <p:cNvCxnSpPr>
              <a:cxnSpLocks/>
            </p:cNvCxnSpPr>
            <p:nvPr/>
          </p:nvCxnSpPr>
          <p:spPr>
            <a:xfrm>
              <a:off x="7332888" y="2185196"/>
              <a:ext cx="257792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triangl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228" name="圖片 227">
              <a:extLst>
                <a:ext uri="{FF2B5EF4-FFF2-40B4-BE49-F238E27FC236}">
                  <a16:creationId xmlns:a16="http://schemas.microsoft.com/office/drawing/2014/main" id="{CA38113A-F896-4002-A966-4450D10AF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09957" y="1082969"/>
              <a:ext cx="441488" cy="44618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2" name="群組 231">
              <a:extLst>
                <a:ext uri="{FF2B5EF4-FFF2-40B4-BE49-F238E27FC236}">
                  <a16:creationId xmlns:a16="http://schemas.microsoft.com/office/drawing/2014/main" id="{020718BB-44C6-4EF7-9D14-3127843E9168}"/>
                </a:ext>
              </a:extLst>
            </p:cNvPr>
            <p:cNvGrpSpPr/>
            <p:nvPr/>
          </p:nvGrpSpPr>
          <p:grpSpPr>
            <a:xfrm>
              <a:off x="996752" y="1549941"/>
              <a:ext cx="317400" cy="160580"/>
              <a:chOff x="1307128" y="1635683"/>
              <a:chExt cx="317400" cy="160580"/>
            </a:xfrm>
          </p:grpSpPr>
          <p:pic>
            <p:nvPicPr>
              <p:cNvPr id="233" name="圖片 232">
                <a:extLst>
                  <a:ext uri="{FF2B5EF4-FFF2-40B4-BE49-F238E27FC236}">
                    <a16:creationId xmlns:a16="http://schemas.microsoft.com/office/drawing/2014/main" id="{6BAB4768-3BD4-49EB-A610-F0F0A03FF2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465310" y="1636363"/>
                <a:ext cx="159218" cy="15921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4" name="圖片 233">
                <a:extLst>
                  <a:ext uri="{FF2B5EF4-FFF2-40B4-BE49-F238E27FC236}">
                    <a16:creationId xmlns:a16="http://schemas.microsoft.com/office/drawing/2014/main" id="{8132C69F-6D3F-4888-9112-B38A706C64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307128" y="1635683"/>
                <a:ext cx="158182" cy="16058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5" name="群組 234">
              <a:extLst>
                <a:ext uri="{FF2B5EF4-FFF2-40B4-BE49-F238E27FC236}">
                  <a16:creationId xmlns:a16="http://schemas.microsoft.com/office/drawing/2014/main" id="{FBC9F739-1E78-4BE5-A41C-55D8500BF50B}"/>
                </a:ext>
              </a:extLst>
            </p:cNvPr>
            <p:cNvGrpSpPr/>
            <p:nvPr/>
          </p:nvGrpSpPr>
          <p:grpSpPr>
            <a:xfrm>
              <a:off x="7546241" y="1871492"/>
              <a:ext cx="317400" cy="160580"/>
              <a:chOff x="1307128" y="1635683"/>
              <a:chExt cx="317400" cy="160580"/>
            </a:xfrm>
          </p:grpSpPr>
          <p:pic>
            <p:nvPicPr>
              <p:cNvPr id="236" name="圖片 235">
                <a:extLst>
                  <a:ext uri="{FF2B5EF4-FFF2-40B4-BE49-F238E27FC236}">
                    <a16:creationId xmlns:a16="http://schemas.microsoft.com/office/drawing/2014/main" id="{BD9BA39E-7353-4620-8A62-5E36138FE8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465310" y="1636363"/>
                <a:ext cx="159218" cy="15921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7" name="圖片 236">
                <a:extLst>
                  <a:ext uri="{FF2B5EF4-FFF2-40B4-BE49-F238E27FC236}">
                    <a16:creationId xmlns:a16="http://schemas.microsoft.com/office/drawing/2014/main" id="{6EE779EA-51F8-43EF-A002-D6395EBF83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307128" y="1635683"/>
                <a:ext cx="158182" cy="16058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59" name="文字方塊 258">
              <a:extLst>
                <a:ext uri="{FF2B5EF4-FFF2-40B4-BE49-F238E27FC236}">
                  <a16:creationId xmlns:a16="http://schemas.microsoft.com/office/drawing/2014/main" id="{DD61CDD4-77DF-4832-805A-BFAEDB59DFDB}"/>
                </a:ext>
              </a:extLst>
            </p:cNvPr>
            <p:cNvSpPr txBox="1"/>
            <p:nvPr/>
          </p:nvSpPr>
          <p:spPr>
            <a:xfrm>
              <a:off x="1531777" y="1518542"/>
              <a:ext cx="71686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700" b="1" dirty="0" err="1">
                  <a:solidFill>
                    <a:schemeClr val="accent4">
                      <a:lumMod val="50000"/>
                    </a:schemeClr>
                  </a:solidFill>
                </a:rPr>
                <a:t>DataLoad.cs</a:t>
              </a:r>
              <a:endParaRPr lang="zh-TW" altLang="en-US" sz="7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</p:grpSp>
      <p:grpSp>
        <p:nvGrpSpPr>
          <p:cNvPr id="271" name="群組 270">
            <a:extLst>
              <a:ext uri="{FF2B5EF4-FFF2-40B4-BE49-F238E27FC236}">
                <a16:creationId xmlns:a16="http://schemas.microsoft.com/office/drawing/2014/main" id="{3AE5169E-4068-4086-81D7-04BB36D9A25C}"/>
              </a:ext>
            </a:extLst>
          </p:cNvPr>
          <p:cNvGrpSpPr/>
          <p:nvPr/>
        </p:nvGrpSpPr>
        <p:grpSpPr>
          <a:xfrm>
            <a:off x="3465628" y="113575"/>
            <a:ext cx="3478047" cy="534722"/>
            <a:chOff x="3465628" y="74334"/>
            <a:chExt cx="3478047" cy="534722"/>
          </a:xfrm>
        </p:grpSpPr>
        <p:pic>
          <p:nvPicPr>
            <p:cNvPr id="272" name="圖片 271">
              <a:extLst>
                <a:ext uri="{FF2B5EF4-FFF2-40B4-BE49-F238E27FC236}">
                  <a16:creationId xmlns:a16="http://schemas.microsoft.com/office/drawing/2014/main" id="{75124D66-E440-4454-866B-955B9A31A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465628" y="74334"/>
              <a:ext cx="257310" cy="257310"/>
            </a:xfrm>
            <a:prstGeom prst="rect">
              <a:avLst/>
            </a:prstGeom>
          </p:spPr>
        </p:pic>
        <p:pic>
          <p:nvPicPr>
            <p:cNvPr id="273" name="圖片 272">
              <a:extLst>
                <a:ext uri="{FF2B5EF4-FFF2-40B4-BE49-F238E27FC236}">
                  <a16:creationId xmlns:a16="http://schemas.microsoft.com/office/drawing/2014/main" id="{3C50FD64-656F-45E3-95F7-21AA41249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465628" y="351746"/>
              <a:ext cx="257310" cy="257310"/>
            </a:xfrm>
            <a:prstGeom prst="rect">
              <a:avLst/>
            </a:prstGeom>
          </p:spPr>
        </p:pic>
        <p:pic>
          <p:nvPicPr>
            <p:cNvPr id="274" name="圖片 273">
              <a:extLst>
                <a:ext uri="{FF2B5EF4-FFF2-40B4-BE49-F238E27FC236}">
                  <a16:creationId xmlns:a16="http://schemas.microsoft.com/office/drawing/2014/main" id="{6EC7DFDD-57C4-4E9A-9EF9-9D02BBF08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091056" y="74334"/>
              <a:ext cx="257310" cy="257310"/>
            </a:xfrm>
            <a:prstGeom prst="rect">
              <a:avLst/>
            </a:prstGeom>
          </p:spPr>
        </p:pic>
        <p:pic>
          <p:nvPicPr>
            <p:cNvPr id="275" name="圖片 274">
              <a:extLst>
                <a:ext uri="{FF2B5EF4-FFF2-40B4-BE49-F238E27FC236}">
                  <a16:creationId xmlns:a16="http://schemas.microsoft.com/office/drawing/2014/main" id="{1BABDC9D-83E1-4B9E-A0B7-43DF5F938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091056" y="351746"/>
              <a:ext cx="257310" cy="257310"/>
            </a:xfrm>
            <a:prstGeom prst="rect">
              <a:avLst/>
            </a:prstGeom>
          </p:spPr>
        </p:pic>
        <p:sp>
          <p:nvSpPr>
            <p:cNvPr id="276" name="文字方塊 275">
              <a:extLst>
                <a:ext uri="{FF2B5EF4-FFF2-40B4-BE49-F238E27FC236}">
                  <a16:creationId xmlns:a16="http://schemas.microsoft.com/office/drawing/2014/main" id="{2DCBE1C0-40B0-4A9F-8443-71FA3EF4580C}"/>
                </a:ext>
              </a:extLst>
            </p:cNvPr>
            <p:cNvSpPr txBox="1"/>
            <p:nvPr/>
          </p:nvSpPr>
          <p:spPr>
            <a:xfrm>
              <a:off x="3711955" y="79879"/>
              <a:ext cx="13131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Parameter_xxx.cs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  <p:sp>
          <p:nvSpPr>
            <p:cNvPr id="277" name="文字方塊 276">
              <a:extLst>
                <a:ext uri="{FF2B5EF4-FFF2-40B4-BE49-F238E27FC236}">
                  <a16:creationId xmlns:a16="http://schemas.microsoft.com/office/drawing/2014/main" id="{A64D38B1-F56E-468E-97A3-0A3101094A6C}"/>
                </a:ext>
              </a:extLst>
            </p:cNvPr>
            <p:cNvSpPr txBox="1"/>
            <p:nvPr/>
          </p:nvSpPr>
          <p:spPr>
            <a:xfrm>
              <a:off x="3711955" y="357291"/>
              <a:ext cx="13131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VariableX_xxx.cs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  <p:sp>
          <p:nvSpPr>
            <p:cNvPr id="278" name="文字方塊 277">
              <a:extLst>
                <a:ext uri="{FF2B5EF4-FFF2-40B4-BE49-F238E27FC236}">
                  <a16:creationId xmlns:a16="http://schemas.microsoft.com/office/drawing/2014/main" id="{AC36487D-A171-408E-8856-75DDF4247D8E}"/>
                </a:ext>
              </a:extLst>
            </p:cNvPr>
            <p:cNvSpPr txBox="1"/>
            <p:nvPr/>
          </p:nvSpPr>
          <p:spPr>
            <a:xfrm>
              <a:off x="5348366" y="79879"/>
              <a:ext cx="13837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Constraint_xxx.cs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  <p:sp>
          <p:nvSpPr>
            <p:cNvPr id="279" name="文字方塊 278">
              <a:extLst>
                <a:ext uri="{FF2B5EF4-FFF2-40B4-BE49-F238E27FC236}">
                  <a16:creationId xmlns:a16="http://schemas.microsoft.com/office/drawing/2014/main" id="{870687A5-CB41-4BC6-A618-A7D9C5F2A30B}"/>
                </a:ext>
              </a:extLst>
            </p:cNvPr>
            <p:cNvSpPr txBox="1"/>
            <p:nvPr/>
          </p:nvSpPr>
          <p:spPr>
            <a:xfrm>
              <a:off x="5348366" y="357291"/>
              <a:ext cx="159530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ObjectiveFunction.cs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4236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F0F85A-D8BE-489F-8A26-3F9E8BB6D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735" y="421446"/>
            <a:ext cx="7605553" cy="264977"/>
          </a:xfrm>
        </p:spPr>
        <p:txBody>
          <a:bodyPr/>
          <a:lstStyle/>
          <a:p>
            <a:r>
              <a:rPr lang="zh-TW" altLang="en-US" dirty="0"/>
              <a:t>框架說明｜</a:t>
            </a:r>
            <a:r>
              <a:rPr lang="zh-TW" altLang="en-US" b="0" dirty="0"/>
              <a:t>模型建構流程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B04F98-C67E-4BB2-A8FC-D45C046C6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Dev. Framework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04602B-3F3A-44D6-8FC7-8D6198579B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/>
              <a:t>02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BDA344-228E-467F-9CAE-213808D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B1EDA-9669-4099-AA83-49C2D8E17945}" type="slidenum">
              <a:rPr lang="zh-TW" altLang="en-US" smtClean="0"/>
              <a:t>17</a:t>
            </a:fld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E2D1FA36-AD5C-4B54-AF63-C797303B27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 dirty="0"/>
          </a:p>
        </p:txBody>
      </p:sp>
      <p:grpSp>
        <p:nvGrpSpPr>
          <p:cNvPr id="410" name="群組 409">
            <a:extLst>
              <a:ext uri="{FF2B5EF4-FFF2-40B4-BE49-F238E27FC236}">
                <a16:creationId xmlns:a16="http://schemas.microsoft.com/office/drawing/2014/main" id="{FF49B751-76EC-4DE7-B295-2CE02C4E2A56}"/>
              </a:ext>
            </a:extLst>
          </p:cNvPr>
          <p:cNvGrpSpPr/>
          <p:nvPr/>
        </p:nvGrpSpPr>
        <p:grpSpPr>
          <a:xfrm>
            <a:off x="2134891" y="810276"/>
            <a:ext cx="6703383" cy="3941922"/>
            <a:chOff x="472483" y="791977"/>
            <a:chExt cx="6703383" cy="3941922"/>
          </a:xfrm>
        </p:grpSpPr>
        <p:sp>
          <p:nvSpPr>
            <p:cNvPr id="367" name="矩形 366">
              <a:extLst>
                <a:ext uri="{FF2B5EF4-FFF2-40B4-BE49-F238E27FC236}">
                  <a16:creationId xmlns:a16="http://schemas.microsoft.com/office/drawing/2014/main" id="{EB7CA1DB-0E58-4E3A-81C1-72389D24BA08}"/>
                </a:ext>
              </a:extLst>
            </p:cNvPr>
            <p:cNvSpPr/>
            <p:nvPr/>
          </p:nvSpPr>
          <p:spPr>
            <a:xfrm>
              <a:off x="1964798" y="793182"/>
              <a:ext cx="5211068" cy="283474"/>
            </a:xfrm>
            <a:prstGeom prst="rect">
              <a:avLst/>
            </a:prstGeom>
            <a:solidFill>
              <a:srgbClr val="F3F7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6" name="矩形 365">
              <a:extLst>
                <a:ext uri="{FF2B5EF4-FFF2-40B4-BE49-F238E27FC236}">
                  <a16:creationId xmlns:a16="http://schemas.microsoft.com/office/drawing/2014/main" id="{36745D20-C25F-493B-9611-6E55B7ACA112}"/>
                </a:ext>
              </a:extLst>
            </p:cNvPr>
            <p:cNvSpPr/>
            <p:nvPr/>
          </p:nvSpPr>
          <p:spPr>
            <a:xfrm>
              <a:off x="472483" y="793182"/>
              <a:ext cx="1485299" cy="537498"/>
            </a:xfrm>
            <a:prstGeom prst="rect">
              <a:avLst/>
            </a:prstGeom>
            <a:solidFill>
              <a:srgbClr val="F3F7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85725C15-3D68-44C9-822E-5DAED3262FB4}"/>
                </a:ext>
              </a:extLst>
            </p:cNvPr>
            <p:cNvSpPr txBox="1"/>
            <p:nvPr/>
          </p:nvSpPr>
          <p:spPr>
            <a:xfrm>
              <a:off x="773291" y="808258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200" b="1" dirty="0"/>
                <a:t>元件層程式碼</a:t>
              </a:r>
              <a:endParaRPr lang="en-US" altLang="zh-TW" sz="1200" b="1" dirty="0"/>
            </a:p>
          </p:txBody>
        </p:sp>
        <p:sp>
          <p:nvSpPr>
            <p:cNvPr id="99" name="文字方塊 98">
              <a:extLst>
                <a:ext uri="{FF2B5EF4-FFF2-40B4-BE49-F238E27FC236}">
                  <a16:creationId xmlns:a16="http://schemas.microsoft.com/office/drawing/2014/main" id="{B9F74570-EEE8-4B73-9448-78F066B882E8}"/>
                </a:ext>
              </a:extLst>
            </p:cNvPr>
            <p:cNvSpPr txBox="1"/>
            <p:nvPr/>
          </p:nvSpPr>
          <p:spPr>
            <a:xfrm>
              <a:off x="4012155" y="794716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200" b="1" dirty="0"/>
                <a:t>執行層程式碼</a:t>
              </a:r>
              <a:endParaRPr lang="en-US" altLang="zh-TW" sz="1200" dirty="0"/>
            </a:p>
          </p:txBody>
        </p:sp>
        <p:cxnSp>
          <p:nvCxnSpPr>
            <p:cNvPr id="354" name="直線接點 353">
              <a:extLst>
                <a:ext uri="{FF2B5EF4-FFF2-40B4-BE49-F238E27FC236}">
                  <a16:creationId xmlns:a16="http://schemas.microsoft.com/office/drawing/2014/main" id="{8AB3ED4C-C137-431A-8B8E-D967DCF349F4}"/>
                </a:ext>
              </a:extLst>
            </p:cNvPr>
            <p:cNvCxnSpPr>
              <a:cxnSpLocks/>
            </p:cNvCxnSpPr>
            <p:nvPr/>
          </p:nvCxnSpPr>
          <p:spPr>
            <a:xfrm>
              <a:off x="1959127" y="791977"/>
              <a:ext cx="0" cy="3913373"/>
            </a:xfrm>
            <a:prstGeom prst="lin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48" name="矩形 347">
              <a:extLst>
                <a:ext uri="{FF2B5EF4-FFF2-40B4-BE49-F238E27FC236}">
                  <a16:creationId xmlns:a16="http://schemas.microsoft.com/office/drawing/2014/main" id="{66A693AE-297C-4EEE-AF1A-BC74DC5624A0}"/>
                </a:ext>
              </a:extLst>
            </p:cNvPr>
            <p:cNvSpPr/>
            <p:nvPr/>
          </p:nvSpPr>
          <p:spPr>
            <a:xfrm>
              <a:off x="472662" y="1332158"/>
              <a:ext cx="6701862" cy="337647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55" name="直線接點 354">
              <a:extLst>
                <a:ext uri="{FF2B5EF4-FFF2-40B4-BE49-F238E27FC236}">
                  <a16:creationId xmlns:a16="http://schemas.microsoft.com/office/drawing/2014/main" id="{DF247B52-8659-4B10-A24C-3F74C0FE8035}"/>
                </a:ext>
              </a:extLst>
            </p:cNvPr>
            <p:cNvCxnSpPr>
              <a:cxnSpLocks/>
            </p:cNvCxnSpPr>
            <p:nvPr/>
          </p:nvCxnSpPr>
          <p:spPr>
            <a:xfrm>
              <a:off x="3584138" y="1071309"/>
              <a:ext cx="0" cy="3637322"/>
            </a:xfrm>
            <a:prstGeom prst="lin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8" name="群組 77">
              <a:extLst>
                <a:ext uri="{FF2B5EF4-FFF2-40B4-BE49-F238E27FC236}">
                  <a16:creationId xmlns:a16="http://schemas.microsoft.com/office/drawing/2014/main" id="{F56A7BD2-6464-4DF6-BCCF-9A8589592E71}"/>
                </a:ext>
              </a:extLst>
            </p:cNvPr>
            <p:cNvGrpSpPr/>
            <p:nvPr/>
          </p:nvGrpSpPr>
          <p:grpSpPr>
            <a:xfrm>
              <a:off x="734899" y="2272702"/>
              <a:ext cx="877163" cy="530390"/>
              <a:chOff x="2767587" y="3257343"/>
              <a:chExt cx="986236" cy="596342"/>
            </a:xfrm>
          </p:grpSpPr>
          <p:pic>
            <p:nvPicPr>
              <p:cNvPr id="79" name="圖片 78">
                <a:extLst>
                  <a:ext uri="{FF2B5EF4-FFF2-40B4-BE49-F238E27FC236}">
                    <a16:creationId xmlns:a16="http://schemas.microsoft.com/office/drawing/2014/main" id="{46737E24-A88A-43DF-8468-9BFBC89C44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080926" y="3257343"/>
                <a:ext cx="359550" cy="359551"/>
              </a:xfrm>
              <a:prstGeom prst="rect">
                <a:avLst/>
              </a:prstGeom>
            </p:spPr>
          </p:pic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60F1AC70-1812-4C73-A437-1EABC1D85377}"/>
                  </a:ext>
                </a:extLst>
              </p:cNvPr>
              <p:cNvSpPr txBox="1"/>
              <p:nvPr/>
            </p:nvSpPr>
            <p:spPr>
              <a:xfrm>
                <a:off x="2767587" y="3594150"/>
                <a:ext cx="986236" cy="2595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sz="900" dirty="0"/>
                  <a:t>參數定義類別</a:t>
                </a:r>
                <a:endParaRPr lang="en-US" altLang="zh-TW" sz="900" dirty="0"/>
              </a:p>
            </p:txBody>
          </p:sp>
        </p:grpSp>
        <p:grpSp>
          <p:nvGrpSpPr>
            <p:cNvPr id="81" name="群組 80">
              <a:extLst>
                <a:ext uri="{FF2B5EF4-FFF2-40B4-BE49-F238E27FC236}">
                  <a16:creationId xmlns:a16="http://schemas.microsoft.com/office/drawing/2014/main" id="{E9CA7C3D-93B8-4EC5-81AC-A46FFFA518F9}"/>
                </a:ext>
              </a:extLst>
            </p:cNvPr>
            <p:cNvGrpSpPr/>
            <p:nvPr/>
          </p:nvGrpSpPr>
          <p:grpSpPr>
            <a:xfrm>
              <a:off x="734895" y="3064798"/>
              <a:ext cx="877164" cy="530390"/>
              <a:chOff x="3938640" y="3257343"/>
              <a:chExt cx="986238" cy="596342"/>
            </a:xfrm>
          </p:grpSpPr>
          <p:pic>
            <p:nvPicPr>
              <p:cNvPr id="82" name="圖片 81">
                <a:extLst>
                  <a:ext uri="{FF2B5EF4-FFF2-40B4-BE49-F238E27FC236}">
                    <a16:creationId xmlns:a16="http://schemas.microsoft.com/office/drawing/2014/main" id="{3B5C99A6-5319-49AC-8C46-22E9EF08BE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251979" y="3257343"/>
                <a:ext cx="359550" cy="359551"/>
              </a:xfrm>
              <a:prstGeom prst="rect">
                <a:avLst/>
              </a:prstGeom>
            </p:spPr>
          </p:pic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38AA4622-C3D3-48C3-AA97-5A283969A8CF}"/>
                  </a:ext>
                </a:extLst>
              </p:cNvPr>
              <p:cNvSpPr txBox="1"/>
              <p:nvPr/>
            </p:nvSpPr>
            <p:spPr>
              <a:xfrm>
                <a:off x="3938640" y="3594150"/>
                <a:ext cx="986238" cy="2595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sz="900" dirty="0"/>
                  <a:t>變數定義類別</a:t>
                </a:r>
                <a:endParaRPr lang="en-US" altLang="zh-TW" sz="900" dirty="0"/>
              </a:p>
            </p:txBody>
          </p:sp>
        </p:grpSp>
        <p:grpSp>
          <p:nvGrpSpPr>
            <p:cNvPr id="90" name="群組 89">
              <a:extLst>
                <a:ext uri="{FF2B5EF4-FFF2-40B4-BE49-F238E27FC236}">
                  <a16:creationId xmlns:a16="http://schemas.microsoft.com/office/drawing/2014/main" id="{B8EEFB25-360C-4BAE-9C7E-4440AD00CF3B}"/>
                </a:ext>
              </a:extLst>
            </p:cNvPr>
            <p:cNvGrpSpPr/>
            <p:nvPr/>
          </p:nvGrpSpPr>
          <p:grpSpPr>
            <a:xfrm>
              <a:off x="792605" y="4203309"/>
              <a:ext cx="761747" cy="530590"/>
              <a:chOff x="3532515" y="3257118"/>
              <a:chExt cx="856469" cy="596567"/>
            </a:xfrm>
          </p:grpSpPr>
          <p:pic>
            <p:nvPicPr>
              <p:cNvPr id="93" name="圖片 92">
                <a:extLst>
                  <a:ext uri="{FF2B5EF4-FFF2-40B4-BE49-F238E27FC236}">
                    <a16:creationId xmlns:a16="http://schemas.microsoft.com/office/drawing/2014/main" id="{C114DA50-5EB9-45DB-9279-2F401ADD42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784932" y="3257118"/>
                <a:ext cx="351627" cy="360000"/>
              </a:xfrm>
              <a:prstGeom prst="rect">
                <a:avLst/>
              </a:prstGeom>
            </p:spPr>
          </p:pic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AEF4B44E-71D8-4191-AD63-D1C5B0EEC465}"/>
                  </a:ext>
                </a:extLst>
              </p:cNvPr>
              <p:cNvSpPr txBox="1"/>
              <p:nvPr/>
            </p:nvSpPr>
            <p:spPr>
              <a:xfrm>
                <a:off x="3532515" y="3594150"/>
                <a:ext cx="856469" cy="2595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sz="900" dirty="0"/>
                  <a:t>限制式類別</a:t>
                </a:r>
                <a:endParaRPr lang="en-US" altLang="zh-TW" sz="900" dirty="0"/>
              </a:p>
            </p:txBody>
          </p:sp>
        </p:grpSp>
        <p:grpSp>
          <p:nvGrpSpPr>
            <p:cNvPr id="95" name="群組 94">
              <a:extLst>
                <a:ext uri="{FF2B5EF4-FFF2-40B4-BE49-F238E27FC236}">
                  <a16:creationId xmlns:a16="http://schemas.microsoft.com/office/drawing/2014/main" id="{AB48E1CE-B7EC-49C7-9C9C-8F66CF7FBF77}"/>
                </a:ext>
              </a:extLst>
            </p:cNvPr>
            <p:cNvGrpSpPr/>
            <p:nvPr/>
          </p:nvGrpSpPr>
          <p:grpSpPr>
            <a:xfrm>
              <a:off x="792612" y="3585686"/>
              <a:ext cx="761747" cy="530390"/>
              <a:chOff x="3982586" y="3907669"/>
              <a:chExt cx="856467" cy="596342"/>
            </a:xfrm>
          </p:grpSpPr>
          <p:pic>
            <p:nvPicPr>
              <p:cNvPr id="96" name="圖片 95">
                <a:extLst>
                  <a:ext uri="{FF2B5EF4-FFF2-40B4-BE49-F238E27FC236}">
                    <a16:creationId xmlns:a16="http://schemas.microsoft.com/office/drawing/2014/main" id="{538A7D7A-1A1A-40C9-A898-7F1C376CB8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231045" y="3907669"/>
                <a:ext cx="359550" cy="359551"/>
              </a:xfrm>
              <a:prstGeom prst="rect">
                <a:avLst/>
              </a:prstGeom>
            </p:spPr>
          </p:pic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198773EB-4B98-44EA-8336-1D6C102295EF}"/>
                  </a:ext>
                </a:extLst>
              </p:cNvPr>
              <p:cNvSpPr txBox="1"/>
              <p:nvPr/>
            </p:nvSpPr>
            <p:spPr>
              <a:xfrm>
                <a:off x="3982586" y="4244476"/>
                <a:ext cx="856467" cy="2595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sz="900" dirty="0"/>
                  <a:t>目標式類別</a:t>
                </a:r>
                <a:endParaRPr lang="en-US" altLang="zh-TW" sz="900" dirty="0"/>
              </a:p>
            </p:txBody>
          </p:sp>
        </p:grpSp>
        <p:grpSp>
          <p:nvGrpSpPr>
            <p:cNvPr id="102" name="群組 101">
              <a:extLst>
                <a:ext uri="{FF2B5EF4-FFF2-40B4-BE49-F238E27FC236}">
                  <a16:creationId xmlns:a16="http://schemas.microsoft.com/office/drawing/2014/main" id="{657F9B2A-E81F-44AC-888A-B0C037EB1EC0}"/>
                </a:ext>
              </a:extLst>
            </p:cNvPr>
            <p:cNvGrpSpPr/>
            <p:nvPr/>
          </p:nvGrpSpPr>
          <p:grpSpPr>
            <a:xfrm>
              <a:off x="2275757" y="2272498"/>
              <a:ext cx="992579" cy="668736"/>
              <a:chOff x="3852819" y="1308119"/>
              <a:chExt cx="1116004" cy="751891"/>
            </a:xfrm>
          </p:grpSpPr>
          <p:pic>
            <p:nvPicPr>
              <p:cNvPr id="103" name="圖片 102">
                <a:extLst>
                  <a:ext uri="{FF2B5EF4-FFF2-40B4-BE49-F238E27FC236}">
                    <a16:creationId xmlns:a16="http://schemas.microsoft.com/office/drawing/2014/main" id="{F8136BB2-3320-4195-BC04-CA1FBF14DB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231045" y="1308119"/>
                <a:ext cx="359550" cy="360000"/>
              </a:xfrm>
              <a:prstGeom prst="rect">
                <a:avLst/>
              </a:prstGeom>
            </p:spPr>
          </p:pic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id="{CEC5791C-E35F-47D8-82A6-45CACB0751E1}"/>
                  </a:ext>
                </a:extLst>
              </p:cNvPr>
              <p:cNvSpPr txBox="1"/>
              <p:nvPr/>
            </p:nvSpPr>
            <p:spPr>
              <a:xfrm>
                <a:off x="3852819" y="1644753"/>
                <a:ext cx="1116004" cy="4152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sz="900" dirty="0"/>
                  <a:t>集合與參數載入</a:t>
                </a:r>
                <a:endParaRPr lang="en-US" altLang="zh-TW" sz="900" dirty="0"/>
              </a:p>
              <a:p>
                <a:pPr algn="ctr"/>
                <a:r>
                  <a:rPr lang="en-US" altLang="zh-TW" sz="900" dirty="0"/>
                  <a:t>(</a:t>
                </a:r>
                <a:r>
                  <a:rPr lang="en-US" altLang="zh-TW" sz="900" dirty="0" err="1"/>
                  <a:t>DataLoad.cs</a:t>
                </a:r>
                <a:r>
                  <a:rPr lang="en-US" altLang="zh-TW" sz="900" dirty="0"/>
                  <a:t>)</a:t>
                </a:r>
              </a:p>
            </p:txBody>
          </p:sp>
        </p:grpSp>
        <p:grpSp>
          <p:nvGrpSpPr>
            <p:cNvPr id="105" name="群組 104">
              <a:extLst>
                <a:ext uri="{FF2B5EF4-FFF2-40B4-BE49-F238E27FC236}">
                  <a16:creationId xmlns:a16="http://schemas.microsoft.com/office/drawing/2014/main" id="{1139A1A1-7C5E-4CC2-A7CA-1A5F8C69CFB6}"/>
                </a:ext>
              </a:extLst>
            </p:cNvPr>
            <p:cNvGrpSpPr/>
            <p:nvPr/>
          </p:nvGrpSpPr>
          <p:grpSpPr>
            <a:xfrm>
              <a:off x="2218057" y="3862194"/>
              <a:ext cx="1107996" cy="807589"/>
              <a:chOff x="6277054" y="3257118"/>
              <a:chExt cx="1245771" cy="908011"/>
            </a:xfrm>
          </p:grpSpPr>
          <p:pic>
            <p:nvPicPr>
              <p:cNvPr id="106" name="圖片 105">
                <a:extLst>
                  <a:ext uri="{FF2B5EF4-FFF2-40B4-BE49-F238E27FC236}">
                    <a16:creationId xmlns:a16="http://schemas.microsoft.com/office/drawing/2014/main" id="{D5A42DFA-3BAA-48BE-A527-50FA73D4B6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720164" y="3257118"/>
                <a:ext cx="359550" cy="360000"/>
              </a:xfrm>
              <a:prstGeom prst="rect">
                <a:avLst/>
              </a:prstGeom>
            </p:spPr>
          </p:pic>
          <p:sp>
            <p:nvSpPr>
              <p:cNvPr id="107" name="文字方塊 106">
                <a:extLst>
                  <a:ext uri="{FF2B5EF4-FFF2-40B4-BE49-F238E27FC236}">
                    <a16:creationId xmlns:a16="http://schemas.microsoft.com/office/drawing/2014/main" id="{6827CAA4-EF98-4A8C-8130-B91FD2A3FECE}"/>
                  </a:ext>
                </a:extLst>
              </p:cNvPr>
              <p:cNvSpPr txBox="1"/>
              <p:nvPr/>
            </p:nvSpPr>
            <p:spPr>
              <a:xfrm>
                <a:off x="6277054" y="3594150"/>
                <a:ext cx="1245771" cy="570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sz="900" dirty="0"/>
                  <a:t>模型建構控制類別</a:t>
                </a:r>
                <a:endParaRPr lang="en-US" altLang="zh-TW" sz="900" dirty="0"/>
              </a:p>
              <a:p>
                <a:pPr algn="ctr"/>
                <a:r>
                  <a:rPr lang="en-US" altLang="zh-TW" sz="900" dirty="0"/>
                  <a:t>(</a:t>
                </a:r>
                <a:r>
                  <a:rPr lang="en-US" altLang="zh-TW" sz="900" dirty="0" err="1"/>
                  <a:t>BuildModel.cs</a:t>
                </a:r>
                <a:r>
                  <a:rPr lang="en-US" altLang="zh-TW" sz="900" dirty="0"/>
                  <a:t>)</a:t>
                </a:r>
              </a:p>
              <a:p>
                <a:pPr algn="ctr"/>
                <a:r>
                  <a:rPr lang="en-US" altLang="zh-TW" sz="900" dirty="0"/>
                  <a:t>(</a:t>
                </a:r>
                <a:r>
                  <a:rPr lang="zh-TW" altLang="en-US" sz="900" dirty="0"/>
                  <a:t>可省略</a:t>
                </a:r>
                <a:r>
                  <a:rPr lang="en-US" altLang="zh-TW" sz="900" dirty="0"/>
                  <a:t>)</a:t>
                </a:r>
              </a:p>
            </p:txBody>
          </p:sp>
        </p:grpSp>
        <p:grpSp>
          <p:nvGrpSpPr>
            <p:cNvPr id="108" name="群組 107">
              <a:extLst>
                <a:ext uri="{FF2B5EF4-FFF2-40B4-BE49-F238E27FC236}">
                  <a16:creationId xmlns:a16="http://schemas.microsoft.com/office/drawing/2014/main" id="{4B161FDE-7FB2-48C8-AA7C-B6FC10702E53}"/>
                </a:ext>
              </a:extLst>
            </p:cNvPr>
            <p:cNvGrpSpPr/>
            <p:nvPr/>
          </p:nvGrpSpPr>
          <p:grpSpPr>
            <a:xfrm>
              <a:off x="2175659" y="3064596"/>
              <a:ext cx="1178529" cy="807589"/>
              <a:chOff x="6587630" y="3257118"/>
              <a:chExt cx="1325075" cy="908011"/>
            </a:xfrm>
          </p:grpSpPr>
          <p:pic>
            <p:nvPicPr>
              <p:cNvPr id="109" name="圖片 108">
                <a:extLst>
                  <a:ext uri="{FF2B5EF4-FFF2-40B4-BE49-F238E27FC236}">
                    <a16:creationId xmlns:a16="http://schemas.microsoft.com/office/drawing/2014/main" id="{D782E7CC-A78F-4906-B85E-49AAF2A763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070391" y="3257118"/>
                <a:ext cx="359550" cy="360000"/>
              </a:xfrm>
              <a:prstGeom prst="rect">
                <a:avLst/>
              </a:prstGeom>
            </p:spPr>
          </p:pic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2D85F834-1342-4E3C-B101-A15E174B280C}"/>
                  </a:ext>
                </a:extLst>
              </p:cNvPr>
              <p:cNvSpPr txBox="1"/>
              <p:nvPr/>
            </p:nvSpPr>
            <p:spPr>
              <a:xfrm>
                <a:off x="6587630" y="3594150"/>
                <a:ext cx="1325075" cy="570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sz="900" dirty="0"/>
                  <a:t>變數建構控制類別</a:t>
                </a:r>
                <a:endParaRPr lang="en-US" altLang="zh-TW" sz="900" dirty="0"/>
              </a:p>
              <a:p>
                <a:pPr algn="ctr"/>
                <a:r>
                  <a:rPr lang="en-US" altLang="zh-TW" sz="900" dirty="0"/>
                  <a:t>(</a:t>
                </a:r>
                <a:r>
                  <a:rPr lang="en-US" altLang="zh-TW" sz="900" dirty="0" err="1"/>
                  <a:t>VariableCreate.cs</a:t>
                </a:r>
                <a:r>
                  <a:rPr lang="en-US" altLang="zh-TW" sz="900" dirty="0"/>
                  <a:t>)</a:t>
                </a:r>
              </a:p>
              <a:p>
                <a:pPr algn="ctr"/>
                <a:r>
                  <a:rPr lang="en-US" altLang="zh-TW" sz="900" dirty="0"/>
                  <a:t>(</a:t>
                </a:r>
                <a:r>
                  <a:rPr lang="zh-TW" altLang="en-US" sz="900" dirty="0"/>
                  <a:t>可省略</a:t>
                </a:r>
                <a:r>
                  <a:rPr lang="en-US" altLang="zh-TW" sz="900" dirty="0"/>
                  <a:t>)</a:t>
                </a:r>
              </a:p>
            </p:txBody>
          </p:sp>
        </p:grp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BAEAA2D-88FE-48C9-B8ED-13100B4A1B0A}"/>
                </a:ext>
              </a:extLst>
            </p:cNvPr>
            <p:cNvSpPr/>
            <p:nvPr/>
          </p:nvSpPr>
          <p:spPr>
            <a:xfrm>
              <a:off x="4135728" y="1803765"/>
              <a:ext cx="640371" cy="28664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APIs</a:t>
              </a:r>
              <a:r>
                <a:rPr lang="zh-TW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設定</a:t>
              </a:r>
              <a:endParaRPr lang="en-US" altLang="zh-TW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825E935C-1331-4402-8D86-D296DEFCACE3}"/>
                </a:ext>
              </a:extLst>
            </p:cNvPr>
            <p:cNvSpPr/>
            <p:nvPr/>
          </p:nvSpPr>
          <p:spPr>
            <a:xfrm>
              <a:off x="4135728" y="2285256"/>
              <a:ext cx="640371" cy="28664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資料載入</a:t>
              </a:r>
              <a:endParaRPr lang="en-US" altLang="zh-TW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1E7E213B-600D-43E6-BF58-8B21AA4BF282}"/>
                </a:ext>
              </a:extLst>
            </p:cNvPr>
            <p:cNvSpPr/>
            <p:nvPr/>
          </p:nvSpPr>
          <p:spPr>
            <a:xfrm>
              <a:off x="4135728" y="3103567"/>
              <a:ext cx="640371" cy="28664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建構變數</a:t>
              </a:r>
              <a:endParaRPr lang="en-US" altLang="zh-TW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F2AD0A0A-C504-4723-BCBE-68B967233444}"/>
                </a:ext>
              </a:extLst>
            </p:cNvPr>
            <p:cNvSpPr/>
            <p:nvPr/>
          </p:nvSpPr>
          <p:spPr>
            <a:xfrm>
              <a:off x="4135728" y="3875134"/>
              <a:ext cx="640371" cy="28664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建構模型</a:t>
              </a:r>
              <a:endParaRPr lang="en-US" altLang="zh-TW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DDE39AC4-73C5-43DC-A7B3-1FFAEE2FDE42}"/>
                </a:ext>
              </a:extLst>
            </p:cNvPr>
            <p:cNvSpPr/>
            <p:nvPr/>
          </p:nvSpPr>
          <p:spPr>
            <a:xfrm>
              <a:off x="4135728" y="4302466"/>
              <a:ext cx="640371" cy="2881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輸出模型</a:t>
              </a:r>
              <a:endParaRPr lang="en-US" altLang="zh-TW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altLang="zh-TW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(.lp</a:t>
              </a:r>
              <a:r>
                <a:rPr lang="zh-TW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檔案</a:t>
              </a:r>
              <a:r>
                <a:rPr lang="en-US" altLang="zh-TW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</a:t>
              </a:r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D35199F9-09A7-4111-B380-7C83487652DD}"/>
                </a:ext>
              </a:extLst>
            </p:cNvPr>
            <p:cNvSpPr/>
            <p:nvPr/>
          </p:nvSpPr>
          <p:spPr>
            <a:xfrm>
              <a:off x="5078610" y="1802244"/>
              <a:ext cx="640371" cy="2881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求解</a:t>
              </a:r>
              <a:endParaRPr lang="en-US" altLang="zh-TW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26" name="平行四邊形 125">
              <a:extLst>
                <a:ext uri="{FF2B5EF4-FFF2-40B4-BE49-F238E27FC236}">
                  <a16:creationId xmlns:a16="http://schemas.microsoft.com/office/drawing/2014/main" id="{D78FBA89-F375-45AB-8930-02C88BC55F3E}"/>
                </a:ext>
              </a:extLst>
            </p:cNvPr>
            <p:cNvSpPr/>
            <p:nvPr/>
          </p:nvSpPr>
          <p:spPr>
            <a:xfrm>
              <a:off x="4998564" y="2643421"/>
              <a:ext cx="800464" cy="288167"/>
            </a:xfrm>
            <a:prstGeom prst="parallelogram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輸出結果</a:t>
              </a:r>
              <a:endParaRPr lang="en-US" altLang="zh-TW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altLang="zh-TW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(.sol</a:t>
              </a:r>
              <a:r>
                <a:rPr lang="zh-TW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檔案</a:t>
              </a:r>
              <a:r>
                <a:rPr lang="en-US" altLang="zh-TW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</a:t>
              </a:r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B28B4A24-8862-4BC6-92F4-29328320790E}"/>
                </a:ext>
              </a:extLst>
            </p:cNvPr>
            <p:cNvSpPr/>
            <p:nvPr/>
          </p:nvSpPr>
          <p:spPr>
            <a:xfrm>
              <a:off x="5078610" y="3100137"/>
              <a:ext cx="640371" cy="2881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儲存結果</a:t>
              </a:r>
              <a:endParaRPr lang="en-US" altLang="zh-TW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158" name="直線接點 157">
              <a:extLst>
                <a:ext uri="{FF2B5EF4-FFF2-40B4-BE49-F238E27FC236}">
                  <a16:creationId xmlns:a16="http://schemas.microsoft.com/office/drawing/2014/main" id="{99D06B0C-2638-489E-8F89-8C4447D0A20A}"/>
                </a:ext>
              </a:extLst>
            </p:cNvPr>
            <p:cNvCxnSpPr>
              <a:cxnSpLocks/>
            </p:cNvCxnSpPr>
            <p:nvPr/>
          </p:nvCxnSpPr>
          <p:spPr>
            <a:xfrm>
              <a:off x="746409" y="2439036"/>
              <a:ext cx="233673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lg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線接點 158">
              <a:extLst>
                <a:ext uri="{FF2B5EF4-FFF2-40B4-BE49-F238E27FC236}">
                  <a16:creationId xmlns:a16="http://schemas.microsoft.com/office/drawing/2014/main" id="{60C08EBD-80ED-417E-9592-3D96B41B6CE2}"/>
                </a:ext>
              </a:extLst>
            </p:cNvPr>
            <p:cNvCxnSpPr>
              <a:cxnSpLocks/>
            </p:cNvCxnSpPr>
            <p:nvPr/>
          </p:nvCxnSpPr>
          <p:spPr>
            <a:xfrm>
              <a:off x="746409" y="3228991"/>
              <a:ext cx="233673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lg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線接點 159">
              <a:extLst>
                <a:ext uri="{FF2B5EF4-FFF2-40B4-BE49-F238E27FC236}">
                  <a16:creationId xmlns:a16="http://schemas.microsoft.com/office/drawing/2014/main" id="{0B505266-E435-4190-8D62-7E7DA53C0ABC}"/>
                </a:ext>
              </a:extLst>
            </p:cNvPr>
            <p:cNvCxnSpPr>
              <a:cxnSpLocks/>
            </p:cNvCxnSpPr>
            <p:nvPr/>
          </p:nvCxnSpPr>
          <p:spPr>
            <a:xfrm>
              <a:off x="746409" y="3745574"/>
              <a:ext cx="233673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lg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線接點 160">
              <a:extLst>
                <a:ext uri="{FF2B5EF4-FFF2-40B4-BE49-F238E27FC236}">
                  <a16:creationId xmlns:a16="http://schemas.microsoft.com/office/drawing/2014/main" id="{B2FA50F7-AB3C-4454-B392-76F080E0B36E}"/>
                </a:ext>
              </a:extLst>
            </p:cNvPr>
            <p:cNvCxnSpPr>
              <a:cxnSpLocks/>
            </p:cNvCxnSpPr>
            <p:nvPr/>
          </p:nvCxnSpPr>
          <p:spPr>
            <a:xfrm>
              <a:off x="746409" y="4372364"/>
              <a:ext cx="233673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lg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線接點 161">
              <a:extLst>
                <a:ext uri="{FF2B5EF4-FFF2-40B4-BE49-F238E27FC236}">
                  <a16:creationId xmlns:a16="http://schemas.microsoft.com/office/drawing/2014/main" id="{61B2EC69-5A3C-4E8D-A12E-5A9DDD780E65}"/>
                </a:ext>
              </a:extLst>
            </p:cNvPr>
            <p:cNvCxnSpPr>
              <a:cxnSpLocks/>
            </p:cNvCxnSpPr>
            <p:nvPr/>
          </p:nvCxnSpPr>
          <p:spPr>
            <a:xfrm>
              <a:off x="746409" y="2439972"/>
              <a:ext cx="0" cy="193905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lg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線接點 164">
              <a:extLst>
                <a:ext uri="{FF2B5EF4-FFF2-40B4-BE49-F238E27FC236}">
                  <a16:creationId xmlns:a16="http://schemas.microsoft.com/office/drawing/2014/main" id="{E9B61572-EC0B-4FAE-A6B5-89522EFA110C}"/>
                </a:ext>
              </a:extLst>
            </p:cNvPr>
            <p:cNvCxnSpPr>
              <a:cxnSpLocks/>
              <a:endCxn id="106" idx="1"/>
            </p:cNvCxnSpPr>
            <p:nvPr/>
          </p:nvCxnSpPr>
          <p:spPr>
            <a:xfrm flipV="1">
              <a:off x="1611313" y="4022285"/>
              <a:ext cx="1000843" cy="1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lg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線接點 165">
              <a:extLst>
                <a:ext uri="{FF2B5EF4-FFF2-40B4-BE49-F238E27FC236}">
                  <a16:creationId xmlns:a16="http://schemas.microsoft.com/office/drawing/2014/main" id="{2277B688-EFBA-4777-921E-0CCAA74FCA74}"/>
                </a:ext>
              </a:extLst>
            </p:cNvPr>
            <p:cNvCxnSpPr>
              <a:cxnSpLocks/>
            </p:cNvCxnSpPr>
            <p:nvPr/>
          </p:nvCxnSpPr>
          <p:spPr>
            <a:xfrm>
              <a:off x="1366881" y="3745574"/>
              <a:ext cx="233673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lg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線接點 166">
              <a:extLst>
                <a:ext uri="{FF2B5EF4-FFF2-40B4-BE49-F238E27FC236}">
                  <a16:creationId xmlns:a16="http://schemas.microsoft.com/office/drawing/2014/main" id="{C2C91B73-3152-430A-905D-25AE2FCE9688}"/>
                </a:ext>
              </a:extLst>
            </p:cNvPr>
            <p:cNvCxnSpPr>
              <a:cxnSpLocks/>
            </p:cNvCxnSpPr>
            <p:nvPr/>
          </p:nvCxnSpPr>
          <p:spPr>
            <a:xfrm>
              <a:off x="1366881" y="4372364"/>
              <a:ext cx="233673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lg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線接點 167">
              <a:extLst>
                <a:ext uri="{FF2B5EF4-FFF2-40B4-BE49-F238E27FC236}">
                  <a16:creationId xmlns:a16="http://schemas.microsoft.com/office/drawing/2014/main" id="{3B5BB9BB-71B6-4A8C-A598-EC24326861B0}"/>
                </a:ext>
              </a:extLst>
            </p:cNvPr>
            <p:cNvCxnSpPr>
              <a:cxnSpLocks/>
            </p:cNvCxnSpPr>
            <p:nvPr/>
          </p:nvCxnSpPr>
          <p:spPr>
            <a:xfrm>
              <a:off x="1600555" y="3745574"/>
              <a:ext cx="0" cy="62679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lg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線接點 171">
              <a:extLst>
                <a:ext uri="{FF2B5EF4-FFF2-40B4-BE49-F238E27FC236}">
                  <a16:creationId xmlns:a16="http://schemas.microsoft.com/office/drawing/2014/main" id="{3E9E1FE9-2912-4ACF-A1E5-92AC0B637BFC}"/>
                </a:ext>
              </a:extLst>
            </p:cNvPr>
            <p:cNvCxnSpPr>
              <a:cxnSpLocks/>
              <a:endCxn id="103" idx="1"/>
            </p:cNvCxnSpPr>
            <p:nvPr/>
          </p:nvCxnSpPr>
          <p:spPr>
            <a:xfrm flipV="1">
              <a:off x="1239404" y="2432591"/>
              <a:ext cx="1372753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lg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線接點 173">
              <a:extLst>
                <a:ext uri="{FF2B5EF4-FFF2-40B4-BE49-F238E27FC236}">
                  <a16:creationId xmlns:a16="http://schemas.microsoft.com/office/drawing/2014/main" id="{BD213F94-6C2C-4C1B-A1D0-4CD4A7F5CFB7}"/>
                </a:ext>
              </a:extLst>
            </p:cNvPr>
            <p:cNvCxnSpPr>
              <a:cxnSpLocks/>
              <a:endCxn id="109" idx="1"/>
            </p:cNvCxnSpPr>
            <p:nvPr/>
          </p:nvCxnSpPr>
          <p:spPr>
            <a:xfrm flipV="1">
              <a:off x="1239404" y="3224687"/>
              <a:ext cx="1365622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lg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線接點 174">
              <a:extLst>
                <a:ext uri="{FF2B5EF4-FFF2-40B4-BE49-F238E27FC236}">
                  <a16:creationId xmlns:a16="http://schemas.microsoft.com/office/drawing/2014/main" id="{66FEE48F-B715-4D5F-846C-BD6C7DC4720B}"/>
                </a:ext>
              </a:extLst>
            </p:cNvPr>
            <p:cNvCxnSpPr>
              <a:cxnSpLocks/>
            </p:cNvCxnSpPr>
            <p:nvPr/>
          </p:nvCxnSpPr>
          <p:spPr>
            <a:xfrm>
              <a:off x="3077667" y="2439036"/>
              <a:ext cx="1012942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lg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線接點 175">
              <a:extLst>
                <a:ext uri="{FF2B5EF4-FFF2-40B4-BE49-F238E27FC236}">
                  <a16:creationId xmlns:a16="http://schemas.microsoft.com/office/drawing/2014/main" id="{6D284FB0-459D-47DC-9E16-52FE512FE48C}"/>
                </a:ext>
              </a:extLst>
            </p:cNvPr>
            <p:cNvCxnSpPr>
              <a:cxnSpLocks/>
            </p:cNvCxnSpPr>
            <p:nvPr/>
          </p:nvCxnSpPr>
          <p:spPr>
            <a:xfrm>
              <a:off x="3077667" y="3244052"/>
              <a:ext cx="1012942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lg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線接點 177">
              <a:extLst>
                <a:ext uri="{FF2B5EF4-FFF2-40B4-BE49-F238E27FC236}">
                  <a16:creationId xmlns:a16="http://schemas.microsoft.com/office/drawing/2014/main" id="{DFC8C4C8-9C28-479B-8970-515E35F78512}"/>
                </a:ext>
              </a:extLst>
            </p:cNvPr>
            <p:cNvCxnSpPr>
              <a:cxnSpLocks/>
            </p:cNvCxnSpPr>
            <p:nvPr/>
          </p:nvCxnSpPr>
          <p:spPr>
            <a:xfrm>
              <a:off x="3077667" y="4018457"/>
              <a:ext cx="1012942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lg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平行四邊形 178">
              <a:extLst>
                <a:ext uri="{FF2B5EF4-FFF2-40B4-BE49-F238E27FC236}">
                  <a16:creationId xmlns:a16="http://schemas.microsoft.com/office/drawing/2014/main" id="{C07E019F-D5DA-4B47-BF7D-22D9E013CA01}"/>
                </a:ext>
              </a:extLst>
            </p:cNvPr>
            <p:cNvSpPr/>
            <p:nvPr/>
          </p:nvSpPr>
          <p:spPr>
            <a:xfrm>
              <a:off x="6312462" y="2643421"/>
              <a:ext cx="800464" cy="288167"/>
            </a:xfrm>
            <a:prstGeom prst="parallelogram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輸出 </a:t>
              </a:r>
              <a:r>
                <a:rPr lang="en-US" altLang="zh-TW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IIS</a:t>
              </a:r>
            </a:p>
            <a:p>
              <a:pPr algn="ctr"/>
              <a:r>
                <a:rPr lang="en-US" altLang="zh-TW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(.ilp</a:t>
              </a:r>
              <a:r>
                <a:rPr lang="zh-TW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檔案</a:t>
              </a:r>
              <a:r>
                <a:rPr lang="en-US" altLang="zh-TW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</a:t>
              </a:r>
            </a:p>
          </p:txBody>
        </p:sp>
        <p:sp>
          <p:nvSpPr>
            <p:cNvPr id="180" name="矩形 179">
              <a:extLst>
                <a:ext uri="{FF2B5EF4-FFF2-40B4-BE49-F238E27FC236}">
                  <a16:creationId xmlns:a16="http://schemas.microsoft.com/office/drawing/2014/main" id="{9B8565CD-B746-4B63-8CB5-7C6272E792FE}"/>
                </a:ext>
              </a:extLst>
            </p:cNvPr>
            <p:cNvSpPr/>
            <p:nvPr/>
          </p:nvSpPr>
          <p:spPr>
            <a:xfrm>
              <a:off x="5078610" y="3867007"/>
              <a:ext cx="640371" cy="2881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輸出</a:t>
              </a:r>
              <a:endParaRPr lang="en-US" altLang="zh-TW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altLang="zh-TW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CSV </a:t>
              </a:r>
              <a:r>
                <a:rPr lang="zh-TW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檔案</a:t>
              </a:r>
              <a:endParaRPr lang="en-US" altLang="zh-TW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81" name="矩形 180">
              <a:extLst>
                <a:ext uri="{FF2B5EF4-FFF2-40B4-BE49-F238E27FC236}">
                  <a16:creationId xmlns:a16="http://schemas.microsoft.com/office/drawing/2014/main" id="{21E39193-EB3C-4CC8-8B52-B982834CBBC3}"/>
                </a:ext>
              </a:extLst>
            </p:cNvPr>
            <p:cNvSpPr/>
            <p:nvPr/>
          </p:nvSpPr>
          <p:spPr>
            <a:xfrm>
              <a:off x="5931366" y="3867007"/>
              <a:ext cx="640371" cy="28816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寫入</a:t>
              </a:r>
              <a:endParaRPr lang="en-US" altLang="zh-TW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zh-TW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資料庫</a:t>
              </a:r>
              <a:endParaRPr lang="en-US" altLang="zh-TW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82" name="流程圖: 決策 181">
              <a:extLst>
                <a:ext uri="{FF2B5EF4-FFF2-40B4-BE49-F238E27FC236}">
                  <a16:creationId xmlns:a16="http://schemas.microsoft.com/office/drawing/2014/main" id="{BAFD9E38-AACF-40E4-8F05-6D5BCA86082B}"/>
                </a:ext>
              </a:extLst>
            </p:cNvPr>
            <p:cNvSpPr/>
            <p:nvPr/>
          </p:nvSpPr>
          <p:spPr>
            <a:xfrm>
              <a:off x="5318749" y="2187705"/>
              <a:ext cx="160093" cy="160093"/>
            </a:xfrm>
            <a:prstGeom prst="flowChartDecis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/>
            </a:p>
          </p:txBody>
        </p:sp>
        <p:cxnSp>
          <p:nvCxnSpPr>
            <p:cNvPr id="185" name="直線單箭頭接點 184">
              <a:extLst>
                <a:ext uri="{FF2B5EF4-FFF2-40B4-BE49-F238E27FC236}">
                  <a16:creationId xmlns:a16="http://schemas.microsoft.com/office/drawing/2014/main" id="{66082237-1700-4474-B053-398188BD9CE5}"/>
                </a:ext>
              </a:extLst>
            </p:cNvPr>
            <p:cNvCxnSpPr>
              <a:cxnSpLocks/>
              <a:stCxn id="181" idx="2"/>
              <a:endCxn id="227" idx="0"/>
            </p:cNvCxnSpPr>
            <p:nvPr/>
          </p:nvCxnSpPr>
          <p:spPr>
            <a:xfrm>
              <a:off x="6251552" y="4155174"/>
              <a:ext cx="0" cy="21559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線單箭頭接點 186">
              <a:extLst>
                <a:ext uri="{FF2B5EF4-FFF2-40B4-BE49-F238E27FC236}">
                  <a16:creationId xmlns:a16="http://schemas.microsoft.com/office/drawing/2014/main" id="{B0A85F29-314F-4A04-97C0-AD301ACC995A}"/>
                </a:ext>
              </a:extLst>
            </p:cNvPr>
            <p:cNvCxnSpPr>
              <a:cxnSpLocks/>
              <a:stCxn id="28" idx="2"/>
              <a:endCxn id="121" idx="0"/>
            </p:cNvCxnSpPr>
            <p:nvPr/>
          </p:nvCxnSpPr>
          <p:spPr>
            <a:xfrm>
              <a:off x="4455914" y="2090411"/>
              <a:ext cx="0" cy="19484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線單箭頭接點 189">
              <a:extLst>
                <a:ext uri="{FF2B5EF4-FFF2-40B4-BE49-F238E27FC236}">
                  <a16:creationId xmlns:a16="http://schemas.microsoft.com/office/drawing/2014/main" id="{983AD923-42BA-4C92-A349-1CE52B1C7D8E}"/>
                </a:ext>
              </a:extLst>
            </p:cNvPr>
            <p:cNvCxnSpPr>
              <a:cxnSpLocks/>
              <a:stCxn id="121" idx="2"/>
              <a:endCxn id="122" idx="0"/>
            </p:cNvCxnSpPr>
            <p:nvPr/>
          </p:nvCxnSpPr>
          <p:spPr>
            <a:xfrm>
              <a:off x="4455914" y="2571902"/>
              <a:ext cx="0" cy="53166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線單箭頭接點 193">
              <a:extLst>
                <a:ext uri="{FF2B5EF4-FFF2-40B4-BE49-F238E27FC236}">
                  <a16:creationId xmlns:a16="http://schemas.microsoft.com/office/drawing/2014/main" id="{89211E32-98CF-48A8-839B-1E8ED78A1D53}"/>
                </a:ext>
              </a:extLst>
            </p:cNvPr>
            <p:cNvCxnSpPr>
              <a:cxnSpLocks/>
              <a:stCxn id="122" idx="2"/>
              <a:endCxn id="123" idx="0"/>
            </p:cNvCxnSpPr>
            <p:nvPr/>
          </p:nvCxnSpPr>
          <p:spPr>
            <a:xfrm>
              <a:off x="4455914" y="3390214"/>
              <a:ext cx="0" cy="48492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線單箭頭接點 196">
              <a:extLst>
                <a:ext uri="{FF2B5EF4-FFF2-40B4-BE49-F238E27FC236}">
                  <a16:creationId xmlns:a16="http://schemas.microsoft.com/office/drawing/2014/main" id="{AB3851EE-4108-4429-976D-F0783411D4CF}"/>
                </a:ext>
              </a:extLst>
            </p:cNvPr>
            <p:cNvCxnSpPr>
              <a:cxnSpLocks/>
              <a:stCxn id="123" idx="2"/>
              <a:endCxn id="124" idx="0"/>
            </p:cNvCxnSpPr>
            <p:nvPr/>
          </p:nvCxnSpPr>
          <p:spPr>
            <a:xfrm>
              <a:off x="4455914" y="4161781"/>
              <a:ext cx="0" cy="14068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流程圖: 決策 207">
              <a:extLst>
                <a:ext uri="{FF2B5EF4-FFF2-40B4-BE49-F238E27FC236}">
                  <a16:creationId xmlns:a16="http://schemas.microsoft.com/office/drawing/2014/main" id="{6FA08550-289F-4F75-BDDE-607691A65147}"/>
                </a:ext>
              </a:extLst>
            </p:cNvPr>
            <p:cNvSpPr/>
            <p:nvPr/>
          </p:nvSpPr>
          <p:spPr>
            <a:xfrm>
              <a:off x="5318749" y="3468351"/>
              <a:ext cx="160093" cy="160093"/>
            </a:xfrm>
            <a:prstGeom prst="flowChartDecis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/>
            </a:p>
          </p:txBody>
        </p:sp>
        <p:cxnSp>
          <p:nvCxnSpPr>
            <p:cNvPr id="209" name="直線單箭頭接點 208">
              <a:extLst>
                <a:ext uri="{FF2B5EF4-FFF2-40B4-BE49-F238E27FC236}">
                  <a16:creationId xmlns:a16="http://schemas.microsoft.com/office/drawing/2014/main" id="{B6D1936F-AD3D-4888-ADCC-02ADEFE8568D}"/>
                </a:ext>
              </a:extLst>
            </p:cNvPr>
            <p:cNvCxnSpPr>
              <a:cxnSpLocks/>
              <a:stCxn id="126" idx="4"/>
              <a:endCxn id="127" idx="0"/>
            </p:cNvCxnSpPr>
            <p:nvPr/>
          </p:nvCxnSpPr>
          <p:spPr>
            <a:xfrm>
              <a:off x="5398796" y="2931588"/>
              <a:ext cx="0" cy="16854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線單箭頭接點 212">
              <a:extLst>
                <a:ext uri="{FF2B5EF4-FFF2-40B4-BE49-F238E27FC236}">
                  <a16:creationId xmlns:a16="http://schemas.microsoft.com/office/drawing/2014/main" id="{E98D74D9-EBF1-419D-A392-5A7E8EAA6316}"/>
                </a:ext>
              </a:extLst>
            </p:cNvPr>
            <p:cNvCxnSpPr>
              <a:cxnSpLocks/>
              <a:stCxn id="125" idx="2"/>
              <a:endCxn id="182" idx="0"/>
            </p:cNvCxnSpPr>
            <p:nvPr/>
          </p:nvCxnSpPr>
          <p:spPr>
            <a:xfrm>
              <a:off x="5398796" y="2090411"/>
              <a:ext cx="0" cy="97294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線單箭頭接點 216">
              <a:extLst>
                <a:ext uri="{FF2B5EF4-FFF2-40B4-BE49-F238E27FC236}">
                  <a16:creationId xmlns:a16="http://schemas.microsoft.com/office/drawing/2014/main" id="{B6881895-C001-4E5B-83CD-D00224A21BB8}"/>
                </a:ext>
              </a:extLst>
            </p:cNvPr>
            <p:cNvCxnSpPr>
              <a:cxnSpLocks/>
              <a:stCxn id="127" idx="2"/>
              <a:endCxn id="208" idx="0"/>
            </p:cNvCxnSpPr>
            <p:nvPr/>
          </p:nvCxnSpPr>
          <p:spPr>
            <a:xfrm>
              <a:off x="5398796" y="3388304"/>
              <a:ext cx="0" cy="8004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線單箭頭接點 219">
              <a:extLst>
                <a:ext uri="{FF2B5EF4-FFF2-40B4-BE49-F238E27FC236}">
                  <a16:creationId xmlns:a16="http://schemas.microsoft.com/office/drawing/2014/main" id="{47494631-9CA5-4290-965B-8B2281716110}"/>
                </a:ext>
              </a:extLst>
            </p:cNvPr>
            <p:cNvCxnSpPr>
              <a:cxnSpLocks/>
              <a:stCxn id="182" idx="2"/>
              <a:endCxn id="126" idx="0"/>
            </p:cNvCxnSpPr>
            <p:nvPr/>
          </p:nvCxnSpPr>
          <p:spPr>
            <a:xfrm>
              <a:off x="5398796" y="2347798"/>
              <a:ext cx="0" cy="29562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線單箭頭接點 222">
              <a:extLst>
                <a:ext uri="{FF2B5EF4-FFF2-40B4-BE49-F238E27FC236}">
                  <a16:creationId xmlns:a16="http://schemas.microsoft.com/office/drawing/2014/main" id="{659226AF-D1A5-49CD-8C7A-CC75C8E38114}"/>
                </a:ext>
              </a:extLst>
            </p:cNvPr>
            <p:cNvCxnSpPr>
              <a:cxnSpLocks/>
              <a:stCxn id="208" idx="2"/>
              <a:endCxn id="180" idx="0"/>
            </p:cNvCxnSpPr>
            <p:nvPr/>
          </p:nvCxnSpPr>
          <p:spPr>
            <a:xfrm>
              <a:off x="5398796" y="3628444"/>
              <a:ext cx="0" cy="23856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矩形: 圓角 226">
              <a:extLst>
                <a:ext uri="{FF2B5EF4-FFF2-40B4-BE49-F238E27FC236}">
                  <a16:creationId xmlns:a16="http://schemas.microsoft.com/office/drawing/2014/main" id="{4843DB5F-9301-467D-A1C0-CF148E8A959F}"/>
                </a:ext>
              </a:extLst>
            </p:cNvPr>
            <p:cNvSpPr/>
            <p:nvPr/>
          </p:nvSpPr>
          <p:spPr>
            <a:xfrm>
              <a:off x="5931366" y="4370766"/>
              <a:ext cx="640371" cy="22413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End</a:t>
              </a:r>
              <a:endParaRPr lang="zh-TW" alt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9" name="矩形: 圓角 228">
              <a:extLst>
                <a:ext uri="{FF2B5EF4-FFF2-40B4-BE49-F238E27FC236}">
                  <a16:creationId xmlns:a16="http://schemas.microsoft.com/office/drawing/2014/main" id="{DD71FFBD-A4FE-4A5E-9AE3-B84C46A75319}"/>
                </a:ext>
              </a:extLst>
            </p:cNvPr>
            <p:cNvSpPr/>
            <p:nvPr/>
          </p:nvSpPr>
          <p:spPr>
            <a:xfrm>
              <a:off x="4135728" y="1421723"/>
              <a:ext cx="640371" cy="22413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Start</a:t>
              </a:r>
              <a:endParaRPr lang="zh-TW" alt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246" name="直線單箭頭接點 245">
              <a:extLst>
                <a:ext uri="{FF2B5EF4-FFF2-40B4-BE49-F238E27FC236}">
                  <a16:creationId xmlns:a16="http://schemas.microsoft.com/office/drawing/2014/main" id="{64183294-2D81-4ED4-B3E8-F768BFDD582E}"/>
                </a:ext>
              </a:extLst>
            </p:cNvPr>
            <p:cNvCxnSpPr>
              <a:cxnSpLocks/>
              <a:stCxn id="229" idx="2"/>
              <a:endCxn id="28" idx="0"/>
            </p:cNvCxnSpPr>
            <p:nvPr/>
          </p:nvCxnSpPr>
          <p:spPr>
            <a:xfrm>
              <a:off x="4455914" y="1645853"/>
              <a:ext cx="0" cy="15791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接點: 肘形 282">
              <a:extLst>
                <a:ext uri="{FF2B5EF4-FFF2-40B4-BE49-F238E27FC236}">
                  <a16:creationId xmlns:a16="http://schemas.microsoft.com/office/drawing/2014/main" id="{5478E716-006A-4D17-A6C0-26F01434FD6A}"/>
                </a:ext>
              </a:extLst>
            </p:cNvPr>
            <p:cNvCxnSpPr>
              <a:cxnSpLocks/>
              <a:stCxn id="124" idx="3"/>
              <a:endCxn id="125" idx="1"/>
            </p:cNvCxnSpPr>
            <p:nvPr/>
          </p:nvCxnSpPr>
          <p:spPr>
            <a:xfrm flipV="1">
              <a:off x="4776099" y="1946328"/>
              <a:ext cx="302511" cy="2500222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headEnd type="none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接點: 肘形 286">
              <a:extLst>
                <a:ext uri="{FF2B5EF4-FFF2-40B4-BE49-F238E27FC236}">
                  <a16:creationId xmlns:a16="http://schemas.microsoft.com/office/drawing/2014/main" id="{CD8C90A4-878F-44BE-A1C8-058D139502CB}"/>
                </a:ext>
              </a:extLst>
            </p:cNvPr>
            <p:cNvCxnSpPr>
              <a:cxnSpLocks/>
              <a:stCxn id="182" idx="3"/>
              <a:endCxn id="179" idx="1"/>
            </p:cNvCxnSpPr>
            <p:nvPr/>
          </p:nvCxnSpPr>
          <p:spPr>
            <a:xfrm>
              <a:off x="5478842" y="2267752"/>
              <a:ext cx="1269873" cy="375669"/>
            </a:xfrm>
            <a:prstGeom prst="bentConnector2">
              <a:avLst/>
            </a:prstGeom>
            <a:ln>
              <a:solidFill>
                <a:schemeClr val="tx1"/>
              </a:solidFill>
              <a:headEnd type="none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接點: 肘形 289">
              <a:extLst>
                <a:ext uri="{FF2B5EF4-FFF2-40B4-BE49-F238E27FC236}">
                  <a16:creationId xmlns:a16="http://schemas.microsoft.com/office/drawing/2014/main" id="{90816C14-4E21-4156-BFC3-86DCBC161F6D}"/>
                </a:ext>
              </a:extLst>
            </p:cNvPr>
            <p:cNvCxnSpPr>
              <a:cxnSpLocks/>
              <a:stCxn id="179" idx="4"/>
              <a:endCxn id="227" idx="0"/>
            </p:cNvCxnSpPr>
            <p:nvPr/>
          </p:nvCxnSpPr>
          <p:spPr>
            <a:xfrm rot="5400000">
              <a:off x="5762534" y="3420606"/>
              <a:ext cx="1439178" cy="461142"/>
            </a:xfrm>
            <a:prstGeom prst="bentConnector3">
              <a:avLst>
                <a:gd name="adj1" fmla="val 92358"/>
              </a:avLst>
            </a:prstGeom>
            <a:ln>
              <a:solidFill>
                <a:schemeClr val="tx1"/>
              </a:solidFill>
              <a:headEnd type="none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接點: 肘形 293">
              <a:extLst>
                <a:ext uri="{FF2B5EF4-FFF2-40B4-BE49-F238E27FC236}">
                  <a16:creationId xmlns:a16="http://schemas.microsoft.com/office/drawing/2014/main" id="{97DB8C4F-04DA-4374-AF06-9B9BFFA47BFD}"/>
                </a:ext>
              </a:extLst>
            </p:cNvPr>
            <p:cNvCxnSpPr>
              <a:cxnSpLocks/>
              <a:stCxn id="180" idx="2"/>
              <a:endCxn id="227" idx="0"/>
            </p:cNvCxnSpPr>
            <p:nvPr/>
          </p:nvCxnSpPr>
          <p:spPr>
            <a:xfrm rot="16200000" flipH="1">
              <a:off x="5717378" y="3836592"/>
              <a:ext cx="215592" cy="852756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headEnd type="none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接點: 肘形 298">
              <a:extLst>
                <a:ext uri="{FF2B5EF4-FFF2-40B4-BE49-F238E27FC236}">
                  <a16:creationId xmlns:a16="http://schemas.microsoft.com/office/drawing/2014/main" id="{53CA2E3F-9AA3-47B5-8EB8-007E0013CFA5}"/>
                </a:ext>
              </a:extLst>
            </p:cNvPr>
            <p:cNvCxnSpPr>
              <a:cxnSpLocks/>
              <a:stCxn id="208" idx="3"/>
              <a:endCxn id="181" idx="0"/>
            </p:cNvCxnSpPr>
            <p:nvPr/>
          </p:nvCxnSpPr>
          <p:spPr>
            <a:xfrm>
              <a:off x="5478842" y="3548398"/>
              <a:ext cx="772710" cy="318609"/>
            </a:xfrm>
            <a:prstGeom prst="bentConnector2">
              <a:avLst/>
            </a:prstGeom>
            <a:ln>
              <a:solidFill>
                <a:schemeClr val="tx1"/>
              </a:solidFill>
              <a:headEnd type="none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8" name="矩形 357">
              <a:extLst>
                <a:ext uri="{FF2B5EF4-FFF2-40B4-BE49-F238E27FC236}">
                  <a16:creationId xmlns:a16="http://schemas.microsoft.com/office/drawing/2014/main" id="{97A7885B-41E8-4D03-A310-B6CC61AE2529}"/>
                </a:ext>
              </a:extLst>
            </p:cNvPr>
            <p:cNvSpPr/>
            <p:nvPr/>
          </p:nvSpPr>
          <p:spPr>
            <a:xfrm>
              <a:off x="472662" y="791977"/>
              <a:ext cx="6701862" cy="54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60" name="直線接點 359">
              <a:extLst>
                <a:ext uri="{FF2B5EF4-FFF2-40B4-BE49-F238E27FC236}">
                  <a16:creationId xmlns:a16="http://schemas.microsoft.com/office/drawing/2014/main" id="{BBBA19E7-15E8-461E-941E-D14A1CAFC84A}"/>
                </a:ext>
              </a:extLst>
            </p:cNvPr>
            <p:cNvCxnSpPr>
              <a:cxnSpLocks/>
            </p:cNvCxnSpPr>
            <p:nvPr/>
          </p:nvCxnSpPr>
          <p:spPr>
            <a:xfrm>
              <a:off x="1965162" y="1071715"/>
              <a:ext cx="5203950" cy="0"/>
            </a:xfrm>
            <a:prstGeom prst="lin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63" name="文字方塊 362">
              <a:extLst>
                <a:ext uri="{FF2B5EF4-FFF2-40B4-BE49-F238E27FC236}">
                  <a16:creationId xmlns:a16="http://schemas.microsoft.com/office/drawing/2014/main" id="{2AB67CB8-924A-442F-8A8D-AB97D76E116F}"/>
                </a:ext>
              </a:extLst>
            </p:cNvPr>
            <p:cNvSpPr txBox="1"/>
            <p:nvPr/>
          </p:nvSpPr>
          <p:spPr>
            <a:xfrm>
              <a:off x="4773369" y="1066775"/>
              <a:ext cx="12105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200" dirty="0"/>
                <a:t>專案流程</a:t>
              </a:r>
              <a:r>
                <a:rPr lang="en-US" altLang="zh-TW" sz="1200" dirty="0"/>
                <a:t>(</a:t>
              </a:r>
              <a:r>
                <a:rPr lang="zh-TW" altLang="en-US" sz="1200" dirty="0"/>
                <a:t>流程</a:t>
              </a:r>
              <a:r>
                <a:rPr lang="en-US" altLang="zh-TW" sz="1200" dirty="0"/>
                <a:t>)</a:t>
              </a:r>
            </a:p>
          </p:txBody>
        </p:sp>
        <p:sp>
          <p:nvSpPr>
            <p:cNvPr id="365" name="文字方塊 364">
              <a:extLst>
                <a:ext uri="{FF2B5EF4-FFF2-40B4-BE49-F238E27FC236}">
                  <a16:creationId xmlns:a16="http://schemas.microsoft.com/office/drawing/2014/main" id="{447B6E39-A936-4B6D-9EE3-5B8B90ED5C80}"/>
                </a:ext>
              </a:extLst>
            </p:cNvPr>
            <p:cNvSpPr txBox="1"/>
            <p:nvPr/>
          </p:nvSpPr>
          <p:spPr>
            <a:xfrm>
              <a:off x="2166342" y="1066775"/>
              <a:ext cx="12105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200" dirty="0"/>
                <a:t>控制類別</a:t>
              </a:r>
              <a:r>
                <a:rPr lang="en-US" altLang="zh-TW" sz="1200" dirty="0"/>
                <a:t>(</a:t>
              </a:r>
              <a:r>
                <a:rPr lang="zh-TW" altLang="en-US" sz="1200" dirty="0"/>
                <a:t>程式</a:t>
              </a:r>
              <a:r>
                <a:rPr lang="en-US" altLang="zh-TW" sz="1200" dirty="0"/>
                <a:t>)</a:t>
              </a:r>
            </a:p>
          </p:txBody>
        </p:sp>
        <p:sp>
          <p:nvSpPr>
            <p:cNvPr id="373" name="矩形 372">
              <a:extLst>
                <a:ext uri="{FF2B5EF4-FFF2-40B4-BE49-F238E27FC236}">
                  <a16:creationId xmlns:a16="http://schemas.microsoft.com/office/drawing/2014/main" id="{D9C9EC33-E70C-4FD8-86C0-8792E0B3FC16}"/>
                </a:ext>
              </a:extLst>
            </p:cNvPr>
            <p:cNvSpPr/>
            <p:nvPr/>
          </p:nvSpPr>
          <p:spPr>
            <a:xfrm>
              <a:off x="5645154" y="2213174"/>
              <a:ext cx="360040" cy="972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失敗</a:t>
              </a:r>
            </a:p>
          </p:txBody>
        </p:sp>
        <p:sp>
          <p:nvSpPr>
            <p:cNvPr id="374" name="矩形 373">
              <a:extLst>
                <a:ext uri="{FF2B5EF4-FFF2-40B4-BE49-F238E27FC236}">
                  <a16:creationId xmlns:a16="http://schemas.microsoft.com/office/drawing/2014/main" id="{F159C27E-A150-42F5-8BA7-EBCCD13230BB}"/>
                </a:ext>
              </a:extLst>
            </p:cNvPr>
            <p:cNvSpPr/>
            <p:nvPr/>
          </p:nvSpPr>
          <p:spPr>
            <a:xfrm>
              <a:off x="5218773" y="2426594"/>
              <a:ext cx="360040" cy="972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成功</a:t>
              </a:r>
            </a:p>
          </p:txBody>
        </p:sp>
        <p:sp>
          <p:nvSpPr>
            <p:cNvPr id="375" name="矩形 374">
              <a:extLst>
                <a:ext uri="{FF2B5EF4-FFF2-40B4-BE49-F238E27FC236}">
                  <a16:creationId xmlns:a16="http://schemas.microsoft.com/office/drawing/2014/main" id="{8A191714-CAA8-4DA1-868F-3EC980E9FF46}"/>
                </a:ext>
              </a:extLst>
            </p:cNvPr>
            <p:cNvSpPr/>
            <p:nvPr/>
          </p:nvSpPr>
          <p:spPr>
            <a:xfrm>
              <a:off x="5218773" y="3665133"/>
              <a:ext cx="360040" cy="972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6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CSV</a:t>
              </a:r>
              <a:endParaRPr lang="zh-TW" altLang="en-US" sz="6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79" name="矩形 378">
              <a:extLst>
                <a:ext uri="{FF2B5EF4-FFF2-40B4-BE49-F238E27FC236}">
                  <a16:creationId xmlns:a16="http://schemas.microsoft.com/office/drawing/2014/main" id="{67FD562A-D139-415E-B27D-EC4B5B9898CA}"/>
                </a:ext>
              </a:extLst>
            </p:cNvPr>
            <p:cNvSpPr/>
            <p:nvPr/>
          </p:nvSpPr>
          <p:spPr>
            <a:xfrm>
              <a:off x="5580112" y="3502879"/>
              <a:ext cx="425082" cy="972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6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DBMS</a:t>
              </a:r>
              <a:endParaRPr lang="zh-TW" altLang="en-US" sz="6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381" name="圖片 380">
              <a:extLst>
                <a:ext uri="{FF2B5EF4-FFF2-40B4-BE49-F238E27FC236}">
                  <a16:creationId xmlns:a16="http://schemas.microsoft.com/office/drawing/2014/main" id="{0B03E9A5-7019-443E-B32B-B8E594FA0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854524" y="833520"/>
              <a:ext cx="189638" cy="189400"/>
            </a:xfrm>
            <a:prstGeom prst="rect">
              <a:avLst/>
            </a:prstGeom>
          </p:spPr>
        </p:pic>
        <p:pic>
          <p:nvPicPr>
            <p:cNvPr id="382" name="圖片 381">
              <a:extLst>
                <a:ext uri="{FF2B5EF4-FFF2-40B4-BE49-F238E27FC236}">
                  <a16:creationId xmlns:a16="http://schemas.microsoft.com/office/drawing/2014/main" id="{352B7FED-A9FA-4BF2-B952-E5B6F9855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38175" y="842481"/>
              <a:ext cx="189638" cy="189400"/>
            </a:xfrm>
            <a:prstGeom prst="rect">
              <a:avLst/>
            </a:prstGeom>
          </p:spPr>
        </p:pic>
        <p:sp>
          <p:nvSpPr>
            <p:cNvPr id="394" name="矩形: 剪去單一角落 393">
              <a:extLst>
                <a:ext uri="{FF2B5EF4-FFF2-40B4-BE49-F238E27FC236}">
                  <a16:creationId xmlns:a16="http://schemas.microsoft.com/office/drawing/2014/main" id="{B05F22AE-4F38-415F-A431-12E5AB811FD0}"/>
                </a:ext>
              </a:extLst>
            </p:cNvPr>
            <p:cNvSpPr/>
            <p:nvPr/>
          </p:nvSpPr>
          <p:spPr>
            <a:xfrm>
              <a:off x="2223157" y="1551188"/>
              <a:ext cx="1097400" cy="470365"/>
            </a:xfrm>
            <a:prstGeom prst="snip1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決定資料來源</a:t>
              </a:r>
              <a:endParaRPr lang="en-US" altLang="zh-TW" sz="10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/>
              <a:r>
                <a:rPr lang="en-US" altLang="zh-TW" sz="1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CSV</a:t>
              </a:r>
              <a:r>
                <a:rPr lang="zh-TW" altLang="en-US" sz="1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r>
                <a:rPr lang="en-US" altLang="zh-TW" sz="10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/ DBMS</a:t>
              </a:r>
              <a:endParaRPr lang="zh-TW" altLang="en-US" sz="10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396" name="直線接點 395">
              <a:extLst>
                <a:ext uri="{FF2B5EF4-FFF2-40B4-BE49-F238E27FC236}">
                  <a16:creationId xmlns:a16="http://schemas.microsoft.com/office/drawing/2014/main" id="{6241D537-5C8A-443C-BB55-4D8E22FF2A1F}"/>
                </a:ext>
              </a:extLst>
            </p:cNvPr>
            <p:cNvCxnSpPr>
              <a:stCxn id="394" idx="1"/>
              <a:endCxn id="103" idx="0"/>
            </p:cNvCxnSpPr>
            <p:nvPr/>
          </p:nvCxnSpPr>
          <p:spPr>
            <a:xfrm>
              <a:off x="2771857" y="2021553"/>
              <a:ext cx="192" cy="250945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3" name="群組 412">
            <a:extLst>
              <a:ext uri="{FF2B5EF4-FFF2-40B4-BE49-F238E27FC236}">
                <a16:creationId xmlns:a16="http://schemas.microsoft.com/office/drawing/2014/main" id="{DB0EC53F-053E-4554-937A-B4E2BA946A9B}"/>
              </a:ext>
            </a:extLst>
          </p:cNvPr>
          <p:cNvGrpSpPr/>
          <p:nvPr/>
        </p:nvGrpSpPr>
        <p:grpSpPr>
          <a:xfrm>
            <a:off x="203935" y="780589"/>
            <a:ext cx="1736730" cy="580036"/>
            <a:chOff x="305725" y="953609"/>
            <a:chExt cx="1736730" cy="580036"/>
          </a:xfrm>
        </p:grpSpPr>
        <p:sp>
          <p:nvSpPr>
            <p:cNvPr id="408" name="文字方塊 407">
              <a:extLst>
                <a:ext uri="{FF2B5EF4-FFF2-40B4-BE49-F238E27FC236}">
                  <a16:creationId xmlns:a16="http://schemas.microsoft.com/office/drawing/2014/main" id="{B3B8385C-D343-41C9-81BB-84CD2544F261}"/>
                </a:ext>
              </a:extLst>
            </p:cNvPr>
            <p:cNvSpPr txBox="1"/>
            <p:nvPr/>
          </p:nvSpPr>
          <p:spPr>
            <a:xfrm>
              <a:off x="305725" y="953609"/>
              <a:ext cx="17367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chemeClr val="bg1">
                      <a:lumMod val="50000"/>
                    </a:schemeClr>
                  </a:solidFill>
                  <a:latin typeface="Arial Narrow" panose="020B0606020202030204" pitchFamily="34" charset="0"/>
                </a:rPr>
                <a:t>Strategy Design Pattern</a:t>
              </a:r>
              <a:endParaRPr lang="zh-TW" altLang="en-US" sz="14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411" name="文字方塊 410">
              <a:extLst>
                <a:ext uri="{FF2B5EF4-FFF2-40B4-BE49-F238E27FC236}">
                  <a16:creationId xmlns:a16="http://schemas.microsoft.com/office/drawing/2014/main" id="{35C63D46-AC6B-4D54-9D6F-EC8653BD76F0}"/>
                </a:ext>
              </a:extLst>
            </p:cNvPr>
            <p:cNvSpPr txBox="1"/>
            <p:nvPr/>
          </p:nvSpPr>
          <p:spPr>
            <a:xfrm>
              <a:off x="305725" y="1164313"/>
              <a:ext cx="1736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TW" altLang="en-US" sz="1800" b="1" dirty="0">
                  <a:solidFill>
                    <a:srgbClr val="000000"/>
                  </a:solidFill>
                </a:rPr>
                <a:t>建模策略控制</a:t>
              </a:r>
            </a:p>
          </p:txBody>
        </p:sp>
      </p:grpSp>
      <p:pic>
        <p:nvPicPr>
          <p:cNvPr id="117" name="圖片 116">
            <a:extLst>
              <a:ext uri="{FF2B5EF4-FFF2-40B4-BE49-F238E27FC236}">
                <a16:creationId xmlns:a16="http://schemas.microsoft.com/office/drawing/2014/main" id="{17664894-95BD-4F12-A3D7-520C9C0370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18024" y="1399071"/>
            <a:ext cx="257310" cy="25731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FFB3200-468A-40B4-82D0-2D193A5C183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7675"/>
          <a:stretch/>
        </p:blipFill>
        <p:spPr>
          <a:xfrm>
            <a:off x="875254" y="1449393"/>
            <a:ext cx="1071733" cy="3305270"/>
          </a:xfrm>
          <a:prstGeom prst="rect">
            <a:avLst/>
          </a:prstGeom>
        </p:spPr>
      </p:pic>
      <p:sp>
        <p:nvSpPr>
          <p:cNvPr id="149" name="矩形: 圓角 148">
            <a:extLst>
              <a:ext uri="{FF2B5EF4-FFF2-40B4-BE49-F238E27FC236}">
                <a16:creationId xmlns:a16="http://schemas.microsoft.com/office/drawing/2014/main" id="{FE545425-9B04-4E5D-B091-A6215F3D068F}"/>
              </a:ext>
            </a:extLst>
          </p:cNvPr>
          <p:cNvSpPr/>
          <p:nvPr/>
        </p:nvSpPr>
        <p:spPr>
          <a:xfrm>
            <a:off x="8394870" y="55476"/>
            <a:ext cx="638640" cy="63052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50" name="矩形: 圓角 149">
            <a:extLst>
              <a:ext uri="{FF2B5EF4-FFF2-40B4-BE49-F238E27FC236}">
                <a16:creationId xmlns:a16="http://schemas.microsoft.com/office/drawing/2014/main" id="{758BC960-EED1-4DAD-A1C2-36F036C0079A}"/>
              </a:ext>
            </a:extLst>
          </p:cNvPr>
          <p:cNvSpPr/>
          <p:nvPr/>
        </p:nvSpPr>
        <p:spPr>
          <a:xfrm>
            <a:off x="8394870" y="55476"/>
            <a:ext cx="638640" cy="63052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FCDFF62A-6DF5-44C0-8747-24941E51DF31}"/>
              </a:ext>
            </a:extLst>
          </p:cNvPr>
          <p:cNvSpPr txBox="1"/>
          <p:nvPr/>
        </p:nvSpPr>
        <p:spPr>
          <a:xfrm>
            <a:off x="8454985" y="123338"/>
            <a:ext cx="52958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en-US" altLang="zh-TW" sz="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CSV</a:t>
            </a:r>
            <a:r>
              <a:rPr lang="zh-TW" altLang="en-US" sz="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 管理</a:t>
            </a:r>
            <a:endParaRPr lang="en-US" altLang="zh-TW" sz="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152" name="直線接點 151">
            <a:extLst>
              <a:ext uri="{FF2B5EF4-FFF2-40B4-BE49-F238E27FC236}">
                <a16:creationId xmlns:a16="http://schemas.microsoft.com/office/drawing/2014/main" id="{60C32A9E-2D1E-491A-A012-7AF2103BA5FC}"/>
              </a:ext>
            </a:extLst>
          </p:cNvPr>
          <p:cNvCxnSpPr>
            <a:cxnSpLocks/>
          </p:cNvCxnSpPr>
          <p:nvPr/>
        </p:nvCxnSpPr>
        <p:spPr>
          <a:xfrm>
            <a:off x="8467751" y="275996"/>
            <a:ext cx="50405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" name="圖片 152">
            <a:extLst>
              <a:ext uri="{FF2B5EF4-FFF2-40B4-BE49-F238E27FC236}">
                <a16:creationId xmlns:a16="http://schemas.microsoft.com/office/drawing/2014/main" id="{F96B620D-4345-4E5E-A839-65631B0D761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79060" y="325745"/>
            <a:ext cx="281434" cy="28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矩形: 圓角 153">
            <a:extLst>
              <a:ext uri="{FF2B5EF4-FFF2-40B4-BE49-F238E27FC236}">
                <a16:creationId xmlns:a16="http://schemas.microsoft.com/office/drawing/2014/main" id="{A9294E1F-6F27-4A19-B8FD-15EAFE0CE3F9}"/>
              </a:ext>
            </a:extLst>
          </p:cNvPr>
          <p:cNvSpPr/>
          <p:nvPr/>
        </p:nvSpPr>
        <p:spPr>
          <a:xfrm>
            <a:off x="7685348" y="55476"/>
            <a:ext cx="638640" cy="63052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55" name="矩形: 圓角 154">
            <a:extLst>
              <a:ext uri="{FF2B5EF4-FFF2-40B4-BE49-F238E27FC236}">
                <a16:creationId xmlns:a16="http://schemas.microsoft.com/office/drawing/2014/main" id="{EB810458-DA97-475C-9B29-34F797C69E22}"/>
              </a:ext>
            </a:extLst>
          </p:cNvPr>
          <p:cNvSpPr/>
          <p:nvPr/>
        </p:nvSpPr>
        <p:spPr>
          <a:xfrm>
            <a:off x="7685348" y="55476"/>
            <a:ext cx="638640" cy="63052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56" name="文字方塊 155">
            <a:extLst>
              <a:ext uri="{FF2B5EF4-FFF2-40B4-BE49-F238E27FC236}">
                <a16:creationId xmlns:a16="http://schemas.microsoft.com/office/drawing/2014/main" id="{649D463E-82CF-4B4C-9416-596D27B73B3B}"/>
              </a:ext>
            </a:extLst>
          </p:cNvPr>
          <p:cNvSpPr txBox="1"/>
          <p:nvPr/>
        </p:nvSpPr>
        <p:spPr>
          <a:xfrm>
            <a:off x="7696519" y="123338"/>
            <a:ext cx="62746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zh-TW" altLang="en-US" sz="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資料庫管理</a:t>
            </a:r>
            <a:endParaRPr lang="en-US" altLang="zh-TW" sz="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157" name="直線接點 156">
            <a:extLst>
              <a:ext uri="{FF2B5EF4-FFF2-40B4-BE49-F238E27FC236}">
                <a16:creationId xmlns:a16="http://schemas.microsoft.com/office/drawing/2014/main" id="{03EE9949-FFE0-4DC3-AE1A-9EF917D15A13}"/>
              </a:ext>
            </a:extLst>
          </p:cNvPr>
          <p:cNvCxnSpPr>
            <a:cxnSpLocks/>
          </p:cNvCxnSpPr>
          <p:nvPr/>
        </p:nvCxnSpPr>
        <p:spPr>
          <a:xfrm>
            <a:off x="7758228" y="275996"/>
            <a:ext cx="50405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" name="圖片 162">
            <a:extLst>
              <a:ext uri="{FF2B5EF4-FFF2-40B4-BE49-F238E27FC236}">
                <a16:creationId xmlns:a16="http://schemas.microsoft.com/office/drawing/2014/main" id="{3237EFF5-1056-4047-A5FF-F3633330C13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452" y="324543"/>
            <a:ext cx="279602" cy="28384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矩形: 圓角 163">
            <a:extLst>
              <a:ext uri="{FF2B5EF4-FFF2-40B4-BE49-F238E27FC236}">
                <a16:creationId xmlns:a16="http://schemas.microsoft.com/office/drawing/2014/main" id="{3B18F373-5725-419B-86E0-3173A21C04C8}"/>
              </a:ext>
            </a:extLst>
          </p:cNvPr>
          <p:cNvSpPr/>
          <p:nvPr/>
        </p:nvSpPr>
        <p:spPr>
          <a:xfrm>
            <a:off x="6985000" y="55476"/>
            <a:ext cx="638640" cy="63052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69" name="矩形: 圓角 168">
            <a:extLst>
              <a:ext uri="{FF2B5EF4-FFF2-40B4-BE49-F238E27FC236}">
                <a16:creationId xmlns:a16="http://schemas.microsoft.com/office/drawing/2014/main" id="{1B576F4F-BF98-46A6-818D-51028FD7F956}"/>
              </a:ext>
            </a:extLst>
          </p:cNvPr>
          <p:cNvSpPr/>
          <p:nvPr/>
        </p:nvSpPr>
        <p:spPr>
          <a:xfrm>
            <a:off x="6985000" y="55476"/>
            <a:ext cx="638640" cy="630523"/>
          </a:xfrm>
          <a:prstGeom prst="roundRect">
            <a:avLst/>
          </a:prstGeom>
          <a:solidFill>
            <a:srgbClr val="F5F5F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70" name="文字方塊 169">
            <a:extLst>
              <a:ext uri="{FF2B5EF4-FFF2-40B4-BE49-F238E27FC236}">
                <a16:creationId xmlns:a16="http://schemas.microsoft.com/office/drawing/2014/main" id="{32539D90-FCF4-4A82-A8E9-D16BAB7EC16E}"/>
              </a:ext>
            </a:extLst>
          </p:cNvPr>
          <p:cNvSpPr txBox="1"/>
          <p:nvPr/>
        </p:nvSpPr>
        <p:spPr>
          <a:xfrm>
            <a:off x="6996171" y="123338"/>
            <a:ext cx="62746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zh-TW" altLang="en-US" sz="600" b="1" dirty="0">
                <a:solidFill>
                  <a:srgbClr val="7030A0"/>
                </a:solidFill>
                <a:latin typeface="+mn-ea"/>
              </a:rPr>
              <a:t>求解器引擎</a:t>
            </a:r>
          </a:p>
        </p:txBody>
      </p:sp>
      <p:cxnSp>
        <p:nvCxnSpPr>
          <p:cNvPr id="171" name="直線接點 170">
            <a:extLst>
              <a:ext uri="{FF2B5EF4-FFF2-40B4-BE49-F238E27FC236}">
                <a16:creationId xmlns:a16="http://schemas.microsoft.com/office/drawing/2014/main" id="{C025DC3F-BBDF-46B8-8547-51E52A619152}"/>
              </a:ext>
            </a:extLst>
          </p:cNvPr>
          <p:cNvCxnSpPr>
            <a:cxnSpLocks/>
          </p:cNvCxnSpPr>
          <p:nvPr/>
        </p:nvCxnSpPr>
        <p:spPr>
          <a:xfrm>
            <a:off x="7057880" y="275996"/>
            <a:ext cx="50405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3" name="圖片 172">
            <a:extLst>
              <a:ext uri="{FF2B5EF4-FFF2-40B4-BE49-F238E27FC236}">
                <a16:creationId xmlns:a16="http://schemas.microsoft.com/office/drawing/2014/main" id="{0F251BB6-3208-4F5B-A235-32AD758B00C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70104" y="325175"/>
            <a:ext cx="279602" cy="2825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群組 40">
            <a:extLst>
              <a:ext uri="{FF2B5EF4-FFF2-40B4-BE49-F238E27FC236}">
                <a16:creationId xmlns:a16="http://schemas.microsoft.com/office/drawing/2014/main" id="{DD5DED73-8104-4C64-93C8-BBF81BA25586}"/>
              </a:ext>
            </a:extLst>
          </p:cNvPr>
          <p:cNvGrpSpPr/>
          <p:nvPr/>
        </p:nvGrpSpPr>
        <p:grpSpPr>
          <a:xfrm>
            <a:off x="3465628" y="113575"/>
            <a:ext cx="3478047" cy="534722"/>
            <a:chOff x="3465628" y="74334"/>
            <a:chExt cx="3478047" cy="534722"/>
          </a:xfrm>
        </p:grpSpPr>
        <p:pic>
          <p:nvPicPr>
            <p:cNvPr id="177" name="圖片 176">
              <a:extLst>
                <a:ext uri="{FF2B5EF4-FFF2-40B4-BE49-F238E27FC236}">
                  <a16:creationId xmlns:a16="http://schemas.microsoft.com/office/drawing/2014/main" id="{2F96E448-83F4-4DAC-B926-DCDE11F2A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465628" y="74334"/>
              <a:ext cx="257310" cy="257310"/>
            </a:xfrm>
            <a:prstGeom prst="rect">
              <a:avLst/>
            </a:prstGeom>
          </p:spPr>
        </p:pic>
        <p:pic>
          <p:nvPicPr>
            <p:cNvPr id="183" name="圖片 182">
              <a:extLst>
                <a:ext uri="{FF2B5EF4-FFF2-40B4-BE49-F238E27FC236}">
                  <a16:creationId xmlns:a16="http://schemas.microsoft.com/office/drawing/2014/main" id="{3E6727DA-5349-42B7-BECE-EC4A0A6A6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465628" y="351746"/>
              <a:ext cx="257310" cy="257310"/>
            </a:xfrm>
            <a:prstGeom prst="rect">
              <a:avLst/>
            </a:prstGeom>
          </p:spPr>
        </p:pic>
        <p:pic>
          <p:nvPicPr>
            <p:cNvPr id="184" name="圖片 183">
              <a:extLst>
                <a:ext uri="{FF2B5EF4-FFF2-40B4-BE49-F238E27FC236}">
                  <a16:creationId xmlns:a16="http://schemas.microsoft.com/office/drawing/2014/main" id="{E79D55AC-21B2-4B65-B7D9-E20D4DBF0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091056" y="74334"/>
              <a:ext cx="257310" cy="257310"/>
            </a:xfrm>
            <a:prstGeom prst="rect">
              <a:avLst/>
            </a:prstGeom>
          </p:spPr>
        </p:pic>
        <p:pic>
          <p:nvPicPr>
            <p:cNvPr id="186" name="圖片 185">
              <a:extLst>
                <a:ext uri="{FF2B5EF4-FFF2-40B4-BE49-F238E27FC236}">
                  <a16:creationId xmlns:a16="http://schemas.microsoft.com/office/drawing/2014/main" id="{560427B0-0CD4-4FA4-8CE1-E6833C71A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091056" y="351746"/>
              <a:ext cx="257310" cy="257310"/>
            </a:xfrm>
            <a:prstGeom prst="rect">
              <a:avLst/>
            </a:prstGeom>
          </p:spPr>
        </p:pic>
        <p:sp>
          <p:nvSpPr>
            <p:cNvPr id="188" name="文字方塊 187">
              <a:extLst>
                <a:ext uri="{FF2B5EF4-FFF2-40B4-BE49-F238E27FC236}">
                  <a16:creationId xmlns:a16="http://schemas.microsoft.com/office/drawing/2014/main" id="{3E56B659-0B34-4421-9D51-35D2CCC63DCE}"/>
                </a:ext>
              </a:extLst>
            </p:cNvPr>
            <p:cNvSpPr txBox="1"/>
            <p:nvPr/>
          </p:nvSpPr>
          <p:spPr>
            <a:xfrm>
              <a:off x="3711955" y="79879"/>
              <a:ext cx="13131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Parameter_xxx.cs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  <p:sp>
          <p:nvSpPr>
            <p:cNvPr id="189" name="文字方塊 188">
              <a:extLst>
                <a:ext uri="{FF2B5EF4-FFF2-40B4-BE49-F238E27FC236}">
                  <a16:creationId xmlns:a16="http://schemas.microsoft.com/office/drawing/2014/main" id="{09545EAD-6894-4D7C-9E36-86C2904C2042}"/>
                </a:ext>
              </a:extLst>
            </p:cNvPr>
            <p:cNvSpPr txBox="1"/>
            <p:nvPr/>
          </p:nvSpPr>
          <p:spPr>
            <a:xfrm>
              <a:off x="3711955" y="357291"/>
              <a:ext cx="13131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VariableX_xxx.cs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  <p:sp>
          <p:nvSpPr>
            <p:cNvPr id="191" name="文字方塊 190">
              <a:extLst>
                <a:ext uri="{FF2B5EF4-FFF2-40B4-BE49-F238E27FC236}">
                  <a16:creationId xmlns:a16="http://schemas.microsoft.com/office/drawing/2014/main" id="{CC7AF9B4-159B-4656-8340-D76A4075A045}"/>
                </a:ext>
              </a:extLst>
            </p:cNvPr>
            <p:cNvSpPr txBox="1"/>
            <p:nvPr/>
          </p:nvSpPr>
          <p:spPr>
            <a:xfrm>
              <a:off x="5348366" y="79879"/>
              <a:ext cx="13837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Constraint_xxx.cs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  <p:sp>
          <p:nvSpPr>
            <p:cNvPr id="192" name="文字方塊 191">
              <a:extLst>
                <a:ext uri="{FF2B5EF4-FFF2-40B4-BE49-F238E27FC236}">
                  <a16:creationId xmlns:a16="http://schemas.microsoft.com/office/drawing/2014/main" id="{DBB1E7C6-B8CE-4726-BE55-9A3DA29B2179}"/>
                </a:ext>
              </a:extLst>
            </p:cNvPr>
            <p:cNvSpPr txBox="1"/>
            <p:nvPr/>
          </p:nvSpPr>
          <p:spPr>
            <a:xfrm>
              <a:off x="5348366" y="357291"/>
              <a:ext cx="159530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ObjectiveFunction.cs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2EF67270-662D-49E2-9B31-0AFA1E5AA7E7}"/>
              </a:ext>
            </a:extLst>
          </p:cNvPr>
          <p:cNvGrpSpPr/>
          <p:nvPr/>
        </p:nvGrpSpPr>
        <p:grpSpPr>
          <a:xfrm>
            <a:off x="903397" y="4836981"/>
            <a:ext cx="3403426" cy="300082"/>
            <a:chOff x="903397" y="5227345"/>
            <a:chExt cx="3403426" cy="300082"/>
          </a:xfrm>
        </p:grpSpPr>
        <p:cxnSp>
          <p:nvCxnSpPr>
            <p:cNvPr id="201" name="直線接點 200">
              <a:extLst>
                <a:ext uri="{FF2B5EF4-FFF2-40B4-BE49-F238E27FC236}">
                  <a16:creationId xmlns:a16="http://schemas.microsoft.com/office/drawing/2014/main" id="{9DD20B25-A40A-4398-91DA-C198999667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397" y="5377386"/>
              <a:ext cx="720000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prstDash val="lg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文字方塊 201">
              <a:extLst>
                <a:ext uri="{FF2B5EF4-FFF2-40B4-BE49-F238E27FC236}">
                  <a16:creationId xmlns:a16="http://schemas.microsoft.com/office/drawing/2014/main" id="{72CBF4C6-A955-4B58-8292-5C0828ED4B54}"/>
                </a:ext>
              </a:extLst>
            </p:cNvPr>
            <p:cNvSpPr txBox="1"/>
            <p:nvPr/>
          </p:nvSpPr>
          <p:spPr>
            <a:xfrm>
              <a:off x="1657063" y="5227345"/>
              <a:ext cx="877163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程式引用</a:t>
              </a:r>
            </a:p>
          </p:txBody>
        </p:sp>
        <p:cxnSp>
          <p:nvCxnSpPr>
            <p:cNvPr id="204" name="直線單箭頭接點 203">
              <a:extLst>
                <a:ext uri="{FF2B5EF4-FFF2-40B4-BE49-F238E27FC236}">
                  <a16:creationId xmlns:a16="http://schemas.microsoft.com/office/drawing/2014/main" id="{2F265C62-CF96-4A4B-B2DC-2392359DA6F6}"/>
                </a:ext>
              </a:extLst>
            </p:cNvPr>
            <p:cNvCxnSpPr>
              <a:cxnSpLocks/>
            </p:cNvCxnSpPr>
            <p:nvPr/>
          </p:nvCxnSpPr>
          <p:spPr>
            <a:xfrm>
              <a:off x="2675994" y="5377386"/>
              <a:ext cx="720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文字方塊 204">
              <a:extLst>
                <a:ext uri="{FF2B5EF4-FFF2-40B4-BE49-F238E27FC236}">
                  <a16:creationId xmlns:a16="http://schemas.microsoft.com/office/drawing/2014/main" id="{0672A34C-6783-4C05-96F0-CEDB75FE6B02}"/>
                </a:ext>
              </a:extLst>
            </p:cNvPr>
            <p:cNvSpPr txBox="1"/>
            <p:nvPr/>
          </p:nvSpPr>
          <p:spPr>
            <a:xfrm>
              <a:off x="3429660" y="5227345"/>
              <a:ext cx="877163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專案流程</a:t>
              </a:r>
            </a:p>
          </p:txBody>
        </p:sp>
      </p:grpSp>
      <p:grpSp>
        <p:nvGrpSpPr>
          <p:cNvPr id="242" name="群組 241">
            <a:extLst>
              <a:ext uri="{FF2B5EF4-FFF2-40B4-BE49-F238E27FC236}">
                <a16:creationId xmlns:a16="http://schemas.microsoft.com/office/drawing/2014/main" id="{1CB6C10D-4A7B-4264-9DE2-E0AFBEE4220E}"/>
              </a:ext>
            </a:extLst>
          </p:cNvPr>
          <p:cNvGrpSpPr/>
          <p:nvPr/>
        </p:nvGrpSpPr>
        <p:grpSpPr>
          <a:xfrm>
            <a:off x="217686" y="2070987"/>
            <a:ext cx="382558" cy="360932"/>
            <a:chOff x="141984" y="2787650"/>
            <a:chExt cx="552071" cy="520863"/>
          </a:xfrm>
        </p:grpSpPr>
        <p:pic>
          <p:nvPicPr>
            <p:cNvPr id="244" name="圖片 243">
              <a:extLst>
                <a:ext uri="{FF2B5EF4-FFF2-40B4-BE49-F238E27FC236}">
                  <a16:creationId xmlns:a16="http://schemas.microsoft.com/office/drawing/2014/main" id="{0BA8BE38-C162-4180-B284-8BCCC39F4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74269" y="2988726"/>
              <a:ext cx="319786" cy="319787"/>
            </a:xfrm>
            <a:prstGeom prst="rect">
              <a:avLst/>
            </a:prstGeom>
          </p:spPr>
        </p:pic>
        <p:grpSp>
          <p:nvGrpSpPr>
            <p:cNvPr id="243" name="群組 242">
              <a:extLst>
                <a:ext uri="{FF2B5EF4-FFF2-40B4-BE49-F238E27FC236}">
                  <a16:creationId xmlns:a16="http://schemas.microsoft.com/office/drawing/2014/main" id="{E5B1FC64-EC91-487E-9952-F8F0D7877DD4}"/>
                </a:ext>
              </a:extLst>
            </p:cNvPr>
            <p:cNvGrpSpPr/>
            <p:nvPr/>
          </p:nvGrpSpPr>
          <p:grpSpPr>
            <a:xfrm>
              <a:off x="141984" y="2787650"/>
              <a:ext cx="439013" cy="518515"/>
              <a:chOff x="141984" y="2787650"/>
              <a:chExt cx="439013" cy="518515"/>
            </a:xfrm>
          </p:grpSpPr>
          <p:pic>
            <p:nvPicPr>
              <p:cNvPr id="245" name="圖片 244">
                <a:extLst>
                  <a:ext uri="{FF2B5EF4-FFF2-40B4-BE49-F238E27FC236}">
                    <a16:creationId xmlns:a16="http://schemas.microsoft.com/office/drawing/2014/main" id="{751F3654-77F1-44D3-AE36-EDFE31DFBB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61211" y="2787650"/>
                <a:ext cx="319786" cy="319786"/>
              </a:xfrm>
              <a:prstGeom prst="rect">
                <a:avLst/>
              </a:prstGeom>
            </p:spPr>
          </p:pic>
          <p:pic>
            <p:nvPicPr>
              <p:cNvPr id="247" name="圖片 246">
                <a:extLst>
                  <a:ext uri="{FF2B5EF4-FFF2-40B4-BE49-F238E27FC236}">
                    <a16:creationId xmlns:a16="http://schemas.microsoft.com/office/drawing/2014/main" id="{99730950-E962-4603-B3AE-0745964391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41984" y="2986378"/>
                <a:ext cx="319786" cy="319787"/>
              </a:xfrm>
              <a:prstGeom prst="rect">
                <a:avLst/>
              </a:prstGeom>
            </p:spPr>
          </p:pic>
        </p:grpSp>
      </p:grpSp>
      <p:pic>
        <p:nvPicPr>
          <p:cNvPr id="248" name="圖片 247">
            <a:extLst>
              <a:ext uri="{FF2B5EF4-FFF2-40B4-BE49-F238E27FC236}">
                <a16:creationId xmlns:a16="http://schemas.microsoft.com/office/drawing/2014/main" id="{F364FB3C-63DD-456B-90A1-8C14AC9A81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2604" y="2653534"/>
            <a:ext cx="224376" cy="224376"/>
          </a:xfrm>
          <a:prstGeom prst="rect">
            <a:avLst/>
          </a:prstGeom>
        </p:spPr>
      </p:pic>
      <p:pic>
        <p:nvPicPr>
          <p:cNvPr id="252" name="圖片 251">
            <a:extLst>
              <a:ext uri="{FF2B5EF4-FFF2-40B4-BE49-F238E27FC236}">
                <a16:creationId xmlns:a16="http://schemas.microsoft.com/office/drawing/2014/main" id="{A007090C-368F-4665-A0F5-3B7C9DFB9D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0152" y="4575088"/>
            <a:ext cx="257310" cy="25731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BE0D051-5124-40E4-A382-B3AA891EFE46}"/>
              </a:ext>
            </a:extLst>
          </p:cNvPr>
          <p:cNvSpPr/>
          <p:nvPr/>
        </p:nvSpPr>
        <p:spPr>
          <a:xfrm>
            <a:off x="879234" y="4659982"/>
            <a:ext cx="766078" cy="8752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BFE2B86B-D982-4474-A994-40AB2ADACADD}"/>
              </a:ext>
            </a:extLst>
          </p:cNvPr>
          <p:cNvGrpSpPr/>
          <p:nvPr/>
        </p:nvGrpSpPr>
        <p:grpSpPr>
          <a:xfrm>
            <a:off x="240358" y="3753814"/>
            <a:ext cx="388294" cy="368286"/>
            <a:chOff x="182569" y="3691539"/>
            <a:chExt cx="545715" cy="517596"/>
          </a:xfrm>
        </p:grpSpPr>
        <p:pic>
          <p:nvPicPr>
            <p:cNvPr id="251" name="圖片 250">
              <a:extLst>
                <a:ext uri="{FF2B5EF4-FFF2-40B4-BE49-F238E27FC236}">
                  <a16:creationId xmlns:a16="http://schemas.microsoft.com/office/drawing/2014/main" id="{9BFECAB6-4EBC-42A9-8A7C-F8BCBE1CF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08498" y="3889349"/>
              <a:ext cx="319786" cy="319786"/>
            </a:xfrm>
            <a:prstGeom prst="rect">
              <a:avLst/>
            </a:prstGeom>
          </p:spPr>
        </p:pic>
        <p:pic>
          <p:nvPicPr>
            <p:cNvPr id="249" name="圖片 248">
              <a:extLst>
                <a:ext uri="{FF2B5EF4-FFF2-40B4-BE49-F238E27FC236}">
                  <a16:creationId xmlns:a16="http://schemas.microsoft.com/office/drawing/2014/main" id="{0F26E005-D687-43EB-88C9-EDF76754D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03183" y="3691539"/>
              <a:ext cx="319786" cy="319786"/>
            </a:xfrm>
            <a:prstGeom prst="rect">
              <a:avLst/>
            </a:prstGeom>
          </p:spPr>
        </p:pic>
        <p:pic>
          <p:nvPicPr>
            <p:cNvPr id="250" name="圖片 249">
              <a:extLst>
                <a:ext uri="{FF2B5EF4-FFF2-40B4-BE49-F238E27FC236}">
                  <a16:creationId xmlns:a16="http://schemas.microsoft.com/office/drawing/2014/main" id="{FA9DF415-C0B2-4468-9887-D34A2326B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2569" y="3880493"/>
              <a:ext cx="319786" cy="319786"/>
            </a:xfrm>
            <a:prstGeom prst="rect">
              <a:avLst/>
            </a:prstGeom>
          </p:spPr>
        </p:pic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93FB72B8-7389-4DD7-9241-3DEB66CE8F10}"/>
              </a:ext>
            </a:extLst>
          </p:cNvPr>
          <p:cNvGrpSpPr/>
          <p:nvPr/>
        </p:nvGrpSpPr>
        <p:grpSpPr>
          <a:xfrm>
            <a:off x="220731" y="3031456"/>
            <a:ext cx="406326" cy="371424"/>
            <a:chOff x="147010" y="2787650"/>
            <a:chExt cx="547045" cy="500055"/>
          </a:xfrm>
        </p:grpSpPr>
        <p:pic>
          <p:nvPicPr>
            <p:cNvPr id="235" name="圖片 234">
              <a:extLst>
                <a:ext uri="{FF2B5EF4-FFF2-40B4-BE49-F238E27FC236}">
                  <a16:creationId xmlns:a16="http://schemas.microsoft.com/office/drawing/2014/main" id="{338EB1F1-7B1B-4B9C-A5EA-6E92B3AA7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74269" y="2967918"/>
              <a:ext cx="319786" cy="319787"/>
            </a:xfrm>
            <a:prstGeom prst="rect">
              <a:avLst/>
            </a:prstGeom>
          </p:spPr>
        </p:pic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FFAA0A26-AA29-4479-BA8F-50C8C7099DDA}"/>
                </a:ext>
              </a:extLst>
            </p:cNvPr>
            <p:cNvGrpSpPr/>
            <p:nvPr/>
          </p:nvGrpSpPr>
          <p:grpSpPr>
            <a:xfrm>
              <a:off x="147010" y="2787650"/>
              <a:ext cx="433987" cy="497212"/>
              <a:chOff x="147010" y="2787650"/>
              <a:chExt cx="433987" cy="497212"/>
            </a:xfrm>
          </p:grpSpPr>
          <p:pic>
            <p:nvPicPr>
              <p:cNvPr id="234" name="圖片 233">
                <a:extLst>
                  <a:ext uri="{FF2B5EF4-FFF2-40B4-BE49-F238E27FC236}">
                    <a16:creationId xmlns:a16="http://schemas.microsoft.com/office/drawing/2014/main" id="{DA60FF05-1771-4F47-9A30-1741BC288E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47010" y="2965075"/>
                <a:ext cx="319786" cy="319787"/>
              </a:xfrm>
              <a:prstGeom prst="rect">
                <a:avLst/>
              </a:prstGeom>
            </p:spPr>
          </p:pic>
          <p:pic>
            <p:nvPicPr>
              <p:cNvPr id="233" name="圖片 232">
                <a:extLst>
                  <a:ext uri="{FF2B5EF4-FFF2-40B4-BE49-F238E27FC236}">
                    <a16:creationId xmlns:a16="http://schemas.microsoft.com/office/drawing/2014/main" id="{0CDBCBD4-FAB0-45DC-9B27-EA7C8C1B70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61211" y="2787650"/>
                <a:ext cx="319786" cy="319786"/>
              </a:xfrm>
              <a:prstGeom prst="rect">
                <a:avLst/>
              </a:prstGeom>
            </p:spPr>
          </p:pic>
        </p:grpSp>
      </p:grpSp>
      <p:sp>
        <p:nvSpPr>
          <p:cNvPr id="17" name="左大括弧 16">
            <a:extLst>
              <a:ext uri="{FF2B5EF4-FFF2-40B4-BE49-F238E27FC236}">
                <a16:creationId xmlns:a16="http://schemas.microsoft.com/office/drawing/2014/main" id="{1E5BF00F-0F52-4E87-9700-2E1E2DAF2EF5}"/>
              </a:ext>
            </a:extLst>
          </p:cNvPr>
          <p:cNvSpPr/>
          <p:nvPr/>
        </p:nvSpPr>
        <p:spPr>
          <a:xfrm>
            <a:off x="667079" y="3615916"/>
            <a:ext cx="307287" cy="824910"/>
          </a:xfrm>
          <a:prstGeom prst="leftBrace">
            <a:avLst>
              <a:gd name="adj1" fmla="val 0"/>
              <a:gd name="adj2" fmla="val 50000"/>
            </a:avLst>
          </a:prstGeom>
          <a:ln w="127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3" name="左大括弧 252">
            <a:extLst>
              <a:ext uri="{FF2B5EF4-FFF2-40B4-BE49-F238E27FC236}">
                <a16:creationId xmlns:a16="http://schemas.microsoft.com/office/drawing/2014/main" id="{202AE48C-70B6-4060-AEBD-91D1A29AD0DE}"/>
              </a:ext>
            </a:extLst>
          </p:cNvPr>
          <p:cNvSpPr/>
          <p:nvPr/>
        </p:nvSpPr>
        <p:spPr>
          <a:xfrm>
            <a:off x="667079" y="3027827"/>
            <a:ext cx="307791" cy="403554"/>
          </a:xfrm>
          <a:prstGeom prst="leftBrace">
            <a:avLst>
              <a:gd name="adj1" fmla="val 0"/>
              <a:gd name="adj2" fmla="val 50000"/>
            </a:avLst>
          </a:prstGeom>
          <a:ln w="127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4" name="左大括弧 253">
            <a:extLst>
              <a:ext uri="{FF2B5EF4-FFF2-40B4-BE49-F238E27FC236}">
                <a16:creationId xmlns:a16="http://schemas.microsoft.com/office/drawing/2014/main" id="{5195C4D2-3BF4-4120-9ADE-01EF0F793125}"/>
              </a:ext>
            </a:extLst>
          </p:cNvPr>
          <p:cNvSpPr/>
          <p:nvPr/>
        </p:nvSpPr>
        <p:spPr>
          <a:xfrm>
            <a:off x="667080" y="1835728"/>
            <a:ext cx="307286" cy="845559"/>
          </a:xfrm>
          <a:prstGeom prst="leftBrace">
            <a:avLst>
              <a:gd name="adj1" fmla="val 0"/>
              <a:gd name="adj2" fmla="val 50000"/>
            </a:avLst>
          </a:prstGeom>
          <a:ln w="127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F7324162-67DE-46F5-90BE-871CAA795764}"/>
              </a:ext>
            </a:extLst>
          </p:cNvPr>
          <p:cNvCxnSpPr>
            <a:cxnSpLocks/>
            <a:stCxn id="252" idx="3"/>
            <a:endCxn id="15" idx="1"/>
          </p:cNvCxnSpPr>
          <p:nvPr/>
        </p:nvCxnSpPr>
        <p:spPr>
          <a:xfrm>
            <a:off x="607462" y="4703743"/>
            <a:ext cx="271772" cy="0"/>
          </a:xfrm>
          <a:prstGeom prst="line">
            <a:avLst/>
          </a:prstGeom>
          <a:ln w="127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矩形 255">
            <a:extLst>
              <a:ext uri="{FF2B5EF4-FFF2-40B4-BE49-F238E27FC236}">
                <a16:creationId xmlns:a16="http://schemas.microsoft.com/office/drawing/2014/main" id="{73F285EA-A653-46FC-AEC0-6A4EF3B41BA5}"/>
              </a:ext>
            </a:extLst>
          </p:cNvPr>
          <p:cNvSpPr/>
          <p:nvPr/>
        </p:nvSpPr>
        <p:spPr>
          <a:xfrm>
            <a:off x="966789" y="2730919"/>
            <a:ext cx="752278" cy="694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7" name="直線接點 256">
            <a:extLst>
              <a:ext uri="{FF2B5EF4-FFF2-40B4-BE49-F238E27FC236}">
                <a16:creationId xmlns:a16="http://schemas.microsoft.com/office/drawing/2014/main" id="{069D91D8-A0B4-4E56-82EC-94036CAD08CD}"/>
              </a:ext>
            </a:extLst>
          </p:cNvPr>
          <p:cNvCxnSpPr>
            <a:cxnSpLocks/>
            <a:stCxn id="248" idx="3"/>
            <a:endCxn id="256" idx="1"/>
          </p:cNvCxnSpPr>
          <p:nvPr/>
        </p:nvCxnSpPr>
        <p:spPr>
          <a:xfrm flipV="1">
            <a:off x="596980" y="2765635"/>
            <a:ext cx="369809" cy="87"/>
          </a:xfrm>
          <a:prstGeom prst="line">
            <a:avLst/>
          </a:prstGeom>
          <a:ln w="127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0" name="圖片 259">
            <a:extLst>
              <a:ext uri="{FF2B5EF4-FFF2-40B4-BE49-F238E27FC236}">
                <a16:creationId xmlns:a16="http://schemas.microsoft.com/office/drawing/2014/main" id="{863E3394-2B6B-4AB1-8981-2C32F12E227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0551" y="1383861"/>
            <a:ext cx="281434" cy="28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圖片 260">
            <a:extLst>
              <a:ext uri="{FF2B5EF4-FFF2-40B4-BE49-F238E27FC236}">
                <a16:creationId xmlns:a16="http://schemas.microsoft.com/office/drawing/2014/main" id="{9F403AC4-78ED-4B81-8532-41CD07AF8A0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57272" y="1382658"/>
            <a:ext cx="279602" cy="28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圖片 261">
            <a:extLst>
              <a:ext uri="{FF2B5EF4-FFF2-40B4-BE49-F238E27FC236}">
                <a16:creationId xmlns:a16="http://schemas.microsoft.com/office/drawing/2014/main" id="{836F8C18-7076-4CCB-AC02-110D028D167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72801" y="3702244"/>
            <a:ext cx="281434" cy="28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圖片 262">
            <a:extLst>
              <a:ext uri="{FF2B5EF4-FFF2-40B4-BE49-F238E27FC236}">
                <a16:creationId xmlns:a16="http://schemas.microsoft.com/office/drawing/2014/main" id="{01B23AB9-06D5-4F74-A2D7-0B138D9F854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74265" y="3743296"/>
            <a:ext cx="279602" cy="2838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629315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F0F85A-D8BE-489F-8A26-3F9E8BB6D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735" y="421446"/>
            <a:ext cx="7605553" cy="264977"/>
          </a:xfrm>
        </p:spPr>
        <p:txBody>
          <a:bodyPr/>
          <a:lstStyle/>
          <a:p>
            <a:r>
              <a:rPr lang="zh-TW" altLang="en-US" dirty="0"/>
              <a:t>框架說明｜</a:t>
            </a:r>
            <a:r>
              <a:rPr lang="zh-TW" altLang="en-US" b="0" dirty="0"/>
              <a:t>參數設計 </a:t>
            </a:r>
            <a:r>
              <a:rPr lang="en-US" altLang="zh-TW" b="0" dirty="0"/>
              <a:t>&amp;</a:t>
            </a:r>
            <a:r>
              <a:rPr lang="zh-TW" altLang="en-US" b="0" dirty="0"/>
              <a:t> 讀取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B04F98-C67E-4BB2-A8FC-D45C046C6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Dev. Framework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04602B-3F3A-44D6-8FC7-8D6198579B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/>
              <a:t>02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BDA344-228E-467F-9CAE-213808D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B1EDA-9669-4099-AA83-49C2D8E17945}" type="slidenum">
              <a:rPr lang="zh-TW" altLang="en-US" smtClean="0"/>
              <a:t>18</a:t>
            </a:fld>
            <a:endParaRPr lang="zh-TW" altLang="en-US" dirty="0"/>
          </a:p>
        </p:txBody>
      </p:sp>
      <p:sp>
        <p:nvSpPr>
          <p:cNvPr id="149" name="矩形: 圓角 148">
            <a:extLst>
              <a:ext uri="{FF2B5EF4-FFF2-40B4-BE49-F238E27FC236}">
                <a16:creationId xmlns:a16="http://schemas.microsoft.com/office/drawing/2014/main" id="{FE545425-9B04-4E5D-B091-A6215F3D068F}"/>
              </a:ext>
            </a:extLst>
          </p:cNvPr>
          <p:cNvSpPr/>
          <p:nvPr/>
        </p:nvSpPr>
        <p:spPr>
          <a:xfrm>
            <a:off x="8394870" y="55476"/>
            <a:ext cx="638640" cy="63052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50" name="矩形: 圓角 149">
            <a:extLst>
              <a:ext uri="{FF2B5EF4-FFF2-40B4-BE49-F238E27FC236}">
                <a16:creationId xmlns:a16="http://schemas.microsoft.com/office/drawing/2014/main" id="{758BC960-EED1-4DAD-A1C2-36F036C0079A}"/>
              </a:ext>
            </a:extLst>
          </p:cNvPr>
          <p:cNvSpPr/>
          <p:nvPr/>
        </p:nvSpPr>
        <p:spPr>
          <a:xfrm>
            <a:off x="8394870" y="55476"/>
            <a:ext cx="638640" cy="63052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FCDFF62A-6DF5-44C0-8747-24941E51DF31}"/>
              </a:ext>
            </a:extLst>
          </p:cNvPr>
          <p:cNvSpPr txBox="1"/>
          <p:nvPr/>
        </p:nvSpPr>
        <p:spPr>
          <a:xfrm>
            <a:off x="8454985" y="123338"/>
            <a:ext cx="52958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en-US" altLang="zh-TW" sz="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CSV</a:t>
            </a:r>
            <a:r>
              <a:rPr lang="zh-TW" altLang="en-US" sz="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 管理</a:t>
            </a:r>
            <a:endParaRPr lang="en-US" altLang="zh-TW" sz="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152" name="直線接點 151">
            <a:extLst>
              <a:ext uri="{FF2B5EF4-FFF2-40B4-BE49-F238E27FC236}">
                <a16:creationId xmlns:a16="http://schemas.microsoft.com/office/drawing/2014/main" id="{60C32A9E-2D1E-491A-A012-7AF2103BA5FC}"/>
              </a:ext>
            </a:extLst>
          </p:cNvPr>
          <p:cNvCxnSpPr>
            <a:cxnSpLocks/>
          </p:cNvCxnSpPr>
          <p:nvPr/>
        </p:nvCxnSpPr>
        <p:spPr>
          <a:xfrm>
            <a:off x="8467751" y="275996"/>
            <a:ext cx="50405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" name="圖片 152">
            <a:extLst>
              <a:ext uri="{FF2B5EF4-FFF2-40B4-BE49-F238E27FC236}">
                <a16:creationId xmlns:a16="http://schemas.microsoft.com/office/drawing/2014/main" id="{F96B620D-4345-4E5E-A839-65631B0D7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79060" y="325745"/>
            <a:ext cx="281434" cy="28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矩形: 圓角 153">
            <a:extLst>
              <a:ext uri="{FF2B5EF4-FFF2-40B4-BE49-F238E27FC236}">
                <a16:creationId xmlns:a16="http://schemas.microsoft.com/office/drawing/2014/main" id="{A9294E1F-6F27-4A19-B8FD-15EAFE0CE3F9}"/>
              </a:ext>
            </a:extLst>
          </p:cNvPr>
          <p:cNvSpPr/>
          <p:nvPr/>
        </p:nvSpPr>
        <p:spPr>
          <a:xfrm>
            <a:off x="7685348" y="55476"/>
            <a:ext cx="638640" cy="63052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55" name="矩形: 圓角 154">
            <a:extLst>
              <a:ext uri="{FF2B5EF4-FFF2-40B4-BE49-F238E27FC236}">
                <a16:creationId xmlns:a16="http://schemas.microsoft.com/office/drawing/2014/main" id="{EB810458-DA97-475C-9B29-34F797C69E22}"/>
              </a:ext>
            </a:extLst>
          </p:cNvPr>
          <p:cNvSpPr/>
          <p:nvPr/>
        </p:nvSpPr>
        <p:spPr>
          <a:xfrm>
            <a:off x="7685348" y="55476"/>
            <a:ext cx="638640" cy="63052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56" name="文字方塊 155">
            <a:extLst>
              <a:ext uri="{FF2B5EF4-FFF2-40B4-BE49-F238E27FC236}">
                <a16:creationId xmlns:a16="http://schemas.microsoft.com/office/drawing/2014/main" id="{649D463E-82CF-4B4C-9416-596D27B73B3B}"/>
              </a:ext>
            </a:extLst>
          </p:cNvPr>
          <p:cNvSpPr txBox="1"/>
          <p:nvPr/>
        </p:nvSpPr>
        <p:spPr>
          <a:xfrm>
            <a:off x="7696519" y="123338"/>
            <a:ext cx="62746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zh-TW" altLang="en-US" sz="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資料庫管理</a:t>
            </a:r>
            <a:endParaRPr lang="en-US" altLang="zh-TW" sz="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157" name="直線接點 156">
            <a:extLst>
              <a:ext uri="{FF2B5EF4-FFF2-40B4-BE49-F238E27FC236}">
                <a16:creationId xmlns:a16="http://schemas.microsoft.com/office/drawing/2014/main" id="{03EE9949-FFE0-4DC3-AE1A-9EF917D15A13}"/>
              </a:ext>
            </a:extLst>
          </p:cNvPr>
          <p:cNvCxnSpPr>
            <a:cxnSpLocks/>
          </p:cNvCxnSpPr>
          <p:nvPr/>
        </p:nvCxnSpPr>
        <p:spPr>
          <a:xfrm>
            <a:off x="7758228" y="275996"/>
            <a:ext cx="50405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" name="圖片 162">
            <a:extLst>
              <a:ext uri="{FF2B5EF4-FFF2-40B4-BE49-F238E27FC236}">
                <a16:creationId xmlns:a16="http://schemas.microsoft.com/office/drawing/2014/main" id="{3237EFF5-1056-4047-A5FF-F3633330C1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452" y="324543"/>
            <a:ext cx="279602" cy="28384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矩形: 圓角 163">
            <a:extLst>
              <a:ext uri="{FF2B5EF4-FFF2-40B4-BE49-F238E27FC236}">
                <a16:creationId xmlns:a16="http://schemas.microsoft.com/office/drawing/2014/main" id="{3B18F373-5725-419B-86E0-3173A21C04C8}"/>
              </a:ext>
            </a:extLst>
          </p:cNvPr>
          <p:cNvSpPr/>
          <p:nvPr/>
        </p:nvSpPr>
        <p:spPr>
          <a:xfrm>
            <a:off x="6985000" y="55476"/>
            <a:ext cx="638640" cy="63052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69" name="矩形: 圓角 168">
            <a:extLst>
              <a:ext uri="{FF2B5EF4-FFF2-40B4-BE49-F238E27FC236}">
                <a16:creationId xmlns:a16="http://schemas.microsoft.com/office/drawing/2014/main" id="{1B576F4F-BF98-46A6-818D-51028FD7F956}"/>
              </a:ext>
            </a:extLst>
          </p:cNvPr>
          <p:cNvSpPr/>
          <p:nvPr/>
        </p:nvSpPr>
        <p:spPr>
          <a:xfrm>
            <a:off x="6985000" y="55476"/>
            <a:ext cx="638640" cy="630523"/>
          </a:xfrm>
          <a:prstGeom prst="roundRect">
            <a:avLst/>
          </a:prstGeom>
          <a:solidFill>
            <a:srgbClr val="F5F5F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70" name="文字方塊 169">
            <a:extLst>
              <a:ext uri="{FF2B5EF4-FFF2-40B4-BE49-F238E27FC236}">
                <a16:creationId xmlns:a16="http://schemas.microsoft.com/office/drawing/2014/main" id="{32539D90-FCF4-4A82-A8E9-D16BAB7EC16E}"/>
              </a:ext>
            </a:extLst>
          </p:cNvPr>
          <p:cNvSpPr txBox="1"/>
          <p:nvPr/>
        </p:nvSpPr>
        <p:spPr>
          <a:xfrm>
            <a:off x="6996171" y="123338"/>
            <a:ext cx="62746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zh-TW" altLang="en-US" sz="600" b="1" dirty="0">
                <a:solidFill>
                  <a:srgbClr val="7030A0"/>
                </a:solidFill>
                <a:latin typeface="+mn-ea"/>
              </a:rPr>
              <a:t>求解器引擎</a:t>
            </a:r>
          </a:p>
        </p:txBody>
      </p:sp>
      <p:cxnSp>
        <p:nvCxnSpPr>
          <p:cNvPr id="171" name="直線接點 170">
            <a:extLst>
              <a:ext uri="{FF2B5EF4-FFF2-40B4-BE49-F238E27FC236}">
                <a16:creationId xmlns:a16="http://schemas.microsoft.com/office/drawing/2014/main" id="{C025DC3F-BBDF-46B8-8547-51E52A619152}"/>
              </a:ext>
            </a:extLst>
          </p:cNvPr>
          <p:cNvCxnSpPr>
            <a:cxnSpLocks/>
          </p:cNvCxnSpPr>
          <p:nvPr/>
        </p:nvCxnSpPr>
        <p:spPr>
          <a:xfrm>
            <a:off x="7057880" y="275996"/>
            <a:ext cx="50405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3" name="圖片 172">
            <a:extLst>
              <a:ext uri="{FF2B5EF4-FFF2-40B4-BE49-F238E27FC236}">
                <a16:creationId xmlns:a16="http://schemas.microsoft.com/office/drawing/2014/main" id="{0F251BB6-3208-4F5B-A235-32AD758B00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70104" y="325175"/>
            <a:ext cx="279602" cy="2825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群組 40">
            <a:extLst>
              <a:ext uri="{FF2B5EF4-FFF2-40B4-BE49-F238E27FC236}">
                <a16:creationId xmlns:a16="http://schemas.microsoft.com/office/drawing/2014/main" id="{DD5DED73-8104-4C64-93C8-BBF81BA25586}"/>
              </a:ext>
            </a:extLst>
          </p:cNvPr>
          <p:cNvGrpSpPr/>
          <p:nvPr/>
        </p:nvGrpSpPr>
        <p:grpSpPr>
          <a:xfrm>
            <a:off x="3465628" y="113575"/>
            <a:ext cx="3478047" cy="534722"/>
            <a:chOff x="3465628" y="74334"/>
            <a:chExt cx="3478047" cy="534722"/>
          </a:xfrm>
        </p:grpSpPr>
        <p:pic>
          <p:nvPicPr>
            <p:cNvPr id="177" name="圖片 176">
              <a:extLst>
                <a:ext uri="{FF2B5EF4-FFF2-40B4-BE49-F238E27FC236}">
                  <a16:creationId xmlns:a16="http://schemas.microsoft.com/office/drawing/2014/main" id="{2F96E448-83F4-4DAC-B926-DCDE11F2A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465628" y="74334"/>
              <a:ext cx="257310" cy="257310"/>
            </a:xfrm>
            <a:prstGeom prst="rect">
              <a:avLst/>
            </a:prstGeom>
          </p:spPr>
        </p:pic>
        <p:pic>
          <p:nvPicPr>
            <p:cNvPr id="183" name="圖片 182">
              <a:extLst>
                <a:ext uri="{FF2B5EF4-FFF2-40B4-BE49-F238E27FC236}">
                  <a16:creationId xmlns:a16="http://schemas.microsoft.com/office/drawing/2014/main" id="{3E6727DA-5349-42B7-BECE-EC4A0A6A6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465628" y="351746"/>
              <a:ext cx="257310" cy="257310"/>
            </a:xfrm>
            <a:prstGeom prst="rect">
              <a:avLst/>
            </a:prstGeom>
          </p:spPr>
        </p:pic>
        <p:pic>
          <p:nvPicPr>
            <p:cNvPr id="184" name="圖片 183">
              <a:extLst>
                <a:ext uri="{FF2B5EF4-FFF2-40B4-BE49-F238E27FC236}">
                  <a16:creationId xmlns:a16="http://schemas.microsoft.com/office/drawing/2014/main" id="{E79D55AC-21B2-4B65-B7D9-E20D4DBF0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091056" y="74334"/>
              <a:ext cx="257310" cy="257310"/>
            </a:xfrm>
            <a:prstGeom prst="rect">
              <a:avLst/>
            </a:prstGeom>
          </p:spPr>
        </p:pic>
        <p:pic>
          <p:nvPicPr>
            <p:cNvPr id="186" name="圖片 185">
              <a:extLst>
                <a:ext uri="{FF2B5EF4-FFF2-40B4-BE49-F238E27FC236}">
                  <a16:creationId xmlns:a16="http://schemas.microsoft.com/office/drawing/2014/main" id="{560427B0-0CD4-4FA4-8CE1-E6833C71A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091056" y="351746"/>
              <a:ext cx="257310" cy="257310"/>
            </a:xfrm>
            <a:prstGeom prst="rect">
              <a:avLst/>
            </a:prstGeom>
          </p:spPr>
        </p:pic>
        <p:sp>
          <p:nvSpPr>
            <p:cNvPr id="188" name="文字方塊 187">
              <a:extLst>
                <a:ext uri="{FF2B5EF4-FFF2-40B4-BE49-F238E27FC236}">
                  <a16:creationId xmlns:a16="http://schemas.microsoft.com/office/drawing/2014/main" id="{3E56B659-0B34-4421-9D51-35D2CCC63DCE}"/>
                </a:ext>
              </a:extLst>
            </p:cNvPr>
            <p:cNvSpPr txBox="1"/>
            <p:nvPr/>
          </p:nvSpPr>
          <p:spPr>
            <a:xfrm>
              <a:off x="3711955" y="79879"/>
              <a:ext cx="13131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Parameter_xxx.cs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  <p:sp>
          <p:nvSpPr>
            <p:cNvPr id="189" name="文字方塊 188">
              <a:extLst>
                <a:ext uri="{FF2B5EF4-FFF2-40B4-BE49-F238E27FC236}">
                  <a16:creationId xmlns:a16="http://schemas.microsoft.com/office/drawing/2014/main" id="{09545EAD-6894-4D7C-9E36-86C2904C2042}"/>
                </a:ext>
              </a:extLst>
            </p:cNvPr>
            <p:cNvSpPr txBox="1"/>
            <p:nvPr/>
          </p:nvSpPr>
          <p:spPr>
            <a:xfrm>
              <a:off x="3711955" y="357291"/>
              <a:ext cx="13131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VariableX_xxx.cs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  <p:sp>
          <p:nvSpPr>
            <p:cNvPr id="191" name="文字方塊 190">
              <a:extLst>
                <a:ext uri="{FF2B5EF4-FFF2-40B4-BE49-F238E27FC236}">
                  <a16:creationId xmlns:a16="http://schemas.microsoft.com/office/drawing/2014/main" id="{CC7AF9B4-159B-4656-8340-D76A4075A045}"/>
                </a:ext>
              </a:extLst>
            </p:cNvPr>
            <p:cNvSpPr txBox="1"/>
            <p:nvPr/>
          </p:nvSpPr>
          <p:spPr>
            <a:xfrm>
              <a:off x="5348366" y="79879"/>
              <a:ext cx="13837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Constraint_xxx.cs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  <p:sp>
          <p:nvSpPr>
            <p:cNvPr id="192" name="文字方塊 191">
              <a:extLst>
                <a:ext uri="{FF2B5EF4-FFF2-40B4-BE49-F238E27FC236}">
                  <a16:creationId xmlns:a16="http://schemas.microsoft.com/office/drawing/2014/main" id="{DBB1E7C6-B8CE-4726-BE55-9A3DA29B2179}"/>
                </a:ext>
              </a:extLst>
            </p:cNvPr>
            <p:cNvSpPr txBox="1"/>
            <p:nvPr/>
          </p:nvSpPr>
          <p:spPr>
            <a:xfrm>
              <a:off x="5348366" y="357291"/>
              <a:ext cx="159530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ObjectiveFunction.cs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</p:grpSp>
      <p:pic>
        <p:nvPicPr>
          <p:cNvPr id="193" name="圖片 192">
            <a:extLst>
              <a:ext uri="{FF2B5EF4-FFF2-40B4-BE49-F238E27FC236}">
                <a16:creationId xmlns:a16="http://schemas.microsoft.com/office/drawing/2014/main" id="{81CD8D0A-DF34-4C57-8B9A-F85F80B6095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50825" y="836182"/>
            <a:ext cx="655448" cy="65544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9A2412B-90AE-4BC8-B968-AE056BC5B8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658" y="3154816"/>
            <a:ext cx="3019108" cy="1284527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9E6AA38E-C471-4E9D-B9E7-CBF8504AA54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11291"/>
          <a:stretch/>
        </p:blipFill>
        <p:spPr>
          <a:xfrm>
            <a:off x="269430" y="1570706"/>
            <a:ext cx="3024336" cy="1229644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ECEC7125-B232-40F7-8810-60046F19164E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48081"/>
          <a:stretch/>
        </p:blipFill>
        <p:spPr>
          <a:xfrm>
            <a:off x="270454" y="4466635"/>
            <a:ext cx="3023312" cy="355570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D8D24504-8BFF-4DDD-8536-89253C51A5E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26364" y="2668021"/>
            <a:ext cx="3672526" cy="215030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455426F-B65B-4321-A15A-935A2EAE97FF}"/>
                  </a:ext>
                </a:extLst>
              </p:cNvPr>
              <p:cNvSpPr txBox="1"/>
              <p:nvPr/>
            </p:nvSpPr>
            <p:spPr>
              <a:xfrm>
                <a:off x="823207" y="905552"/>
                <a:ext cx="1216487" cy="3720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𝑆h𝑖𝑓𝑡𝐷𝑒𝑚𝑎𝑛𝑑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455426F-B65B-4321-A15A-935A2EAE9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207" y="905552"/>
                <a:ext cx="1216487" cy="37209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文字方塊 202">
                <a:extLst>
                  <a:ext uri="{FF2B5EF4-FFF2-40B4-BE49-F238E27FC236}">
                    <a16:creationId xmlns:a16="http://schemas.microsoft.com/office/drawing/2014/main" id="{0623D123-F245-4478-85EE-16B7B56856EE}"/>
                  </a:ext>
                </a:extLst>
              </p:cNvPr>
              <p:cNvSpPr txBox="1"/>
              <p:nvPr/>
            </p:nvSpPr>
            <p:spPr>
              <a:xfrm>
                <a:off x="1881348" y="981369"/>
                <a:ext cx="1441613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1050" dirty="0"/>
                  <a:t>日期 </a:t>
                </a:r>
                <a14:m>
                  <m:oMath xmlns:m="http://schemas.openxmlformats.org/officeDocument/2006/math">
                    <m:r>
                      <a:rPr lang="en-US" altLang="zh-TW" sz="105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TW" altLang="en-US" sz="1050" dirty="0"/>
                  <a:t> 班別 </a:t>
                </a:r>
                <a14:m>
                  <m:oMath xmlns:m="http://schemas.openxmlformats.org/officeDocument/2006/math">
                    <m:r>
                      <a:rPr lang="en-US" altLang="zh-TW" sz="1050" i="1" dirty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TW" altLang="en-US" sz="1050" i="0" dirty="0">
                    <a:latin typeface="+mj-lt"/>
                  </a:rPr>
                  <a:t> 需求量</a:t>
                </a:r>
                <a:endParaRPr lang="zh-TW" altLang="en-US" sz="1050" dirty="0"/>
              </a:p>
            </p:txBody>
          </p:sp>
        </mc:Choice>
        <mc:Fallback>
          <p:sp>
            <p:nvSpPr>
              <p:cNvPr id="203" name="文字方塊 202">
                <a:extLst>
                  <a:ext uri="{FF2B5EF4-FFF2-40B4-BE49-F238E27FC236}">
                    <a16:creationId xmlns:a16="http://schemas.microsoft.com/office/drawing/2014/main" id="{0623D123-F245-4478-85EE-16B7B5685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1348" y="981369"/>
                <a:ext cx="1441613" cy="253916"/>
              </a:xfrm>
              <a:prstGeom prst="rect">
                <a:avLst/>
              </a:prstGeom>
              <a:blipFill>
                <a:blip r:embed="rId12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" name="箭號: 向右 205">
            <a:extLst>
              <a:ext uri="{FF2B5EF4-FFF2-40B4-BE49-F238E27FC236}">
                <a16:creationId xmlns:a16="http://schemas.microsoft.com/office/drawing/2014/main" id="{800907BD-924B-4C14-833C-035E402FADBA}"/>
              </a:ext>
            </a:extLst>
          </p:cNvPr>
          <p:cNvSpPr/>
          <p:nvPr/>
        </p:nvSpPr>
        <p:spPr>
          <a:xfrm rot="5400000">
            <a:off x="1559859" y="2843583"/>
            <a:ext cx="385800" cy="29933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1" name="文字方塊 220">
            <a:extLst>
              <a:ext uri="{FF2B5EF4-FFF2-40B4-BE49-F238E27FC236}">
                <a16:creationId xmlns:a16="http://schemas.microsoft.com/office/drawing/2014/main" id="{B15C5D5F-4208-4D33-A325-03EB1CB2B341}"/>
              </a:ext>
            </a:extLst>
          </p:cNvPr>
          <p:cNvSpPr txBox="1"/>
          <p:nvPr/>
        </p:nvSpPr>
        <p:spPr>
          <a:xfrm>
            <a:off x="2536856" y="1307902"/>
            <a:ext cx="87716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變數設計</a:t>
            </a:r>
          </a:p>
        </p:txBody>
      </p:sp>
      <p:sp>
        <p:nvSpPr>
          <p:cNvPr id="222" name="文字方塊 221">
            <a:extLst>
              <a:ext uri="{FF2B5EF4-FFF2-40B4-BE49-F238E27FC236}">
                <a16:creationId xmlns:a16="http://schemas.microsoft.com/office/drawing/2014/main" id="{8FD8D7A4-EF68-48B2-B63C-EBA06AF3BBFB}"/>
              </a:ext>
            </a:extLst>
          </p:cNvPr>
          <p:cNvSpPr txBox="1"/>
          <p:nvPr/>
        </p:nvSpPr>
        <p:spPr>
          <a:xfrm>
            <a:off x="2147745" y="2879426"/>
            <a:ext cx="122341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自動生成類別</a:t>
            </a:r>
          </a:p>
        </p:txBody>
      </p:sp>
      <p:sp>
        <p:nvSpPr>
          <p:cNvPr id="224" name="文字方塊 223">
            <a:extLst>
              <a:ext uri="{FF2B5EF4-FFF2-40B4-BE49-F238E27FC236}">
                <a16:creationId xmlns:a16="http://schemas.microsoft.com/office/drawing/2014/main" id="{8A0C1A25-27FF-4802-B4F8-14FF1365FE82}"/>
              </a:ext>
            </a:extLst>
          </p:cNvPr>
          <p:cNvSpPr txBox="1"/>
          <p:nvPr/>
        </p:nvSpPr>
        <p:spPr>
          <a:xfrm>
            <a:off x="5533675" y="2420525"/>
            <a:ext cx="206018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/>
              <a:t>DataLoad</a:t>
            </a:r>
            <a:r>
              <a:rPr lang="zh-TW" altLang="en-US" b="1" dirty="0"/>
              <a:t> 建立參數資料</a:t>
            </a:r>
            <a:endParaRPr lang="en-US" altLang="zh-TW" b="1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BD722E1-8394-43FB-861F-5FB153135CDF}"/>
              </a:ext>
            </a:extLst>
          </p:cNvPr>
          <p:cNvSpPr/>
          <p:nvPr/>
        </p:nvSpPr>
        <p:spPr>
          <a:xfrm>
            <a:off x="4767263" y="4270375"/>
            <a:ext cx="561976" cy="6667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87172CA-FB8E-444B-B134-4EFB2B416821}"/>
              </a:ext>
            </a:extLst>
          </p:cNvPr>
          <p:cNvSpPr/>
          <p:nvPr/>
        </p:nvSpPr>
        <p:spPr>
          <a:xfrm>
            <a:off x="1403648" y="3686175"/>
            <a:ext cx="606127" cy="10953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03005A94-A819-4D7E-A7F4-5659402F817F}"/>
              </a:ext>
            </a:extLst>
          </p:cNvPr>
          <p:cNvCxnSpPr>
            <a:cxnSpLocks/>
            <a:stCxn id="29" idx="3"/>
            <a:endCxn id="27" idx="1"/>
          </p:cNvCxnSpPr>
          <p:nvPr/>
        </p:nvCxnSpPr>
        <p:spPr>
          <a:xfrm>
            <a:off x="2009775" y="3740944"/>
            <a:ext cx="2757488" cy="562769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文字方塊 225">
            <a:extLst>
              <a:ext uri="{FF2B5EF4-FFF2-40B4-BE49-F238E27FC236}">
                <a16:creationId xmlns:a16="http://schemas.microsoft.com/office/drawing/2014/main" id="{0BFDB638-BED2-4041-AE97-1DC8F127B842}"/>
              </a:ext>
            </a:extLst>
          </p:cNvPr>
          <p:cNvSpPr txBox="1"/>
          <p:nvPr/>
        </p:nvSpPr>
        <p:spPr>
          <a:xfrm>
            <a:off x="6696196" y="1984971"/>
            <a:ext cx="87716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讀取資料</a:t>
            </a:r>
            <a:endParaRPr lang="en-US" altLang="zh-TW" b="1" dirty="0"/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C1B0DB37-986F-4BEA-88B2-08F834691449}"/>
              </a:ext>
            </a:extLst>
          </p:cNvPr>
          <p:cNvSpPr/>
          <p:nvPr/>
        </p:nvSpPr>
        <p:spPr>
          <a:xfrm>
            <a:off x="5363695" y="4270375"/>
            <a:ext cx="561976" cy="6667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9" name="圖片 48">
            <a:extLst>
              <a:ext uri="{FF2B5EF4-FFF2-40B4-BE49-F238E27FC236}">
                <a16:creationId xmlns:a16="http://schemas.microsoft.com/office/drawing/2014/main" id="{DA99425A-744C-4856-9F27-83084E1B0E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51265" y="1607200"/>
            <a:ext cx="1156220" cy="1124971"/>
          </a:xfrm>
          <a:prstGeom prst="rect">
            <a:avLst/>
          </a:prstGeom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63A165FF-34DA-4601-A086-C2BA787A38E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26364" y="1040161"/>
            <a:ext cx="3672526" cy="938210"/>
          </a:xfrm>
          <a:prstGeom prst="rect">
            <a:avLst/>
          </a:prstGeom>
        </p:spPr>
      </p:pic>
      <p:pic>
        <p:nvPicPr>
          <p:cNvPr id="54" name="圖片 53">
            <a:extLst>
              <a:ext uri="{FF2B5EF4-FFF2-40B4-BE49-F238E27FC236}">
                <a16:creationId xmlns:a16="http://schemas.microsoft.com/office/drawing/2014/main" id="{24EF2474-AC5E-454D-8E35-00ED72E4253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26364" y="2275233"/>
            <a:ext cx="3672526" cy="145316"/>
          </a:xfrm>
          <a:prstGeom prst="rect">
            <a:avLst/>
          </a:prstGeom>
        </p:spPr>
      </p:pic>
      <p:sp>
        <p:nvSpPr>
          <p:cNvPr id="55" name="矩形 54">
            <a:extLst>
              <a:ext uri="{FF2B5EF4-FFF2-40B4-BE49-F238E27FC236}">
                <a16:creationId xmlns:a16="http://schemas.microsoft.com/office/drawing/2014/main" id="{311533F8-1D3D-44E5-819E-85DFCA41B416}"/>
              </a:ext>
            </a:extLst>
          </p:cNvPr>
          <p:cNvSpPr/>
          <p:nvPr/>
        </p:nvSpPr>
        <p:spPr>
          <a:xfrm>
            <a:off x="6516216" y="2275233"/>
            <a:ext cx="933490" cy="1453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21C3460B-E2B1-48B4-8B87-7BE0ACB7E28E}"/>
              </a:ext>
            </a:extLst>
          </p:cNvPr>
          <p:cNvCxnSpPr>
            <a:cxnSpLocks/>
            <a:stCxn id="55" idx="3"/>
          </p:cNvCxnSpPr>
          <p:nvPr/>
        </p:nvCxnSpPr>
        <p:spPr>
          <a:xfrm flipV="1">
            <a:off x="7449706" y="2211710"/>
            <a:ext cx="301559" cy="136181"/>
          </a:xfrm>
          <a:prstGeom prst="line">
            <a:avLst/>
          </a:prstGeom>
          <a:ln w="127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矩形 238">
            <a:extLst>
              <a:ext uri="{FF2B5EF4-FFF2-40B4-BE49-F238E27FC236}">
                <a16:creationId xmlns:a16="http://schemas.microsoft.com/office/drawing/2014/main" id="{5E8AB97D-CB3F-418C-AEE0-3C2A43D27F6B}"/>
              </a:ext>
            </a:extLst>
          </p:cNvPr>
          <p:cNvSpPr/>
          <p:nvPr/>
        </p:nvSpPr>
        <p:spPr>
          <a:xfrm>
            <a:off x="3849220" y="2295525"/>
            <a:ext cx="837080" cy="9366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0" name="直線單箭頭接點 239">
            <a:extLst>
              <a:ext uri="{FF2B5EF4-FFF2-40B4-BE49-F238E27FC236}">
                <a16:creationId xmlns:a16="http://schemas.microsoft.com/office/drawing/2014/main" id="{0E21BF71-D230-4347-8746-0898E550AE4C}"/>
              </a:ext>
            </a:extLst>
          </p:cNvPr>
          <p:cNvCxnSpPr>
            <a:cxnSpLocks/>
            <a:stCxn id="231" idx="0"/>
            <a:endCxn id="239" idx="2"/>
          </p:cNvCxnSpPr>
          <p:nvPr/>
        </p:nvCxnSpPr>
        <p:spPr>
          <a:xfrm flipH="1" flipV="1">
            <a:off x="4267760" y="2389188"/>
            <a:ext cx="1376923" cy="1881187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文字方塊 240">
            <a:extLst>
              <a:ext uri="{FF2B5EF4-FFF2-40B4-BE49-F238E27FC236}">
                <a16:creationId xmlns:a16="http://schemas.microsoft.com/office/drawing/2014/main" id="{B6339176-325F-4B1B-93C5-2D8BBAA549F5}"/>
              </a:ext>
            </a:extLst>
          </p:cNvPr>
          <p:cNvSpPr txBox="1"/>
          <p:nvPr/>
        </p:nvSpPr>
        <p:spPr>
          <a:xfrm>
            <a:off x="6718585" y="754573"/>
            <a:ext cx="87716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讀取結果</a:t>
            </a:r>
            <a:endParaRPr lang="en-US" altLang="zh-TW" b="1" dirty="0"/>
          </a:p>
        </p:txBody>
      </p:sp>
      <p:sp>
        <p:nvSpPr>
          <p:cNvPr id="255" name="文字版面配置區 5">
            <a:extLst>
              <a:ext uri="{FF2B5EF4-FFF2-40B4-BE49-F238E27FC236}">
                <a16:creationId xmlns:a16="http://schemas.microsoft.com/office/drawing/2014/main" id="{5614067A-ED87-44DA-A1E7-E397E1C6E0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512" y="4855534"/>
            <a:ext cx="7657256" cy="273600"/>
          </a:xfrm>
        </p:spPr>
        <p:txBody>
          <a:bodyPr/>
          <a:lstStyle/>
          <a:p>
            <a:r>
              <a:rPr lang="zh-TW" altLang="en-US" dirty="0"/>
              <a:t>補充：</a:t>
            </a:r>
            <a:r>
              <a:rPr lang="zh-TW" altLang="en-US" b="0" dirty="0"/>
              <a:t>參數與集合資料的讀取與預處理應在 </a:t>
            </a:r>
            <a:r>
              <a:rPr lang="en-US" altLang="zh-TW" b="0" dirty="0" err="1"/>
              <a:t>Dataload.cs</a:t>
            </a:r>
            <a:r>
              <a:rPr lang="zh-TW" altLang="en-US" b="0" dirty="0"/>
              <a:t> 內完成，以利限制式與目標式設計時引用</a:t>
            </a:r>
            <a:endParaRPr lang="en-US" altLang="zh-TW" b="0" dirty="0"/>
          </a:p>
        </p:txBody>
      </p:sp>
      <p:pic>
        <p:nvPicPr>
          <p:cNvPr id="258" name="圖片 257">
            <a:extLst>
              <a:ext uri="{FF2B5EF4-FFF2-40B4-BE49-F238E27FC236}">
                <a16:creationId xmlns:a16="http://schemas.microsoft.com/office/drawing/2014/main" id="{E939D0F5-EA83-4B06-84A8-F0938AC9604B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872542" y="2025029"/>
            <a:ext cx="307922" cy="307922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173273C1-7A04-4E29-AF93-C38CAD360B07}"/>
              </a:ext>
            </a:extLst>
          </p:cNvPr>
          <p:cNvSpPr/>
          <p:nvPr/>
        </p:nvSpPr>
        <p:spPr>
          <a:xfrm>
            <a:off x="7870452" y="1747913"/>
            <a:ext cx="1013198" cy="10628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59" name="圖片 258">
            <a:extLst>
              <a:ext uri="{FF2B5EF4-FFF2-40B4-BE49-F238E27FC236}">
                <a16:creationId xmlns:a16="http://schemas.microsoft.com/office/drawing/2014/main" id="{7F3914C8-F448-45F7-AE27-8CBCDB78C47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1424" t="50512" r="29219" b="28725"/>
          <a:stretch/>
        </p:blipFill>
        <p:spPr>
          <a:xfrm>
            <a:off x="7600485" y="2926942"/>
            <a:ext cx="1490098" cy="2667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</p:pic>
      <p:sp>
        <p:nvSpPr>
          <p:cNvPr id="67" name="矩形 66">
            <a:extLst>
              <a:ext uri="{FF2B5EF4-FFF2-40B4-BE49-F238E27FC236}">
                <a16:creationId xmlns:a16="http://schemas.microsoft.com/office/drawing/2014/main" id="{0F770C22-E154-4E36-BBFE-4830FC4B4F34}"/>
              </a:ext>
            </a:extLst>
          </p:cNvPr>
          <p:cNvSpPr/>
          <p:nvPr/>
        </p:nvSpPr>
        <p:spPr>
          <a:xfrm>
            <a:off x="927100" y="3826669"/>
            <a:ext cx="1397000" cy="24368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6AB7E896-3DD5-41CE-B95A-E4B609D07D76}"/>
              </a:ext>
            </a:extLst>
          </p:cNvPr>
          <p:cNvSpPr txBox="1"/>
          <p:nvPr/>
        </p:nvSpPr>
        <p:spPr>
          <a:xfrm>
            <a:off x="7783164" y="3238372"/>
            <a:ext cx="122341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b="1" dirty="0"/>
              <a:t>欄位相互對應</a:t>
            </a:r>
          </a:p>
        </p:txBody>
      </p:sp>
    </p:spTree>
    <p:extLst>
      <p:ext uri="{BB962C8B-B14F-4D97-AF65-F5344CB8AC3E}">
        <p14:creationId xmlns:p14="http://schemas.microsoft.com/office/powerpoint/2010/main" val="273855630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F0F85A-D8BE-489F-8A26-3F9E8BB6D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735" y="421446"/>
            <a:ext cx="7605553" cy="264977"/>
          </a:xfrm>
        </p:spPr>
        <p:txBody>
          <a:bodyPr/>
          <a:lstStyle/>
          <a:p>
            <a:r>
              <a:rPr lang="zh-TW" altLang="en-US" dirty="0"/>
              <a:t>框架說明｜</a:t>
            </a:r>
            <a:r>
              <a:rPr lang="zh-TW" altLang="en-US" b="0" dirty="0"/>
              <a:t>變數設計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B04F98-C67E-4BB2-A8FC-D45C046C6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Dev. Framework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04602B-3F3A-44D6-8FC7-8D6198579B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/>
              <a:t>02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BDA344-228E-467F-9CAE-213808D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B1EDA-9669-4099-AA83-49C2D8E17945}" type="slidenum">
              <a:rPr lang="zh-TW" altLang="en-US" smtClean="0"/>
              <a:t>19</a:t>
            </a:fld>
            <a:endParaRPr lang="zh-TW" altLang="en-US" dirty="0"/>
          </a:p>
        </p:txBody>
      </p:sp>
      <p:sp>
        <p:nvSpPr>
          <p:cNvPr id="164" name="矩形: 圓角 163">
            <a:extLst>
              <a:ext uri="{FF2B5EF4-FFF2-40B4-BE49-F238E27FC236}">
                <a16:creationId xmlns:a16="http://schemas.microsoft.com/office/drawing/2014/main" id="{3B18F373-5725-419B-86E0-3173A21C04C8}"/>
              </a:ext>
            </a:extLst>
          </p:cNvPr>
          <p:cNvSpPr/>
          <p:nvPr/>
        </p:nvSpPr>
        <p:spPr>
          <a:xfrm>
            <a:off x="7591480" y="55476"/>
            <a:ext cx="638640" cy="63052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69" name="矩形: 圓角 168">
            <a:extLst>
              <a:ext uri="{FF2B5EF4-FFF2-40B4-BE49-F238E27FC236}">
                <a16:creationId xmlns:a16="http://schemas.microsoft.com/office/drawing/2014/main" id="{1B576F4F-BF98-46A6-818D-51028FD7F956}"/>
              </a:ext>
            </a:extLst>
          </p:cNvPr>
          <p:cNvSpPr/>
          <p:nvPr/>
        </p:nvSpPr>
        <p:spPr>
          <a:xfrm>
            <a:off x="7591480" y="55476"/>
            <a:ext cx="638640" cy="630523"/>
          </a:xfrm>
          <a:prstGeom prst="roundRect">
            <a:avLst/>
          </a:prstGeom>
          <a:solidFill>
            <a:srgbClr val="F5F5F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70" name="文字方塊 169">
            <a:extLst>
              <a:ext uri="{FF2B5EF4-FFF2-40B4-BE49-F238E27FC236}">
                <a16:creationId xmlns:a16="http://schemas.microsoft.com/office/drawing/2014/main" id="{32539D90-FCF4-4A82-A8E9-D16BAB7EC16E}"/>
              </a:ext>
            </a:extLst>
          </p:cNvPr>
          <p:cNvSpPr txBox="1"/>
          <p:nvPr/>
        </p:nvSpPr>
        <p:spPr>
          <a:xfrm>
            <a:off x="7602651" y="123338"/>
            <a:ext cx="62746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zh-TW" altLang="en-US" sz="600" b="1" dirty="0">
                <a:solidFill>
                  <a:srgbClr val="7030A0"/>
                </a:solidFill>
                <a:latin typeface="+mn-ea"/>
              </a:rPr>
              <a:t>求解器引擎</a:t>
            </a:r>
          </a:p>
        </p:txBody>
      </p:sp>
      <p:cxnSp>
        <p:nvCxnSpPr>
          <p:cNvPr id="171" name="直線接點 170">
            <a:extLst>
              <a:ext uri="{FF2B5EF4-FFF2-40B4-BE49-F238E27FC236}">
                <a16:creationId xmlns:a16="http://schemas.microsoft.com/office/drawing/2014/main" id="{C025DC3F-BBDF-46B8-8547-51E52A619152}"/>
              </a:ext>
            </a:extLst>
          </p:cNvPr>
          <p:cNvCxnSpPr>
            <a:cxnSpLocks/>
          </p:cNvCxnSpPr>
          <p:nvPr/>
        </p:nvCxnSpPr>
        <p:spPr>
          <a:xfrm>
            <a:off x="7664360" y="275996"/>
            <a:ext cx="50405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3" name="圖片 172">
            <a:extLst>
              <a:ext uri="{FF2B5EF4-FFF2-40B4-BE49-F238E27FC236}">
                <a16:creationId xmlns:a16="http://schemas.microsoft.com/office/drawing/2014/main" id="{0F251BB6-3208-4F5B-A235-32AD758B00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76584" y="325175"/>
            <a:ext cx="279602" cy="2825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群組 40">
            <a:extLst>
              <a:ext uri="{FF2B5EF4-FFF2-40B4-BE49-F238E27FC236}">
                <a16:creationId xmlns:a16="http://schemas.microsoft.com/office/drawing/2014/main" id="{DD5DED73-8104-4C64-93C8-BBF81BA25586}"/>
              </a:ext>
            </a:extLst>
          </p:cNvPr>
          <p:cNvGrpSpPr/>
          <p:nvPr/>
        </p:nvGrpSpPr>
        <p:grpSpPr>
          <a:xfrm>
            <a:off x="3465628" y="113575"/>
            <a:ext cx="3478047" cy="534722"/>
            <a:chOff x="3465628" y="74334"/>
            <a:chExt cx="3478047" cy="534722"/>
          </a:xfrm>
        </p:grpSpPr>
        <p:pic>
          <p:nvPicPr>
            <p:cNvPr id="177" name="圖片 176">
              <a:extLst>
                <a:ext uri="{FF2B5EF4-FFF2-40B4-BE49-F238E27FC236}">
                  <a16:creationId xmlns:a16="http://schemas.microsoft.com/office/drawing/2014/main" id="{2F96E448-83F4-4DAC-B926-DCDE11F2A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465628" y="74334"/>
              <a:ext cx="257310" cy="257310"/>
            </a:xfrm>
            <a:prstGeom prst="rect">
              <a:avLst/>
            </a:prstGeom>
          </p:spPr>
        </p:pic>
        <p:pic>
          <p:nvPicPr>
            <p:cNvPr id="183" name="圖片 182">
              <a:extLst>
                <a:ext uri="{FF2B5EF4-FFF2-40B4-BE49-F238E27FC236}">
                  <a16:creationId xmlns:a16="http://schemas.microsoft.com/office/drawing/2014/main" id="{3E6727DA-5349-42B7-BECE-EC4A0A6A6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465628" y="351746"/>
              <a:ext cx="257310" cy="257310"/>
            </a:xfrm>
            <a:prstGeom prst="rect">
              <a:avLst/>
            </a:prstGeom>
          </p:spPr>
        </p:pic>
        <p:pic>
          <p:nvPicPr>
            <p:cNvPr id="184" name="圖片 183">
              <a:extLst>
                <a:ext uri="{FF2B5EF4-FFF2-40B4-BE49-F238E27FC236}">
                  <a16:creationId xmlns:a16="http://schemas.microsoft.com/office/drawing/2014/main" id="{E79D55AC-21B2-4B65-B7D9-E20D4DBF0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091056" y="74334"/>
              <a:ext cx="257310" cy="257310"/>
            </a:xfrm>
            <a:prstGeom prst="rect">
              <a:avLst/>
            </a:prstGeom>
          </p:spPr>
        </p:pic>
        <p:pic>
          <p:nvPicPr>
            <p:cNvPr id="186" name="圖片 185">
              <a:extLst>
                <a:ext uri="{FF2B5EF4-FFF2-40B4-BE49-F238E27FC236}">
                  <a16:creationId xmlns:a16="http://schemas.microsoft.com/office/drawing/2014/main" id="{560427B0-0CD4-4FA4-8CE1-E6833C71A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091056" y="351746"/>
              <a:ext cx="257310" cy="257310"/>
            </a:xfrm>
            <a:prstGeom prst="rect">
              <a:avLst/>
            </a:prstGeom>
          </p:spPr>
        </p:pic>
        <p:sp>
          <p:nvSpPr>
            <p:cNvPr id="188" name="文字方塊 187">
              <a:extLst>
                <a:ext uri="{FF2B5EF4-FFF2-40B4-BE49-F238E27FC236}">
                  <a16:creationId xmlns:a16="http://schemas.microsoft.com/office/drawing/2014/main" id="{3E56B659-0B34-4421-9D51-35D2CCC63DCE}"/>
                </a:ext>
              </a:extLst>
            </p:cNvPr>
            <p:cNvSpPr txBox="1"/>
            <p:nvPr/>
          </p:nvSpPr>
          <p:spPr>
            <a:xfrm>
              <a:off x="3711955" y="79879"/>
              <a:ext cx="13131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Parameter_xxx.cs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  <p:sp>
          <p:nvSpPr>
            <p:cNvPr id="189" name="文字方塊 188">
              <a:extLst>
                <a:ext uri="{FF2B5EF4-FFF2-40B4-BE49-F238E27FC236}">
                  <a16:creationId xmlns:a16="http://schemas.microsoft.com/office/drawing/2014/main" id="{09545EAD-6894-4D7C-9E36-86C2904C2042}"/>
                </a:ext>
              </a:extLst>
            </p:cNvPr>
            <p:cNvSpPr txBox="1"/>
            <p:nvPr/>
          </p:nvSpPr>
          <p:spPr>
            <a:xfrm>
              <a:off x="3711955" y="357291"/>
              <a:ext cx="13131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VariableX_xxx.cs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  <p:sp>
          <p:nvSpPr>
            <p:cNvPr id="191" name="文字方塊 190">
              <a:extLst>
                <a:ext uri="{FF2B5EF4-FFF2-40B4-BE49-F238E27FC236}">
                  <a16:creationId xmlns:a16="http://schemas.microsoft.com/office/drawing/2014/main" id="{CC7AF9B4-159B-4656-8340-D76A4075A045}"/>
                </a:ext>
              </a:extLst>
            </p:cNvPr>
            <p:cNvSpPr txBox="1"/>
            <p:nvPr/>
          </p:nvSpPr>
          <p:spPr>
            <a:xfrm>
              <a:off x="5348366" y="79879"/>
              <a:ext cx="13837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Constraint_xxx.cs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  <p:sp>
          <p:nvSpPr>
            <p:cNvPr id="192" name="文字方塊 191">
              <a:extLst>
                <a:ext uri="{FF2B5EF4-FFF2-40B4-BE49-F238E27FC236}">
                  <a16:creationId xmlns:a16="http://schemas.microsoft.com/office/drawing/2014/main" id="{DBB1E7C6-B8CE-4726-BE55-9A3DA29B2179}"/>
                </a:ext>
              </a:extLst>
            </p:cNvPr>
            <p:cNvSpPr txBox="1"/>
            <p:nvPr/>
          </p:nvSpPr>
          <p:spPr>
            <a:xfrm>
              <a:off x="5348366" y="357291"/>
              <a:ext cx="159530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ObjectiveFunction.cs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</p:grpSp>
      <p:pic>
        <p:nvPicPr>
          <p:cNvPr id="31" name="圖片 30">
            <a:extLst>
              <a:ext uri="{FF2B5EF4-FFF2-40B4-BE49-F238E27FC236}">
                <a16:creationId xmlns:a16="http://schemas.microsoft.com/office/drawing/2014/main" id="{021A3403-74FD-4475-B0B1-376D29015DB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7590" t="46280" r="12606" b="17514"/>
          <a:stretch/>
        </p:blipFill>
        <p:spPr>
          <a:xfrm>
            <a:off x="275276" y="1609127"/>
            <a:ext cx="1261994" cy="920751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25FA8730-290B-4DFC-858A-92EE66C7BF0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44" t="13318" r="34593" b="38489"/>
          <a:stretch/>
        </p:blipFill>
        <p:spPr>
          <a:xfrm>
            <a:off x="349543" y="3056737"/>
            <a:ext cx="4012142" cy="122555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5AC4E15-A37A-4754-ABFE-5FB2F13AA54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30035"/>
          <a:stretch/>
        </p:blipFill>
        <p:spPr>
          <a:xfrm>
            <a:off x="4493357" y="3056738"/>
            <a:ext cx="4540773" cy="170789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2A64055-54B5-4F2F-96F6-5D7A2869E1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543" y="4325958"/>
            <a:ext cx="4012142" cy="432941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3E05DAF8-5FCE-4298-9AB3-2923C746C65D}"/>
              </a:ext>
            </a:extLst>
          </p:cNvPr>
          <p:cNvSpPr txBox="1"/>
          <p:nvPr/>
        </p:nvSpPr>
        <p:spPr>
          <a:xfrm>
            <a:off x="3484832" y="2751277"/>
            <a:ext cx="87716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變數設計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9A90F3C6-6B8F-41F5-8D22-618A882F259F}"/>
              </a:ext>
            </a:extLst>
          </p:cNvPr>
          <p:cNvSpPr txBox="1"/>
          <p:nvPr/>
        </p:nvSpPr>
        <p:spPr>
          <a:xfrm>
            <a:off x="7810098" y="2757404"/>
            <a:ext cx="122341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自動生成類別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6542A08-7E35-4333-BBD3-A013829FBCB9}"/>
              </a:ext>
            </a:extLst>
          </p:cNvPr>
          <p:cNvSpPr/>
          <p:nvPr/>
        </p:nvSpPr>
        <p:spPr>
          <a:xfrm>
            <a:off x="275276" y="2139702"/>
            <a:ext cx="1258059" cy="12724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9AA5D869-1490-4483-A38F-1A9D70F69D6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0825" y="836182"/>
            <a:ext cx="655448" cy="655448"/>
          </a:xfrm>
          <a:prstGeom prst="rect">
            <a:avLst/>
          </a:prstGeom>
        </p:spPr>
      </p:pic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103E39B9-433C-4CD8-81EE-9ABF4655FE95}"/>
              </a:ext>
            </a:extLst>
          </p:cNvPr>
          <p:cNvCxnSpPr>
            <a:cxnSpLocks/>
            <a:stCxn id="12" idx="2"/>
            <a:endCxn id="48" idx="0"/>
          </p:cNvCxnSpPr>
          <p:nvPr/>
        </p:nvCxnSpPr>
        <p:spPr>
          <a:xfrm rot="5400000">
            <a:off x="466702" y="2622848"/>
            <a:ext cx="793502" cy="81707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D9014935-0A82-4B2B-9AB7-5F41B5215757}"/>
              </a:ext>
            </a:extLst>
          </p:cNvPr>
          <p:cNvSpPr/>
          <p:nvPr/>
        </p:nvSpPr>
        <p:spPr>
          <a:xfrm>
            <a:off x="362497" y="3060452"/>
            <a:ext cx="920204" cy="12089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DE12F396-E65D-4D97-B82F-36A4463665F4}"/>
                  </a:ext>
                </a:extLst>
              </p:cNvPr>
              <p:cNvSpPr txBox="1"/>
              <p:nvPr/>
            </p:nvSpPr>
            <p:spPr>
              <a:xfrm>
                <a:off x="1756234" y="1788824"/>
                <a:ext cx="1107354" cy="372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𝐴𝑠𝑠𝑖𝑔𝑛𝑚𝑒𝑛𝑡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DE12F396-E65D-4D97-B82F-36A446366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234" y="1788824"/>
                <a:ext cx="1107354" cy="3723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圖片 20">
            <a:extLst>
              <a:ext uri="{FF2B5EF4-FFF2-40B4-BE49-F238E27FC236}">
                <a16:creationId xmlns:a16="http://schemas.microsoft.com/office/drawing/2014/main" id="{8768E635-6701-46D1-B041-E3886FA887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3357" y="1035294"/>
            <a:ext cx="3191991" cy="1738382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2787F01B-F206-4BED-9C2D-B3B3F3FBCF78}"/>
              </a:ext>
            </a:extLst>
          </p:cNvPr>
          <p:cNvSpPr/>
          <p:nvPr/>
        </p:nvSpPr>
        <p:spPr>
          <a:xfrm>
            <a:off x="5833160" y="2030507"/>
            <a:ext cx="1215546" cy="10239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1F2FE2B-D246-4692-A714-BC83A3720B07}"/>
              </a:ext>
            </a:extLst>
          </p:cNvPr>
          <p:cNvSpPr/>
          <p:nvPr/>
        </p:nvSpPr>
        <p:spPr>
          <a:xfrm>
            <a:off x="6169567" y="3928922"/>
            <a:ext cx="942433" cy="11602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5" name="接點: 肘形 54">
            <a:extLst>
              <a:ext uri="{FF2B5EF4-FFF2-40B4-BE49-F238E27FC236}">
                <a16:creationId xmlns:a16="http://schemas.microsoft.com/office/drawing/2014/main" id="{AE9AEAAB-3F08-438D-B294-980CBF5FCBDE}"/>
              </a:ext>
            </a:extLst>
          </p:cNvPr>
          <p:cNvCxnSpPr>
            <a:cxnSpLocks/>
            <a:stCxn id="54" idx="0"/>
            <a:endCxn id="22" idx="2"/>
          </p:cNvCxnSpPr>
          <p:nvPr/>
        </p:nvCxnSpPr>
        <p:spPr>
          <a:xfrm rot="16200000" flipV="1">
            <a:off x="5642849" y="2930986"/>
            <a:ext cx="1796021" cy="199851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97C5ED1A-FC2C-429B-AC6D-A1F8F5CDB191}"/>
              </a:ext>
            </a:extLst>
          </p:cNvPr>
          <p:cNvSpPr txBox="1"/>
          <p:nvPr/>
        </p:nvSpPr>
        <p:spPr>
          <a:xfrm>
            <a:off x="7791272" y="1573873"/>
            <a:ext cx="105028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b="1" dirty="0"/>
              <a:t>方便限制式</a:t>
            </a:r>
            <a:endParaRPr lang="en-US" altLang="zh-TW" b="1" dirty="0"/>
          </a:p>
          <a:p>
            <a:pPr algn="ctr"/>
            <a:r>
              <a:rPr lang="zh-TW" altLang="en-US" b="1" dirty="0"/>
              <a:t>開發時引用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1E2C07E-2B87-48DF-ADAA-D136D0AD7D61}"/>
                  </a:ext>
                </a:extLst>
              </p:cNvPr>
              <p:cNvSpPr txBox="1"/>
              <p:nvPr/>
            </p:nvSpPr>
            <p:spPr>
              <a:xfrm>
                <a:off x="1770465" y="2129179"/>
                <a:ext cx="1854931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1050" dirty="0"/>
                  <a:t>日期 </a:t>
                </a:r>
                <a14:m>
                  <m:oMath xmlns:m="http://schemas.openxmlformats.org/officeDocument/2006/math">
                    <m:r>
                      <a:rPr lang="en-US" altLang="zh-TW" sz="105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TW" altLang="en-US" sz="1050" dirty="0"/>
                  <a:t> 員工 </a:t>
                </a:r>
                <a14:m>
                  <m:oMath xmlns:m="http://schemas.openxmlformats.org/officeDocument/2006/math">
                    <m:r>
                      <a:rPr lang="en-US" altLang="zh-TW" sz="105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zh-TW" sz="1050" dirty="0"/>
                  <a:t> </a:t>
                </a:r>
                <a:r>
                  <a:rPr lang="zh-TW" altLang="en-US" sz="1050" dirty="0"/>
                  <a:t>是否在班別 </a:t>
                </a:r>
                <a14:m>
                  <m:oMath xmlns:m="http://schemas.openxmlformats.org/officeDocument/2006/math">
                    <m:r>
                      <a:rPr lang="en-US" altLang="zh-TW" sz="1050" i="1" dirty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zh-TW" altLang="en-US" sz="1050" dirty="0"/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1E2C07E-2B87-48DF-ADAA-D136D0AD7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465" y="2129179"/>
                <a:ext cx="1854931" cy="253916"/>
              </a:xfrm>
              <a:prstGeom prst="rect">
                <a:avLst/>
              </a:prstGeom>
              <a:blipFill>
                <a:blip r:embed="rId11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5" name="圖片 64">
            <a:extLst>
              <a:ext uri="{FF2B5EF4-FFF2-40B4-BE49-F238E27FC236}">
                <a16:creationId xmlns:a16="http://schemas.microsoft.com/office/drawing/2014/main" id="{BCAB57B8-B611-4A34-8E76-50661DCECD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73419" y="3314825"/>
            <a:ext cx="373833" cy="373833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275BB9B5-AC88-4750-9BE5-4B78942F1F0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67417" y="1107196"/>
            <a:ext cx="257310" cy="257310"/>
          </a:xfrm>
          <a:prstGeom prst="rect">
            <a:avLst/>
          </a:prstGeom>
        </p:spPr>
      </p:pic>
      <p:sp>
        <p:nvSpPr>
          <p:cNvPr id="33" name="箭號: 向右 32">
            <a:extLst>
              <a:ext uri="{FF2B5EF4-FFF2-40B4-BE49-F238E27FC236}">
                <a16:creationId xmlns:a16="http://schemas.microsoft.com/office/drawing/2014/main" id="{08F5A12A-E204-4306-8C3E-C4D7FC474029}"/>
              </a:ext>
            </a:extLst>
          </p:cNvPr>
          <p:cNvSpPr/>
          <p:nvPr/>
        </p:nvSpPr>
        <p:spPr>
          <a:xfrm>
            <a:off x="4247252" y="3885093"/>
            <a:ext cx="385800" cy="29933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矩形: 圓角 79">
            <a:extLst>
              <a:ext uri="{FF2B5EF4-FFF2-40B4-BE49-F238E27FC236}">
                <a16:creationId xmlns:a16="http://schemas.microsoft.com/office/drawing/2014/main" id="{639BC489-7D7C-4D28-9513-0F98DC0710C0}"/>
              </a:ext>
            </a:extLst>
          </p:cNvPr>
          <p:cNvSpPr/>
          <p:nvPr/>
        </p:nvSpPr>
        <p:spPr>
          <a:xfrm>
            <a:off x="8316806" y="55476"/>
            <a:ext cx="638640" cy="63052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81" name="矩形: 圓角 80">
            <a:extLst>
              <a:ext uri="{FF2B5EF4-FFF2-40B4-BE49-F238E27FC236}">
                <a16:creationId xmlns:a16="http://schemas.microsoft.com/office/drawing/2014/main" id="{7A6FD854-7CC8-45BF-A43C-B851B36ED87F}"/>
              </a:ext>
            </a:extLst>
          </p:cNvPr>
          <p:cNvSpPr/>
          <p:nvPr/>
        </p:nvSpPr>
        <p:spPr>
          <a:xfrm>
            <a:off x="8316806" y="55476"/>
            <a:ext cx="638640" cy="630523"/>
          </a:xfrm>
          <a:prstGeom prst="roundRect">
            <a:avLst/>
          </a:prstGeom>
          <a:solidFill>
            <a:srgbClr val="F5F5F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AFEF69E0-74BC-4A69-A3E5-9D36EC11A2A2}"/>
              </a:ext>
            </a:extLst>
          </p:cNvPr>
          <p:cNvSpPr txBox="1"/>
          <p:nvPr/>
        </p:nvSpPr>
        <p:spPr>
          <a:xfrm>
            <a:off x="8327977" y="123338"/>
            <a:ext cx="62746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zh-TW" altLang="en-US" sz="600" b="1" dirty="0">
                <a:solidFill>
                  <a:srgbClr val="7030A0"/>
                </a:solidFill>
                <a:latin typeface="+mn-ea"/>
              </a:rPr>
              <a:t>求解器引擎</a:t>
            </a:r>
          </a:p>
        </p:txBody>
      </p: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7A503D42-24FF-48CD-9A93-6288F92D1267}"/>
              </a:ext>
            </a:extLst>
          </p:cNvPr>
          <p:cNvCxnSpPr>
            <a:cxnSpLocks/>
          </p:cNvCxnSpPr>
          <p:nvPr/>
        </p:nvCxnSpPr>
        <p:spPr>
          <a:xfrm>
            <a:off x="8389686" y="275996"/>
            <a:ext cx="50405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圖片 83">
            <a:extLst>
              <a:ext uri="{FF2B5EF4-FFF2-40B4-BE49-F238E27FC236}">
                <a16:creationId xmlns:a16="http://schemas.microsoft.com/office/drawing/2014/main" id="{E2E64EEC-563B-44F1-B0EB-54855582B0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01910" y="325175"/>
            <a:ext cx="279602" cy="2825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878825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F0F85A-D8BE-489F-8A26-3F9E8BB6D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735" y="421446"/>
            <a:ext cx="7605553" cy="264977"/>
          </a:xfrm>
        </p:spPr>
        <p:txBody>
          <a:bodyPr/>
          <a:lstStyle/>
          <a:p>
            <a:r>
              <a:rPr lang="zh-TW" altLang="en-US" dirty="0"/>
              <a:t>框架說明｜</a:t>
            </a:r>
            <a:r>
              <a:rPr lang="zh-TW" altLang="en-US" b="0" dirty="0"/>
              <a:t>限制式設計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B04F98-C67E-4BB2-A8FC-D45C046C6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Dev. Framework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04602B-3F3A-44D6-8FC7-8D6198579B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/>
              <a:t>02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BDA344-228E-467F-9CAE-213808D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B1EDA-9669-4099-AA83-49C2D8E17945}" type="slidenum">
              <a:rPr lang="zh-TW" altLang="en-US" smtClean="0"/>
              <a:t>20</a:t>
            </a:fld>
            <a:endParaRPr lang="zh-TW" altLang="en-US" dirty="0"/>
          </a:p>
        </p:txBody>
      </p:sp>
      <p:sp>
        <p:nvSpPr>
          <p:cNvPr id="149" name="矩形: 圓角 148">
            <a:extLst>
              <a:ext uri="{FF2B5EF4-FFF2-40B4-BE49-F238E27FC236}">
                <a16:creationId xmlns:a16="http://schemas.microsoft.com/office/drawing/2014/main" id="{FE545425-9B04-4E5D-B091-A6215F3D068F}"/>
              </a:ext>
            </a:extLst>
          </p:cNvPr>
          <p:cNvSpPr/>
          <p:nvPr/>
        </p:nvSpPr>
        <p:spPr>
          <a:xfrm>
            <a:off x="8394870" y="55476"/>
            <a:ext cx="638640" cy="63052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50" name="矩形: 圓角 149">
            <a:extLst>
              <a:ext uri="{FF2B5EF4-FFF2-40B4-BE49-F238E27FC236}">
                <a16:creationId xmlns:a16="http://schemas.microsoft.com/office/drawing/2014/main" id="{758BC960-EED1-4DAD-A1C2-36F036C0079A}"/>
              </a:ext>
            </a:extLst>
          </p:cNvPr>
          <p:cNvSpPr/>
          <p:nvPr/>
        </p:nvSpPr>
        <p:spPr>
          <a:xfrm>
            <a:off x="8394870" y="55476"/>
            <a:ext cx="638640" cy="63052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FCDFF62A-6DF5-44C0-8747-24941E51DF31}"/>
              </a:ext>
            </a:extLst>
          </p:cNvPr>
          <p:cNvSpPr txBox="1"/>
          <p:nvPr/>
        </p:nvSpPr>
        <p:spPr>
          <a:xfrm>
            <a:off x="8454985" y="123338"/>
            <a:ext cx="52958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en-US" altLang="zh-TW" sz="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CSV</a:t>
            </a:r>
            <a:r>
              <a:rPr lang="zh-TW" altLang="en-US" sz="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 管理</a:t>
            </a:r>
            <a:endParaRPr lang="en-US" altLang="zh-TW" sz="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152" name="直線接點 151">
            <a:extLst>
              <a:ext uri="{FF2B5EF4-FFF2-40B4-BE49-F238E27FC236}">
                <a16:creationId xmlns:a16="http://schemas.microsoft.com/office/drawing/2014/main" id="{60C32A9E-2D1E-491A-A012-7AF2103BA5FC}"/>
              </a:ext>
            </a:extLst>
          </p:cNvPr>
          <p:cNvCxnSpPr>
            <a:cxnSpLocks/>
          </p:cNvCxnSpPr>
          <p:nvPr/>
        </p:nvCxnSpPr>
        <p:spPr>
          <a:xfrm>
            <a:off x="8467751" y="275996"/>
            <a:ext cx="50405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" name="圖片 152">
            <a:extLst>
              <a:ext uri="{FF2B5EF4-FFF2-40B4-BE49-F238E27FC236}">
                <a16:creationId xmlns:a16="http://schemas.microsoft.com/office/drawing/2014/main" id="{F96B620D-4345-4E5E-A839-65631B0D7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79060" y="325745"/>
            <a:ext cx="281434" cy="28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矩形: 圓角 153">
            <a:extLst>
              <a:ext uri="{FF2B5EF4-FFF2-40B4-BE49-F238E27FC236}">
                <a16:creationId xmlns:a16="http://schemas.microsoft.com/office/drawing/2014/main" id="{A9294E1F-6F27-4A19-B8FD-15EAFE0CE3F9}"/>
              </a:ext>
            </a:extLst>
          </p:cNvPr>
          <p:cNvSpPr/>
          <p:nvPr/>
        </p:nvSpPr>
        <p:spPr>
          <a:xfrm>
            <a:off x="7685348" y="55476"/>
            <a:ext cx="638640" cy="63052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55" name="矩形: 圓角 154">
            <a:extLst>
              <a:ext uri="{FF2B5EF4-FFF2-40B4-BE49-F238E27FC236}">
                <a16:creationId xmlns:a16="http://schemas.microsoft.com/office/drawing/2014/main" id="{EB810458-DA97-475C-9B29-34F797C69E22}"/>
              </a:ext>
            </a:extLst>
          </p:cNvPr>
          <p:cNvSpPr/>
          <p:nvPr/>
        </p:nvSpPr>
        <p:spPr>
          <a:xfrm>
            <a:off x="7685348" y="55476"/>
            <a:ext cx="638640" cy="63052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56" name="文字方塊 155">
            <a:extLst>
              <a:ext uri="{FF2B5EF4-FFF2-40B4-BE49-F238E27FC236}">
                <a16:creationId xmlns:a16="http://schemas.microsoft.com/office/drawing/2014/main" id="{649D463E-82CF-4B4C-9416-596D27B73B3B}"/>
              </a:ext>
            </a:extLst>
          </p:cNvPr>
          <p:cNvSpPr txBox="1"/>
          <p:nvPr/>
        </p:nvSpPr>
        <p:spPr>
          <a:xfrm>
            <a:off x="7696519" y="123338"/>
            <a:ext cx="62746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zh-TW" altLang="en-US" sz="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資料庫管理</a:t>
            </a:r>
            <a:endParaRPr lang="en-US" altLang="zh-TW" sz="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157" name="直線接點 156">
            <a:extLst>
              <a:ext uri="{FF2B5EF4-FFF2-40B4-BE49-F238E27FC236}">
                <a16:creationId xmlns:a16="http://schemas.microsoft.com/office/drawing/2014/main" id="{03EE9949-FFE0-4DC3-AE1A-9EF917D15A13}"/>
              </a:ext>
            </a:extLst>
          </p:cNvPr>
          <p:cNvCxnSpPr>
            <a:cxnSpLocks/>
          </p:cNvCxnSpPr>
          <p:nvPr/>
        </p:nvCxnSpPr>
        <p:spPr>
          <a:xfrm>
            <a:off x="7758228" y="275996"/>
            <a:ext cx="50405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" name="圖片 162">
            <a:extLst>
              <a:ext uri="{FF2B5EF4-FFF2-40B4-BE49-F238E27FC236}">
                <a16:creationId xmlns:a16="http://schemas.microsoft.com/office/drawing/2014/main" id="{3237EFF5-1056-4047-A5FF-F3633330C1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452" y="324543"/>
            <a:ext cx="279602" cy="28384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矩形: 圓角 163">
            <a:extLst>
              <a:ext uri="{FF2B5EF4-FFF2-40B4-BE49-F238E27FC236}">
                <a16:creationId xmlns:a16="http://schemas.microsoft.com/office/drawing/2014/main" id="{3B18F373-5725-419B-86E0-3173A21C04C8}"/>
              </a:ext>
            </a:extLst>
          </p:cNvPr>
          <p:cNvSpPr/>
          <p:nvPr/>
        </p:nvSpPr>
        <p:spPr>
          <a:xfrm>
            <a:off x="6985000" y="55476"/>
            <a:ext cx="638640" cy="63052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69" name="矩形: 圓角 168">
            <a:extLst>
              <a:ext uri="{FF2B5EF4-FFF2-40B4-BE49-F238E27FC236}">
                <a16:creationId xmlns:a16="http://schemas.microsoft.com/office/drawing/2014/main" id="{1B576F4F-BF98-46A6-818D-51028FD7F956}"/>
              </a:ext>
            </a:extLst>
          </p:cNvPr>
          <p:cNvSpPr/>
          <p:nvPr/>
        </p:nvSpPr>
        <p:spPr>
          <a:xfrm>
            <a:off x="6985000" y="55476"/>
            <a:ext cx="638640" cy="630523"/>
          </a:xfrm>
          <a:prstGeom prst="roundRect">
            <a:avLst/>
          </a:prstGeom>
          <a:solidFill>
            <a:srgbClr val="F5F5F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70" name="文字方塊 169">
            <a:extLst>
              <a:ext uri="{FF2B5EF4-FFF2-40B4-BE49-F238E27FC236}">
                <a16:creationId xmlns:a16="http://schemas.microsoft.com/office/drawing/2014/main" id="{32539D90-FCF4-4A82-A8E9-D16BAB7EC16E}"/>
              </a:ext>
            </a:extLst>
          </p:cNvPr>
          <p:cNvSpPr txBox="1"/>
          <p:nvPr/>
        </p:nvSpPr>
        <p:spPr>
          <a:xfrm>
            <a:off x="6996171" y="123338"/>
            <a:ext cx="62746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zh-TW" altLang="en-US" sz="600" b="1" dirty="0">
                <a:solidFill>
                  <a:srgbClr val="7030A0"/>
                </a:solidFill>
                <a:latin typeface="+mn-ea"/>
              </a:rPr>
              <a:t>求解器引擎</a:t>
            </a:r>
          </a:p>
        </p:txBody>
      </p:sp>
      <p:cxnSp>
        <p:nvCxnSpPr>
          <p:cNvPr id="171" name="直線接點 170">
            <a:extLst>
              <a:ext uri="{FF2B5EF4-FFF2-40B4-BE49-F238E27FC236}">
                <a16:creationId xmlns:a16="http://schemas.microsoft.com/office/drawing/2014/main" id="{C025DC3F-BBDF-46B8-8547-51E52A619152}"/>
              </a:ext>
            </a:extLst>
          </p:cNvPr>
          <p:cNvCxnSpPr>
            <a:cxnSpLocks/>
          </p:cNvCxnSpPr>
          <p:nvPr/>
        </p:nvCxnSpPr>
        <p:spPr>
          <a:xfrm>
            <a:off x="7057880" y="275996"/>
            <a:ext cx="50405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3" name="圖片 172">
            <a:extLst>
              <a:ext uri="{FF2B5EF4-FFF2-40B4-BE49-F238E27FC236}">
                <a16:creationId xmlns:a16="http://schemas.microsoft.com/office/drawing/2014/main" id="{0F251BB6-3208-4F5B-A235-32AD758B00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70104" y="325175"/>
            <a:ext cx="279602" cy="2825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群組 40">
            <a:extLst>
              <a:ext uri="{FF2B5EF4-FFF2-40B4-BE49-F238E27FC236}">
                <a16:creationId xmlns:a16="http://schemas.microsoft.com/office/drawing/2014/main" id="{DD5DED73-8104-4C64-93C8-BBF81BA25586}"/>
              </a:ext>
            </a:extLst>
          </p:cNvPr>
          <p:cNvGrpSpPr/>
          <p:nvPr/>
        </p:nvGrpSpPr>
        <p:grpSpPr>
          <a:xfrm>
            <a:off x="3465628" y="113575"/>
            <a:ext cx="3478047" cy="534722"/>
            <a:chOff x="3465628" y="74334"/>
            <a:chExt cx="3478047" cy="534722"/>
          </a:xfrm>
        </p:grpSpPr>
        <p:pic>
          <p:nvPicPr>
            <p:cNvPr id="177" name="圖片 176">
              <a:extLst>
                <a:ext uri="{FF2B5EF4-FFF2-40B4-BE49-F238E27FC236}">
                  <a16:creationId xmlns:a16="http://schemas.microsoft.com/office/drawing/2014/main" id="{2F96E448-83F4-4DAC-B926-DCDE11F2A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465628" y="74334"/>
              <a:ext cx="257310" cy="257310"/>
            </a:xfrm>
            <a:prstGeom prst="rect">
              <a:avLst/>
            </a:prstGeom>
          </p:spPr>
        </p:pic>
        <p:pic>
          <p:nvPicPr>
            <p:cNvPr id="183" name="圖片 182">
              <a:extLst>
                <a:ext uri="{FF2B5EF4-FFF2-40B4-BE49-F238E27FC236}">
                  <a16:creationId xmlns:a16="http://schemas.microsoft.com/office/drawing/2014/main" id="{3E6727DA-5349-42B7-BECE-EC4A0A6A6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465628" y="351746"/>
              <a:ext cx="257310" cy="257310"/>
            </a:xfrm>
            <a:prstGeom prst="rect">
              <a:avLst/>
            </a:prstGeom>
          </p:spPr>
        </p:pic>
        <p:pic>
          <p:nvPicPr>
            <p:cNvPr id="184" name="圖片 183">
              <a:extLst>
                <a:ext uri="{FF2B5EF4-FFF2-40B4-BE49-F238E27FC236}">
                  <a16:creationId xmlns:a16="http://schemas.microsoft.com/office/drawing/2014/main" id="{E79D55AC-21B2-4B65-B7D9-E20D4DBF0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091056" y="74334"/>
              <a:ext cx="257310" cy="257310"/>
            </a:xfrm>
            <a:prstGeom prst="rect">
              <a:avLst/>
            </a:prstGeom>
          </p:spPr>
        </p:pic>
        <p:pic>
          <p:nvPicPr>
            <p:cNvPr id="186" name="圖片 185">
              <a:extLst>
                <a:ext uri="{FF2B5EF4-FFF2-40B4-BE49-F238E27FC236}">
                  <a16:creationId xmlns:a16="http://schemas.microsoft.com/office/drawing/2014/main" id="{560427B0-0CD4-4FA4-8CE1-E6833C71A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091056" y="351746"/>
              <a:ext cx="257310" cy="257310"/>
            </a:xfrm>
            <a:prstGeom prst="rect">
              <a:avLst/>
            </a:prstGeom>
          </p:spPr>
        </p:pic>
        <p:sp>
          <p:nvSpPr>
            <p:cNvPr id="188" name="文字方塊 187">
              <a:extLst>
                <a:ext uri="{FF2B5EF4-FFF2-40B4-BE49-F238E27FC236}">
                  <a16:creationId xmlns:a16="http://schemas.microsoft.com/office/drawing/2014/main" id="{3E56B659-0B34-4421-9D51-35D2CCC63DCE}"/>
                </a:ext>
              </a:extLst>
            </p:cNvPr>
            <p:cNvSpPr txBox="1"/>
            <p:nvPr/>
          </p:nvSpPr>
          <p:spPr>
            <a:xfrm>
              <a:off x="3711955" y="79879"/>
              <a:ext cx="13131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Parameter_xxx.cs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  <p:sp>
          <p:nvSpPr>
            <p:cNvPr id="189" name="文字方塊 188">
              <a:extLst>
                <a:ext uri="{FF2B5EF4-FFF2-40B4-BE49-F238E27FC236}">
                  <a16:creationId xmlns:a16="http://schemas.microsoft.com/office/drawing/2014/main" id="{09545EAD-6894-4D7C-9E36-86C2904C2042}"/>
                </a:ext>
              </a:extLst>
            </p:cNvPr>
            <p:cNvSpPr txBox="1"/>
            <p:nvPr/>
          </p:nvSpPr>
          <p:spPr>
            <a:xfrm>
              <a:off x="3711955" y="357291"/>
              <a:ext cx="13131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VariableX_xxx.cs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  <p:sp>
          <p:nvSpPr>
            <p:cNvPr id="191" name="文字方塊 190">
              <a:extLst>
                <a:ext uri="{FF2B5EF4-FFF2-40B4-BE49-F238E27FC236}">
                  <a16:creationId xmlns:a16="http://schemas.microsoft.com/office/drawing/2014/main" id="{CC7AF9B4-159B-4656-8340-D76A4075A045}"/>
                </a:ext>
              </a:extLst>
            </p:cNvPr>
            <p:cNvSpPr txBox="1"/>
            <p:nvPr/>
          </p:nvSpPr>
          <p:spPr>
            <a:xfrm>
              <a:off x="5348366" y="79879"/>
              <a:ext cx="13837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Constraint_xxx.cs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  <p:sp>
          <p:nvSpPr>
            <p:cNvPr id="192" name="文字方塊 191">
              <a:extLst>
                <a:ext uri="{FF2B5EF4-FFF2-40B4-BE49-F238E27FC236}">
                  <a16:creationId xmlns:a16="http://schemas.microsoft.com/office/drawing/2014/main" id="{DBB1E7C6-B8CE-4726-BE55-9A3DA29B2179}"/>
                </a:ext>
              </a:extLst>
            </p:cNvPr>
            <p:cNvSpPr txBox="1"/>
            <p:nvPr/>
          </p:nvSpPr>
          <p:spPr>
            <a:xfrm>
              <a:off x="5348366" y="357291"/>
              <a:ext cx="159530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ObjectiveFunction.cs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</p:grpSp>
      <p:pic>
        <p:nvPicPr>
          <p:cNvPr id="193" name="圖片 192">
            <a:extLst>
              <a:ext uri="{FF2B5EF4-FFF2-40B4-BE49-F238E27FC236}">
                <a16:creationId xmlns:a16="http://schemas.microsoft.com/office/drawing/2014/main" id="{81CD8D0A-DF34-4C57-8B9A-F85F80B609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0825" y="848791"/>
            <a:ext cx="655448" cy="655448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9531E2D1-E3D6-4BCB-9A00-34D98127C7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822" y="1604872"/>
            <a:ext cx="1232023" cy="1465402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7D26C937-B28F-4D5C-BF96-FCB20D1A7BA3}"/>
              </a:ext>
            </a:extLst>
          </p:cNvPr>
          <p:cNvSpPr/>
          <p:nvPr/>
        </p:nvSpPr>
        <p:spPr>
          <a:xfrm>
            <a:off x="376294" y="2139702"/>
            <a:ext cx="1258059" cy="12724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接點: 肘形 32">
            <a:extLst>
              <a:ext uri="{FF2B5EF4-FFF2-40B4-BE49-F238E27FC236}">
                <a16:creationId xmlns:a16="http://schemas.microsoft.com/office/drawing/2014/main" id="{0A2F3768-7D21-46F9-9300-7CDE63A490BB}"/>
              </a:ext>
            </a:extLst>
          </p:cNvPr>
          <p:cNvCxnSpPr>
            <a:cxnSpLocks/>
            <a:stCxn id="32" idx="3"/>
            <a:endCxn id="39" idx="1"/>
          </p:cNvCxnSpPr>
          <p:nvPr/>
        </p:nvCxnSpPr>
        <p:spPr>
          <a:xfrm flipV="1">
            <a:off x="1634353" y="1662782"/>
            <a:ext cx="407811" cy="540544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C4F80B0C-1C12-4F32-B2BE-BA59C88C2CA3}"/>
                  </a:ext>
                </a:extLst>
              </p:cNvPr>
              <p:cNvSpPr txBox="1"/>
              <p:nvPr/>
            </p:nvSpPr>
            <p:spPr>
              <a:xfrm>
                <a:off x="1043608" y="1059185"/>
                <a:ext cx="3963714" cy="372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: 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  <m: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𝐴𝑠𝑠𝑖𝑔𝑛𝑚𝑒𝑛𝑡</m:t>
                            </m:r>
                          </m:sup>
                        </m:sSubSup>
                      </m:e>
                    </m:nary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𝑆h𝑖𝑓𝑡𝐷𝑒𝑚𝑎𝑛𝑑</m:t>
                        </m:r>
                      </m:sup>
                    </m:sSubSup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C4F80B0C-1C12-4F32-B2BE-BA59C88C2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1059185"/>
                <a:ext cx="3963714" cy="372346"/>
              </a:xfrm>
              <a:prstGeom prst="rect">
                <a:avLst/>
              </a:prstGeom>
              <a:blipFill>
                <a:blip r:embed="rId9"/>
                <a:stretch>
                  <a:fillRect t="-75410" b="-1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24A68B4C-479B-45C1-8E63-585608A093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41129" y="1587106"/>
            <a:ext cx="3173721" cy="3159861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4D3F8183-4641-4C55-A764-62851038F4DC}"/>
              </a:ext>
            </a:extLst>
          </p:cNvPr>
          <p:cNvSpPr/>
          <p:nvPr/>
        </p:nvSpPr>
        <p:spPr>
          <a:xfrm>
            <a:off x="2042164" y="1620589"/>
            <a:ext cx="996312" cy="8438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D6F200B7-6925-4945-9707-A235B587D4F5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940715" y="1886593"/>
            <a:ext cx="257310" cy="257310"/>
          </a:xfrm>
          <a:prstGeom prst="rect">
            <a:avLst/>
          </a:prstGeom>
        </p:spPr>
      </p:pic>
      <p:sp>
        <p:nvSpPr>
          <p:cNvPr id="12" name="左大括弧 11">
            <a:extLst>
              <a:ext uri="{FF2B5EF4-FFF2-40B4-BE49-F238E27FC236}">
                <a16:creationId xmlns:a16="http://schemas.microsoft.com/office/drawing/2014/main" id="{C8B0B959-BD68-43B9-9002-79F7959D53DF}"/>
              </a:ext>
            </a:extLst>
          </p:cNvPr>
          <p:cNvSpPr/>
          <p:nvPr/>
        </p:nvSpPr>
        <p:spPr>
          <a:xfrm>
            <a:off x="2127147" y="2203326"/>
            <a:ext cx="465601" cy="1230437"/>
          </a:xfrm>
          <a:prstGeom prst="leftBrace">
            <a:avLst>
              <a:gd name="adj1" fmla="val 0"/>
              <a:gd name="adj2" fmla="val 88235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左大括弧 48">
            <a:extLst>
              <a:ext uri="{FF2B5EF4-FFF2-40B4-BE49-F238E27FC236}">
                <a16:creationId xmlns:a16="http://schemas.microsoft.com/office/drawing/2014/main" id="{0D4112A4-CCFF-4594-ACE0-73FE9DD57C8A}"/>
              </a:ext>
            </a:extLst>
          </p:cNvPr>
          <p:cNvSpPr/>
          <p:nvPr/>
        </p:nvSpPr>
        <p:spPr>
          <a:xfrm>
            <a:off x="2127147" y="3516530"/>
            <a:ext cx="465598" cy="1064995"/>
          </a:xfrm>
          <a:prstGeom prst="leftBrace">
            <a:avLst>
              <a:gd name="adj1" fmla="val 0"/>
              <a:gd name="adj2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953777C-C620-4174-B995-1BDDFF71C2C8}"/>
              </a:ext>
            </a:extLst>
          </p:cNvPr>
          <p:cNvSpPr txBox="1"/>
          <p:nvPr/>
        </p:nvSpPr>
        <p:spPr>
          <a:xfrm>
            <a:off x="1107694" y="3145950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b="1" dirty="0">
                <a:solidFill>
                  <a:srgbClr val="C00000"/>
                </a:solidFill>
              </a:rPr>
              <a:t>定義所需參數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B7A4A6AB-8561-4923-B1A3-6F78EAFD1CC9}"/>
              </a:ext>
            </a:extLst>
          </p:cNvPr>
          <p:cNvSpPr txBox="1"/>
          <p:nvPr/>
        </p:nvSpPr>
        <p:spPr>
          <a:xfrm>
            <a:off x="1107694" y="3899001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b="1" dirty="0">
                <a:solidFill>
                  <a:srgbClr val="C00000"/>
                </a:solidFill>
              </a:rPr>
              <a:t>撰寫限制邏輯</a:t>
            </a: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B5F957FE-6ED6-4CCE-9931-327CAF35C290}"/>
              </a:ext>
            </a:extLst>
          </p:cNvPr>
          <p:cNvGrpSpPr/>
          <p:nvPr/>
        </p:nvGrpSpPr>
        <p:grpSpPr>
          <a:xfrm>
            <a:off x="5843560" y="3070239"/>
            <a:ext cx="2922070" cy="1474045"/>
            <a:chOff x="5938786" y="3526455"/>
            <a:chExt cx="2091516" cy="1055070"/>
          </a:xfrm>
        </p:grpSpPr>
        <p:pic>
          <p:nvPicPr>
            <p:cNvPr id="52" name="圖片 51">
              <a:extLst>
                <a:ext uri="{FF2B5EF4-FFF2-40B4-BE49-F238E27FC236}">
                  <a16:creationId xmlns:a16="http://schemas.microsoft.com/office/drawing/2014/main" id="{BA64C1D4-8A94-4EDA-837A-7BE09D9BA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939698" y="3526455"/>
              <a:ext cx="2090604" cy="1055070"/>
            </a:xfrm>
            <a:prstGeom prst="rect">
              <a:avLst/>
            </a:prstGeom>
          </p:spPr>
        </p:pic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DCC58F0C-74EE-4159-B16B-ADE66C89D78E}"/>
                </a:ext>
              </a:extLst>
            </p:cNvPr>
            <p:cNvSpPr/>
            <p:nvPr/>
          </p:nvSpPr>
          <p:spPr>
            <a:xfrm>
              <a:off x="5938786" y="3532381"/>
              <a:ext cx="1032030" cy="5581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04BC0434-5DC5-4034-BE95-A1130B9C6DDB}"/>
              </a:ext>
            </a:extLst>
          </p:cNvPr>
          <p:cNvSpPr txBox="1"/>
          <p:nvPr/>
        </p:nvSpPr>
        <p:spPr>
          <a:xfrm>
            <a:off x="6530899" y="4508524"/>
            <a:ext cx="226215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zh-TW" altLang="en-US"/>
              <a:t>自動完成模型變數名稱定義</a:t>
            </a:r>
            <a:endParaRPr lang="zh-TW" altLang="en-US" dirty="0"/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22739990-5449-45DE-8FE5-563E0084C64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69950" y="3763761"/>
            <a:ext cx="319785" cy="319787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446B590E-993C-4320-937E-F71C6A16560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71587" y="4199389"/>
            <a:ext cx="319785" cy="319787"/>
          </a:xfrm>
          <a:prstGeom prst="rect">
            <a:avLst/>
          </a:prstGeom>
        </p:spPr>
      </p:pic>
      <p:grpSp>
        <p:nvGrpSpPr>
          <p:cNvPr id="60" name="群組 59">
            <a:extLst>
              <a:ext uri="{FF2B5EF4-FFF2-40B4-BE49-F238E27FC236}">
                <a16:creationId xmlns:a16="http://schemas.microsoft.com/office/drawing/2014/main" id="{A395406E-D389-40FE-955B-10932562BD1C}"/>
              </a:ext>
            </a:extLst>
          </p:cNvPr>
          <p:cNvGrpSpPr/>
          <p:nvPr/>
        </p:nvGrpSpPr>
        <p:grpSpPr>
          <a:xfrm>
            <a:off x="59447" y="4246158"/>
            <a:ext cx="1903314" cy="430651"/>
            <a:chOff x="4822311" y="3169455"/>
            <a:chExt cx="1903314" cy="430651"/>
          </a:xfrm>
        </p:grpSpPr>
        <p:grpSp>
          <p:nvGrpSpPr>
            <p:cNvPr id="61" name="群組 60">
              <a:extLst>
                <a:ext uri="{FF2B5EF4-FFF2-40B4-BE49-F238E27FC236}">
                  <a16:creationId xmlns:a16="http://schemas.microsoft.com/office/drawing/2014/main" id="{9242F3F8-4512-4B78-8E9B-C7DA4DA01A4E}"/>
                </a:ext>
              </a:extLst>
            </p:cNvPr>
            <p:cNvGrpSpPr/>
            <p:nvPr/>
          </p:nvGrpSpPr>
          <p:grpSpPr>
            <a:xfrm>
              <a:off x="4822311" y="3169455"/>
              <a:ext cx="1226336" cy="430651"/>
              <a:chOff x="5852832" y="3256126"/>
              <a:chExt cx="1226336" cy="430651"/>
            </a:xfrm>
          </p:grpSpPr>
          <p:sp>
            <p:nvSpPr>
              <p:cNvPr id="64" name="十字形 63">
                <a:extLst>
                  <a:ext uri="{FF2B5EF4-FFF2-40B4-BE49-F238E27FC236}">
                    <a16:creationId xmlns:a16="http://schemas.microsoft.com/office/drawing/2014/main" id="{819CDB28-1153-49AF-96FB-6C3C4BF7FE27}"/>
                  </a:ext>
                </a:extLst>
              </p:cNvPr>
              <p:cNvSpPr/>
              <p:nvPr/>
            </p:nvSpPr>
            <p:spPr>
              <a:xfrm>
                <a:off x="6376979" y="3382430"/>
                <a:ext cx="178042" cy="178042"/>
              </a:xfrm>
              <a:prstGeom prst="plus">
                <a:avLst>
                  <a:gd name="adj" fmla="val 37328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65" name="群組 64">
                <a:extLst>
                  <a:ext uri="{FF2B5EF4-FFF2-40B4-BE49-F238E27FC236}">
                    <a16:creationId xmlns:a16="http://schemas.microsoft.com/office/drawing/2014/main" id="{529579EE-2E2A-4291-A1A3-A04903C8DA24}"/>
                  </a:ext>
                </a:extLst>
              </p:cNvPr>
              <p:cNvGrpSpPr/>
              <p:nvPr/>
            </p:nvGrpSpPr>
            <p:grpSpPr>
              <a:xfrm>
                <a:off x="6626043" y="3256126"/>
                <a:ext cx="453125" cy="430651"/>
                <a:chOff x="7206798" y="154344"/>
                <a:chExt cx="453125" cy="430651"/>
              </a:xfrm>
            </p:grpSpPr>
            <p:pic>
              <p:nvPicPr>
                <p:cNvPr id="70" name="圖片 69">
                  <a:extLst>
                    <a:ext uri="{FF2B5EF4-FFF2-40B4-BE49-F238E27FC236}">
                      <a16:creationId xmlns:a16="http://schemas.microsoft.com/office/drawing/2014/main" id="{11135E64-3CB3-4B3E-A9C4-FE15AE1446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306380" y="154344"/>
                  <a:ext cx="257310" cy="257310"/>
                </a:xfrm>
                <a:prstGeom prst="rect">
                  <a:avLst/>
                </a:prstGeom>
              </p:spPr>
            </p:pic>
            <p:pic>
              <p:nvPicPr>
                <p:cNvPr id="71" name="圖片 70">
                  <a:extLst>
                    <a:ext uri="{FF2B5EF4-FFF2-40B4-BE49-F238E27FC236}">
                      <a16:creationId xmlns:a16="http://schemas.microsoft.com/office/drawing/2014/main" id="{0E271146-9EA3-4263-91E6-CF11D4464A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402613" y="327685"/>
                  <a:ext cx="257310" cy="257310"/>
                </a:xfrm>
                <a:prstGeom prst="rect">
                  <a:avLst/>
                </a:prstGeom>
              </p:spPr>
            </p:pic>
            <p:pic>
              <p:nvPicPr>
                <p:cNvPr id="72" name="圖片 71">
                  <a:extLst>
                    <a:ext uri="{FF2B5EF4-FFF2-40B4-BE49-F238E27FC236}">
                      <a16:creationId xmlns:a16="http://schemas.microsoft.com/office/drawing/2014/main" id="{C78889CE-4973-4CAB-8B73-59FD0BC7F1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206798" y="327685"/>
                  <a:ext cx="257310" cy="257310"/>
                </a:xfrm>
                <a:prstGeom prst="rect">
                  <a:avLst/>
                </a:prstGeom>
              </p:spPr>
            </p:pic>
          </p:grpSp>
          <p:grpSp>
            <p:nvGrpSpPr>
              <p:cNvPr id="66" name="群組 65">
                <a:extLst>
                  <a:ext uri="{FF2B5EF4-FFF2-40B4-BE49-F238E27FC236}">
                    <a16:creationId xmlns:a16="http://schemas.microsoft.com/office/drawing/2014/main" id="{11B6B9B8-B146-4847-95A0-BBDBE81B40AE}"/>
                  </a:ext>
                </a:extLst>
              </p:cNvPr>
              <p:cNvGrpSpPr/>
              <p:nvPr/>
            </p:nvGrpSpPr>
            <p:grpSpPr>
              <a:xfrm>
                <a:off x="5852832" y="3256126"/>
                <a:ext cx="453125" cy="430651"/>
                <a:chOff x="7206798" y="154344"/>
                <a:chExt cx="453125" cy="430651"/>
              </a:xfrm>
            </p:grpSpPr>
            <p:pic>
              <p:nvPicPr>
                <p:cNvPr id="67" name="圖片 66">
                  <a:extLst>
                    <a:ext uri="{FF2B5EF4-FFF2-40B4-BE49-F238E27FC236}">
                      <a16:creationId xmlns:a16="http://schemas.microsoft.com/office/drawing/2014/main" id="{00E9F01B-1E3E-4CB0-A42B-AE406DB4F9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1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306380" y="154344"/>
                  <a:ext cx="257310" cy="257310"/>
                </a:xfrm>
                <a:prstGeom prst="rect">
                  <a:avLst/>
                </a:prstGeom>
              </p:spPr>
            </p:pic>
            <p:pic>
              <p:nvPicPr>
                <p:cNvPr id="68" name="圖片 67">
                  <a:extLst>
                    <a:ext uri="{FF2B5EF4-FFF2-40B4-BE49-F238E27FC236}">
                      <a16:creationId xmlns:a16="http://schemas.microsoft.com/office/drawing/2014/main" id="{3E324CD2-0A83-40B4-A6AC-C3EB16D523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1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402613" y="327685"/>
                  <a:ext cx="257310" cy="257310"/>
                </a:xfrm>
                <a:prstGeom prst="rect">
                  <a:avLst/>
                </a:prstGeom>
              </p:spPr>
            </p:pic>
            <p:pic>
              <p:nvPicPr>
                <p:cNvPr id="69" name="圖片 68">
                  <a:extLst>
                    <a:ext uri="{FF2B5EF4-FFF2-40B4-BE49-F238E27FC236}">
                      <a16:creationId xmlns:a16="http://schemas.microsoft.com/office/drawing/2014/main" id="{72A7A8C1-EE10-4403-8AE8-255E9BABDF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1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206798" y="327685"/>
                  <a:ext cx="257310" cy="257310"/>
                </a:xfrm>
                <a:prstGeom prst="rect">
                  <a:avLst/>
                </a:prstGeom>
              </p:spPr>
            </p:pic>
          </p:grpSp>
        </p:grpSp>
        <p:pic>
          <p:nvPicPr>
            <p:cNvPr id="62" name="圖片 61">
              <a:extLst>
                <a:ext uri="{FF2B5EF4-FFF2-40B4-BE49-F238E27FC236}">
                  <a16:creationId xmlns:a16="http://schemas.microsoft.com/office/drawing/2014/main" id="{A06B1D17-A8C0-4456-9392-06415E07555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468315" y="3256125"/>
              <a:ext cx="257310" cy="257310"/>
            </a:xfrm>
            <a:prstGeom prst="rect">
              <a:avLst/>
            </a:prstGeom>
          </p:spPr>
        </p:pic>
        <p:sp>
          <p:nvSpPr>
            <p:cNvPr id="63" name="等於 62">
              <a:extLst>
                <a:ext uri="{FF2B5EF4-FFF2-40B4-BE49-F238E27FC236}">
                  <a16:creationId xmlns:a16="http://schemas.microsoft.com/office/drawing/2014/main" id="{D23E6400-4645-462C-A05C-B68FACA41C66}"/>
                </a:ext>
              </a:extLst>
            </p:cNvPr>
            <p:cNvSpPr/>
            <p:nvPr/>
          </p:nvSpPr>
          <p:spPr>
            <a:xfrm>
              <a:off x="6197000" y="3297297"/>
              <a:ext cx="135359" cy="174966"/>
            </a:xfrm>
            <a:prstGeom prst="mathEqual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66A780A9-1CDE-4E25-BCB2-5994FF25A81C}"/>
              </a:ext>
            </a:extLst>
          </p:cNvPr>
          <p:cNvSpPr/>
          <p:nvPr/>
        </p:nvSpPr>
        <p:spPr>
          <a:xfrm>
            <a:off x="2915816" y="3867894"/>
            <a:ext cx="2232248" cy="41835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97A2445C-19FA-41AC-901E-8A38538089DB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5148064" y="3923655"/>
            <a:ext cx="221886" cy="31750"/>
          </a:xfrm>
          <a:prstGeom prst="straightConnector1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直線單箭頭接點 79">
            <a:extLst>
              <a:ext uri="{FF2B5EF4-FFF2-40B4-BE49-F238E27FC236}">
                <a16:creationId xmlns:a16="http://schemas.microsoft.com/office/drawing/2014/main" id="{7EEF46F3-2376-4494-A724-B624AB29CA64}"/>
              </a:ext>
            </a:extLst>
          </p:cNvPr>
          <p:cNvCxnSpPr>
            <a:cxnSpLocks/>
            <a:stCxn id="16" idx="3"/>
            <a:endCxn id="57" idx="1"/>
          </p:cNvCxnSpPr>
          <p:nvPr/>
        </p:nvCxnSpPr>
        <p:spPr>
          <a:xfrm>
            <a:off x="5148064" y="4077072"/>
            <a:ext cx="223523" cy="282211"/>
          </a:xfrm>
          <a:prstGeom prst="straightConnector1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787F75F-CAF1-4C82-945C-513D5C9B3A07}"/>
              </a:ext>
            </a:extLst>
          </p:cNvPr>
          <p:cNvSpPr txBox="1"/>
          <p:nvPr/>
        </p:nvSpPr>
        <p:spPr>
          <a:xfrm>
            <a:off x="2655167" y="731203"/>
            <a:ext cx="52129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LHS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28A7BBE1-3B1D-49EF-9F88-1BA5FC3E68CA}"/>
              </a:ext>
            </a:extLst>
          </p:cNvPr>
          <p:cNvSpPr txBox="1"/>
          <p:nvPr/>
        </p:nvSpPr>
        <p:spPr>
          <a:xfrm>
            <a:off x="4270601" y="727438"/>
            <a:ext cx="55015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RHS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91E37047-9EC1-4DAF-BF8A-93712FCAD29B}"/>
              </a:ext>
            </a:extLst>
          </p:cNvPr>
          <p:cNvSpPr txBox="1"/>
          <p:nvPr/>
        </p:nvSpPr>
        <p:spPr>
          <a:xfrm>
            <a:off x="3451306" y="731203"/>
            <a:ext cx="62709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Equal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D9670CF2-6B99-4C1F-8EB5-42C464376885}"/>
              </a:ext>
            </a:extLst>
          </p:cNvPr>
          <p:cNvSpPr txBox="1"/>
          <p:nvPr/>
        </p:nvSpPr>
        <p:spPr>
          <a:xfrm>
            <a:off x="5825018" y="823758"/>
            <a:ext cx="29207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b="1" dirty="0"/>
              <a:t>相關涵式：</a:t>
            </a:r>
            <a:endParaRPr lang="en-US" altLang="zh-TW" sz="1200" b="1" dirty="0"/>
          </a:p>
          <a:p>
            <a:r>
              <a:rPr lang="en-US" altLang="zh-TW" sz="1200" dirty="0" err="1"/>
              <a:t>AddLHS</a:t>
            </a:r>
            <a:r>
              <a:rPr lang="en-US" altLang="zh-TW" sz="1200" dirty="0"/>
              <a:t>(</a:t>
            </a:r>
            <a:r>
              <a:rPr lang="zh-TW" altLang="en-US" sz="1200" dirty="0"/>
              <a:t>參數</a:t>
            </a:r>
            <a:r>
              <a:rPr lang="en-US" altLang="zh-TW" sz="1200" dirty="0"/>
              <a:t>,</a:t>
            </a:r>
            <a:r>
              <a:rPr lang="zh-TW" altLang="en-US" sz="1200" dirty="0"/>
              <a:t> 變數類別</a:t>
            </a:r>
            <a:r>
              <a:rPr lang="en-US" altLang="zh-TW" sz="1200" dirty="0"/>
              <a:t>)</a:t>
            </a:r>
          </a:p>
          <a:p>
            <a:r>
              <a:rPr lang="en-US" altLang="zh-TW" sz="1200" dirty="0" err="1"/>
              <a:t>AddRHS</a:t>
            </a:r>
            <a:r>
              <a:rPr lang="en-US" altLang="zh-TW" sz="1200" dirty="0"/>
              <a:t>(</a:t>
            </a:r>
            <a:r>
              <a:rPr lang="zh-TW" altLang="en-US" sz="1200" dirty="0"/>
              <a:t>參數</a:t>
            </a:r>
            <a:r>
              <a:rPr lang="en-US" altLang="zh-TW" sz="1200" dirty="0"/>
              <a:t>,</a:t>
            </a:r>
            <a:r>
              <a:rPr lang="zh-TW" altLang="en-US" sz="1200" dirty="0"/>
              <a:t> 變數類別</a:t>
            </a:r>
            <a:r>
              <a:rPr lang="en-US" altLang="zh-TW" sz="1200" dirty="0"/>
              <a:t>)</a:t>
            </a:r>
          </a:p>
          <a:p>
            <a:r>
              <a:rPr lang="en-US" altLang="zh-TW" sz="1200" dirty="0" err="1"/>
              <a:t>CreateEqual</a:t>
            </a:r>
            <a:r>
              <a:rPr lang="en-US" altLang="zh-TW" sz="1200" dirty="0"/>
              <a:t>(</a:t>
            </a:r>
            <a:r>
              <a:rPr lang="zh-TW" altLang="en-US" sz="1200" dirty="0"/>
              <a:t>限制式名稱</a:t>
            </a:r>
            <a:r>
              <a:rPr lang="en-US" altLang="zh-TW" sz="1200" dirty="0"/>
              <a:t>)</a:t>
            </a:r>
          </a:p>
          <a:p>
            <a:r>
              <a:rPr lang="en-US" altLang="zh-TW" sz="1200" dirty="0" err="1"/>
              <a:t>CreateLessEqual</a:t>
            </a:r>
            <a:r>
              <a:rPr lang="en-US" altLang="zh-TW" sz="1200" dirty="0"/>
              <a:t>(</a:t>
            </a:r>
            <a:r>
              <a:rPr lang="zh-TW" altLang="en-US" sz="1200" dirty="0"/>
              <a:t>限制式名稱</a:t>
            </a:r>
            <a:r>
              <a:rPr lang="en-US" altLang="zh-TW" sz="1200" dirty="0"/>
              <a:t>)</a:t>
            </a:r>
          </a:p>
          <a:p>
            <a:r>
              <a:rPr lang="en-US" altLang="zh-TW" sz="1200" dirty="0" err="1"/>
              <a:t>CreateGreatEqual</a:t>
            </a:r>
            <a:r>
              <a:rPr lang="en-US" altLang="zh-TW" sz="1200" dirty="0"/>
              <a:t>(</a:t>
            </a:r>
            <a:r>
              <a:rPr lang="zh-TW" altLang="en-US" sz="1200" dirty="0"/>
              <a:t>限制式名稱</a:t>
            </a:r>
            <a:r>
              <a:rPr lang="en-US" altLang="zh-TW" sz="1200" dirty="0"/>
              <a:t>)</a:t>
            </a:r>
            <a:endParaRPr lang="zh-TW" alt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3" name="矩形: 圓角 92">
                <a:extLst>
                  <a:ext uri="{FF2B5EF4-FFF2-40B4-BE49-F238E27FC236}">
                    <a16:creationId xmlns:a16="http://schemas.microsoft.com/office/drawing/2014/main" id="{84876B26-40DC-48CF-B195-7005941EF9D9}"/>
                  </a:ext>
                </a:extLst>
              </p:cNvPr>
              <p:cNvSpPr/>
              <p:nvPr/>
            </p:nvSpPr>
            <p:spPr>
              <a:xfrm>
                <a:off x="5796137" y="2095469"/>
                <a:ext cx="1297820" cy="407338"/>
              </a:xfrm>
              <a:prstGeom prst="roundRect">
                <a:avLst>
                  <a:gd name="adj" fmla="val 9757"/>
                </a:avLst>
              </a:prstGeom>
              <a:solidFill>
                <a:srgbClr val="F5F5FD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RHS</a:t>
                </a:r>
                <a:r>
                  <a:rPr lang="zh-TW" altLang="en-US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表達式</a:t>
                </a:r>
                <a:endParaRPr lang="en-US" altLang="zh-TW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TW" sz="7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rPr>
                      <m:t>𝑅𝐻</m:t>
                    </m:r>
                    <m:sSub>
                      <m:sSubPr>
                        <m:ctrlPr>
                          <a:rPr lang="en-US" altLang="zh-TW" sz="700" b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</m:ctrlPr>
                      </m:sSubPr>
                      <m:e>
                        <m:r>
                          <a:rPr lang="en-US" altLang="zh-TW" sz="700" b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  <m:t>𝑆</m:t>
                        </m:r>
                      </m:e>
                      <m:sub>
                        <m:r>
                          <a:rPr lang="en-US" altLang="zh-TW" sz="700" b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  <m:t>𝑖</m:t>
                        </m:r>
                      </m:sub>
                    </m:sSub>
                    <m:r>
                      <a:rPr lang="en-US" altLang="zh-TW" sz="7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rPr>
                      <m:t>≔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z="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TW" sz="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TW" sz="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zh-TW" sz="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TW" sz="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TW" sz="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zh-TW" sz="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  <m:sup>
                            <m:r>
                              <a:rPr lang="en-US" altLang="zh-TW" sz="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𝐴𝑠𝑠𝑖𝑔𝑛𝑚𝑒𝑛𝑡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zh-TW" altLang="en-US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93" name="矩形: 圓角 92">
                <a:extLst>
                  <a:ext uri="{FF2B5EF4-FFF2-40B4-BE49-F238E27FC236}">
                    <a16:creationId xmlns:a16="http://schemas.microsoft.com/office/drawing/2014/main" id="{84876B26-40DC-48CF-B195-7005941EF9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7" y="2095469"/>
                <a:ext cx="1297820" cy="407338"/>
              </a:xfrm>
              <a:prstGeom prst="roundRect">
                <a:avLst>
                  <a:gd name="adj" fmla="val 9757"/>
                </a:avLst>
              </a:prstGeom>
              <a:blipFill>
                <a:blip r:embed="rId14"/>
                <a:stretch>
                  <a:fillRect t="-7246" b="-56522"/>
                </a:stretch>
              </a:blip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矩形: 圓角 93">
                <a:extLst>
                  <a:ext uri="{FF2B5EF4-FFF2-40B4-BE49-F238E27FC236}">
                    <a16:creationId xmlns:a16="http://schemas.microsoft.com/office/drawing/2014/main" id="{6A21D9EB-9107-4E07-8004-63EEF4FC60F1}"/>
                  </a:ext>
                </a:extLst>
              </p:cNvPr>
              <p:cNvSpPr/>
              <p:nvPr/>
            </p:nvSpPr>
            <p:spPr>
              <a:xfrm>
                <a:off x="5796137" y="2571583"/>
                <a:ext cx="1297820" cy="407338"/>
              </a:xfrm>
              <a:prstGeom prst="roundRect">
                <a:avLst>
                  <a:gd name="adj" fmla="val 9757"/>
                </a:avLst>
              </a:prstGeom>
              <a:solidFill>
                <a:srgbClr val="F5F5FD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LHS</a:t>
                </a:r>
                <a:r>
                  <a:rPr lang="zh-TW" altLang="en-US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表達式</a:t>
                </a:r>
                <a:endParaRPr lang="en-US" altLang="zh-TW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m:t>𝐿</m:t>
                      </m:r>
                      <m:r>
                        <a:rPr lang="en-US" altLang="zh-TW" sz="7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m:t>𝐻</m:t>
                      </m:r>
                      <m:sSub>
                        <m:sSubPr>
                          <m:ctrlP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</m:ctrlPr>
                        </m:sSubPr>
                        <m:e>
                          <m: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𝑆</m:t>
                          </m:r>
                        </m:e>
                        <m:sub>
                          <m: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𝑖</m:t>
                          </m:r>
                        </m:sub>
                      </m:sSub>
                      <m:r>
                        <a:rPr lang="en-US" altLang="zh-TW" sz="7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m:t>≔</m:t>
                      </m:r>
                      <m:sSubSup>
                        <m:sSubSupPr>
                          <m:ctrlPr>
                            <a:rPr lang="en-US" altLang="zh-TW" sz="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altLang="zh-TW" sz="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𝑆h𝑖𝑓𝑡𝐷𝑒𝑚𝑎𝑛𝑑</m:t>
                          </m:r>
                        </m:sup>
                      </m:sSubSup>
                    </m:oMath>
                  </m:oMathPara>
                </a14:m>
                <a:endParaRPr lang="zh-TW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4" name="矩形: 圓角 93">
                <a:extLst>
                  <a:ext uri="{FF2B5EF4-FFF2-40B4-BE49-F238E27FC236}">
                    <a16:creationId xmlns:a16="http://schemas.microsoft.com/office/drawing/2014/main" id="{6A21D9EB-9107-4E07-8004-63EEF4FC60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7" y="2571583"/>
                <a:ext cx="1297820" cy="407338"/>
              </a:xfrm>
              <a:prstGeom prst="roundRect">
                <a:avLst>
                  <a:gd name="adj" fmla="val 9757"/>
                </a:avLst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矩形: 圓角 94">
                <a:extLst>
                  <a:ext uri="{FF2B5EF4-FFF2-40B4-BE49-F238E27FC236}">
                    <a16:creationId xmlns:a16="http://schemas.microsoft.com/office/drawing/2014/main" id="{CE0F6796-4EB2-4C0A-89C1-ECE0EDDAF180}"/>
                  </a:ext>
                </a:extLst>
              </p:cNvPr>
              <p:cNvSpPr/>
              <p:nvPr/>
            </p:nvSpPr>
            <p:spPr>
              <a:xfrm>
                <a:off x="7748793" y="2616882"/>
                <a:ext cx="918183" cy="297690"/>
              </a:xfrm>
              <a:prstGeom prst="roundRect">
                <a:avLst>
                  <a:gd name="adj" fmla="val 9757"/>
                </a:avLst>
              </a:prstGeom>
              <a:solidFill>
                <a:srgbClr val="F5F5FD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限制式</a:t>
                </a:r>
                <a:endParaRPr lang="en-US" altLang="zh-TW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m:t>𝐿𝐻</m:t>
                      </m:r>
                      <m:sSub>
                        <m:sSubPr>
                          <m:ctrlP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</m:ctrlPr>
                        </m:sSubPr>
                        <m:e>
                          <m: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𝑆</m:t>
                          </m:r>
                        </m:e>
                        <m:sub>
                          <m: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𝑖</m:t>
                          </m:r>
                        </m:sub>
                      </m:sSub>
                      <m:r>
                        <a:rPr lang="en-US" altLang="zh-TW" sz="7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Δ</m:t>
                          </m:r>
                        </m:e>
                        <m:sub>
                          <m: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𝑖</m:t>
                          </m:r>
                        </m:sub>
                      </m:sSub>
                      <m:r>
                        <a:rPr lang="en-US" altLang="zh-TW" sz="7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m:t> </m:t>
                      </m:r>
                      <m:r>
                        <a:rPr lang="en-US" altLang="zh-TW" sz="7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m:t>𝑅𝐻</m:t>
                      </m:r>
                      <m:sSub>
                        <m:sSubPr>
                          <m:ctrlP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</m:ctrlPr>
                        </m:sSubPr>
                        <m:e>
                          <m: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𝑆</m:t>
                          </m:r>
                        </m:e>
                        <m:sub>
                          <m: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5" name="矩形: 圓角 94">
                <a:extLst>
                  <a:ext uri="{FF2B5EF4-FFF2-40B4-BE49-F238E27FC236}">
                    <a16:creationId xmlns:a16="http://schemas.microsoft.com/office/drawing/2014/main" id="{CE0F6796-4EB2-4C0A-89C1-ECE0EDDAF1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3" y="2616882"/>
                <a:ext cx="918183" cy="297690"/>
              </a:xfrm>
              <a:prstGeom prst="roundRect">
                <a:avLst>
                  <a:gd name="adj" fmla="val 9757"/>
                </a:avLst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接點: 肘形 95">
            <a:extLst>
              <a:ext uri="{FF2B5EF4-FFF2-40B4-BE49-F238E27FC236}">
                <a16:creationId xmlns:a16="http://schemas.microsoft.com/office/drawing/2014/main" id="{E8C637A1-A135-4FF9-BE82-B6BD70DF52CC}"/>
              </a:ext>
            </a:extLst>
          </p:cNvPr>
          <p:cNvCxnSpPr>
            <a:cxnSpLocks/>
            <a:stCxn id="94" idx="3"/>
            <a:endCxn id="95" idx="1"/>
          </p:cNvCxnSpPr>
          <p:nvPr/>
        </p:nvCxnSpPr>
        <p:spPr>
          <a:xfrm flipV="1">
            <a:off x="7093957" y="2765727"/>
            <a:ext cx="654836" cy="952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接點: 肘形 98">
            <a:extLst>
              <a:ext uri="{FF2B5EF4-FFF2-40B4-BE49-F238E27FC236}">
                <a16:creationId xmlns:a16="http://schemas.microsoft.com/office/drawing/2014/main" id="{F923F2E7-2D8C-47D0-968B-EB20338E7132}"/>
              </a:ext>
            </a:extLst>
          </p:cNvPr>
          <p:cNvCxnSpPr>
            <a:cxnSpLocks/>
            <a:stCxn id="93" idx="3"/>
            <a:endCxn id="95" idx="1"/>
          </p:cNvCxnSpPr>
          <p:nvPr/>
        </p:nvCxnSpPr>
        <p:spPr>
          <a:xfrm>
            <a:off x="7093957" y="2299138"/>
            <a:ext cx="654836" cy="46658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矩形: 圓角 104">
                <a:extLst>
                  <a:ext uri="{FF2B5EF4-FFF2-40B4-BE49-F238E27FC236}">
                    <a16:creationId xmlns:a16="http://schemas.microsoft.com/office/drawing/2014/main" id="{910973F7-A0CD-43CE-8431-F157D041DF6F}"/>
                  </a:ext>
                </a:extLst>
              </p:cNvPr>
              <p:cNvSpPr/>
              <p:nvPr/>
            </p:nvSpPr>
            <p:spPr>
              <a:xfrm>
                <a:off x="7748792" y="2123452"/>
                <a:ext cx="918183" cy="297690"/>
              </a:xfrm>
              <a:prstGeom prst="roundRect">
                <a:avLst>
                  <a:gd name="adj" fmla="val 9757"/>
                </a:avLst>
              </a:prstGeom>
              <a:solidFill>
                <a:srgbClr val="F5F5FD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限制式類型</a:t>
                </a:r>
                <a:endParaRPr lang="en-US" altLang="zh-TW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lang="en-US" altLang="zh-TW" sz="700" b="1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700" b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</m:ctrlPr>
                        </m:dPr>
                        <m:e>
                          <m:r>
                            <a:rPr lang="en-US" altLang="zh-TW" sz="700" b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≤,≥</m:t>
                          </m:r>
                          <m:r>
                            <a:rPr lang="en-US" altLang="zh-TW" sz="700" b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,=</m:t>
                          </m:r>
                        </m:e>
                      </m:d>
                    </m:oMath>
                  </m:oMathPara>
                </a14:m>
                <a:endParaRPr lang="zh-TW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5" name="矩形: 圓角 104">
                <a:extLst>
                  <a:ext uri="{FF2B5EF4-FFF2-40B4-BE49-F238E27FC236}">
                    <a16:creationId xmlns:a16="http://schemas.microsoft.com/office/drawing/2014/main" id="{910973F7-A0CD-43CE-8431-F157D041DF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2" y="2123452"/>
                <a:ext cx="918183" cy="297690"/>
              </a:xfrm>
              <a:prstGeom prst="roundRect">
                <a:avLst>
                  <a:gd name="adj" fmla="val 9757"/>
                </a:avLst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接點: 肘形 105">
            <a:extLst>
              <a:ext uri="{FF2B5EF4-FFF2-40B4-BE49-F238E27FC236}">
                <a16:creationId xmlns:a16="http://schemas.microsoft.com/office/drawing/2014/main" id="{EB2D848A-7A69-450C-92BF-53679F0924A5}"/>
              </a:ext>
            </a:extLst>
          </p:cNvPr>
          <p:cNvCxnSpPr>
            <a:cxnSpLocks/>
            <a:stCxn id="105" idx="2"/>
            <a:endCxn id="95" idx="0"/>
          </p:cNvCxnSpPr>
          <p:nvPr/>
        </p:nvCxnSpPr>
        <p:spPr>
          <a:xfrm rot="16200000" flipH="1">
            <a:off x="8110014" y="2519011"/>
            <a:ext cx="195740" cy="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49943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1E754DDF-9F56-4795-87BE-2BFF55737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207" y="1075609"/>
            <a:ext cx="2630464" cy="363926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DF0F85A-D8BE-489F-8A26-3F9E8BB6D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735" y="421446"/>
            <a:ext cx="7605553" cy="264977"/>
          </a:xfrm>
        </p:spPr>
        <p:txBody>
          <a:bodyPr/>
          <a:lstStyle/>
          <a:p>
            <a:r>
              <a:rPr lang="zh-TW" altLang="en-US" dirty="0"/>
              <a:t>框架說明｜</a:t>
            </a:r>
            <a:r>
              <a:rPr lang="zh-TW" altLang="en-US" b="0" dirty="0"/>
              <a:t>目標式設計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B04F98-C67E-4BB2-A8FC-D45C046C6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Dev. Framework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04602B-3F3A-44D6-8FC7-8D6198579B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/>
              <a:t>02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BDA344-228E-467F-9CAE-213808D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B1EDA-9669-4099-AA83-49C2D8E17945}" type="slidenum">
              <a:rPr lang="zh-TW" altLang="en-US" smtClean="0"/>
              <a:t>21</a:t>
            </a:fld>
            <a:endParaRPr lang="zh-TW" altLang="en-US" dirty="0"/>
          </a:p>
        </p:txBody>
      </p:sp>
      <p:sp>
        <p:nvSpPr>
          <p:cNvPr id="149" name="矩形: 圓角 148">
            <a:extLst>
              <a:ext uri="{FF2B5EF4-FFF2-40B4-BE49-F238E27FC236}">
                <a16:creationId xmlns:a16="http://schemas.microsoft.com/office/drawing/2014/main" id="{FE545425-9B04-4E5D-B091-A6215F3D068F}"/>
              </a:ext>
            </a:extLst>
          </p:cNvPr>
          <p:cNvSpPr/>
          <p:nvPr/>
        </p:nvSpPr>
        <p:spPr>
          <a:xfrm>
            <a:off x="8394870" y="55476"/>
            <a:ext cx="638640" cy="63052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50" name="矩形: 圓角 149">
            <a:extLst>
              <a:ext uri="{FF2B5EF4-FFF2-40B4-BE49-F238E27FC236}">
                <a16:creationId xmlns:a16="http://schemas.microsoft.com/office/drawing/2014/main" id="{758BC960-EED1-4DAD-A1C2-36F036C0079A}"/>
              </a:ext>
            </a:extLst>
          </p:cNvPr>
          <p:cNvSpPr/>
          <p:nvPr/>
        </p:nvSpPr>
        <p:spPr>
          <a:xfrm>
            <a:off x="8394870" y="55476"/>
            <a:ext cx="638640" cy="63052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FCDFF62A-6DF5-44C0-8747-24941E51DF31}"/>
              </a:ext>
            </a:extLst>
          </p:cNvPr>
          <p:cNvSpPr txBox="1"/>
          <p:nvPr/>
        </p:nvSpPr>
        <p:spPr>
          <a:xfrm>
            <a:off x="8454985" y="123338"/>
            <a:ext cx="52958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en-US" altLang="zh-TW" sz="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CSV</a:t>
            </a:r>
            <a:r>
              <a:rPr lang="zh-TW" altLang="en-US" sz="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 管理</a:t>
            </a:r>
            <a:endParaRPr lang="en-US" altLang="zh-TW" sz="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152" name="直線接點 151">
            <a:extLst>
              <a:ext uri="{FF2B5EF4-FFF2-40B4-BE49-F238E27FC236}">
                <a16:creationId xmlns:a16="http://schemas.microsoft.com/office/drawing/2014/main" id="{60C32A9E-2D1E-491A-A012-7AF2103BA5FC}"/>
              </a:ext>
            </a:extLst>
          </p:cNvPr>
          <p:cNvCxnSpPr>
            <a:cxnSpLocks/>
          </p:cNvCxnSpPr>
          <p:nvPr/>
        </p:nvCxnSpPr>
        <p:spPr>
          <a:xfrm>
            <a:off x="8467751" y="275996"/>
            <a:ext cx="50405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" name="圖片 152">
            <a:extLst>
              <a:ext uri="{FF2B5EF4-FFF2-40B4-BE49-F238E27FC236}">
                <a16:creationId xmlns:a16="http://schemas.microsoft.com/office/drawing/2014/main" id="{F96B620D-4345-4E5E-A839-65631B0D76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79060" y="325745"/>
            <a:ext cx="281434" cy="28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矩形: 圓角 153">
            <a:extLst>
              <a:ext uri="{FF2B5EF4-FFF2-40B4-BE49-F238E27FC236}">
                <a16:creationId xmlns:a16="http://schemas.microsoft.com/office/drawing/2014/main" id="{A9294E1F-6F27-4A19-B8FD-15EAFE0CE3F9}"/>
              </a:ext>
            </a:extLst>
          </p:cNvPr>
          <p:cNvSpPr/>
          <p:nvPr/>
        </p:nvSpPr>
        <p:spPr>
          <a:xfrm>
            <a:off x="7685348" y="55476"/>
            <a:ext cx="638640" cy="63052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55" name="矩形: 圓角 154">
            <a:extLst>
              <a:ext uri="{FF2B5EF4-FFF2-40B4-BE49-F238E27FC236}">
                <a16:creationId xmlns:a16="http://schemas.microsoft.com/office/drawing/2014/main" id="{EB810458-DA97-475C-9B29-34F797C69E22}"/>
              </a:ext>
            </a:extLst>
          </p:cNvPr>
          <p:cNvSpPr/>
          <p:nvPr/>
        </p:nvSpPr>
        <p:spPr>
          <a:xfrm>
            <a:off x="7685348" y="55476"/>
            <a:ext cx="638640" cy="63052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56" name="文字方塊 155">
            <a:extLst>
              <a:ext uri="{FF2B5EF4-FFF2-40B4-BE49-F238E27FC236}">
                <a16:creationId xmlns:a16="http://schemas.microsoft.com/office/drawing/2014/main" id="{649D463E-82CF-4B4C-9416-596D27B73B3B}"/>
              </a:ext>
            </a:extLst>
          </p:cNvPr>
          <p:cNvSpPr txBox="1"/>
          <p:nvPr/>
        </p:nvSpPr>
        <p:spPr>
          <a:xfrm>
            <a:off x="7696519" y="123338"/>
            <a:ext cx="62746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zh-TW" altLang="en-US" sz="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資料庫管理</a:t>
            </a:r>
            <a:endParaRPr lang="en-US" altLang="zh-TW" sz="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157" name="直線接點 156">
            <a:extLst>
              <a:ext uri="{FF2B5EF4-FFF2-40B4-BE49-F238E27FC236}">
                <a16:creationId xmlns:a16="http://schemas.microsoft.com/office/drawing/2014/main" id="{03EE9949-FFE0-4DC3-AE1A-9EF917D15A13}"/>
              </a:ext>
            </a:extLst>
          </p:cNvPr>
          <p:cNvCxnSpPr>
            <a:cxnSpLocks/>
          </p:cNvCxnSpPr>
          <p:nvPr/>
        </p:nvCxnSpPr>
        <p:spPr>
          <a:xfrm>
            <a:off x="7758228" y="275996"/>
            <a:ext cx="50405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" name="圖片 162">
            <a:extLst>
              <a:ext uri="{FF2B5EF4-FFF2-40B4-BE49-F238E27FC236}">
                <a16:creationId xmlns:a16="http://schemas.microsoft.com/office/drawing/2014/main" id="{3237EFF5-1056-4047-A5FF-F3633330C1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452" y="324543"/>
            <a:ext cx="279602" cy="28384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矩形: 圓角 163">
            <a:extLst>
              <a:ext uri="{FF2B5EF4-FFF2-40B4-BE49-F238E27FC236}">
                <a16:creationId xmlns:a16="http://schemas.microsoft.com/office/drawing/2014/main" id="{3B18F373-5725-419B-86E0-3173A21C04C8}"/>
              </a:ext>
            </a:extLst>
          </p:cNvPr>
          <p:cNvSpPr/>
          <p:nvPr/>
        </p:nvSpPr>
        <p:spPr>
          <a:xfrm>
            <a:off x="6985000" y="55476"/>
            <a:ext cx="638640" cy="63052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69" name="矩形: 圓角 168">
            <a:extLst>
              <a:ext uri="{FF2B5EF4-FFF2-40B4-BE49-F238E27FC236}">
                <a16:creationId xmlns:a16="http://schemas.microsoft.com/office/drawing/2014/main" id="{1B576F4F-BF98-46A6-818D-51028FD7F956}"/>
              </a:ext>
            </a:extLst>
          </p:cNvPr>
          <p:cNvSpPr/>
          <p:nvPr/>
        </p:nvSpPr>
        <p:spPr>
          <a:xfrm>
            <a:off x="6985000" y="55476"/>
            <a:ext cx="638640" cy="630523"/>
          </a:xfrm>
          <a:prstGeom prst="roundRect">
            <a:avLst/>
          </a:prstGeom>
          <a:solidFill>
            <a:srgbClr val="F5F5F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70" name="文字方塊 169">
            <a:extLst>
              <a:ext uri="{FF2B5EF4-FFF2-40B4-BE49-F238E27FC236}">
                <a16:creationId xmlns:a16="http://schemas.microsoft.com/office/drawing/2014/main" id="{32539D90-FCF4-4A82-A8E9-D16BAB7EC16E}"/>
              </a:ext>
            </a:extLst>
          </p:cNvPr>
          <p:cNvSpPr txBox="1"/>
          <p:nvPr/>
        </p:nvSpPr>
        <p:spPr>
          <a:xfrm>
            <a:off x="6996171" y="123338"/>
            <a:ext cx="62746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zh-TW" altLang="en-US" sz="600" b="1" dirty="0">
                <a:solidFill>
                  <a:srgbClr val="7030A0"/>
                </a:solidFill>
                <a:latin typeface="+mn-ea"/>
              </a:rPr>
              <a:t>求解器引擎</a:t>
            </a:r>
          </a:p>
        </p:txBody>
      </p:sp>
      <p:cxnSp>
        <p:nvCxnSpPr>
          <p:cNvPr id="171" name="直線接點 170">
            <a:extLst>
              <a:ext uri="{FF2B5EF4-FFF2-40B4-BE49-F238E27FC236}">
                <a16:creationId xmlns:a16="http://schemas.microsoft.com/office/drawing/2014/main" id="{C025DC3F-BBDF-46B8-8547-51E52A619152}"/>
              </a:ext>
            </a:extLst>
          </p:cNvPr>
          <p:cNvCxnSpPr>
            <a:cxnSpLocks/>
          </p:cNvCxnSpPr>
          <p:nvPr/>
        </p:nvCxnSpPr>
        <p:spPr>
          <a:xfrm>
            <a:off x="7057880" y="275996"/>
            <a:ext cx="50405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3" name="圖片 172">
            <a:extLst>
              <a:ext uri="{FF2B5EF4-FFF2-40B4-BE49-F238E27FC236}">
                <a16:creationId xmlns:a16="http://schemas.microsoft.com/office/drawing/2014/main" id="{0F251BB6-3208-4F5B-A235-32AD758B00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70104" y="325175"/>
            <a:ext cx="279602" cy="2825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群組 40">
            <a:extLst>
              <a:ext uri="{FF2B5EF4-FFF2-40B4-BE49-F238E27FC236}">
                <a16:creationId xmlns:a16="http://schemas.microsoft.com/office/drawing/2014/main" id="{DD5DED73-8104-4C64-93C8-BBF81BA25586}"/>
              </a:ext>
            </a:extLst>
          </p:cNvPr>
          <p:cNvGrpSpPr/>
          <p:nvPr/>
        </p:nvGrpSpPr>
        <p:grpSpPr>
          <a:xfrm>
            <a:off x="3465628" y="113575"/>
            <a:ext cx="3478047" cy="534722"/>
            <a:chOff x="3465628" y="74334"/>
            <a:chExt cx="3478047" cy="534722"/>
          </a:xfrm>
        </p:grpSpPr>
        <p:pic>
          <p:nvPicPr>
            <p:cNvPr id="177" name="圖片 176">
              <a:extLst>
                <a:ext uri="{FF2B5EF4-FFF2-40B4-BE49-F238E27FC236}">
                  <a16:creationId xmlns:a16="http://schemas.microsoft.com/office/drawing/2014/main" id="{2F96E448-83F4-4DAC-B926-DCDE11F2A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465628" y="74334"/>
              <a:ext cx="257310" cy="257310"/>
            </a:xfrm>
            <a:prstGeom prst="rect">
              <a:avLst/>
            </a:prstGeom>
          </p:spPr>
        </p:pic>
        <p:pic>
          <p:nvPicPr>
            <p:cNvPr id="183" name="圖片 182">
              <a:extLst>
                <a:ext uri="{FF2B5EF4-FFF2-40B4-BE49-F238E27FC236}">
                  <a16:creationId xmlns:a16="http://schemas.microsoft.com/office/drawing/2014/main" id="{3E6727DA-5349-42B7-BECE-EC4A0A6A6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465628" y="351746"/>
              <a:ext cx="257310" cy="257310"/>
            </a:xfrm>
            <a:prstGeom prst="rect">
              <a:avLst/>
            </a:prstGeom>
          </p:spPr>
        </p:pic>
        <p:pic>
          <p:nvPicPr>
            <p:cNvPr id="184" name="圖片 183">
              <a:extLst>
                <a:ext uri="{FF2B5EF4-FFF2-40B4-BE49-F238E27FC236}">
                  <a16:creationId xmlns:a16="http://schemas.microsoft.com/office/drawing/2014/main" id="{E79D55AC-21B2-4B65-B7D9-E20D4DBF0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091056" y="74334"/>
              <a:ext cx="257310" cy="257310"/>
            </a:xfrm>
            <a:prstGeom prst="rect">
              <a:avLst/>
            </a:prstGeom>
          </p:spPr>
        </p:pic>
        <p:pic>
          <p:nvPicPr>
            <p:cNvPr id="186" name="圖片 185">
              <a:extLst>
                <a:ext uri="{FF2B5EF4-FFF2-40B4-BE49-F238E27FC236}">
                  <a16:creationId xmlns:a16="http://schemas.microsoft.com/office/drawing/2014/main" id="{560427B0-0CD4-4FA4-8CE1-E6833C71A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091056" y="351746"/>
              <a:ext cx="257310" cy="257310"/>
            </a:xfrm>
            <a:prstGeom prst="rect">
              <a:avLst/>
            </a:prstGeom>
          </p:spPr>
        </p:pic>
        <p:sp>
          <p:nvSpPr>
            <p:cNvPr id="188" name="文字方塊 187">
              <a:extLst>
                <a:ext uri="{FF2B5EF4-FFF2-40B4-BE49-F238E27FC236}">
                  <a16:creationId xmlns:a16="http://schemas.microsoft.com/office/drawing/2014/main" id="{3E56B659-0B34-4421-9D51-35D2CCC63DCE}"/>
                </a:ext>
              </a:extLst>
            </p:cNvPr>
            <p:cNvSpPr txBox="1"/>
            <p:nvPr/>
          </p:nvSpPr>
          <p:spPr>
            <a:xfrm>
              <a:off x="3711955" y="79879"/>
              <a:ext cx="13131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Parameter_xxx.cs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  <p:sp>
          <p:nvSpPr>
            <p:cNvPr id="189" name="文字方塊 188">
              <a:extLst>
                <a:ext uri="{FF2B5EF4-FFF2-40B4-BE49-F238E27FC236}">
                  <a16:creationId xmlns:a16="http://schemas.microsoft.com/office/drawing/2014/main" id="{09545EAD-6894-4D7C-9E36-86C2904C2042}"/>
                </a:ext>
              </a:extLst>
            </p:cNvPr>
            <p:cNvSpPr txBox="1"/>
            <p:nvPr/>
          </p:nvSpPr>
          <p:spPr>
            <a:xfrm>
              <a:off x="3711955" y="357291"/>
              <a:ext cx="13131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VariableX_xxx.cs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  <p:sp>
          <p:nvSpPr>
            <p:cNvPr id="191" name="文字方塊 190">
              <a:extLst>
                <a:ext uri="{FF2B5EF4-FFF2-40B4-BE49-F238E27FC236}">
                  <a16:creationId xmlns:a16="http://schemas.microsoft.com/office/drawing/2014/main" id="{CC7AF9B4-159B-4656-8340-D76A4075A045}"/>
                </a:ext>
              </a:extLst>
            </p:cNvPr>
            <p:cNvSpPr txBox="1"/>
            <p:nvPr/>
          </p:nvSpPr>
          <p:spPr>
            <a:xfrm>
              <a:off x="5348366" y="79879"/>
              <a:ext cx="13837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Constraint_xxx.cs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  <p:sp>
          <p:nvSpPr>
            <p:cNvPr id="192" name="文字方塊 191">
              <a:extLst>
                <a:ext uri="{FF2B5EF4-FFF2-40B4-BE49-F238E27FC236}">
                  <a16:creationId xmlns:a16="http://schemas.microsoft.com/office/drawing/2014/main" id="{DBB1E7C6-B8CE-4726-BE55-9A3DA29B2179}"/>
                </a:ext>
              </a:extLst>
            </p:cNvPr>
            <p:cNvSpPr txBox="1"/>
            <p:nvPr/>
          </p:nvSpPr>
          <p:spPr>
            <a:xfrm>
              <a:off x="5348366" y="357291"/>
              <a:ext cx="159530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ObjectiveFunction.cs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</p:grpSp>
      <p:pic>
        <p:nvPicPr>
          <p:cNvPr id="193" name="圖片 192">
            <a:extLst>
              <a:ext uri="{FF2B5EF4-FFF2-40B4-BE49-F238E27FC236}">
                <a16:creationId xmlns:a16="http://schemas.microsoft.com/office/drawing/2014/main" id="{81CD8D0A-DF34-4C57-8B9A-F85F80B609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0825" y="848791"/>
            <a:ext cx="655448" cy="655448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9531E2D1-E3D6-4BCB-9A00-34D98127C7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855" y="1604872"/>
            <a:ext cx="1232023" cy="1465402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7D26C937-B28F-4D5C-BF96-FCB20D1A7BA3}"/>
              </a:ext>
            </a:extLst>
          </p:cNvPr>
          <p:cNvSpPr/>
          <p:nvPr/>
        </p:nvSpPr>
        <p:spPr>
          <a:xfrm>
            <a:off x="437831" y="2948084"/>
            <a:ext cx="1245047" cy="12724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接點: 肘形 32">
            <a:extLst>
              <a:ext uri="{FF2B5EF4-FFF2-40B4-BE49-F238E27FC236}">
                <a16:creationId xmlns:a16="http://schemas.microsoft.com/office/drawing/2014/main" id="{0A2F3768-7D21-46F9-9300-7CDE63A490BB}"/>
              </a:ext>
            </a:extLst>
          </p:cNvPr>
          <p:cNvCxnSpPr>
            <a:cxnSpLocks/>
            <a:stCxn id="32" idx="3"/>
            <a:endCxn id="39" idx="1"/>
          </p:cNvCxnSpPr>
          <p:nvPr/>
        </p:nvCxnSpPr>
        <p:spPr>
          <a:xfrm flipV="1">
            <a:off x="1682878" y="1685007"/>
            <a:ext cx="879986" cy="1326701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4D3F8183-4641-4C55-A764-62851038F4DC}"/>
              </a:ext>
            </a:extLst>
          </p:cNvPr>
          <p:cNvSpPr/>
          <p:nvPr/>
        </p:nvSpPr>
        <p:spPr>
          <a:xfrm>
            <a:off x="2562864" y="1649164"/>
            <a:ext cx="640711" cy="7168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左大括弧 11">
            <a:extLst>
              <a:ext uri="{FF2B5EF4-FFF2-40B4-BE49-F238E27FC236}">
                <a16:creationId xmlns:a16="http://schemas.microsoft.com/office/drawing/2014/main" id="{C8B0B959-BD68-43B9-9002-79F7959D53DF}"/>
              </a:ext>
            </a:extLst>
          </p:cNvPr>
          <p:cNvSpPr/>
          <p:nvPr/>
        </p:nvSpPr>
        <p:spPr>
          <a:xfrm>
            <a:off x="2483768" y="1785938"/>
            <a:ext cx="144017" cy="1647825"/>
          </a:xfrm>
          <a:prstGeom prst="leftBrace">
            <a:avLst>
              <a:gd name="adj1" fmla="val 8333"/>
              <a:gd name="adj2" fmla="val 9060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左大括弧 48">
            <a:extLst>
              <a:ext uri="{FF2B5EF4-FFF2-40B4-BE49-F238E27FC236}">
                <a16:creationId xmlns:a16="http://schemas.microsoft.com/office/drawing/2014/main" id="{0D4112A4-CCFF-4594-ACE0-73FE9DD57C8A}"/>
              </a:ext>
            </a:extLst>
          </p:cNvPr>
          <p:cNvSpPr/>
          <p:nvPr/>
        </p:nvSpPr>
        <p:spPr>
          <a:xfrm>
            <a:off x="2483768" y="3516530"/>
            <a:ext cx="144016" cy="1064995"/>
          </a:xfrm>
          <a:prstGeom prst="leftBrac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953777C-C620-4174-B995-1BDDFF71C2C8}"/>
              </a:ext>
            </a:extLst>
          </p:cNvPr>
          <p:cNvSpPr txBox="1"/>
          <p:nvPr/>
        </p:nvSpPr>
        <p:spPr>
          <a:xfrm>
            <a:off x="1348345" y="3129774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b="1" dirty="0">
                <a:solidFill>
                  <a:srgbClr val="C00000"/>
                </a:solidFill>
              </a:rPr>
              <a:t>定義所需參數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B7A4A6AB-8561-4923-B1A3-6F78EAFD1CC9}"/>
              </a:ext>
            </a:extLst>
          </p:cNvPr>
          <p:cNvSpPr txBox="1"/>
          <p:nvPr/>
        </p:nvSpPr>
        <p:spPr>
          <a:xfrm>
            <a:off x="1320783" y="3899001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b="1" dirty="0">
                <a:solidFill>
                  <a:srgbClr val="C00000"/>
                </a:solidFill>
              </a:rPr>
              <a:t>撰寫限制邏輯</a:t>
            </a:r>
          </a:p>
        </p:txBody>
      </p:sp>
      <p:grpSp>
        <p:nvGrpSpPr>
          <p:cNvPr id="60" name="群組 59">
            <a:extLst>
              <a:ext uri="{FF2B5EF4-FFF2-40B4-BE49-F238E27FC236}">
                <a16:creationId xmlns:a16="http://schemas.microsoft.com/office/drawing/2014/main" id="{A395406E-D389-40FE-955B-10932562BD1C}"/>
              </a:ext>
            </a:extLst>
          </p:cNvPr>
          <p:cNvGrpSpPr/>
          <p:nvPr/>
        </p:nvGrpSpPr>
        <p:grpSpPr>
          <a:xfrm>
            <a:off x="59447" y="4246158"/>
            <a:ext cx="1900251" cy="430651"/>
            <a:chOff x="4822311" y="3169455"/>
            <a:chExt cx="1900251" cy="430651"/>
          </a:xfrm>
        </p:grpSpPr>
        <p:grpSp>
          <p:nvGrpSpPr>
            <p:cNvPr id="61" name="群組 60">
              <a:extLst>
                <a:ext uri="{FF2B5EF4-FFF2-40B4-BE49-F238E27FC236}">
                  <a16:creationId xmlns:a16="http://schemas.microsoft.com/office/drawing/2014/main" id="{9242F3F8-4512-4B78-8E9B-C7DA4DA01A4E}"/>
                </a:ext>
              </a:extLst>
            </p:cNvPr>
            <p:cNvGrpSpPr/>
            <p:nvPr/>
          </p:nvGrpSpPr>
          <p:grpSpPr>
            <a:xfrm>
              <a:off x="4822311" y="3169455"/>
              <a:ext cx="1226336" cy="430651"/>
              <a:chOff x="5852832" y="3256126"/>
              <a:chExt cx="1226336" cy="430651"/>
            </a:xfrm>
          </p:grpSpPr>
          <p:sp>
            <p:nvSpPr>
              <p:cNvPr id="64" name="十字形 63">
                <a:extLst>
                  <a:ext uri="{FF2B5EF4-FFF2-40B4-BE49-F238E27FC236}">
                    <a16:creationId xmlns:a16="http://schemas.microsoft.com/office/drawing/2014/main" id="{819CDB28-1153-49AF-96FB-6C3C4BF7FE27}"/>
                  </a:ext>
                </a:extLst>
              </p:cNvPr>
              <p:cNvSpPr/>
              <p:nvPr/>
            </p:nvSpPr>
            <p:spPr>
              <a:xfrm>
                <a:off x="6376979" y="3382430"/>
                <a:ext cx="178042" cy="178042"/>
              </a:xfrm>
              <a:prstGeom prst="plus">
                <a:avLst>
                  <a:gd name="adj" fmla="val 37328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65" name="群組 64">
                <a:extLst>
                  <a:ext uri="{FF2B5EF4-FFF2-40B4-BE49-F238E27FC236}">
                    <a16:creationId xmlns:a16="http://schemas.microsoft.com/office/drawing/2014/main" id="{529579EE-2E2A-4291-A1A3-A04903C8DA24}"/>
                  </a:ext>
                </a:extLst>
              </p:cNvPr>
              <p:cNvGrpSpPr/>
              <p:nvPr/>
            </p:nvGrpSpPr>
            <p:grpSpPr>
              <a:xfrm>
                <a:off x="6626043" y="3256126"/>
                <a:ext cx="453125" cy="430651"/>
                <a:chOff x="7206798" y="154344"/>
                <a:chExt cx="453125" cy="430651"/>
              </a:xfrm>
            </p:grpSpPr>
            <p:pic>
              <p:nvPicPr>
                <p:cNvPr id="70" name="圖片 69">
                  <a:extLst>
                    <a:ext uri="{FF2B5EF4-FFF2-40B4-BE49-F238E27FC236}">
                      <a16:creationId xmlns:a16="http://schemas.microsoft.com/office/drawing/2014/main" id="{11135E64-3CB3-4B3E-A9C4-FE15AE1446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306380" y="154344"/>
                  <a:ext cx="257310" cy="257310"/>
                </a:xfrm>
                <a:prstGeom prst="rect">
                  <a:avLst/>
                </a:prstGeom>
              </p:spPr>
            </p:pic>
            <p:pic>
              <p:nvPicPr>
                <p:cNvPr id="71" name="圖片 70">
                  <a:extLst>
                    <a:ext uri="{FF2B5EF4-FFF2-40B4-BE49-F238E27FC236}">
                      <a16:creationId xmlns:a16="http://schemas.microsoft.com/office/drawing/2014/main" id="{0E271146-9EA3-4263-91E6-CF11D4464A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402613" y="327685"/>
                  <a:ext cx="257310" cy="257310"/>
                </a:xfrm>
                <a:prstGeom prst="rect">
                  <a:avLst/>
                </a:prstGeom>
              </p:spPr>
            </p:pic>
            <p:pic>
              <p:nvPicPr>
                <p:cNvPr id="72" name="圖片 71">
                  <a:extLst>
                    <a:ext uri="{FF2B5EF4-FFF2-40B4-BE49-F238E27FC236}">
                      <a16:creationId xmlns:a16="http://schemas.microsoft.com/office/drawing/2014/main" id="{C78889CE-4973-4CAB-8B73-59FD0BC7F1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206798" y="327685"/>
                  <a:ext cx="257310" cy="257310"/>
                </a:xfrm>
                <a:prstGeom prst="rect">
                  <a:avLst/>
                </a:prstGeom>
              </p:spPr>
            </p:pic>
          </p:grpSp>
          <p:grpSp>
            <p:nvGrpSpPr>
              <p:cNvPr id="66" name="群組 65">
                <a:extLst>
                  <a:ext uri="{FF2B5EF4-FFF2-40B4-BE49-F238E27FC236}">
                    <a16:creationId xmlns:a16="http://schemas.microsoft.com/office/drawing/2014/main" id="{11B6B9B8-B146-4847-95A0-BBDBE81B40AE}"/>
                  </a:ext>
                </a:extLst>
              </p:cNvPr>
              <p:cNvGrpSpPr/>
              <p:nvPr/>
            </p:nvGrpSpPr>
            <p:grpSpPr>
              <a:xfrm>
                <a:off x="5852832" y="3256126"/>
                <a:ext cx="453125" cy="430651"/>
                <a:chOff x="7206798" y="154344"/>
                <a:chExt cx="453125" cy="430651"/>
              </a:xfrm>
            </p:grpSpPr>
            <p:pic>
              <p:nvPicPr>
                <p:cNvPr id="67" name="圖片 66">
                  <a:extLst>
                    <a:ext uri="{FF2B5EF4-FFF2-40B4-BE49-F238E27FC236}">
                      <a16:creationId xmlns:a16="http://schemas.microsoft.com/office/drawing/2014/main" id="{00E9F01B-1E3E-4CB0-A42B-AE406DB4F9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duotone>
                    <a:prstClr val="black"/>
                    <a:schemeClr val="accent1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306380" y="154344"/>
                  <a:ext cx="257310" cy="257310"/>
                </a:xfrm>
                <a:prstGeom prst="rect">
                  <a:avLst/>
                </a:prstGeom>
              </p:spPr>
            </p:pic>
            <p:pic>
              <p:nvPicPr>
                <p:cNvPr id="68" name="圖片 67">
                  <a:extLst>
                    <a:ext uri="{FF2B5EF4-FFF2-40B4-BE49-F238E27FC236}">
                      <a16:creationId xmlns:a16="http://schemas.microsoft.com/office/drawing/2014/main" id="{3E324CD2-0A83-40B4-A6AC-C3EB16D523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duotone>
                    <a:prstClr val="black"/>
                    <a:schemeClr val="accent1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402613" y="327685"/>
                  <a:ext cx="257310" cy="257310"/>
                </a:xfrm>
                <a:prstGeom prst="rect">
                  <a:avLst/>
                </a:prstGeom>
              </p:spPr>
            </p:pic>
            <p:pic>
              <p:nvPicPr>
                <p:cNvPr id="69" name="圖片 68">
                  <a:extLst>
                    <a:ext uri="{FF2B5EF4-FFF2-40B4-BE49-F238E27FC236}">
                      <a16:creationId xmlns:a16="http://schemas.microsoft.com/office/drawing/2014/main" id="{72A7A8C1-EE10-4403-8AE8-255E9BABDF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duotone>
                    <a:prstClr val="black"/>
                    <a:schemeClr val="accent1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206798" y="327685"/>
                  <a:ext cx="257310" cy="257310"/>
                </a:xfrm>
                <a:prstGeom prst="rect">
                  <a:avLst/>
                </a:prstGeom>
              </p:spPr>
            </p:pic>
          </p:grpSp>
        </p:grpSp>
        <p:pic>
          <p:nvPicPr>
            <p:cNvPr id="62" name="圖片 61">
              <a:extLst>
                <a:ext uri="{FF2B5EF4-FFF2-40B4-BE49-F238E27FC236}">
                  <a16:creationId xmlns:a16="http://schemas.microsoft.com/office/drawing/2014/main" id="{A06B1D17-A8C0-4456-9392-06415E0755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471378" y="3256125"/>
              <a:ext cx="251184" cy="257310"/>
            </a:xfrm>
            <a:prstGeom prst="rect">
              <a:avLst/>
            </a:prstGeom>
          </p:spPr>
        </p:pic>
        <p:sp>
          <p:nvSpPr>
            <p:cNvPr id="63" name="等於 62">
              <a:extLst>
                <a:ext uri="{FF2B5EF4-FFF2-40B4-BE49-F238E27FC236}">
                  <a16:creationId xmlns:a16="http://schemas.microsoft.com/office/drawing/2014/main" id="{D23E6400-4645-462C-A05C-B68FACA41C66}"/>
                </a:ext>
              </a:extLst>
            </p:cNvPr>
            <p:cNvSpPr/>
            <p:nvPr/>
          </p:nvSpPr>
          <p:spPr>
            <a:xfrm>
              <a:off x="6197000" y="3297297"/>
              <a:ext cx="135359" cy="174966"/>
            </a:xfrm>
            <a:prstGeom prst="mathEqual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D9670CF2-6B99-4C1F-8EB5-42C464376885}"/>
              </a:ext>
            </a:extLst>
          </p:cNvPr>
          <p:cNvSpPr txBox="1"/>
          <p:nvPr/>
        </p:nvSpPr>
        <p:spPr>
          <a:xfrm>
            <a:off x="5567677" y="1097321"/>
            <a:ext cx="29207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b="1" dirty="0"/>
              <a:t>相關涵式：</a:t>
            </a:r>
            <a:endParaRPr lang="en-US" altLang="zh-TW" sz="1200" b="1" dirty="0"/>
          </a:p>
          <a:p>
            <a:r>
              <a:rPr lang="en-US" altLang="zh-TW" sz="1200" dirty="0" err="1"/>
              <a:t>AddLHS</a:t>
            </a:r>
            <a:r>
              <a:rPr lang="en-US" altLang="zh-TW" sz="1200" dirty="0"/>
              <a:t>(</a:t>
            </a:r>
            <a:r>
              <a:rPr lang="zh-TW" altLang="en-US" sz="1200" dirty="0"/>
              <a:t>參數</a:t>
            </a:r>
            <a:r>
              <a:rPr lang="en-US" altLang="zh-TW" sz="1200" dirty="0"/>
              <a:t>,</a:t>
            </a:r>
            <a:r>
              <a:rPr lang="zh-TW" altLang="en-US" sz="1200" dirty="0"/>
              <a:t> 變數類別</a:t>
            </a:r>
            <a:r>
              <a:rPr lang="en-US" altLang="zh-TW" sz="1200" dirty="0"/>
              <a:t>)</a:t>
            </a:r>
          </a:p>
          <a:p>
            <a:r>
              <a:rPr lang="en-US" altLang="zh-TW" sz="1200" dirty="0" err="1"/>
              <a:t>CreateMinimize</a:t>
            </a:r>
            <a:r>
              <a:rPr lang="en-US" altLang="zh-TW" sz="1200" dirty="0"/>
              <a:t>()</a:t>
            </a:r>
          </a:p>
          <a:p>
            <a:r>
              <a:rPr lang="en-US" altLang="zh-TW" sz="1200" dirty="0" err="1"/>
              <a:t>CreateMaximize</a:t>
            </a:r>
            <a:r>
              <a:rPr lang="en-US" altLang="zh-TW" sz="1200" dirty="0"/>
              <a:t>()</a:t>
            </a:r>
          </a:p>
        </p:txBody>
      </p:sp>
      <p:pic>
        <p:nvPicPr>
          <p:cNvPr id="90" name="圖片 89">
            <a:extLst>
              <a:ext uri="{FF2B5EF4-FFF2-40B4-BE49-F238E27FC236}">
                <a16:creationId xmlns:a16="http://schemas.microsoft.com/office/drawing/2014/main" id="{BAACA3B2-6A19-4232-9757-00DBD83B19CB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483235" y="1375584"/>
            <a:ext cx="257310" cy="2573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矩形: 圓角 111">
                <a:extLst>
                  <a:ext uri="{FF2B5EF4-FFF2-40B4-BE49-F238E27FC236}">
                    <a16:creationId xmlns:a16="http://schemas.microsoft.com/office/drawing/2014/main" id="{40C8D4C5-8964-4D5B-B457-A68346C635DF}"/>
                  </a:ext>
                </a:extLst>
              </p:cNvPr>
              <p:cNvSpPr/>
              <p:nvPr/>
            </p:nvSpPr>
            <p:spPr>
              <a:xfrm>
                <a:off x="5565995" y="2049226"/>
                <a:ext cx="1617682" cy="407338"/>
              </a:xfrm>
              <a:prstGeom prst="roundRect">
                <a:avLst>
                  <a:gd name="adj" fmla="val 9757"/>
                </a:avLst>
              </a:prstGeom>
              <a:solidFill>
                <a:srgbClr val="F5F5FD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LHS</a:t>
                </a:r>
                <a:r>
                  <a:rPr lang="zh-TW" altLang="en-US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表達式</a:t>
                </a:r>
                <a:endParaRPr lang="en-US" altLang="zh-TW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TW" sz="7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rPr>
                      <m:t>𝐿</m:t>
                    </m:r>
                    <m:r>
                      <a:rPr lang="en-US" altLang="zh-TW" sz="7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rPr>
                      <m:t>𝐻</m:t>
                    </m:r>
                    <m:sSub>
                      <m:sSubPr>
                        <m:ctrlPr>
                          <a:rPr lang="en-US" altLang="zh-TW" sz="700" b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</m:ctrlPr>
                      </m:sSubPr>
                      <m:e>
                        <m:r>
                          <a:rPr lang="en-US" altLang="zh-TW" sz="700" b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  <m:t>𝑆</m:t>
                        </m:r>
                      </m:e>
                      <m:sub>
                        <m:r>
                          <a:rPr lang="en-US" altLang="zh-TW" sz="700" b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  <m:t>𝑖</m:t>
                        </m:r>
                      </m:sub>
                    </m:sSub>
                    <m:r>
                      <a:rPr lang="en-US" altLang="zh-TW" sz="7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rPr>
                      <m:t>≔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700" b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</m:ctrlPr>
                      </m:naryPr>
                      <m:sub>
                        <m:r>
                          <a:rPr lang="en-US" altLang="zh-TW" sz="700" b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TW" sz="700" b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700" b="1" dirty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</a:rPr>
                                </m:ctrlPr>
                              </m:accPr>
                              <m:e>
                                <m:r>
                                  <a:rPr lang="en-US" altLang="zh-TW" sz="700" b="1" dirty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700" b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700" b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700" b="1" dirty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</a:rPr>
                                </m:ctrlPr>
                              </m:accPr>
                              <m:e>
                                <m:r>
                                  <a:rPr lang="en-US" altLang="zh-TW" sz="700" b="1" dirty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700" b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altLang="zh-TW" sz="7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700" b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</m:ctrlPr>
                      </m:naryPr>
                      <m:sub>
                        <m:r>
                          <a:rPr lang="en-US" altLang="zh-TW" sz="700" b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TW" sz="700" b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700" b="1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</a:rPr>
                                </m:ctrlPr>
                              </m:accPr>
                              <m:e>
                                <m:r>
                                  <a:rPr lang="en-US" altLang="zh-TW" sz="700" b="1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</a:rPr>
                                  <m:t>𝑔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700" b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  <m:t>𝑖𝑘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700" b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700" b="1" dirty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</a:rPr>
                                </m:ctrlPr>
                              </m:accPr>
                              <m:e>
                                <m:r>
                                  <a:rPr lang="en-US" altLang="zh-TW" sz="700" b="1" dirty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700" b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zh-TW" sz="7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rPr>
                      <m:t>+</m:t>
                    </m:r>
                    <m:sSub>
                      <m:sSubPr>
                        <m:ctrlPr>
                          <a:rPr lang="en-US" altLang="zh-TW" sz="700" b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sz="700" b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</m:ctrlPr>
                          </m:accPr>
                          <m:e>
                            <m:r>
                              <a:rPr lang="en-US" altLang="zh-TW" sz="700" b="1" dirty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altLang="zh-TW" sz="700" b="1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112" name="矩形: 圓角 111">
                <a:extLst>
                  <a:ext uri="{FF2B5EF4-FFF2-40B4-BE49-F238E27FC236}">
                    <a16:creationId xmlns:a16="http://schemas.microsoft.com/office/drawing/2014/main" id="{40C8D4C5-8964-4D5B-B457-A68346C635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995" y="2049226"/>
                <a:ext cx="1617682" cy="407338"/>
              </a:xfrm>
              <a:prstGeom prst="roundRect">
                <a:avLst>
                  <a:gd name="adj" fmla="val 9757"/>
                </a:avLst>
              </a:prstGeom>
              <a:blipFill>
                <a:blip r:embed="rId11"/>
                <a:stretch>
                  <a:fillRect b="-39130"/>
                </a:stretch>
              </a:blip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矩形: 圓角 112">
                <a:extLst>
                  <a:ext uri="{FF2B5EF4-FFF2-40B4-BE49-F238E27FC236}">
                    <a16:creationId xmlns:a16="http://schemas.microsoft.com/office/drawing/2014/main" id="{2EA6BD7B-20C0-4F69-AFD7-CDE054EA9203}"/>
                  </a:ext>
                </a:extLst>
              </p:cNvPr>
              <p:cNvSpPr/>
              <p:nvPr/>
            </p:nvSpPr>
            <p:spPr>
              <a:xfrm>
                <a:off x="7445233" y="2104050"/>
                <a:ext cx="918183" cy="297690"/>
              </a:xfrm>
              <a:prstGeom prst="roundRect">
                <a:avLst>
                  <a:gd name="adj" fmla="val 9757"/>
                </a:avLst>
              </a:prstGeom>
              <a:solidFill>
                <a:srgbClr val="F5F5FD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目標式</a:t>
                </a:r>
                <a:endParaRPr lang="en-US" altLang="zh-TW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m:t>𝛿</m:t>
                      </m:r>
                      <m:d>
                        <m:dPr>
                          <m:ctrlP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</m:ctrlPr>
                        </m:dPr>
                        <m:e>
                          <m:r>
                            <a:rPr lang="en-US" altLang="zh-TW" sz="700" b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𝐿𝐻</m:t>
                          </m:r>
                          <m:sSub>
                            <m:sSubPr>
                              <m:ctrlPr>
                                <a:rPr lang="en-US" altLang="zh-TW" sz="700" b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</a:rPr>
                              </m:ctrlPr>
                            </m:sSubPr>
                            <m:e>
                              <m:r>
                                <a:rPr lang="en-US" altLang="zh-TW" sz="700" b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TW" sz="700" b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3" name="矩形: 圓角 112">
                <a:extLst>
                  <a:ext uri="{FF2B5EF4-FFF2-40B4-BE49-F238E27FC236}">
                    <a16:creationId xmlns:a16="http://schemas.microsoft.com/office/drawing/2014/main" id="{2EA6BD7B-20C0-4F69-AFD7-CDE054EA92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233" y="2104050"/>
                <a:ext cx="918183" cy="297690"/>
              </a:xfrm>
              <a:prstGeom prst="roundRect">
                <a:avLst>
                  <a:gd name="adj" fmla="val 9757"/>
                </a:avLst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矩形: 圓角 113">
                <a:extLst>
                  <a:ext uri="{FF2B5EF4-FFF2-40B4-BE49-F238E27FC236}">
                    <a16:creationId xmlns:a16="http://schemas.microsoft.com/office/drawing/2014/main" id="{B98BE418-2BF6-45CA-B66A-3D6056BEFCD3}"/>
                  </a:ext>
                </a:extLst>
              </p:cNvPr>
              <p:cNvSpPr/>
              <p:nvPr/>
            </p:nvSpPr>
            <p:spPr>
              <a:xfrm>
                <a:off x="7445233" y="1603742"/>
                <a:ext cx="918183" cy="297690"/>
              </a:xfrm>
              <a:prstGeom prst="roundRect">
                <a:avLst>
                  <a:gd name="adj" fmla="val 9757"/>
                </a:avLst>
              </a:prstGeom>
              <a:solidFill>
                <a:srgbClr val="F5F5FD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目標式類型</a:t>
                </a:r>
                <a:endParaRPr lang="en-US" altLang="zh-TW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m:t>𝛿</m:t>
                      </m:r>
                      <m:r>
                        <a:rPr lang="en-US" altLang="zh-TW" sz="7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</m:ctrlPr>
                        </m:dPr>
                        <m:e>
                          <m: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𝑚𝑖𝑛</m:t>
                          </m:r>
                          <m: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, </m:t>
                          </m:r>
                          <m:r>
                            <a:rPr lang="en-US" altLang="zh-TW" sz="700" b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m:t>𝑚𝑎𝑥</m:t>
                          </m:r>
                        </m:e>
                      </m:d>
                    </m:oMath>
                  </m:oMathPara>
                </a14:m>
                <a:endParaRPr lang="zh-TW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4" name="矩形: 圓角 113">
                <a:extLst>
                  <a:ext uri="{FF2B5EF4-FFF2-40B4-BE49-F238E27FC236}">
                    <a16:creationId xmlns:a16="http://schemas.microsoft.com/office/drawing/2014/main" id="{B98BE418-2BF6-45CA-B66A-3D6056BEFC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233" y="1603742"/>
                <a:ext cx="918183" cy="297690"/>
              </a:xfrm>
              <a:prstGeom prst="roundRect">
                <a:avLst>
                  <a:gd name="adj" fmla="val 9757"/>
                </a:avLst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C6D77C0D-B52A-41F1-AE7E-419745EC07B9}"/>
              </a:ext>
            </a:extLst>
          </p:cNvPr>
          <p:cNvCxnSpPr>
            <a:stCxn id="112" idx="3"/>
            <a:endCxn id="113" idx="1"/>
          </p:cNvCxnSpPr>
          <p:nvPr/>
        </p:nvCxnSpPr>
        <p:spPr>
          <a:xfrm>
            <a:off x="7183677" y="2252895"/>
            <a:ext cx="261556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直線單箭頭接點 121">
            <a:extLst>
              <a:ext uri="{FF2B5EF4-FFF2-40B4-BE49-F238E27FC236}">
                <a16:creationId xmlns:a16="http://schemas.microsoft.com/office/drawing/2014/main" id="{F5FDEBC4-3652-44A7-875F-2592F5AEE96E}"/>
              </a:ext>
            </a:extLst>
          </p:cNvPr>
          <p:cNvCxnSpPr>
            <a:cxnSpLocks/>
            <a:stCxn id="114" idx="2"/>
            <a:endCxn id="113" idx="0"/>
          </p:cNvCxnSpPr>
          <p:nvPr/>
        </p:nvCxnSpPr>
        <p:spPr>
          <a:xfrm>
            <a:off x="7904325" y="1901432"/>
            <a:ext cx="0" cy="20261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0" name="圖片 49">
            <a:extLst>
              <a:ext uri="{FF2B5EF4-FFF2-40B4-BE49-F238E27FC236}">
                <a16:creationId xmlns:a16="http://schemas.microsoft.com/office/drawing/2014/main" id="{DFA8DD99-CF4A-422C-B1BD-C4E8F7457FFC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b="36392"/>
          <a:stretch/>
        </p:blipFill>
        <p:spPr>
          <a:xfrm>
            <a:off x="5506554" y="2593348"/>
            <a:ext cx="2922478" cy="2166907"/>
          </a:xfrm>
          <a:prstGeom prst="rect">
            <a:avLst/>
          </a:prstGeom>
        </p:spPr>
      </p:pic>
      <p:sp>
        <p:nvSpPr>
          <p:cNvPr id="131" name="矩形 130">
            <a:extLst>
              <a:ext uri="{FF2B5EF4-FFF2-40B4-BE49-F238E27FC236}">
                <a16:creationId xmlns:a16="http://schemas.microsoft.com/office/drawing/2014/main" id="{24C337AA-A78C-4959-AAF7-E73A1DE69F24}"/>
              </a:ext>
            </a:extLst>
          </p:cNvPr>
          <p:cNvSpPr/>
          <p:nvPr/>
        </p:nvSpPr>
        <p:spPr>
          <a:xfrm>
            <a:off x="2736340" y="3581400"/>
            <a:ext cx="2045210" cy="96916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5" name="直線單箭頭接點 74">
            <a:extLst>
              <a:ext uri="{FF2B5EF4-FFF2-40B4-BE49-F238E27FC236}">
                <a16:creationId xmlns:a16="http://schemas.microsoft.com/office/drawing/2014/main" id="{FCE8B785-634E-4062-AE93-CC4B2D7AD443}"/>
              </a:ext>
            </a:extLst>
          </p:cNvPr>
          <p:cNvCxnSpPr>
            <a:cxnSpLocks/>
            <a:stCxn id="131" idx="3"/>
            <a:endCxn id="50" idx="1"/>
          </p:cNvCxnSpPr>
          <p:nvPr/>
        </p:nvCxnSpPr>
        <p:spPr>
          <a:xfrm flipV="1">
            <a:off x="4781550" y="3676802"/>
            <a:ext cx="725004" cy="389183"/>
          </a:xfrm>
          <a:prstGeom prst="straightConnector1">
            <a:avLst/>
          </a:prstGeom>
          <a:ln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581410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F0F85A-D8BE-489F-8A26-3F9E8BB6D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735" y="421446"/>
            <a:ext cx="7605553" cy="264977"/>
          </a:xfrm>
        </p:spPr>
        <p:txBody>
          <a:bodyPr/>
          <a:lstStyle/>
          <a:p>
            <a:r>
              <a:rPr lang="zh-TW" altLang="en-US" dirty="0"/>
              <a:t>框架說明｜</a:t>
            </a:r>
            <a:r>
              <a:rPr lang="zh-TW" altLang="en-US" b="0" dirty="0"/>
              <a:t>模型建立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B04F98-C67E-4BB2-A8FC-D45C046C6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Dev. Framework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04602B-3F3A-44D6-8FC7-8D6198579B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/>
              <a:t>02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BDA344-228E-467F-9CAE-213808D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B1EDA-9669-4099-AA83-49C2D8E17945}" type="slidenum">
              <a:rPr lang="zh-TW" altLang="en-US" smtClean="0"/>
              <a:t>22</a:t>
            </a:fld>
            <a:endParaRPr lang="zh-TW" altLang="en-US" dirty="0"/>
          </a:p>
        </p:txBody>
      </p:sp>
      <p:sp>
        <p:nvSpPr>
          <p:cNvPr id="149" name="矩形: 圓角 148">
            <a:extLst>
              <a:ext uri="{FF2B5EF4-FFF2-40B4-BE49-F238E27FC236}">
                <a16:creationId xmlns:a16="http://schemas.microsoft.com/office/drawing/2014/main" id="{FE545425-9B04-4E5D-B091-A6215F3D068F}"/>
              </a:ext>
            </a:extLst>
          </p:cNvPr>
          <p:cNvSpPr/>
          <p:nvPr/>
        </p:nvSpPr>
        <p:spPr>
          <a:xfrm>
            <a:off x="8394870" y="55476"/>
            <a:ext cx="638640" cy="63052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50" name="矩形: 圓角 149">
            <a:extLst>
              <a:ext uri="{FF2B5EF4-FFF2-40B4-BE49-F238E27FC236}">
                <a16:creationId xmlns:a16="http://schemas.microsoft.com/office/drawing/2014/main" id="{758BC960-EED1-4DAD-A1C2-36F036C0079A}"/>
              </a:ext>
            </a:extLst>
          </p:cNvPr>
          <p:cNvSpPr/>
          <p:nvPr/>
        </p:nvSpPr>
        <p:spPr>
          <a:xfrm>
            <a:off x="8394870" y="55476"/>
            <a:ext cx="638640" cy="63052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FCDFF62A-6DF5-44C0-8747-24941E51DF31}"/>
              </a:ext>
            </a:extLst>
          </p:cNvPr>
          <p:cNvSpPr txBox="1"/>
          <p:nvPr/>
        </p:nvSpPr>
        <p:spPr>
          <a:xfrm>
            <a:off x="8454985" y="123338"/>
            <a:ext cx="52958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en-US" altLang="zh-TW" sz="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CSV</a:t>
            </a:r>
            <a:r>
              <a:rPr lang="zh-TW" altLang="en-US" sz="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 管理</a:t>
            </a:r>
            <a:endParaRPr lang="en-US" altLang="zh-TW" sz="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152" name="直線接點 151">
            <a:extLst>
              <a:ext uri="{FF2B5EF4-FFF2-40B4-BE49-F238E27FC236}">
                <a16:creationId xmlns:a16="http://schemas.microsoft.com/office/drawing/2014/main" id="{60C32A9E-2D1E-491A-A012-7AF2103BA5FC}"/>
              </a:ext>
            </a:extLst>
          </p:cNvPr>
          <p:cNvCxnSpPr>
            <a:cxnSpLocks/>
          </p:cNvCxnSpPr>
          <p:nvPr/>
        </p:nvCxnSpPr>
        <p:spPr>
          <a:xfrm>
            <a:off x="8467751" y="275996"/>
            <a:ext cx="50405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" name="圖片 152">
            <a:extLst>
              <a:ext uri="{FF2B5EF4-FFF2-40B4-BE49-F238E27FC236}">
                <a16:creationId xmlns:a16="http://schemas.microsoft.com/office/drawing/2014/main" id="{F96B620D-4345-4E5E-A839-65631B0D7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79060" y="325745"/>
            <a:ext cx="281434" cy="28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矩形: 圓角 153">
            <a:extLst>
              <a:ext uri="{FF2B5EF4-FFF2-40B4-BE49-F238E27FC236}">
                <a16:creationId xmlns:a16="http://schemas.microsoft.com/office/drawing/2014/main" id="{A9294E1F-6F27-4A19-B8FD-15EAFE0CE3F9}"/>
              </a:ext>
            </a:extLst>
          </p:cNvPr>
          <p:cNvSpPr/>
          <p:nvPr/>
        </p:nvSpPr>
        <p:spPr>
          <a:xfrm>
            <a:off x="7685348" y="55476"/>
            <a:ext cx="638640" cy="63052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55" name="矩形: 圓角 154">
            <a:extLst>
              <a:ext uri="{FF2B5EF4-FFF2-40B4-BE49-F238E27FC236}">
                <a16:creationId xmlns:a16="http://schemas.microsoft.com/office/drawing/2014/main" id="{EB810458-DA97-475C-9B29-34F797C69E22}"/>
              </a:ext>
            </a:extLst>
          </p:cNvPr>
          <p:cNvSpPr/>
          <p:nvPr/>
        </p:nvSpPr>
        <p:spPr>
          <a:xfrm>
            <a:off x="7685348" y="55476"/>
            <a:ext cx="638640" cy="63052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56" name="文字方塊 155">
            <a:extLst>
              <a:ext uri="{FF2B5EF4-FFF2-40B4-BE49-F238E27FC236}">
                <a16:creationId xmlns:a16="http://schemas.microsoft.com/office/drawing/2014/main" id="{649D463E-82CF-4B4C-9416-596D27B73B3B}"/>
              </a:ext>
            </a:extLst>
          </p:cNvPr>
          <p:cNvSpPr txBox="1"/>
          <p:nvPr/>
        </p:nvSpPr>
        <p:spPr>
          <a:xfrm>
            <a:off x="7696519" y="123338"/>
            <a:ext cx="62746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zh-TW" altLang="en-US" sz="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資料庫管理</a:t>
            </a:r>
            <a:endParaRPr lang="en-US" altLang="zh-TW" sz="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157" name="直線接點 156">
            <a:extLst>
              <a:ext uri="{FF2B5EF4-FFF2-40B4-BE49-F238E27FC236}">
                <a16:creationId xmlns:a16="http://schemas.microsoft.com/office/drawing/2014/main" id="{03EE9949-FFE0-4DC3-AE1A-9EF917D15A13}"/>
              </a:ext>
            </a:extLst>
          </p:cNvPr>
          <p:cNvCxnSpPr>
            <a:cxnSpLocks/>
          </p:cNvCxnSpPr>
          <p:nvPr/>
        </p:nvCxnSpPr>
        <p:spPr>
          <a:xfrm>
            <a:off x="7758228" y="275996"/>
            <a:ext cx="50405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" name="圖片 162">
            <a:extLst>
              <a:ext uri="{FF2B5EF4-FFF2-40B4-BE49-F238E27FC236}">
                <a16:creationId xmlns:a16="http://schemas.microsoft.com/office/drawing/2014/main" id="{3237EFF5-1056-4047-A5FF-F3633330C1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452" y="324543"/>
            <a:ext cx="279602" cy="28384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矩形: 圓角 163">
            <a:extLst>
              <a:ext uri="{FF2B5EF4-FFF2-40B4-BE49-F238E27FC236}">
                <a16:creationId xmlns:a16="http://schemas.microsoft.com/office/drawing/2014/main" id="{3B18F373-5725-419B-86E0-3173A21C04C8}"/>
              </a:ext>
            </a:extLst>
          </p:cNvPr>
          <p:cNvSpPr/>
          <p:nvPr/>
        </p:nvSpPr>
        <p:spPr>
          <a:xfrm>
            <a:off x="6985000" y="55476"/>
            <a:ext cx="638640" cy="63052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69" name="矩形: 圓角 168">
            <a:extLst>
              <a:ext uri="{FF2B5EF4-FFF2-40B4-BE49-F238E27FC236}">
                <a16:creationId xmlns:a16="http://schemas.microsoft.com/office/drawing/2014/main" id="{1B576F4F-BF98-46A6-818D-51028FD7F956}"/>
              </a:ext>
            </a:extLst>
          </p:cNvPr>
          <p:cNvSpPr/>
          <p:nvPr/>
        </p:nvSpPr>
        <p:spPr>
          <a:xfrm>
            <a:off x="6985000" y="55476"/>
            <a:ext cx="638640" cy="630523"/>
          </a:xfrm>
          <a:prstGeom prst="roundRect">
            <a:avLst/>
          </a:prstGeom>
          <a:solidFill>
            <a:srgbClr val="F5F5F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70" name="文字方塊 169">
            <a:extLst>
              <a:ext uri="{FF2B5EF4-FFF2-40B4-BE49-F238E27FC236}">
                <a16:creationId xmlns:a16="http://schemas.microsoft.com/office/drawing/2014/main" id="{32539D90-FCF4-4A82-A8E9-D16BAB7EC16E}"/>
              </a:ext>
            </a:extLst>
          </p:cNvPr>
          <p:cNvSpPr txBox="1"/>
          <p:nvPr/>
        </p:nvSpPr>
        <p:spPr>
          <a:xfrm>
            <a:off x="6996171" y="123338"/>
            <a:ext cx="62746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zh-TW" altLang="en-US" sz="600" b="1" dirty="0">
                <a:solidFill>
                  <a:srgbClr val="7030A0"/>
                </a:solidFill>
                <a:latin typeface="+mn-ea"/>
              </a:rPr>
              <a:t>求解器引擎</a:t>
            </a:r>
          </a:p>
        </p:txBody>
      </p:sp>
      <p:cxnSp>
        <p:nvCxnSpPr>
          <p:cNvPr id="171" name="直線接點 170">
            <a:extLst>
              <a:ext uri="{FF2B5EF4-FFF2-40B4-BE49-F238E27FC236}">
                <a16:creationId xmlns:a16="http://schemas.microsoft.com/office/drawing/2014/main" id="{C025DC3F-BBDF-46B8-8547-51E52A619152}"/>
              </a:ext>
            </a:extLst>
          </p:cNvPr>
          <p:cNvCxnSpPr>
            <a:cxnSpLocks/>
          </p:cNvCxnSpPr>
          <p:nvPr/>
        </p:nvCxnSpPr>
        <p:spPr>
          <a:xfrm>
            <a:off x="7057880" y="275996"/>
            <a:ext cx="50405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3" name="圖片 172">
            <a:extLst>
              <a:ext uri="{FF2B5EF4-FFF2-40B4-BE49-F238E27FC236}">
                <a16:creationId xmlns:a16="http://schemas.microsoft.com/office/drawing/2014/main" id="{0F251BB6-3208-4F5B-A235-32AD758B00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70104" y="325175"/>
            <a:ext cx="279602" cy="2825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群組 40">
            <a:extLst>
              <a:ext uri="{FF2B5EF4-FFF2-40B4-BE49-F238E27FC236}">
                <a16:creationId xmlns:a16="http://schemas.microsoft.com/office/drawing/2014/main" id="{DD5DED73-8104-4C64-93C8-BBF81BA25586}"/>
              </a:ext>
            </a:extLst>
          </p:cNvPr>
          <p:cNvGrpSpPr/>
          <p:nvPr/>
        </p:nvGrpSpPr>
        <p:grpSpPr>
          <a:xfrm>
            <a:off x="3465628" y="113575"/>
            <a:ext cx="3478047" cy="534722"/>
            <a:chOff x="3465628" y="74334"/>
            <a:chExt cx="3478047" cy="534722"/>
          </a:xfrm>
        </p:grpSpPr>
        <p:pic>
          <p:nvPicPr>
            <p:cNvPr id="177" name="圖片 176">
              <a:extLst>
                <a:ext uri="{FF2B5EF4-FFF2-40B4-BE49-F238E27FC236}">
                  <a16:creationId xmlns:a16="http://schemas.microsoft.com/office/drawing/2014/main" id="{2F96E448-83F4-4DAC-B926-DCDE11F2A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465628" y="74334"/>
              <a:ext cx="257310" cy="257310"/>
            </a:xfrm>
            <a:prstGeom prst="rect">
              <a:avLst/>
            </a:prstGeom>
          </p:spPr>
        </p:pic>
        <p:pic>
          <p:nvPicPr>
            <p:cNvPr id="183" name="圖片 182">
              <a:extLst>
                <a:ext uri="{FF2B5EF4-FFF2-40B4-BE49-F238E27FC236}">
                  <a16:creationId xmlns:a16="http://schemas.microsoft.com/office/drawing/2014/main" id="{3E6727DA-5349-42B7-BECE-EC4A0A6A6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465628" y="351746"/>
              <a:ext cx="257310" cy="257310"/>
            </a:xfrm>
            <a:prstGeom prst="rect">
              <a:avLst/>
            </a:prstGeom>
          </p:spPr>
        </p:pic>
        <p:pic>
          <p:nvPicPr>
            <p:cNvPr id="184" name="圖片 183">
              <a:extLst>
                <a:ext uri="{FF2B5EF4-FFF2-40B4-BE49-F238E27FC236}">
                  <a16:creationId xmlns:a16="http://schemas.microsoft.com/office/drawing/2014/main" id="{E79D55AC-21B2-4B65-B7D9-E20D4DBF0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091056" y="74334"/>
              <a:ext cx="257310" cy="257310"/>
            </a:xfrm>
            <a:prstGeom prst="rect">
              <a:avLst/>
            </a:prstGeom>
          </p:spPr>
        </p:pic>
        <p:pic>
          <p:nvPicPr>
            <p:cNvPr id="186" name="圖片 185">
              <a:extLst>
                <a:ext uri="{FF2B5EF4-FFF2-40B4-BE49-F238E27FC236}">
                  <a16:creationId xmlns:a16="http://schemas.microsoft.com/office/drawing/2014/main" id="{560427B0-0CD4-4FA4-8CE1-E6833C71A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5091056" y="351746"/>
              <a:ext cx="257310" cy="257310"/>
            </a:xfrm>
            <a:prstGeom prst="rect">
              <a:avLst/>
            </a:prstGeom>
          </p:spPr>
        </p:pic>
        <p:sp>
          <p:nvSpPr>
            <p:cNvPr id="188" name="文字方塊 187">
              <a:extLst>
                <a:ext uri="{FF2B5EF4-FFF2-40B4-BE49-F238E27FC236}">
                  <a16:creationId xmlns:a16="http://schemas.microsoft.com/office/drawing/2014/main" id="{3E56B659-0B34-4421-9D51-35D2CCC63DCE}"/>
                </a:ext>
              </a:extLst>
            </p:cNvPr>
            <p:cNvSpPr txBox="1"/>
            <p:nvPr/>
          </p:nvSpPr>
          <p:spPr>
            <a:xfrm>
              <a:off x="3711955" y="79879"/>
              <a:ext cx="13131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Parameter_xxx.cs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  <p:sp>
          <p:nvSpPr>
            <p:cNvPr id="189" name="文字方塊 188">
              <a:extLst>
                <a:ext uri="{FF2B5EF4-FFF2-40B4-BE49-F238E27FC236}">
                  <a16:creationId xmlns:a16="http://schemas.microsoft.com/office/drawing/2014/main" id="{09545EAD-6894-4D7C-9E36-86C2904C2042}"/>
                </a:ext>
              </a:extLst>
            </p:cNvPr>
            <p:cNvSpPr txBox="1"/>
            <p:nvPr/>
          </p:nvSpPr>
          <p:spPr>
            <a:xfrm>
              <a:off x="3711955" y="357291"/>
              <a:ext cx="131318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VariableX_xxx.cs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  <p:sp>
          <p:nvSpPr>
            <p:cNvPr id="191" name="文字方塊 190">
              <a:extLst>
                <a:ext uri="{FF2B5EF4-FFF2-40B4-BE49-F238E27FC236}">
                  <a16:creationId xmlns:a16="http://schemas.microsoft.com/office/drawing/2014/main" id="{CC7AF9B4-159B-4656-8340-D76A4075A045}"/>
                </a:ext>
              </a:extLst>
            </p:cNvPr>
            <p:cNvSpPr txBox="1"/>
            <p:nvPr/>
          </p:nvSpPr>
          <p:spPr>
            <a:xfrm>
              <a:off x="5348366" y="79879"/>
              <a:ext cx="13837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Constraint_xxx.cs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  <p:sp>
          <p:nvSpPr>
            <p:cNvPr id="192" name="文字方塊 191">
              <a:extLst>
                <a:ext uri="{FF2B5EF4-FFF2-40B4-BE49-F238E27FC236}">
                  <a16:creationId xmlns:a16="http://schemas.microsoft.com/office/drawing/2014/main" id="{DBB1E7C6-B8CE-4726-BE55-9A3DA29B2179}"/>
                </a:ext>
              </a:extLst>
            </p:cNvPr>
            <p:cNvSpPr txBox="1"/>
            <p:nvPr/>
          </p:nvSpPr>
          <p:spPr>
            <a:xfrm>
              <a:off x="5348366" y="357291"/>
              <a:ext cx="159530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err="1">
                  <a:latin typeface="Consolas" panose="020B0609020204030204" pitchFamily="49" charset="0"/>
                </a:rPr>
                <a:t>ObjectiveFunction.cs</a:t>
              </a:r>
              <a:endParaRPr lang="zh-TW" altLang="en-US" sz="1000" dirty="0">
                <a:latin typeface="Consolas" panose="020B0609020204030204" pitchFamily="49" charset="0"/>
              </a:endParaRPr>
            </a:p>
          </p:txBody>
        </p:sp>
      </p:grpSp>
      <p:pic>
        <p:nvPicPr>
          <p:cNvPr id="193" name="圖片 192">
            <a:extLst>
              <a:ext uri="{FF2B5EF4-FFF2-40B4-BE49-F238E27FC236}">
                <a16:creationId xmlns:a16="http://schemas.microsoft.com/office/drawing/2014/main" id="{81CD8D0A-DF34-4C57-8B9A-F85F80B609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2472" y="300338"/>
            <a:ext cx="414910" cy="405260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1E570902-577C-4B4A-95A9-F619E1515B0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7675"/>
          <a:stretch/>
        </p:blipFill>
        <p:spPr>
          <a:xfrm>
            <a:off x="250825" y="1497443"/>
            <a:ext cx="1071733" cy="3305270"/>
          </a:xfrm>
          <a:prstGeom prst="rect">
            <a:avLst/>
          </a:prstGeom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49613008-13C1-4B4D-94E2-961CD4F173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271" y="2696140"/>
            <a:ext cx="202554" cy="202554"/>
          </a:xfrm>
          <a:prstGeom prst="rect">
            <a:avLst/>
          </a:prstGeom>
        </p:spPr>
      </p:pic>
      <p:pic>
        <p:nvPicPr>
          <p:cNvPr id="52" name="圖片 51">
            <a:extLst>
              <a:ext uri="{FF2B5EF4-FFF2-40B4-BE49-F238E27FC236}">
                <a16:creationId xmlns:a16="http://schemas.microsoft.com/office/drawing/2014/main" id="{9D8B6507-3B69-4F4D-83FC-D8F33C164A0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146" y="4662626"/>
            <a:ext cx="170126" cy="170126"/>
          </a:xfrm>
          <a:prstGeom prst="rect">
            <a:avLst/>
          </a:prstGeom>
        </p:spPr>
      </p:pic>
      <p:grpSp>
        <p:nvGrpSpPr>
          <p:cNvPr id="53" name="群組 52">
            <a:extLst>
              <a:ext uri="{FF2B5EF4-FFF2-40B4-BE49-F238E27FC236}">
                <a16:creationId xmlns:a16="http://schemas.microsoft.com/office/drawing/2014/main" id="{6B874029-9168-4609-9210-0C4FACFE255A}"/>
              </a:ext>
            </a:extLst>
          </p:cNvPr>
          <p:cNvGrpSpPr/>
          <p:nvPr/>
        </p:nvGrpSpPr>
        <p:grpSpPr>
          <a:xfrm>
            <a:off x="46180" y="3811691"/>
            <a:ext cx="256728" cy="243500"/>
            <a:chOff x="182569" y="3691539"/>
            <a:chExt cx="545715" cy="517596"/>
          </a:xfrm>
        </p:grpSpPr>
        <p:pic>
          <p:nvPicPr>
            <p:cNvPr id="54" name="圖片 53">
              <a:extLst>
                <a:ext uri="{FF2B5EF4-FFF2-40B4-BE49-F238E27FC236}">
                  <a16:creationId xmlns:a16="http://schemas.microsoft.com/office/drawing/2014/main" id="{917F3CA5-6116-4D16-9BFE-1A2872A54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08498" y="3889349"/>
              <a:ext cx="319786" cy="319786"/>
            </a:xfrm>
            <a:prstGeom prst="rect">
              <a:avLst/>
            </a:prstGeom>
          </p:spPr>
        </p:pic>
        <p:pic>
          <p:nvPicPr>
            <p:cNvPr id="55" name="圖片 54">
              <a:extLst>
                <a:ext uri="{FF2B5EF4-FFF2-40B4-BE49-F238E27FC236}">
                  <a16:creationId xmlns:a16="http://schemas.microsoft.com/office/drawing/2014/main" id="{0045BB9A-0624-4EB3-A517-BD763E03F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03183" y="3691539"/>
              <a:ext cx="319786" cy="319786"/>
            </a:xfrm>
            <a:prstGeom prst="rect">
              <a:avLst/>
            </a:prstGeom>
          </p:spPr>
        </p:pic>
        <p:pic>
          <p:nvPicPr>
            <p:cNvPr id="56" name="圖片 55">
              <a:extLst>
                <a:ext uri="{FF2B5EF4-FFF2-40B4-BE49-F238E27FC236}">
                  <a16:creationId xmlns:a16="http://schemas.microsoft.com/office/drawing/2014/main" id="{BA28D341-5924-4FA3-9FBA-F7CD589C9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2569" y="3880493"/>
              <a:ext cx="319786" cy="319786"/>
            </a:xfrm>
            <a:prstGeom prst="rect">
              <a:avLst/>
            </a:prstGeom>
          </p:spPr>
        </p:pic>
      </p:grp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95672402-583A-46DC-98F5-C32551110940}"/>
              </a:ext>
            </a:extLst>
          </p:cNvPr>
          <p:cNvGrpSpPr/>
          <p:nvPr/>
        </p:nvGrpSpPr>
        <p:grpSpPr>
          <a:xfrm>
            <a:off x="18141" y="3086696"/>
            <a:ext cx="268652" cy="245576"/>
            <a:chOff x="147010" y="2787650"/>
            <a:chExt cx="547045" cy="500055"/>
          </a:xfrm>
        </p:grpSpPr>
        <p:pic>
          <p:nvPicPr>
            <p:cNvPr id="58" name="圖片 57">
              <a:extLst>
                <a:ext uri="{FF2B5EF4-FFF2-40B4-BE49-F238E27FC236}">
                  <a16:creationId xmlns:a16="http://schemas.microsoft.com/office/drawing/2014/main" id="{2E6223D1-05F6-4A64-9AB0-78A30DF0D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74269" y="2967918"/>
              <a:ext cx="319786" cy="319787"/>
            </a:xfrm>
            <a:prstGeom prst="rect">
              <a:avLst/>
            </a:prstGeom>
          </p:spPr>
        </p:pic>
        <p:grpSp>
          <p:nvGrpSpPr>
            <p:cNvPr id="59" name="群組 58">
              <a:extLst>
                <a:ext uri="{FF2B5EF4-FFF2-40B4-BE49-F238E27FC236}">
                  <a16:creationId xmlns:a16="http://schemas.microsoft.com/office/drawing/2014/main" id="{20EADE7E-C914-4909-8AD4-D522674CF1B4}"/>
                </a:ext>
              </a:extLst>
            </p:cNvPr>
            <p:cNvGrpSpPr/>
            <p:nvPr/>
          </p:nvGrpSpPr>
          <p:grpSpPr>
            <a:xfrm>
              <a:off x="147010" y="2787650"/>
              <a:ext cx="433987" cy="497212"/>
              <a:chOff x="147010" y="2787650"/>
              <a:chExt cx="433987" cy="497212"/>
            </a:xfrm>
          </p:grpSpPr>
          <p:pic>
            <p:nvPicPr>
              <p:cNvPr id="60" name="圖片 59">
                <a:extLst>
                  <a:ext uri="{FF2B5EF4-FFF2-40B4-BE49-F238E27FC236}">
                    <a16:creationId xmlns:a16="http://schemas.microsoft.com/office/drawing/2014/main" id="{43DB4C92-FA6F-4273-8B4A-3576EADA50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47010" y="2965075"/>
                <a:ext cx="319786" cy="319787"/>
              </a:xfrm>
              <a:prstGeom prst="rect">
                <a:avLst/>
              </a:prstGeom>
            </p:spPr>
          </p:pic>
          <p:pic>
            <p:nvPicPr>
              <p:cNvPr id="61" name="圖片 60">
                <a:extLst>
                  <a:ext uri="{FF2B5EF4-FFF2-40B4-BE49-F238E27FC236}">
                    <a16:creationId xmlns:a16="http://schemas.microsoft.com/office/drawing/2014/main" id="{146D381C-94DC-434A-9688-EAC3173032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61211" y="2787650"/>
                <a:ext cx="319786" cy="319786"/>
              </a:xfrm>
              <a:prstGeom prst="rect">
                <a:avLst/>
              </a:prstGeom>
            </p:spPr>
          </p:pic>
        </p:grpSp>
      </p:grp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5AF89C52-7956-4625-86EE-136F3146C870}"/>
              </a:ext>
            </a:extLst>
          </p:cNvPr>
          <p:cNvGrpSpPr/>
          <p:nvPr/>
        </p:nvGrpSpPr>
        <p:grpSpPr>
          <a:xfrm>
            <a:off x="35550" y="2137498"/>
            <a:ext cx="233834" cy="220615"/>
            <a:chOff x="141984" y="2787650"/>
            <a:chExt cx="552071" cy="520863"/>
          </a:xfrm>
        </p:grpSpPr>
        <p:pic>
          <p:nvPicPr>
            <p:cNvPr id="72" name="圖片 71">
              <a:extLst>
                <a:ext uri="{FF2B5EF4-FFF2-40B4-BE49-F238E27FC236}">
                  <a16:creationId xmlns:a16="http://schemas.microsoft.com/office/drawing/2014/main" id="{BE34D2A9-3167-4048-908A-64765EC64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74269" y="2988726"/>
              <a:ext cx="319786" cy="319787"/>
            </a:xfrm>
            <a:prstGeom prst="rect">
              <a:avLst/>
            </a:prstGeom>
          </p:spPr>
        </p:pic>
        <p:grpSp>
          <p:nvGrpSpPr>
            <p:cNvPr id="73" name="群組 72">
              <a:extLst>
                <a:ext uri="{FF2B5EF4-FFF2-40B4-BE49-F238E27FC236}">
                  <a16:creationId xmlns:a16="http://schemas.microsoft.com/office/drawing/2014/main" id="{7E4197EE-1632-4FE3-8368-6490C83AD3F1}"/>
                </a:ext>
              </a:extLst>
            </p:cNvPr>
            <p:cNvGrpSpPr/>
            <p:nvPr/>
          </p:nvGrpSpPr>
          <p:grpSpPr>
            <a:xfrm>
              <a:off x="141984" y="2787650"/>
              <a:ext cx="439013" cy="518515"/>
              <a:chOff x="141984" y="2787650"/>
              <a:chExt cx="439013" cy="518515"/>
            </a:xfrm>
          </p:grpSpPr>
          <p:pic>
            <p:nvPicPr>
              <p:cNvPr id="74" name="圖片 73">
                <a:extLst>
                  <a:ext uri="{FF2B5EF4-FFF2-40B4-BE49-F238E27FC236}">
                    <a16:creationId xmlns:a16="http://schemas.microsoft.com/office/drawing/2014/main" id="{028C95F1-C8CF-4764-887F-D156528C22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61211" y="2787650"/>
                <a:ext cx="319786" cy="319786"/>
              </a:xfrm>
              <a:prstGeom prst="rect">
                <a:avLst/>
              </a:prstGeom>
            </p:spPr>
          </p:pic>
          <p:pic>
            <p:nvPicPr>
              <p:cNvPr id="75" name="圖片 74">
                <a:extLst>
                  <a:ext uri="{FF2B5EF4-FFF2-40B4-BE49-F238E27FC236}">
                    <a16:creationId xmlns:a16="http://schemas.microsoft.com/office/drawing/2014/main" id="{1EF3AC0A-D7B2-4CF1-93D5-D1231F6124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41984" y="2986378"/>
                <a:ext cx="319786" cy="319787"/>
              </a:xfrm>
              <a:prstGeom prst="rect">
                <a:avLst/>
              </a:prstGeom>
            </p:spPr>
          </p:pic>
        </p:grpSp>
      </p:grpSp>
      <p:pic>
        <p:nvPicPr>
          <p:cNvPr id="12" name="圖片 11">
            <a:extLst>
              <a:ext uri="{FF2B5EF4-FFF2-40B4-BE49-F238E27FC236}">
                <a16:creationId xmlns:a16="http://schemas.microsoft.com/office/drawing/2014/main" id="{4B5C0897-AB79-41F0-BC64-E4052D441C6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72764" y="1551562"/>
            <a:ext cx="3645211" cy="2968427"/>
          </a:xfrm>
          <a:prstGeom prst="rect">
            <a:avLst/>
          </a:prstGeom>
        </p:spPr>
      </p:pic>
      <p:grpSp>
        <p:nvGrpSpPr>
          <p:cNvPr id="46" name="群組 45">
            <a:extLst>
              <a:ext uri="{FF2B5EF4-FFF2-40B4-BE49-F238E27FC236}">
                <a16:creationId xmlns:a16="http://schemas.microsoft.com/office/drawing/2014/main" id="{BFCE924B-85F5-4F92-BF42-53A8815A29BF}"/>
              </a:ext>
            </a:extLst>
          </p:cNvPr>
          <p:cNvGrpSpPr/>
          <p:nvPr/>
        </p:nvGrpSpPr>
        <p:grpSpPr>
          <a:xfrm>
            <a:off x="1484947" y="3777425"/>
            <a:ext cx="382558" cy="360932"/>
            <a:chOff x="141984" y="2787650"/>
            <a:chExt cx="552071" cy="520863"/>
          </a:xfrm>
        </p:grpSpPr>
        <p:pic>
          <p:nvPicPr>
            <p:cNvPr id="47" name="圖片 46">
              <a:extLst>
                <a:ext uri="{FF2B5EF4-FFF2-40B4-BE49-F238E27FC236}">
                  <a16:creationId xmlns:a16="http://schemas.microsoft.com/office/drawing/2014/main" id="{9AABBC8E-250D-4425-9A84-C7283A608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74269" y="2988726"/>
              <a:ext cx="319786" cy="319787"/>
            </a:xfrm>
            <a:prstGeom prst="rect">
              <a:avLst/>
            </a:prstGeom>
          </p:spPr>
        </p:pic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63B8CE89-A32A-4E36-84B6-C2D974911927}"/>
                </a:ext>
              </a:extLst>
            </p:cNvPr>
            <p:cNvGrpSpPr/>
            <p:nvPr/>
          </p:nvGrpSpPr>
          <p:grpSpPr>
            <a:xfrm>
              <a:off x="141984" y="2787650"/>
              <a:ext cx="439013" cy="518515"/>
              <a:chOff x="141984" y="2787650"/>
              <a:chExt cx="439013" cy="518515"/>
            </a:xfrm>
          </p:grpSpPr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382AF26F-CCEC-444B-A3DE-C80ADE46C7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61211" y="2787650"/>
                <a:ext cx="319786" cy="319786"/>
              </a:xfrm>
              <a:prstGeom prst="rect">
                <a:avLst/>
              </a:prstGeom>
            </p:spPr>
          </p:pic>
          <p:pic>
            <p:nvPicPr>
              <p:cNvPr id="50" name="圖片 49">
                <a:extLst>
                  <a:ext uri="{FF2B5EF4-FFF2-40B4-BE49-F238E27FC236}">
                    <a16:creationId xmlns:a16="http://schemas.microsoft.com/office/drawing/2014/main" id="{8B8E33D5-D730-4852-9172-F9B25D705B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41984" y="2986378"/>
                <a:ext cx="319786" cy="319787"/>
              </a:xfrm>
              <a:prstGeom prst="rect">
                <a:avLst/>
              </a:prstGeom>
            </p:spPr>
          </p:pic>
        </p:grpSp>
      </p:grpSp>
      <p:pic>
        <p:nvPicPr>
          <p:cNvPr id="64" name="圖片 63">
            <a:extLst>
              <a:ext uri="{FF2B5EF4-FFF2-40B4-BE49-F238E27FC236}">
                <a16:creationId xmlns:a16="http://schemas.microsoft.com/office/drawing/2014/main" id="{CBB711AD-8935-49E5-B36A-2EF8A2F102D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5372" y="1601622"/>
            <a:ext cx="257310" cy="257310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AC208D49-4CBB-49BA-A501-96174D67A3D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1476" y="3175552"/>
            <a:ext cx="224376" cy="224376"/>
          </a:xfrm>
          <a:prstGeom prst="rect">
            <a:avLst/>
          </a:prstGeom>
        </p:spPr>
      </p:pic>
      <p:sp>
        <p:nvSpPr>
          <p:cNvPr id="66" name="左大括弧 65">
            <a:extLst>
              <a:ext uri="{FF2B5EF4-FFF2-40B4-BE49-F238E27FC236}">
                <a16:creationId xmlns:a16="http://schemas.microsoft.com/office/drawing/2014/main" id="{514B6319-317D-4EF4-A0E2-C2947E09EECF}"/>
              </a:ext>
            </a:extLst>
          </p:cNvPr>
          <p:cNvSpPr/>
          <p:nvPr/>
        </p:nvSpPr>
        <p:spPr>
          <a:xfrm>
            <a:off x="2811802" y="3574675"/>
            <a:ext cx="144017" cy="741844"/>
          </a:xfrm>
          <a:prstGeom prst="leftBrace">
            <a:avLst>
              <a:gd name="adj1" fmla="val 8333"/>
              <a:gd name="adj2" fmla="val 5337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7FE1A90A-D5BD-4B48-97A1-417682D4D31F}"/>
              </a:ext>
            </a:extLst>
          </p:cNvPr>
          <p:cNvSpPr txBox="1"/>
          <p:nvPr/>
        </p:nvSpPr>
        <p:spPr>
          <a:xfrm>
            <a:off x="1830268" y="3835090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b="1" dirty="0">
                <a:solidFill>
                  <a:srgbClr val="C00000"/>
                </a:solidFill>
              </a:rPr>
              <a:t>引用限制式</a:t>
            </a:r>
          </a:p>
        </p:txBody>
      </p:sp>
      <p:sp>
        <p:nvSpPr>
          <p:cNvPr id="68" name="左大括弧 67">
            <a:extLst>
              <a:ext uri="{FF2B5EF4-FFF2-40B4-BE49-F238E27FC236}">
                <a16:creationId xmlns:a16="http://schemas.microsoft.com/office/drawing/2014/main" id="{D916A440-402F-41B6-A707-4E5B26F5AFD6}"/>
              </a:ext>
            </a:extLst>
          </p:cNvPr>
          <p:cNvSpPr/>
          <p:nvPr/>
        </p:nvSpPr>
        <p:spPr>
          <a:xfrm>
            <a:off x="2811802" y="2988275"/>
            <a:ext cx="144017" cy="533400"/>
          </a:xfrm>
          <a:prstGeom prst="leftBrace">
            <a:avLst>
              <a:gd name="adj1" fmla="val 8333"/>
              <a:gd name="adj2" fmla="val 5337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9F1FC688-F89E-4F22-A9D0-962A141B9354}"/>
              </a:ext>
            </a:extLst>
          </p:cNvPr>
          <p:cNvSpPr txBox="1"/>
          <p:nvPr/>
        </p:nvSpPr>
        <p:spPr>
          <a:xfrm>
            <a:off x="1830268" y="3134809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b="1" dirty="0">
                <a:solidFill>
                  <a:srgbClr val="C00000"/>
                </a:solidFill>
              </a:rPr>
              <a:t>引用目標式</a:t>
            </a:r>
          </a:p>
        </p:txBody>
      </p:sp>
      <p:sp>
        <p:nvSpPr>
          <p:cNvPr id="78" name="左大括弧 77">
            <a:extLst>
              <a:ext uri="{FF2B5EF4-FFF2-40B4-BE49-F238E27FC236}">
                <a16:creationId xmlns:a16="http://schemas.microsoft.com/office/drawing/2014/main" id="{50822344-DCC9-4E45-8DCA-E5CB8DBDE88E}"/>
              </a:ext>
            </a:extLst>
          </p:cNvPr>
          <p:cNvSpPr/>
          <p:nvPr/>
        </p:nvSpPr>
        <p:spPr>
          <a:xfrm>
            <a:off x="2811802" y="2394394"/>
            <a:ext cx="144017" cy="462913"/>
          </a:xfrm>
          <a:prstGeom prst="leftBrace">
            <a:avLst>
              <a:gd name="adj1" fmla="val 8333"/>
              <a:gd name="adj2" fmla="val 5337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9" name="圖片 78">
            <a:extLst>
              <a:ext uri="{FF2B5EF4-FFF2-40B4-BE49-F238E27FC236}">
                <a16:creationId xmlns:a16="http://schemas.microsoft.com/office/drawing/2014/main" id="{4CED9365-D8E7-4D46-8D08-F79710C846A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1476" y="2545619"/>
            <a:ext cx="224376" cy="215745"/>
          </a:xfrm>
          <a:prstGeom prst="rect">
            <a:avLst/>
          </a:prstGeom>
        </p:spPr>
      </p:pic>
      <p:sp>
        <p:nvSpPr>
          <p:cNvPr id="80" name="文字方塊 79">
            <a:extLst>
              <a:ext uri="{FF2B5EF4-FFF2-40B4-BE49-F238E27FC236}">
                <a16:creationId xmlns:a16="http://schemas.microsoft.com/office/drawing/2014/main" id="{3311DE45-1524-4E53-875D-F69630A50279}"/>
              </a:ext>
            </a:extLst>
          </p:cNvPr>
          <p:cNvSpPr txBox="1"/>
          <p:nvPr/>
        </p:nvSpPr>
        <p:spPr>
          <a:xfrm>
            <a:off x="1912253" y="250056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b="1" dirty="0">
                <a:solidFill>
                  <a:srgbClr val="C00000"/>
                </a:solidFill>
              </a:rPr>
              <a:t>建立變數</a:t>
            </a:r>
          </a:p>
        </p:txBody>
      </p:sp>
      <p:sp>
        <p:nvSpPr>
          <p:cNvPr id="81" name="左大括弧 80">
            <a:extLst>
              <a:ext uri="{FF2B5EF4-FFF2-40B4-BE49-F238E27FC236}">
                <a16:creationId xmlns:a16="http://schemas.microsoft.com/office/drawing/2014/main" id="{145037DB-A7D2-47D7-9570-039FC1EF48B5}"/>
              </a:ext>
            </a:extLst>
          </p:cNvPr>
          <p:cNvSpPr/>
          <p:nvPr/>
        </p:nvSpPr>
        <p:spPr>
          <a:xfrm>
            <a:off x="2811802" y="1723832"/>
            <a:ext cx="144017" cy="539594"/>
          </a:xfrm>
          <a:prstGeom prst="leftBrace">
            <a:avLst>
              <a:gd name="adj1" fmla="val 8333"/>
              <a:gd name="adj2" fmla="val 5337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2" name="圖片 81">
            <a:extLst>
              <a:ext uri="{FF2B5EF4-FFF2-40B4-BE49-F238E27FC236}">
                <a16:creationId xmlns:a16="http://schemas.microsoft.com/office/drawing/2014/main" id="{EE0CC230-723D-4724-9C02-48D8C75A50E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5791" y="1911813"/>
            <a:ext cx="215745" cy="215745"/>
          </a:xfrm>
          <a:prstGeom prst="rect">
            <a:avLst/>
          </a:prstGeom>
        </p:spPr>
      </p:pic>
      <p:sp>
        <p:nvSpPr>
          <p:cNvPr id="83" name="文字方塊 82">
            <a:extLst>
              <a:ext uri="{FF2B5EF4-FFF2-40B4-BE49-F238E27FC236}">
                <a16:creationId xmlns:a16="http://schemas.microsoft.com/office/drawing/2014/main" id="{1CB1B9A8-5499-4F33-A9A8-223AEB0B8639}"/>
              </a:ext>
            </a:extLst>
          </p:cNvPr>
          <p:cNvSpPr txBox="1"/>
          <p:nvPr/>
        </p:nvSpPr>
        <p:spPr>
          <a:xfrm>
            <a:off x="1912253" y="186675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b="1" dirty="0">
                <a:solidFill>
                  <a:srgbClr val="C00000"/>
                </a:solidFill>
              </a:rPr>
              <a:t>設定參數</a:t>
            </a:r>
          </a:p>
        </p:txBody>
      </p:sp>
      <p:pic>
        <p:nvPicPr>
          <p:cNvPr id="84" name="圖片 83">
            <a:extLst>
              <a:ext uri="{FF2B5EF4-FFF2-40B4-BE49-F238E27FC236}">
                <a16:creationId xmlns:a16="http://schemas.microsoft.com/office/drawing/2014/main" id="{99A7C9D0-FECF-4D0F-9857-A292FBF5870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5791" y="1481013"/>
            <a:ext cx="215745" cy="215745"/>
          </a:xfrm>
          <a:prstGeom prst="rect">
            <a:avLst/>
          </a:prstGeom>
        </p:spPr>
      </p:pic>
      <p:sp>
        <p:nvSpPr>
          <p:cNvPr id="85" name="文字方塊 84">
            <a:extLst>
              <a:ext uri="{FF2B5EF4-FFF2-40B4-BE49-F238E27FC236}">
                <a16:creationId xmlns:a16="http://schemas.microsoft.com/office/drawing/2014/main" id="{79A78D89-F5EC-4F9D-BB94-BBC6D388900D}"/>
              </a:ext>
            </a:extLst>
          </p:cNvPr>
          <p:cNvSpPr txBox="1"/>
          <p:nvPr/>
        </p:nvSpPr>
        <p:spPr>
          <a:xfrm>
            <a:off x="1912253" y="145327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b="1" dirty="0">
                <a:solidFill>
                  <a:srgbClr val="C00000"/>
                </a:solidFill>
              </a:rPr>
              <a:t>資料讀取</a:t>
            </a:r>
          </a:p>
        </p:txBody>
      </p:sp>
      <p:sp>
        <p:nvSpPr>
          <p:cNvPr id="86" name="左大括弧 85">
            <a:extLst>
              <a:ext uri="{FF2B5EF4-FFF2-40B4-BE49-F238E27FC236}">
                <a16:creationId xmlns:a16="http://schemas.microsoft.com/office/drawing/2014/main" id="{CFED3B80-8344-43A2-A11E-53DB124E8F5D}"/>
              </a:ext>
            </a:extLst>
          </p:cNvPr>
          <p:cNvSpPr/>
          <p:nvPr/>
        </p:nvSpPr>
        <p:spPr>
          <a:xfrm>
            <a:off x="2811802" y="1591778"/>
            <a:ext cx="144017" cy="0"/>
          </a:xfrm>
          <a:prstGeom prst="leftBrace">
            <a:avLst>
              <a:gd name="adj1" fmla="val 8333"/>
              <a:gd name="adj2" fmla="val 5337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8" name="圖片 87">
            <a:extLst>
              <a:ext uri="{FF2B5EF4-FFF2-40B4-BE49-F238E27FC236}">
                <a16:creationId xmlns:a16="http://schemas.microsoft.com/office/drawing/2014/main" id="{F375B5AD-D753-4FE9-A533-06CE4CC1CAC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5791" y="4252788"/>
            <a:ext cx="215745" cy="215745"/>
          </a:xfrm>
          <a:prstGeom prst="rect">
            <a:avLst/>
          </a:prstGeom>
        </p:spPr>
      </p:pic>
      <p:sp>
        <p:nvSpPr>
          <p:cNvPr id="89" name="文字方塊 88">
            <a:extLst>
              <a:ext uri="{FF2B5EF4-FFF2-40B4-BE49-F238E27FC236}">
                <a16:creationId xmlns:a16="http://schemas.microsoft.com/office/drawing/2014/main" id="{CA2DE33B-DF30-4A08-A64E-632BD5E985B8}"/>
              </a:ext>
            </a:extLst>
          </p:cNvPr>
          <p:cNvSpPr txBox="1"/>
          <p:nvPr/>
        </p:nvSpPr>
        <p:spPr>
          <a:xfrm>
            <a:off x="1912253" y="4225053"/>
            <a:ext cx="8002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1200" b="1" dirty="0">
                <a:solidFill>
                  <a:srgbClr val="C00000"/>
                </a:solidFill>
              </a:rPr>
              <a:t>計算求解</a:t>
            </a:r>
          </a:p>
        </p:txBody>
      </p:sp>
      <p:sp>
        <p:nvSpPr>
          <p:cNvPr id="90" name="左大括弧 89">
            <a:extLst>
              <a:ext uri="{FF2B5EF4-FFF2-40B4-BE49-F238E27FC236}">
                <a16:creationId xmlns:a16="http://schemas.microsoft.com/office/drawing/2014/main" id="{18178322-248B-40DB-A366-E8ACB1490DCD}"/>
              </a:ext>
            </a:extLst>
          </p:cNvPr>
          <p:cNvSpPr/>
          <p:nvPr/>
        </p:nvSpPr>
        <p:spPr>
          <a:xfrm>
            <a:off x="2811802" y="4363553"/>
            <a:ext cx="144017" cy="0"/>
          </a:xfrm>
          <a:prstGeom prst="leftBrace">
            <a:avLst>
              <a:gd name="adj1" fmla="val 8333"/>
              <a:gd name="adj2" fmla="val 5337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A1019604-4580-4941-8B8E-4DE324F33DE2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3729" t="11117" b="3655"/>
          <a:stretch/>
        </p:blipFill>
        <p:spPr>
          <a:xfrm>
            <a:off x="6735252" y="1551562"/>
            <a:ext cx="2316137" cy="1260170"/>
          </a:xfrm>
          <a:prstGeom prst="rect">
            <a:avLst/>
          </a:prstGeom>
          <a:ln>
            <a:solidFill>
              <a:srgbClr val="3E9282"/>
            </a:solidFill>
          </a:ln>
        </p:spPr>
      </p:pic>
      <p:pic>
        <p:nvPicPr>
          <p:cNvPr id="95" name="圖片 94">
            <a:extLst>
              <a:ext uri="{FF2B5EF4-FFF2-40B4-BE49-F238E27FC236}">
                <a16:creationId xmlns:a16="http://schemas.microsoft.com/office/drawing/2014/main" id="{65BDA664-FE4D-4AF2-A688-3EAF669B14C0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38914" y="1601622"/>
            <a:ext cx="257310" cy="257310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0B0FEACC-A98C-4337-B598-3130A15DB23F}"/>
              </a:ext>
            </a:extLst>
          </p:cNvPr>
          <p:cNvSpPr txBox="1"/>
          <p:nvPr/>
        </p:nvSpPr>
        <p:spPr>
          <a:xfrm>
            <a:off x="2951379" y="1306044"/>
            <a:ext cx="174759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50" b="1" dirty="0"/>
              <a:t>寫法一</a:t>
            </a:r>
            <a:r>
              <a:rPr lang="en-US" altLang="zh-TW" sz="1050" b="1" dirty="0"/>
              <a:t>:</a:t>
            </a:r>
            <a:r>
              <a:rPr lang="zh-TW" altLang="en-US" sz="1050" b="1" dirty="0"/>
              <a:t> </a:t>
            </a:r>
            <a:r>
              <a:rPr lang="zh-TW" altLang="en-US" sz="1050" dirty="0"/>
              <a:t>各別引用模型元件</a:t>
            </a:r>
          </a:p>
        </p:txBody>
      </p: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1621BAC5-C900-4DB8-AA5C-7F56F90FAE4B}"/>
              </a:ext>
            </a:extLst>
          </p:cNvPr>
          <p:cNvSpPr txBox="1"/>
          <p:nvPr/>
        </p:nvSpPr>
        <p:spPr>
          <a:xfrm>
            <a:off x="6652723" y="1306044"/>
            <a:ext cx="16305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50" b="1" dirty="0"/>
              <a:t>寫法二</a:t>
            </a:r>
            <a:r>
              <a:rPr lang="en-US" altLang="zh-TW" sz="1050" b="1" dirty="0"/>
              <a:t>:</a:t>
            </a:r>
            <a:r>
              <a:rPr lang="zh-TW" altLang="en-US" sz="1050" b="1" dirty="0"/>
              <a:t> </a:t>
            </a:r>
            <a:r>
              <a:rPr lang="zh-TW" altLang="en-US" sz="1050" dirty="0"/>
              <a:t>打包元件 </a:t>
            </a:r>
            <a:r>
              <a:rPr lang="en-US" altLang="zh-TW" sz="1050" dirty="0"/>
              <a:t>+</a:t>
            </a:r>
            <a:r>
              <a:rPr lang="zh-TW" altLang="en-US" sz="1050" dirty="0"/>
              <a:t> 變化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73A8FCA-11A8-44B8-AD16-73253042E333}"/>
              </a:ext>
            </a:extLst>
          </p:cNvPr>
          <p:cNvSpPr/>
          <p:nvPr/>
        </p:nvSpPr>
        <p:spPr>
          <a:xfrm>
            <a:off x="3073096" y="2293187"/>
            <a:ext cx="3515127" cy="583363"/>
          </a:xfrm>
          <a:prstGeom prst="rect">
            <a:avLst/>
          </a:prstGeom>
          <a:noFill/>
          <a:ln>
            <a:solidFill>
              <a:srgbClr val="3E92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3883382B-0C2C-4429-BED8-216F8F738CDB}"/>
              </a:ext>
            </a:extLst>
          </p:cNvPr>
          <p:cNvSpPr/>
          <p:nvPr/>
        </p:nvSpPr>
        <p:spPr>
          <a:xfrm>
            <a:off x="6836570" y="2272238"/>
            <a:ext cx="1490662" cy="133350"/>
          </a:xfrm>
          <a:prstGeom prst="rect">
            <a:avLst/>
          </a:prstGeom>
          <a:noFill/>
          <a:ln>
            <a:solidFill>
              <a:srgbClr val="3E92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701710F5-B220-429D-AAC0-0A1367CA1157}"/>
              </a:ext>
            </a:extLst>
          </p:cNvPr>
          <p:cNvCxnSpPr>
            <a:cxnSpLocks/>
          </p:cNvCxnSpPr>
          <p:nvPr/>
        </p:nvCxnSpPr>
        <p:spPr>
          <a:xfrm flipV="1">
            <a:off x="6588223" y="2301585"/>
            <a:ext cx="248347" cy="160582"/>
          </a:xfrm>
          <a:prstGeom prst="straightConnector1">
            <a:avLst/>
          </a:prstGeom>
          <a:ln w="12700">
            <a:solidFill>
              <a:srgbClr val="3E928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311DC99A-FBDB-4F0B-A2C7-FAC50529009C}"/>
              </a:ext>
            </a:extLst>
          </p:cNvPr>
          <p:cNvGrpSpPr/>
          <p:nvPr/>
        </p:nvGrpSpPr>
        <p:grpSpPr>
          <a:xfrm>
            <a:off x="7112425" y="4337319"/>
            <a:ext cx="1550253" cy="405746"/>
            <a:chOff x="7414235" y="3256126"/>
            <a:chExt cx="1550253" cy="405746"/>
          </a:xfrm>
        </p:grpSpPr>
        <p:pic>
          <p:nvPicPr>
            <p:cNvPr id="109" name="圖片 108">
              <a:extLst>
                <a:ext uri="{FF2B5EF4-FFF2-40B4-BE49-F238E27FC236}">
                  <a16:creationId xmlns:a16="http://schemas.microsoft.com/office/drawing/2014/main" id="{DB38FEC3-7202-4FC2-A756-C79480912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707178" y="3342796"/>
              <a:ext cx="257310" cy="257310"/>
            </a:xfrm>
            <a:prstGeom prst="rect">
              <a:avLst/>
            </a:prstGeom>
          </p:spPr>
        </p:pic>
        <p:pic>
          <p:nvPicPr>
            <p:cNvPr id="110" name="圖片 109">
              <a:extLst>
                <a:ext uri="{FF2B5EF4-FFF2-40B4-BE49-F238E27FC236}">
                  <a16:creationId xmlns:a16="http://schemas.microsoft.com/office/drawing/2014/main" id="{61E17B57-CF2D-45BD-B9A3-35B22726B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8172465" y="3342796"/>
              <a:ext cx="257310" cy="257310"/>
            </a:xfrm>
            <a:prstGeom prst="rect">
              <a:avLst/>
            </a:prstGeom>
          </p:spPr>
        </p:pic>
        <p:grpSp>
          <p:nvGrpSpPr>
            <p:cNvPr id="111" name="群組 110">
              <a:extLst>
                <a:ext uri="{FF2B5EF4-FFF2-40B4-BE49-F238E27FC236}">
                  <a16:creationId xmlns:a16="http://schemas.microsoft.com/office/drawing/2014/main" id="{0BD09932-F6C2-4822-B237-8CBD9E4FA61C}"/>
                </a:ext>
              </a:extLst>
            </p:cNvPr>
            <p:cNvGrpSpPr/>
            <p:nvPr/>
          </p:nvGrpSpPr>
          <p:grpSpPr>
            <a:xfrm>
              <a:off x="7414235" y="3256126"/>
              <a:ext cx="425539" cy="405746"/>
              <a:chOff x="7221779" y="154344"/>
              <a:chExt cx="425539" cy="405746"/>
            </a:xfrm>
          </p:grpSpPr>
          <p:pic>
            <p:nvPicPr>
              <p:cNvPr id="115" name="圖片 114">
                <a:extLst>
                  <a:ext uri="{FF2B5EF4-FFF2-40B4-BE49-F238E27FC236}">
                    <a16:creationId xmlns:a16="http://schemas.microsoft.com/office/drawing/2014/main" id="{16FAA7D9-25A2-476F-82B1-4FE094A760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7390008" y="302780"/>
                <a:ext cx="257310" cy="257310"/>
              </a:xfrm>
              <a:prstGeom prst="rect">
                <a:avLst/>
              </a:prstGeom>
            </p:spPr>
          </p:pic>
          <p:pic>
            <p:nvPicPr>
              <p:cNvPr id="116" name="圖片 115">
                <a:extLst>
                  <a:ext uri="{FF2B5EF4-FFF2-40B4-BE49-F238E27FC236}">
                    <a16:creationId xmlns:a16="http://schemas.microsoft.com/office/drawing/2014/main" id="{52017B92-43A2-45AD-AA50-1378144355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7221779" y="302780"/>
                <a:ext cx="257310" cy="257310"/>
              </a:xfrm>
              <a:prstGeom prst="rect">
                <a:avLst/>
              </a:prstGeom>
            </p:spPr>
          </p:pic>
          <p:pic>
            <p:nvPicPr>
              <p:cNvPr id="114" name="圖片 113">
                <a:extLst>
                  <a:ext uri="{FF2B5EF4-FFF2-40B4-BE49-F238E27FC236}">
                    <a16:creationId xmlns:a16="http://schemas.microsoft.com/office/drawing/2014/main" id="{4837190A-5950-4A97-9802-83F3A1BC9E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7306380" y="154344"/>
                <a:ext cx="257310" cy="257310"/>
              </a:xfrm>
              <a:prstGeom prst="rect">
                <a:avLst/>
              </a:prstGeom>
            </p:spPr>
          </p:pic>
        </p:grpSp>
        <p:sp>
          <p:nvSpPr>
            <p:cNvPr id="112" name="十字形 111">
              <a:extLst>
                <a:ext uri="{FF2B5EF4-FFF2-40B4-BE49-F238E27FC236}">
                  <a16:creationId xmlns:a16="http://schemas.microsoft.com/office/drawing/2014/main" id="{E0A32434-9E60-4FF0-AAF0-69FC3C499CCB}"/>
                </a:ext>
              </a:extLst>
            </p:cNvPr>
            <p:cNvSpPr/>
            <p:nvPr/>
          </p:nvSpPr>
          <p:spPr>
            <a:xfrm>
              <a:off x="7923401" y="3382430"/>
              <a:ext cx="178042" cy="178042"/>
            </a:xfrm>
            <a:prstGeom prst="plus">
              <a:avLst>
                <a:gd name="adj" fmla="val 37328"/>
              </a:avLst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3" name="等於 112">
              <a:extLst>
                <a:ext uri="{FF2B5EF4-FFF2-40B4-BE49-F238E27FC236}">
                  <a16:creationId xmlns:a16="http://schemas.microsoft.com/office/drawing/2014/main" id="{C2AB1081-D787-49B7-968F-318E1F5F1DCE}"/>
                </a:ext>
              </a:extLst>
            </p:cNvPr>
            <p:cNvSpPr/>
            <p:nvPr/>
          </p:nvSpPr>
          <p:spPr>
            <a:xfrm>
              <a:off x="8500797" y="3383968"/>
              <a:ext cx="135359" cy="174966"/>
            </a:xfrm>
            <a:prstGeom prst="mathEqual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17" name="群組 116">
            <a:extLst>
              <a:ext uri="{FF2B5EF4-FFF2-40B4-BE49-F238E27FC236}">
                <a16:creationId xmlns:a16="http://schemas.microsoft.com/office/drawing/2014/main" id="{E116E32A-8919-4CEE-A5D2-2BFA2EFA331C}"/>
              </a:ext>
            </a:extLst>
          </p:cNvPr>
          <p:cNvGrpSpPr/>
          <p:nvPr/>
        </p:nvGrpSpPr>
        <p:grpSpPr>
          <a:xfrm>
            <a:off x="6957180" y="3040538"/>
            <a:ext cx="1903314" cy="430651"/>
            <a:chOff x="4822311" y="3169455"/>
            <a:chExt cx="1903314" cy="430651"/>
          </a:xfrm>
        </p:grpSpPr>
        <p:grpSp>
          <p:nvGrpSpPr>
            <p:cNvPr id="118" name="群組 117">
              <a:extLst>
                <a:ext uri="{FF2B5EF4-FFF2-40B4-BE49-F238E27FC236}">
                  <a16:creationId xmlns:a16="http://schemas.microsoft.com/office/drawing/2014/main" id="{12A8AED1-AC00-4E4A-8BA3-B75426FE4D05}"/>
                </a:ext>
              </a:extLst>
            </p:cNvPr>
            <p:cNvGrpSpPr/>
            <p:nvPr/>
          </p:nvGrpSpPr>
          <p:grpSpPr>
            <a:xfrm>
              <a:off x="4822311" y="3169455"/>
              <a:ext cx="1226336" cy="430651"/>
              <a:chOff x="5852832" y="3256126"/>
              <a:chExt cx="1226336" cy="430651"/>
            </a:xfrm>
          </p:grpSpPr>
          <p:sp>
            <p:nvSpPr>
              <p:cNvPr id="121" name="十字形 120">
                <a:extLst>
                  <a:ext uri="{FF2B5EF4-FFF2-40B4-BE49-F238E27FC236}">
                    <a16:creationId xmlns:a16="http://schemas.microsoft.com/office/drawing/2014/main" id="{54B4AEA3-0533-4544-A644-5919C23B2A35}"/>
                  </a:ext>
                </a:extLst>
              </p:cNvPr>
              <p:cNvSpPr/>
              <p:nvPr/>
            </p:nvSpPr>
            <p:spPr>
              <a:xfrm>
                <a:off x="6376979" y="3382430"/>
                <a:ext cx="178042" cy="178042"/>
              </a:xfrm>
              <a:prstGeom prst="plus">
                <a:avLst>
                  <a:gd name="adj" fmla="val 37328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122" name="群組 121">
                <a:extLst>
                  <a:ext uri="{FF2B5EF4-FFF2-40B4-BE49-F238E27FC236}">
                    <a16:creationId xmlns:a16="http://schemas.microsoft.com/office/drawing/2014/main" id="{8F867483-A853-4C2C-AACF-AF0A405CBC2B}"/>
                  </a:ext>
                </a:extLst>
              </p:cNvPr>
              <p:cNvGrpSpPr/>
              <p:nvPr/>
            </p:nvGrpSpPr>
            <p:grpSpPr>
              <a:xfrm>
                <a:off x="6626043" y="3256126"/>
                <a:ext cx="453125" cy="430651"/>
                <a:chOff x="7206798" y="154344"/>
                <a:chExt cx="453125" cy="430651"/>
              </a:xfrm>
            </p:grpSpPr>
            <p:pic>
              <p:nvPicPr>
                <p:cNvPr id="127" name="圖片 126">
                  <a:extLst>
                    <a:ext uri="{FF2B5EF4-FFF2-40B4-BE49-F238E27FC236}">
                      <a16:creationId xmlns:a16="http://schemas.microsoft.com/office/drawing/2014/main" id="{F7080245-A7D6-4635-AC7A-BA1CC3AF2C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306380" y="154344"/>
                  <a:ext cx="257310" cy="257310"/>
                </a:xfrm>
                <a:prstGeom prst="rect">
                  <a:avLst/>
                </a:prstGeom>
              </p:spPr>
            </p:pic>
            <p:pic>
              <p:nvPicPr>
                <p:cNvPr id="128" name="圖片 127">
                  <a:extLst>
                    <a:ext uri="{FF2B5EF4-FFF2-40B4-BE49-F238E27FC236}">
                      <a16:creationId xmlns:a16="http://schemas.microsoft.com/office/drawing/2014/main" id="{1EA0486E-7665-44B4-A0DC-1B9A165933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402613" y="327685"/>
                  <a:ext cx="257310" cy="257310"/>
                </a:xfrm>
                <a:prstGeom prst="rect">
                  <a:avLst/>
                </a:prstGeom>
              </p:spPr>
            </p:pic>
            <p:pic>
              <p:nvPicPr>
                <p:cNvPr id="129" name="圖片 128">
                  <a:extLst>
                    <a:ext uri="{FF2B5EF4-FFF2-40B4-BE49-F238E27FC236}">
                      <a16:creationId xmlns:a16="http://schemas.microsoft.com/office/drawing/2014/main" id="{D48000BA-C0A2-4FE1-8747-0F40800D27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206798" y="327685"/>
                  <a:ext cx="257310" cy="257310"/>
                </a:xfrm>
                <a:prstGeom prst="rect">
                  <a:avLst/>
                </a:prstGeom>
              </p:spPr>
            </p:pic>
          </p:grpSp>
          <p:grpSp>
            <p:nvGrpSpPr>
              <p:cNvPr id="123" name="群組 122">
                <a:extLst>
                  <a:ext uri="{FF2B5EF4-FFF2-40B4-BE49-F238E27FC236}">
                    <a16:creationId xmlns:a16="http://schemas.microsoft.com/office/drawing/2014/main" id="{3D24CEED-0607-407C-902C-623BDA964582}"/>
                  </a:ext>
                </a:extLst>
              </p:cNvPr>
              <p:cNvGrpSpPr/>
              <p:nvPr/>
            </p:nvGrpSpPr>
            <p:grpSpPr>
              <a:xfrm>
                <a:off x="5852832" y="3256126"/>
                <a:ext cx="453125" cy="430651"/>
                <a:chOff x="7206798" y="154344"/>
                <a:chExt cx="453125" cy="430651"/>
              </a:xfrm>
            </p:grpSpPr>
            <p:pic>
              <p:nvPicPr>
                <p:cNvPr id="124" name="圖片 123">
                  <a:extLst>
                    <a:ext uri="{FF2B5EF4-FFF2-40B4-BE49-F238E27FC236}">
                      <a16:creationId xmlns:a16="http://schemas.microsoft.com/office/drawing/2014/main" id="{E0A22B1B-552D-4F12-8350-B94C9D7D28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1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306380" y="154344"/>
                  <a:ext cx="257310" cy="257310"/>
                </a:xfrm>
                <a:prstGeom prst="rect">
                  <a:avLst/>
                </a:prstGeom>
              </p:spPr>
            </p:pic>
            <p:pic>
              <p:nvPicPr>
                <p:cNvPr id="125" name="圖片 124">
                  <a:extLst>
                    <a:ext uri="{FF2B5EF4-FFF2-40B4-BE49-F238E27FC236}">
                      <a16:creationId xmlns:a16="http://schemas.microsoft.com/office/drawing/2014/main" id="{95595884-0F57-4C67-B01A-A27B7E508C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1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402613" y="327685"/>
                  <a:ext cx="257310" cy="257310"/>
                </a:xfrm>
                <a:prstGeom prst="rect">
                  <a:avLst/>
                </a:prstGeom>
              </p:spPr>
            </p:pic>
            <p:pic>
              <p:nvPicPr>
                <p:cNvPr id="126" name="圖片 125">
                  <a:extLst>
                    <a:ext uri="{FF2B5EF4-FFF2-40B4-BE49-F238E27FC236}">
                      <a16:creationId xmlns:a16="http://schemas.microsoft.com/office/drawing/2014/main" id="{6F032F59-BB8A-4980-948F-7AA8964434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1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206798" y="327685"/>
                  <a:ext cx="257310" cy="257310"/>
                </a:xfrm>
                <a:prstGeom prst="rect">
                  <a:avLst/>
                </a:prstGeom>
              </p:spPr>
            </p:pic>
          </p:grpSp>
        </p:grpSp>
        <p:pic>
          <p:nvPicPr>
            <p:cNvPr id="119" name="圖片 118">
              <a:extLst>
                <a:ext uri="{FF2B5EF4-FFF2-40B4-BE49-F238E27FC236}">
                  <a16:creationId xmlns:a16="http://schemas.microsoft.com/office/drawing/2014/main" id="{FE83A29B-F062-457C-A463-AC2124069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468315" y="3256125"/>
              <a:ext cx="257310" cy="257310"/>
            </a:xfrm>
            <a:prstGeom prst="rect">
              <a:avLst/>
            </a:prstGeom>
          </p:spPr>
        </p:pic>
        <p:sp>
          <p:nvSpPr>
            <p:cNvPr id="120" name="等於 119">
              <a:extLst>
                <a:ext uri="{FF2B5EF4-FFF2-40B4-BE49-F238E27FC236}">
                  <a16:creationId xmlns:a16="http://schemas.microsoft.com/office/drawing/2014/main" id="{2EAEC354-F1F7-4A05-90B5-88165B398C1F}"/>
                </a:ext>
              </a:extLst>
            </p:cNvPr>
            <p:cNvSpPr/>
            <p:nvPr/>
          </p:nvSpPr>
          <p:spPr>
            <a:xfrm>
              <a:off x="6197000" y="3297297"/>
              <a:ext cx="135359" cy="174966"/>
            </a:xfrm>
            <a:prstGeom prst="mathEqual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30" name="群組 129">
            <a:extLst>
              <a:ext uri="{FF2B5EF4-FFF2-40B4-BE49-F238E27FC236}">
                <a16:creationId xmlns:a16="http://schemas.microsoft.com/office/drawing/2014/main" id="{5527A586-F179-40AC-A2D7-FEEFF57A0515}"/>
              </a:ext>
            </a:extLst>
          </p:cNvPr>
          <p:cNvGrpSpPr/>
          <p:nvPr/>
        </p:nvGrpSpPr>
        <p:grpSpPr>
          <a:xfrm>
            <a:off x="6957180" y="3525681"/>
            <a:ext cx="1900321" cy="430651"/>
            <a:chOff x="4822311" y="3169455"/>
            <a:chExt cx="1900321" cy="430651"/>
          </a:xfrm>
        </p:grpSpPr>
        <p:grpSp>
          <p:nvGrpSpPr>
            <p:cNvPr id="131" name="群組 130">
              <a:extLst>
                <a:ext uri="{FF2B5EF4-FFF2-40B4-BE49-F238E27FC236}">
                  <a16:creationId xmlns:a16="http://schemas.microsoft.com/office/drawing/2014/main" id="{8DFEC195-1AB8-414F-A53A-992D2DB3EAAC}"/>
                </a:ext>
              </a:extLst>
            </p:cNvPr>
            <p:cNvGrpSpPr/>
            <p:nvPr/>
          </p:nvGrpSpPr>
          <p:grpSpPr>
            <a:xfrm>
              <a:off x="4822311" y="3169455"/>
              <a:ext cx="1226336" cy="430651"/>
              <a:chOff x="5852832" y="3256126"/>
              <a:chExt cx="1226336" cy="430651"/>
            </a:xfrm>
          </p:grpSpPr>
          <p:sp>
            <p:nvSpPr>
              <p:cNvPr id="134" name="十字形 133">
                <a:extLst>
                  <a:ext uri="{FF2B5EF4-FFF2-40B4-BE49-F238E27FC236}">
                    <a16:creationId xmlns:a16="http://schemas.microsoft.com/office/drawing/2014/main" id="{4A777303-FE6F-4342-BF5C-4F690B0F2248}"/>
                  </a:ext>
                </a:extLst>
              </p:cNvPr>
              <p:cNvSpPr/>
              <p:nvPr/>
            </p:nvSpPr>
            <p:spPr>
              <a:xfrm>
                <a:off x="6376979" y="3382430"/>
                <a:ext cx="178042" cy="178042"/>
              </a:xfrm>
              <a:prstGeom prst="plus">
                <a:avLst>
                  <a:gd name="adj" fmla="val 37328"/>
                </a:avLst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135" name="群組 134">
                <a:extLst>
                  <a:ext uri="{FF2B5EF4-FFF2-40B4-BE49-F238E27FC236}">
                    <a16:creationId xmlns:a16="http://schemas.microsoft.com/office/drawing/2014/main" id="{9783C711-13ED-47C5-A19A-416E81555CC3}"/>
                  </a:ext>
                </a:extLst>
              </p:cNvPr>
              <p:cNvGrpSpPr/>
              <p:nvPr/>
            </p:nvGrpSpPr>
            <p:grpSpPr>
              <a:xfrm>
                <a:off x="6626043" y="3256126"/>
                <a:ext cx="453125" cy="430651"/>
                <a:chOff x="7206798" y="154344"/>
                <a:chExt cx="453125" cy="430651"/>
              </a:xfrm>
            </p:grpSpPr>
            <p:pic>
              <p:nvPicPr>
                <p:cNvPr id="140" name="圖片 139">
                  <a:extLst>
                    <a:ext uri="{FF2B5EF4-FFF2-40B4-BE49-F238E27FC236}">
                      <a16:creationId xmlns:a16="http://schemas.microsoft.com/office/drawing/2014/main" id="{E346D205-10D0-403C-944D-22A1DB11F6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306380" y="154344"/>
                  <a:ext cx="257310" cy="257310"/>
                </a:xfrm>
                <a:prstGeom prst="rect">
                  <a:avLst/>
                </a:prstGeom>
              </p:spPr>
            </p:pic>
            <p:pic>
              <p:nvPicPr>
                <p:cNvPr id="141" name="圖片 140">
                  <a:extLst>
                    <a:ext uri="{FF2B5EF4-FFF2-40B4-BE49-F238E27FC236}">
                      <a16:creationId xmlns:a16="http://schemas.microsoft.com/office/drawing/2014/main" id="{95FD25E7-5DB2-4B71-87A8-07227E13BD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402613" y="327685"/>
                  <a:ext cx="257310" cy="257310"/>
                </a:xfrm>
                <a:prstGeom prst="rect">
                  <a:avLst/>
                </a:prstGeom>
              </p:spPr>
            </p:pic>
            <p:pic>
              <p:nvPicPr>
                <p:cNvPr id="142" name="圖片 141">
                  <a:extLst>
                    <a:ext uri="{FF2B5EF4-FFF2-40B4-BE49-F238E27FC236}">
                      <a16:creationId xmlns:a16="http://schemas.microsoft.com/office/drawing/2014/main" id="{1C20785A-2AED-4989-AC1A-56DDF8A9A6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206798" y="327685"/>
                  <a:ext cx="257310" cy="257310"/>
                </a:xfrm>
                <a:prstGeom prst="rect">
                  <a:avLst/>
                </a:prstGeom>
              </p:spPr>
            </p:pic>
          </p:grpSp>
          <p:grpSp>
            <p:nvGrpSpPr>
              <p:cNvPr id="136" name="群組 135">
                <a:extLst>
                  <a:ext uri="{FF2B5EF4-FFF2-40B4-BE49-F238E27FC236}">
                    <a16:creationId xmlns:a16="http://schemas.microsoft.com/office/drawing/2014/main" id="{8E88E4BF-AA9B-44BF-BB98-BF06478160B3}"/>
                  </a:ext>
                </a:extLst>
              </p:cNvPr>
              <p:cNvGrpSpPr/>
              <p:nvPr/>
            </p:nvGrpSpPr>
            <p:grpSpPr>
              <a:xfrm>
                <a:off x="5852832" y="3256126"/>
                <a:ext cx="453125" cy="430651"/>
                <a:chOff x="7206798" y="154344"/>
                <a:chExt cx="453125" cy="430651"/>
              </a:xfrm>
            </p:grpSpPr>
            <p:pic>
              <p:nvPicPr>
                <p:cNvPr id="137" name="圖片 136">
                  <a:extLst>
                    <a:ext uri="{FF2B5EF4-FFF2-40B4-BE49-F238E27FC236}">
                      <a16:creationId xmlns:a16="http://schemas.microsoft.com/office/drawing/2014/main" id="{5EF89044-572F-42BE-B986-5B007E2906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1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306380" y="154344"/>
                  <a:ext cx="257310" cy="257310"/>
                </a:xfrm>
                <a:prstGeom prst="rect">
                  <a:avLst/>
                </a:prstGeom>
              </p:spPr>
            </p:pic>
            <p:pic>
              <p:nvPicPr>
                <p:cNvPr id="138" name="圖片 137">
                  <a:extLst>
                    <a:ext uri="{FF2B5EF4-FFF2-40B4-BE49-F238E27FC236}">
                      <a16:creationId xmlns:a16="http://schemas.microsoft.com/office/drawing/2014/main" id="{1ACE1BE3-69D4-4552-8280-3D310F1ACF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1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402613" y="327685"/>
                  <a:ext cx="257310" cy="257310"/>
                </a:xfrm>
                <a:prstGeom prst="rect">
                  <a:avLst/>
                </a:prstGeom>
              </p:spPr>
            </p:pic>
            <p:pic>
              <p:nvPicPr>
                <p:cNvPr id="139" name="圖片 138">
                  <a:extLst>
                    <a:ext uri="{FF2B5EF4-FFF2-40B4-BE49-F238E27FC236}">
                      <a16:creationId xmlns:a16="http://schemas.microsoft.com/office/drawing/2014/main" id="{F14970C5-2FD6-4D8E-84AC-9F45A787CA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1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7206798" y="327685"/>
                  <a:ext cx="257310" cy="257310"/>
                </a:xfrm>
                <a:prstGeom prst="rect">
                  <a:avLst/>
                </a:prstGeom>
              </p:spPr>
            </p:pic>
          </p:grpSp>
        </p:grpSp>
        <p:pic>
          <p:nvPicPr>
            <p:cNvPr id="132" name="圖片 131">
              <a:extLst>
                <a:ext uri="{FF2B5EF4-FFF2-40B4-BE49-F238E27FC236}">
                  <a16:creationId xmlns:a16="http://schemas.microsoft.com/office/drawing/2014/main" id="{6DD42040-0629-4810-848C-6E1C75D24F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471307" y="3256125"/>
              <a:ext cx="251325" cy="257310"/>
            </a:xfrm>
            <a:prstGeom prst="rect">
              <a:avLst/>
            </a:prstGeom>
          </p:spPr>
        </p:pic>
        <p:sp>
          <p:nvSpPr>
            <p:cNvPr id="133" name="等於 132">
              <a:extLst>
                <a:ext uri="{FF2B5EF4-FFF2-40B4-BE49-F238E27FC236}">
                  <a16:creationId xmlns:a16="http://schemas.microsoft.com/office/drawing/2014/main" id="{FB2E3963-B012-47C1-A3A6-32172B0607AB}"/>
                </a:ext>
              </a:extLst>
            </p:cNvPr>
            <p:cNvSpPr/>
            <p:nvPr/>
          </p:nvSpPr>
          <p:spPr>
            <a:xfrm>
              <a:off x="6197000" y="3297297"/>
              <a:ext cx="135359" cy="174966"/>
            </a:xfrm>
            <a:prstGeom prst="mathEqual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B52058BC-ECE9-4B63-9A2B-64149B621B08}"/>
              </a:ext>
            </a:extLst>
          </p:cNvPr>
          <p:cNvGrpSpPr/>
          <p:nvPr/>
        </p:nvGrpSpPr>
        <p:grpSpPr>
          <a:xfrm rot="5400000">
            <a:off x="7875603" y="4091371"/>
            <a:ext cx="102640" cy="182390"/>
            <a:chOff x="3707904" y="1269426"/>
            <a:chExt cx="271311" cy="482115"/>
          </a:xfrm>
        </p:grpSpPr>
        <p:grpSp>
          <p:nvGrpSpPr>
            <p:cNvPr id="144" name="群組 143">
              <a:extLst>
                <a:ext uri="{FF2B5EF4-FFF2-40B4-BE49-F238E27FC236}">
                  <a16:creationId xmlns:a16="http://schemas.microsoft.com/office/drawing/2014/main" id="{3CCDFA4A-E300-4410-9AA7-A1AD13FB26BB}"/>
                </a:ext>
              </a:extLst>
            </p:cNvPr>
            <p:cNvGrpSpPr/>
            <p:nvPr/>
          </p:nvGrpSpPr>
          <p:grpSpPr>
            <a:xfrm>
              <a:off x="3979215" y="1269426"/>
              <a:ext cx="0" cy="482115"/>
              <a:chOff x="3979215" y="1269426"/>
              <a:chExt cx="0" cy="482115"/>
            </a:xfrm>
          </p:grpSpPr>
          <p:cxnSp>
            <p:nvCxnSpPr>
              <p:cNvPr id="148" name="直線單箭頭接點 147">
                <a:extLst>
                  <a:ext uri="{FF2B5EF4-FFF2-40B4-BE49-F238E27FC236}">
                    <a16:creationId xmlns:a16="http://schemas.microsoft.com/office/drawing/2014/main" id="{32A73164-06C7-406C-80C4-CDE026CBFAAB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7030A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線單箭頭接點 157">
                <a:extLst>
                  <a:ext uri="{FF2B5EF4-FFF2-40B4-BE49-F238E27FC236}">
                    <a16:creationId xmlns:a16="http://schemas.microsoft.com/office/drawing/2014/main" id="{3E9553E0-5A76-432D-AC79-B3EFC874E3BD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7030A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5" name="群組 144">
              <a:extLst>
                <a:ext uri="{FF2B5EF4-FFF2-40B4-BE49-F238E27FC236}">
                  <a16:creationId xmlns:a16="http://schemas.microsoft.com/office/drawing/2014/main" id="{2DE85CDD-C114-498F-818F-5AB90C6BB80B}"/>
                </a:ext>
              </a:extLst>
            </p:cNvPr>
            <p:cNvGrpSpPr/>
            <p:nvPr/>
          </p:nvGrpSpPr>
          <p:grpSpPr>
            <a:xfrm>
              <a:off x="3707904" y="1269426"/>
              <a:ext cx="0" cy="482115"/>
              <a:chOff x="3979215" y="1269426"/>
              <a:chExt cx="0" cy="482115"/>
            </a:xfrm>
          </p:grpSpPr>
          <p:cxnSp>
            <p:nvCxnSpPr>
              <p:cNvPr id="146" name="直線單箭頭接點 145">
                <a:extLst>
                  <a:ext uri="{FF2B5EF4-FFF2-40B4-BE49-F238E27FC236}">
                    <a16:creationId xmlns:a16="http://schemas.microsoft.com/office/drawing/2014/main" id="{0F22275D-A273-4C82-AC37-7A575F28D21C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7030A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線單箭頭接點 146">
                <a:extLst>
                  <a:ext uri="{FF2B5EF4-FFF2-40B4-BE49-F238E27FC236}">
                    <a16:creationId xmlns:a16="http://schemas.microsoft.com/office/drawing/2014/main" id="{7D42E6F9-3FCF-43B3-963C-F916195D8759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38100" cap="rnd">
                <a:solidFill>
                  <a:srgbClr val="7030A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9" name="矩形 158">
            <a:extLst>
              <a:ext uri="{FF2B5EF4-FFF2-40B4-BE49-F238E27FC236}">
                <a16:creationId xmlns:a16="http://schemas.microsoft.com/office/drawing/2014/main" id="{594615AC-8B18-4E04-A885-634F553E50D5}"/>
              </a:ext>
            </a:extLst>
          </p:cNvPr>
          <p:cNvSpPr/>
          <p:nvPr/>
        </p:nvSpPr>
        <p:spPr>
          <a:xfrm>
            <a:off x="6836570" y="2443688"/>
            <a:ext cx="2193130" cy="8281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37801EA2-D2E8-47BD-9040-77CD1BFBC04E}"/>
              </a:ext>
            </a:extLst>
          </p:cNvPr>
          <p:cNvSpPr txBox="1"/>
          <p:nvPr/>
        </p:nvSpPr>
        <p:spPr>
          <a:xfrm>
            <a:off x="7961587" y="2517153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" b="1" dirty="0">
                <a:solidFill>
                  <a:srgbClr val="C00000"/>
                </a:solidFill>
              </a:rPr>
              <a:t>彈性添加限制式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C4BAF24-F912-437A-AC8B-6838B768A7B6}"/>
              </a:ext>
            </a:extLst>
          </p:cNvPr>
          <p:cNvSpPr txBox="1"/>
          <p:nvPr/>
        </p:nvSpPr>
        <p:spPr>
          <a:xfrm>
            <a:off x="4665902" y="2055716"/>
            <a:ext cx="19223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TW" altLang="en-US" sz="1000" b="1" dirty="0">
                <a:solidFill>
                  <a:srgbClr val="3E9282"/>
                </a:solidFill>
              </a:rPr>
              <a:t>將元件打包成 </a:t>
            </a:r>
            <a:r>
              <a:rPr lang="en-US" altLang="zh-TW" sz="1000" b="1" dirty="0">
                <a:solidFill>
                  <a:srgbClr val="3E9282"/>
                </a:solidFill>
              </a:rPr>
              <a:t>Group</a:t>
            </a:r>
            <a:r>
              <a:rPr lang="zh-TW" altLang="en-US" sz="1000" b="1" dirty="0">
                <a:solidFill>
                  <a:srgbClr val="3E9282"/>
                </a:solidFill>
              </a:rPr>
              <a:t> 建立模型</a:t>
            </a:r>
          </a:p>
        </p:txBody>
      </p:sp>
      <p:sp>
        <p:nvSpPr>
          <p:cNvPr id="160" name="文字方塊 159">
            <a:extLst>
              <a:ext uri="{FF2B5EF4-FFF2-40B4-BE49-F238E27FC236}">
                <a16:creationId xmlns:a16="http://schemas.microsoft.com/office/drawing/2014/main" id="{57F13299-9CA6-49CB-9198-ED6EA2AB6260}"/>
              </a:ext>
            </a:extLst>
          </p:cNvPr>
          <p:cNvSpPr txBox="1"/>
          <p:nvPr/>
        </p:nvSpPr>
        <p:spPr>
          <a:xfrm>
            <a:off x="250825" y="863213"/>
            <a:ext cx="225285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Step1: </a:t>
            </a:r>
            <a:r>
              <a:rPr lang="zh-TW" altLang="en-US" dirty="0"/>
              <a:t>準備設計好的原件</a:t>
            </a:r>
          </a:p>
        </p:txBody>
      </p:sp>
      <p:sp>
        <p:nvSpPr>
          <p:cNvPr id="161" name="文字方塊 160">
            <a:extLst>
              <a:ext uri="{FF2B5EF4-FFF2-40B4-BE49-F238E27FC236}">
                <a16:creationId xmlns:a16="http://schemas.microsoft.com/office/drawing/2014/main" id="{E16D69ED-344A-43EE-9B38-11509EEBE99D}"/>
              </a:ext>
            </a:extLst>
          </p:cNvPr>
          <p:cNvSpPr txBox="1"/>
          <p:nvPr/>
        </p:nvSpPr>
        <p:spPr>
          <a:xfrm>
            <a:off x="2972764" y="863213"/>
            <a:ext cx="267935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Step2: </a:t>
            </a:r>
            <a:r>
              <a:rPr lang="zh-TW" altLang="en-US" dirty="0"/>
              <a:t>引用元件建立模型 </a:t>
            </a:r>
            <a:r>
              <a:rPr lang="en-US" altLang="zh-TW" dirty="0"/>
              <a:t>&amp;</a:t>
            </a:r>
            <a:r>
              <a:rPr lang="zh-TW" altLang="en-US" dirty="0"/>
              <a:t> 設定</a:t>
            </a:r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979E517E-7552-4225-A5B6-BB70DB8EB822}"/>
              </a:ext>
            </a:extLst>
          </p:cNvPr>
          <p:cNvSpPr/>
          <p:nvPr/>
        </p:nvSpPr>
        <p:spPr>
          <a:xfrm>
            <a:off x="3073096" y="2876551"/>
            <a:ext cx="3515127" cy="1338262"/>
          </a:xfrm>
          <a:prstGeom prst="rect">
            <a:avLst/>
          </a:prstGeom>
          <a:noFill/>
          <a:ln>
            <a:solidFill>
              <a:srgbClr val="3E92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5" name="直線單箭頭接點 164">
            <a:extLst>
              <a:ext uri="{FF2B5EF4-FFF2-40B4-BE49-F238E27FC236}">
                <a16:creationId xmlns:a16="http://schemas.microsoft.com/office/drawing/2014/main" id="{7B48553A-AD49-433E-82F8-61DCFBE18870}"/>
              </a:ext>
            </a:extLst>
          </p:cNvPr>
          <p:cNvCxnSpPr>
            <a:cxnSpLocks/>
            <a:endCxn id="101" idx="1"/>
          </p:cNvCxnSpPr>
          <p:nvPr/>
        </p:nvCxnSpPr>
        <p:spPr>
          <a:xfrm flipV="1">
            <a:off x="6588223" y="2338913"/>
            <a:ext cx="248347" cy="646162"/>
          </a:xfrm>
          <a:prstGeom prst="straightConnector1">
            <a:avLst/>
          </a:prstGeom>
          <a:ln w="12700">
            <a:solidFill>
              <a:srgbClr val="3E928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DBB3DD7B-0FA3-4EDB-809C-DB4119EFC81D}"/>
              </a:ext>
            </a:extLst>
          </p:cNvPr>
          <p:cNvSpPr txBox="1"/>
          <p:nvPr/>
        </p:nvSpPr>
        <p:spPr>
          <a:xfrm>
            <a:off x="5767652" y="2867252"/>
            <a:ext cx="9447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>
                <a:solidFill>
                  <a:srgbClr val="3E9282"/>
                </a:solidFill>
              </a:rPr>
              <a:t>Build Model</a:t>
            </a:r>
            <a:endParaRPr lang="zh-TW" altLang="en-US" sz="1000" dirty="0">
              <a:solidFill>
                <a:srgbClr val="3E9282"/>
              </a:solidFill>
            </a:endParaRPr>
          </a:p>
        </p:txBody>
      </p:sp>
      <p:sp>
        <p:nvSpPr>
          <p:cNvPr id="168" name="文字方塊 167">
            <a:extLst>
              <a:ext uri="{FF2B5EF4-FFF2-40B4-BE49-F238E27FC236}">
                <a16:creationId xmlns:a16="http://schemas.microsoft.com/office/drawing/2014/main" id="{D0323BAB-EB66-40E6-BFF3-DE615E8575CE}"/>
              </a:ext>
            </a:extLst>
          </p:cNvPr>
          <p:cNvSpPr txBox="1"/>
          <p:nvPr/>
        </p:nvSpPr>
        <p:spPr>
          <a:xfrm>
            <a:off x="5611796" y="2635387"/>
            <a:ext cx="11322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 err="1">
                <a:solidFill>
                  <a:srgbClr val="3E9282"/>
                </a:solidFill>
              </a:rPr>
              <a:t>VariableCreate</a:t>
            </a:r>
            <a:endParaRPr lang="zh-TW" altLang="en-US" sz="1000" dirty="0">
              <a:solidFill>
                <a:srgbClr val="3E92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60744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F0F85A-D8BE-489F-8A26-3F9E8BB6D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5735" y="421446"/>
            <a:ext cx="7605553" cy="264977"/>
          </a:xfrm>
        </p:spPr>
        <p:txBody>
          <a:bodyPr/>
          <a:lstStyle/>
          <a:p>
            <a:r>
              <a:rPr lang="zh-TW" altLang="en-US" dirty="0"/>
              <a:t>框架說明｜</a:t>
            </a:r>
            <a:r>
              <a:rPr lang="zh-TW" altLang="en-US" b="0" dirty="0"/>
              <a:t>實驗環境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B04F98-C67E-4BB2-A8FC-D45C046C6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Dev. Framework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04602B-3F3A-44D6-8FC7-8D6198579B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/>
              <a:t>02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BDA344-228E-467F-9CAE-213808D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B1EDA-9669-4099-AA83-49C2D8E17945}" type="slidenum">
              <a:rPr lang="zh-TW" altLang="en-US" smtClean="0"/>
              <a:t>23</a:t>
            </a:fld>
            <a:endParaRPr lang="zh-TW" altLang="en-US" dirty="0"/>
          </a:p>
        </p:txBody>
      </p:sp>
      <p:sp>
        <p:nvSpPr>
          <p:cNvPr id="162" name="矩形: 圓角 161">
            <a:extLst>
              <a:ext uri="{FF2B5EF4-FFF2-40B4-BE49-F238E27FC236}">
                <a16:creationId xmlns:a16="http://schemas.microsoft.com/office/drawing/2014/main" id="{111ADE4D-40F9-44B3-B5DC-E594DD6A7DE9}"/>
              </a:ext>
            </a:extLst>
          </p:cNvPr>
          <p:cNvSpPr/>
          <p:nvPr/>
        </p:nvSpPr>
        <p:spPr>
          <a:xfrm>
            <a:off x="8325848" y="55476"/>
            <a:ext cx="638640" cy="63052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65" name="矩形: 圓角 164">
            <a:extLst>
              <a:ext uri="{FF2B5EF4-FFF2-40B4-BE49-F238E27FC236}">
                <a16:creationId xmlns:a16="http://schemas.microsoft.com/office/drawing/2014/main" id="{D584CABA-37EF-497E-B349-C7C265F5371F}"/>
              </a:ext>
            </a:extLst>
          </p:cNvPr>
          <p:cNvSpPr/>
          <p:nvPr/>
        </p:nvSpPr>
        <p:spPr>
          <a:xfrm>
            <a:off x="8325848" y="55476"/>
            <a:ext cx="638640" cy="63052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66" name="文字方塊 165">
            <a:extLst>
              <a:ext uri="{FF2B5EF4-FFF2-40B4-BE49-F238E27FC236}">
                <a16:creationId xmlns:a16="http://schemas.microsoft.com/office/drawing/2014/main" id="{B0CBAB43-BC1A-4FF3-9665-48F5B4216E31}"/>
              </a:ext>
            </a:extLst>
          </p:cNvPr>
          <p:cNvSpPr txBox="1"/>
          <p:nvPr/>
        </p:nvSpPr>
        <p:spPr>
          <a:xfrm>
            <a:off x="8385963" y="123338"/>
            <a:ext cx="52958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zh-TW" altLang="en-US" sz="6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實驗管理</a:t>
            </a:r>
          </a:p>
        </p:txBody>
      </p:sp>
      <p:cxnSp>
        <p:nvCxnSpPr>
          <p:cNvPr id="167" name="直線接點 166">
            <a:extLst>
              <a:ext uri="{FF2B5EF4-FFF2-40B4-BE49-F238E27FC236}">
                <a16:creationId xmlns:a16="http://schemas.microsoft.com/office/drawing/2014/main" id="{F12C9AA7-5D7A-4D57-B8F3-514EFE99FF86}"/>
              </a:ext>
            </a:extLst>
          </p:cNvPr>
          <p:cNvCxnSpPr>
            <a:cxnSpLocks/>
          </p:cNvCxnSpPr>
          <p:nvPr/>
        </p:nvCxnSpPr>
        <p:spPr>
          <a:xfrm>
            <a:off x="8398729" y="275996"/>
            <a:ext cx="50405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8" name="圖片 167">
            <a:extLst>
              <a:ext uri="{FF2B5EF4-FFF2-40B4-BE49-F238E27FC236}">
                <a16:creationId xmlns:a16="http://schemas.microsoft.com/office/drawing/2014/main" id="{543EEDC9-3375-49C0-AF8B-398498DA1E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10038" y="325745"/>
            <a:ext cx="281434" cy="2814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群組 23">
            <a:extLst>
              <a:ext uri="{FF2B5EF4-FFF2-40B4-BE49-F238E27FC236}">
                <a16:creationId xmlns:a16="http://schemas.microsoft.com/office/drawing/2014/main" id="{203A8DA0-D4BC-4392-BEBB-049AC3C372BC}"/>
              </a:ext>
            </a:extLst>
          </p:cNvPr>
          <p:cNvGrpSpPr/>
          <p:nvPr/>
        </p:nvGrpSpPr>
        <p:grpSpPr>
          <a:xfrm>
            <a:off x="1292147" y="1718646"/>
            <a:ext cx="553357" cy="593755"/>
            <a:chOff x="1637659" y="3178147"/>
            <a:chExt cx="553357" cy="593755"/>
          </a:xfrm>
        </p:grpSpPr>
        <p:pic>
          <p:nvPicPr>
            <p:cNvPr id="172" name="圖片 171">
              <a:extLst>
                <a:ext uri="{FF2B5EF4-FFF2-40B4-BE49-F238E27FC236}">
                  <a16:creationId xmlns:a16="http://schemas.microsoft.com/office/drawing/2014/main" id="{58BB41E8-EFB4-4211-9821-EA65F8520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734318" y="3178147"/>
              <a:ext cx="360040" cy="360040"/>
            </a:xfrm>
            <a:prstGeom prst="rect">
              <a:avLst/>
            </a:prstGeom>
          </p:spPr>
        </p:pic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A23CA966-BCA5-48D3-BDA2-53E322E03ED2}"/>
                </a:ext>
              </a:extLst>
            </p:cNvPr>
            <p:cNvSpPr txBox="1"/>
            <p:nvPr/>
          </p:nvSpPr>
          <p:spPr>
            <a:xfrm>
              <a:off x="1637659" y="3525681"/>
              <a:ext cx="55335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000" dirty="0"/>
                <a:t>Config</a:t>
              </a:r>
              <a:endParaRPr lang="zh-TW" altLang="en-US" sz="1000" dirty="0"/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EE8272FD-CB90-4431-8FA5-6F449A96404B}"/>
              </a:ext>
            </a:extLst>
          </p:cNvPr>
          <p:cNvGrpSpPr/>
          <p:nvPr/>
        </p:nvGrpSpPr>
        <p:grpSpPr>
          <a:xfrm>
            <a:off x="2195389" y="1719336"/>
            <a:ext cx="532517" cy="593065"/>
            <a:chOff x="2540901" y="3178837"/>
            <a:chExt cx="532517" cy="593065"/>
          </a:xfrm>
        </p:grpSpPr>
        <p:pic>
          <p:nvPicPr>
            <p:cNvPr id="193" name="圖片 192">
              <a:extLst>
                <a:ext uri="{FF2B5EF4-FFF2-40B4-BE49-F238E27FC236}">
                  <a16:creationId xmlns:a16="http://schemas.microsoft.com/office/drawing/2014/main" id="{81CD8D0A-DF34-4C57-8B9A-F85F80B6095A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27160" y="3178837"/>
              <a:ext cx="360000" cy="358660"/>
            </a:xfrm>
            <a:prstGeom prst="rect">
              <a:avLst/>
            </a:prstGeom>
          </p:spPr>
        </p:pic>
        <p:sp>
          <p:nvSpPr>
            <p:cNvPr id="174" name="文字方塊 173">
              <a:extLst>
                <a:ext uri="{FF2B5EF4-FFF2-40B4-BE49-F238E27FC236}">
                  <a16:creationId xmlns:a16="http://schemas.microsoft.com/office/drawing/2014/main" id="{A25A0F6E-4A4E-470F-8F79-58821FBD93FA}"/>
                </a:ext>
              </a:extLst>
            </p:cNvPr>
            <p:cNvSpPr txBox="1"/>
            <p:nvPr/>
          </p:nvSpPr>
          <p:spPr>
            <a:xfrm>
              <a:off x="2540901" y="3525681"/>
              <a:ext cx="53251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000" dirty="0"/>
                <a:t>Model</a:t>
              </a:r>
              <a:endParaRPr lang="zh-TW" altLang="en-US" sz="1000" dirty="0"/>
            </a:p>
          </p:txBody>
        </p:sp>
      </p:grpSp>
      <p:sp>
        <p:nvSpPr>
          <p:cNvPr id="175" name="十字形 174">
            <a:extLst>
              <a:ext uri="{FF2B5EF4-FFF2-40B4-BE49-F238E27FC236}">
                <a16:creationId xmlns:a16="http://schemas.microsoft.com/office/drawing/2014/main" id="{D1EED1FB-10FB-41BC-8016-DF1A74775088}"/>
              </a:ext>
            </a:extLst>
          </p:cNvPr>
          <p:cNvSpPr/>
          <p:nvPr/>
        </p:nvSpPr>
        <p:spPr>
          <a:xfrm>
            <a:off x="1926226" y="1809645"/>
            <a:ext cx="178042" cy="178042"/>
          </a:xfrm>
          <a:prstGeom prst="plus">
            <a:avLst>
              <a:gd name="adj" fmla="val 3732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/>
          </a:p>
        </p:txBody>
      </p:sp>
      <p:sp>
        <p:nvSpPr>
          <p:cNvPr id="176" name="等於 175">
            <a:extLst>
              <a:ext uri="{FF2B5EF4-FFF2-40B4-BE49-F238E27FC236}">
                <a16:creationId xmlns:a16="http://schemas.microsoft.com/office/drawing/2014/main" id="{8A61D601-EEF8-4C4C-8565-8644629DD4AE}"/>
              </a:ext>
            </a:extLst>
          </p:cNvPr>
          <p:cNvSpPr/>
          <p:nvPr/>
        </p:nvSpPr>
        <p:spPr>
          <a:xfrm>
            <a:off x="1076067" y="1811183"/>
            <a:ext cx="135359" cy="174966"/>
          </a:xfrm>
          <a:prstGeom prst="mathEqual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B5841E7B-7D68-49AB-A7D8-124150C617D9}"/>
              </a:ext>
            </a:extLst>
          </p:cNvPr>
          <p:cNvGrpSpPr/>
          <p:nvPr/>
        </p:nvGrpSpPr>
        <p:grpSpPr>
          <a:xfrm>
            <a:off x="497166" y="1718646"/>
            <a:ext cx="434734" cy="593755"/>
            <a:chOff x="842678" y="3178147"/>
            <a:chExt cx="434734" cy="593755"/>
          </a:xfrm>
        </p:grpSpPr>
        <p:pic>
          <p:nvPicPr>
            <p:cNvPr id="205" name="圖片 204">
              <a:extLst>
                <a:ext uri="{FF2B5EF4-FFF2-40B4-BE49-F238E27FC236}">
                  <a16:creationId xmlns:a16="http://schemas.microsoft.com/office/drawing/2014/main" id="{9F259C34-4A94-475F-9535-A3649FC1A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84159" y="3178147"/>
              <a:ext cx="360040" cy="360040"/>
            </a:xfrm>
            <a:prstGeom prst="rect">
              <a:avLst/>
            </a:prstGeom>
          </p:spPr>
        </p:pic>
        <p:sp>
          <p:nvSpPr>
            <p:cNvPr id="206" name="文字方塊 205">
              <a:extLst>
                <a:ext uri="{FF2B5EF4-FFF2-40B4-BE49-F238E27FC236}">
                  <a16:creationId xmlns:a16="http://schemas.microsoft.com/office/drawing/2014/main" id="{C037ED1A-0B57-40C2-A767-CC82B414A51B}"/>
                </a:ext>
              </a:extLst>
            </p:cNvPr>
            <p:cNvSpPr txBox="1"/>
            <p:nvPr/>
          </p:nvSpPr>
          <p:spPr>
            <a:xfrm>
              <a:off x="842678" y="3525681"/>
              <a:ext cx="43473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000" dirty="0"/>
                <a:t>Trail</a:t>
              </a:r>
              <a:endParaRPr lang="zh-TW" altLang="en-US" sz="1000" dirty="0"/>
            </a:p>
          </p:txBody>
        </p:sp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EAAFE6E8-59A3-4ABC-B8AC-AD1E29E266AB}"/>
              </a:ext>
            </a:extLst>
          </p:cNvPr>
          <p:cNvGrpSpPr/>
          <p:nvPr/>
        </p:nvGrpSpPr>
        <p:grpSpPr>
          <a:xfrm>
            <a:off x="464288" y="972522"/>
            <a:ext cx="414948" cy="575760"/>
            <a:chOff x="884159" y="1539154"/>
            <a:chExt cx="414948" cy="575760"/>
          </a:xfrm>
        </p:grpSpPr>
        <p:pic>
          <p:nvPicPr>
            <p:cNvPr id="210" name="圖片 209">
              <a:extLst>
                <a:ext uri="{FF2B5EF4-FFF2-40B4-BE49-F238E27FC236}">
                  <a16:creationId xmlns:a16="http://schemas.microsoft.com/office/drawing/2014/main" id="{9C3E0797-BACD-4820-8CA1-173102B89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84159" y="1539154"/>
              <a:ext cx="360040" cy="360040"/>
            </a:xfrm>
            <a:prstGeom prst="rect">
              <a:avLst/>
            </a:prstGeom>
          </p:spPr>
        </p:pic>
        <p:sp>
          <p:nvSpPr>
            <p:cNvPr id="211" name="文字方塊 210">
              <a:extLst>
                <a:ext uri="{FF2B5EF4-FFF2-40B4-BE49-F238E27FC236}">
                  <a16:creationId xmlns:a16="http://schemas.microsoft.com/office/drawing/2014/main" id="{78740A33-D376-4DA3-BC3E-4B5D8FA5F0D5}"/>
                </a:ext>
              </a:extLst>
            </p:cNvPr>
            <p:cNvSpPr txBox="1"/>
            <p:nvPr/>
          </p:nvSpPr>
          <p:spPr>
            <a:xfrm>
              <a:off x="909256" y="1868693"/>
              <a:ext cx="38985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000" dirty="0"/>
                <a:t>exp</a:t>
              </a:r>
            </a:p>
          </p:txBody>
        </p: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3EC718BF-10AC-4B53-A680-ED88D738B162}"/>
              </a:ext>
            </a:extLst>
          </p:cNvPr>
          <p:cNvGrpSpPr/>
          <p:nvPr/>
        </p:nvGrpSpPr>
        <p:grpSpPr>
          <a:xfrm>
            <a:off x="1294271" y="960749"/>
            <a:ext cx="505268" cy="593755"/>
            <a:chOff x="1294271" y="960749"/>
            <a:chExt cx="505268" cy="593755"/>
          </a:xfrm>
        </p:grpSpPr>
        <p:pic>
          <p:nvPicPr>
            <p:cNvPr id="223" name="圖片 222">
              <a:extLst>
                <a:ext uri="{FF2B5EF4-FFF2-40B4-BE49-F238E27FC236}">
                  <a16:creationId xmlns:a16="http://schemas.microsoft.com/office/drawing/2014/main" id="{D0473AC9-54AC-4A73-A2CF-5AE34BE68D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71019" y="960749"/>
              <a:ext cx="360040" cy="360040"/>
            </a:xfrm>
            <a:prstGeom prst="rect">
              <a:avLst/>
            </a:prstGeom>
          </p:spPr>
        </p:pic>
        <p:sp>
          <p:nvSpPr>
            <p:cNvPr id="224" name="文字方塊 223">
              <a:extLst>
                <a:ext uri="{FF2B5EF4-FFF2-40B4-BE49-F238E27FC236}">
                  <a16:creationId xmlns:a16="http://schemas.microsoft.com/office/drawing/2014/main" id="{03E02E44-844E-4F5D-AEB3-53A6F9488DF1}"/>
                </a:ext>
              </a:extLst>
            </p:cNvPr>
            <p:cNvSpPr txBox="1"/>
            <p:nvPr/>
          </p:nvSpPr>
          <p:spPr>
            <a:xfrm>
              <a:off x="1294271" y="1308283"/>
              <a:ext cx="50526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000" dirty="0"/>
                <a:t>Trail1</a:t>
              </a:r>
              <a:endParaRPr lang="zh-TW" altLang="en-US" sz="1000" dirty="0"/>
            </a:p>
          </p:txBody>
        </p:sp>
      </p:grpSp>
      <p:sp>
        <p:nvSpPr>
          <p:cNvPr id="227" name="十字形 226">
            <a:extLst>
              <a:ext uri="{FF2B5EF4-FFF2-40B4-BE49-F238E27FC236}">
                <a16:creationId xmlns:a16="http://schemas.microsoft.com/office/drawing/2014/main" id="{940A669D-D12F-4C74-BFA2-6FC5C3B4ACC8}"/>
              </a:ext>
            </a:extLst>
          </p:cNvPr>
          <p:cNvSpPr/>
          <p:nvPr/>
        </p:nvSpPr>
        <p:spPr>
          <a:xfrm>
            <a:off x="1769219" y="1085723"/>
            <a:ext cx="178042" cy="178042"/>
          </a:xfrm>
          <a:prstGeom prst="plus">
            <a:avLst>
              <a:gd name="adj" fmla="val 3732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/>
          </a:p>
        </p:txBody>
      </p:sp>
      <p:sp>
        <p:nvSpPr>
          <p:cNvPr id="228" name="等於 227">
            <a:extLst>
              <a:ext uri="{FF2B5EF4-FFF2-40B4-BE49-F238E27FC236}">
                <a16:creationId xmlns:a16="http://schemas.microsoft.com/office/drawing/2014/main" id="{E4A0476F-BC92-4F06-AE98-22BB64BF57C0}"/>
              </a:ext>
            </a:extLst>
          </p:cNvPr>
          <p:cNvSpPr/>
          <p:nvPr/>
        </p:nvSpPr>
        <p:spPr>
          <a:xfrm>
            <a:off x="1076067" y="1087261"/>
            <a:ext cx="135359" cy="174966"/>
          </a:xfrm>
          <a:prstGeom prst="mathEqual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/>
          </a:p>
        </p:txBody>
      </p:sp>
      <p:sp>
        <p:nvSpPr>
          <p:cNvPr id="230" name="十字形 229">
            <a:extLst>
              <a:ext uri="{FF2B5EF4-FFF2-40B4-BE49-F238E27FC236}">
                <a16:creationId xmlns:a16="http://schemas.microsoft.com/office/drawing/2014/main" id="{1974CDD0-3197-4379-A2B6-BBCFF82B8BC5}"/>
              </a:ext>
            </a:extLst>
          </p:cNvPr>
          <p:cNvSpPr/>
          <p:nvPr/>
        </p:nvSpPr>
        <p:spPr>
          <a:xfrm>
            <a:off x="2244411" y="1085723"/>
            <a:ext cx="178042" cy="178042"/>
          </a:xfrm>
          <a:prstGeom prst="plus">
            <a:avLst>
              <a:gd name="adj" fmla="val 3732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/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716093D6-7B1E-4DBF-93C6-E28D724538CF}"/>
              </a:ext>
            </a:extLst>
          </p:cNvPr>
          <p:cNvGrpSpPr/>
          <p:nvPr/>
        </p:nvGrpSpPr>
        <p:grpSpPr>
          <a:xfrm>
            <a:off x="2392135" y="960749"/>
            <a:ext cx="505268" cy="593755"/>
            <a:chOff x="2702410" y="960749"/>
            <a:chExt cx="505268" cy="593755"/>
          </a:xfrm>
        </p:grpSpPr>
        <p:pic>
          <p:nvPicPr>
            <p:cNvPr id="229" name="圖片 228">
              <a:extLst>
                <a:ext uri="{FF2B5EF4-FFF2-40B4-BE49-F238E27FC236}">
                  <a16:creationId xmlns:a16="http://schemas.microsoft.com/office/drawing/2014/main" id="{9EBB8F4A-5EF9-482E-935B-9ED5967A3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775024" y="960749"/>
              <a:ext cx="360040" cy="360040"/>
            </a:xfrm>
            <a:prstGeom prst="rect">
              <a:avLst/>
            </a:prstGeom>
          </p:spPr>
        </p:pic>
        <p:sp>
          <p:nvSpPr>
            <p:cNvPr id="231" name="文字方塊 230">
              <a:extLst>
                <a:ext uri="{FF2B5EF4-FFF2-40B4-BE49-F238E27FC236}">
                  <a16:creationId xmlns:a16="http://schemas.microsoft.com/office/drawing/2014/main" id="{ECAB2915-8C99-4B60-8260-2D6E98EBAFA0}"/>
                </a:ext>
              </a:extLst>
            </p:cNvPr>
            <p:cNvSpPr txBox="1"/>
            <p:nvPr/>
          </p:nvSpPr>
          <p:spPr>
            <a:xfrm>
              <a:off x="2702410" y="1308283"/>
              <a:ext cx="50526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000" dirty="0"/>
                <a:t>Trail3</a:t>
              </a:r>
              <a:endParaRPr lang="zh-TW" altLang="en-US" sz="1000" dirty="0"/>
            </a:p>
          </p:txBody>
        </p:sp>
      </p:grpSp>
      <p:pic>
        <p:nvPicPr>
          <p:cNvPr id="30" name="圖片 29">
            <a:extLst>
              <a:ext uri="{FF2B5EF4-FFF2-40B4-BE49-F238E27FC236}">
                <a16:creationId xmlns:a16="http://schemas.microsoft.com/office/drawing/2014/main" id="{BFF477C4-1D7D-4E2E-B351-AF9BCEF3FD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075" y="2489200"/>
            <a:ext cx="4193098" cy="2295769"/>
          </a:xfrm>
          <a:prstGeom prst="rect">
            <a:avLst/>
          </a:prstGeom>
        </p:spPr>
      </p:pic>
      <p:pic>
        <p:nvPicPr>
          <p:cNvPr id="298" name="圖片 297">
            <a:extLst>
              <a:ext uri="{FF2B5EF4-FFF2-40B4-BE49-F238E27FC236}">
                <a16:creationId xmlns:a16="http://schemas.microsoft.com/office/drawing/2014/main" id="{8E3501FB-0E1F-4163-B8DF-FB7E90A478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6789" y="1756677"/>
            <a:ext cx="2356316" cy="2869725"/>
          </a:xfrm>
          <a:prstGeom prst="rect">
            <a:avLst/>
          </a:prstGeom>
        </p:spPr>
      </p:pic>
      <p:pic>
        <p:nvPicPr>
          <p:cNvPr id="302" name="圖片 301">
            <a:extLst>
              <a:ext uri="{FF2B5EF4-FFF2-40B4-BE49-F238E27FC236}">
                <a16:creationId xmlns:a16="http://schemas.microsoft.com/office/drawing/2014/main" id="{93BAECD8-032A-4FE5-8840-3F545E6AA3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0825" y="2975198"/>
            <a:ext cx="216342" cy="216342"/>
          </a:xfrm>
          <a:prstGeom prst="rect">
            <a:avLst/>
          </a:prstGeom>
        </p:spPr>
      </p:pic>
      <p:sp>
        <p:nvSpPr>
          <p:cNvPr id="304" name="文字方塊 303">
            <a:extLst>
              <a:ext uri="{FF2B5EF4-FFF2-40B4-BE49-F238E27FC236}">
                <a16:creationId xmlns:a16="http://schemas.microsoft.com/office/drawing/2014/main" id="{96AF168D-6E33-4D62-A5F8-65980441DFC3}"/>
              </a:ext>
            </a:extLst>
          </p:cNvPr>
          <p:cNvSpPr txBox="1"/>
          <p:nvPr/>
        </p:nvSpPr>
        <p:spPr>
          <a:xfrm>
            <a:off x="6823672" y="1527494"/>
            <a:ext cx="22435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b="1" dirty="0"/>
              <a:t>CPLEX Model</a:t>
            </a:r>
            <a:r>
              <a:rPr lang="zh-TW" altLang="en-US" sz="1000" b="1" dirty="0"/>
              <a:t> </a:t>
            </a:r>
            <a:r>
              <a:rPr lang="en-US" altLang="zh-TW" sz="1000" b="1" dirty="0"/>
              <a:t>Config</a:t>
            </a:r>
            <a:r>
              <a:rPr lang="zh-TW" altLang="en-US" sz="1000" b="1" dirty="0"/>
              <a:t> 可調項目</a:t>
            </a:r>
          </a:p>
        </p:txBody>
      </p:sp>
      <p:grpSp>
        <p:nvGrpSpPr>
          <p:cNvPr id="93" name="群組 92">
            <a:extLst>
              <a:ext uri="{FF2B5EF4-FFF2-40B4-BE49-F238E27FC236}">
                <a16:creationId xmlns:a16="http://schemas.microsoft.com/office/drawing/2014/main" id="{9C507E5E-7295-425F-9C39-1CDC7BA2F274}"/>
              </a:ext>
            </a:extLst>
          </p:cNvPr>
          <p:cNvGrpSpPr/>
          <p:nvPr/>
        </p:nvGrpSpPr>
        <p:grpSpPr>
          <a:xfrm>
            <a:off x="229786" y="3910066"/>
            <a:ext cx="270694" cy="465248"/>
            <a:chOff x="127647" y="3693702"/>
            <a:chExt cx="436854" cy="750831"/>
          </a:xfrm>
        </p:grpSpPr>
        <p:pic>
          <p:nvPicPr>
            <p:cNvPr id="327" name="圖片 326">
              <a:extLst>
                <a:ext uri="{FF2B5EF4-FFF2-40B4-BE49-F238E27FC236}">
                  <a16:creationId xmlns:a16="http://schemas.microsoft.com/office/drawing/2014/main" id="{1B44FE38-0B82-47D3-963E-1D242FC4D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4295" y="3693702"/>
              <a:ext cx="210206" cy="210206"/>
            </a:xfrm>
            <a:prstGeom prst="rect">
              <a:avLst/>
            </a:prstGeom>
          </p:spPr>
        </p:pic>
        <p:pic>
          <p:nvPicPr>
            <p:cNvPr id="328" name="圖片 327">
              <a:extLst>
                <a:ext uri="{FF2B5EF4-FFF2-40B4-BE49-F238E27FC236}">
                  <a16:creationId xmlns:a16="http://schemas.microsoft.com/office/drawing/2014/main" id="{69010B06-BABC-43CB-90E4-76236E7E0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4295" y="3965810"/>
              <a:ext cx="210206" cy="210206"/>
            </a:xfrm>
            <a:prstGeom prst="rect">
              <a:avLst/>
            </a:prstGeom>
          </p:spPr>
        </p:pic>
        <p:pic>
          <p:nvPicPr>
            <p:cNvPr id="329" name="圖片 328">
              <a:extLst>
                <a:ext uri="{FF2B5EF4-FFF2-40B4-BE49-F238E27FC236}">
                  <a16:creationId xmlns:a16="http://schemas.microsoft.com/office/drawing/2014/main" id="{4D2DA42D-EEEF-4512-8149-0D840CE90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4295" y="4234327"/>
              <a:ext cx="210206" cy="210206"/>
            </a:xfrm>
            <a:prstGeom prst="rect">
              <a:avLst/>
            </a:prstGeom>
          </p:spPr>
        </p:pic>
        <p:pic>
          <p:nvPicPr>
            <p:cNvPr id="330" name="圖片 329">
              <a:extLst>
                <a:ext uri="{FF2B5EF4-FFF2-40B4-BE49-F238E27FC236}">
                  <a16:creationId xmlns:a16="http://schemas.microsoft.com/office/drawing/2014/main" id="{07803C66-D2C9-4E8D-B8A0-4D93CC67D9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7647" y="3693702"/>
              <a:ext cx="210206" cy="210206"/>
            </a:xfrm>
            <a:prstGeom prst="rect">
              <a:avLst/>
            </a:prstGeom>
          </p:spPr>
        </p:pic>
        <p:pic>
          <p:nvPicPr>
            <p:cNvPr id="331" name="圖片 330">
              <a:extLst>
                <a:ext uri="{FF2B5EF4-FFF2-40B4-BE49-F238E27FC236}">
                  <a16:creationId xmlns:a16="http://schemas.microsoft.com/office/drawing/2014/main" id="{1F6F9308-61BF-4E95-B5F7-7FBC5B697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7647" y="3965810"/>
              <a:ext cx="210206" cy="210206"/>
            </a:xfrm>
            <a:prstGeom prst="rect">
              <a:avLst/>
            </a:prstGeom>
          </p:spPr>
        </p:pic>
        <p:pic>
          <p:nvPicPr>
            <p:cNvPr id="332" name="圖片 331">
              <a:extLst>
                <a:ext uri="{FF2B5EF4-FFF2-40B4-BE49-F238E27FC236}">
                  <a16:creationId xmlns:a16="http://schemas.microsoft.com/office/drawing/2014/main" id="{1AA5D3B3-0694-4028-A9A2-7BE60F33D0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7647" y="4234327"/>
              <a:ext cx="210206" cy="210206"/>
            </a:xfrm>
            <a:prstGeom prst="rect">
              <a:avLst/>
            </a:prstGeom>
          </p:spPr>
        </p:pic>
      </p:grp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1532FE42-590F-43B3-82DE-D6580BE40756}"/>
              </a:ext>
            </a:extLst>
          </p:cNvPr>
          <p:cNvGrpSpPr/>
          <p:nvPr/>
        </p:nvGrpSpPr>
        <p:grpSpPr>
          <a:xfrm>
            <a:off x="235160" y="3384853"/>
            <a:ext cx="235214" cy="206748"/>
            <a:chOff x="56568" y="3299825"/>
            <a:chExt cx="425669" cy="374155"/>
          </a:xfrm>
        </p:grpSpPr>
        <p:pic>
          <p:nvPicPr>
            <p:cNvPr id="333" name="圖片 332">
              <a:extLst>
                <a:ext uri="{FF2B5EF4-FFF2-40B4-BE49-F238E27FC236}">
                  <a16:creationId xmlns:a16="http://schemas.microsoft.com/office/drawing/2014/main" id="{55153435-1D8B-4688-B6EA-30BE1B0F21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7390" y="3299825"/>
              <a:ext cx="165160" cy="165160"/>
            </a:xfrm>
            <a:prstGeom prst="rect">
              <a:avLst/>
            </a:prstGeom>
          </p:spPr>
        </p:pic>
        <p:pic>
          <p:nvPicPr>
            <p:cNvPr id="334" name="圖片 333">
              <a:extLst>
                <a:ext uri="{FF2B5EF4-FFF2-40B4-BE49-F238E27FC236}">
                  <a16:creationId xmlns:a16="http://schemas.microsoft.com/office/drawing/2014/main" id="{58BF0940-C31C-4A76-BDC0-71A6EDB5B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6568" y="3482888"/>
              <a:ext cx="190456" cy="190456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</p:pic>
        <p:pic>
          <p:nvPicPr>
            <p:cNvPr id="335" name="圖片 334">
              <a:extLst>
                <a:ext uri="{FF2B5EF4-FFF2-40B4-BE49-F238E27FC236}">
                  <a16:creationId xmlns:a16="http://schemas.microsoft.com/office/drawing/2014/main" id="{424F5F80-BC70-439E-9A79-FB2FABC33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1781" y="3483524"/>
              <a:ext cx="190456" cy="190456"/>
            </a:xfrm>
            <a:prstGeom prst="rect">
              <a:avLst/>
            </a:prstGeom>
          </p:spPr>
        </p:pic>
      </p:grp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9E5C35D-5DF4-4085-AEF0-D68B228FDF06}"/>
              </a:ext>
            </a:extLst>
          </p:cNvPr>
          <p:cNvSpPr txBox="1"/>
          <p:nvPr/>
        </p:nvSpPr>
        <p:spPr>
          <a:xfrm>
            <a:off x="1916941" y="980835"/>
            <a:ext cx="35779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7030A0"/>
                </a:solidFill>
              </a:rPr>
              <a:t>…</a:t>
            </a:r>
            <a:endParaRPr lang="zh-TW" altLang="en-US" b="1" dirty="0">
              <a:solidFill>
                <a:srgbClr val="7030A0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00B6E59-B990-4A0B-8E9A-04C3A7ADD7C3}"/>
              </a:ext>
            </a:extLst>
          </p:cNvPr>
          <p:cNvSpPr/>
          <p:nvPr/>
        </p:nvSpPr>
        <p:spPr>
          <a:xfrm>
            <a:off x="2675882" y="3832007"/>
            <a:ext cx="1176038" cy="64300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7EC7C1E9-D868-47CC-B74A-5E269CB739A9}"/>
              </a:ext>
            </a:extLst>
          </p:cNvPr>
          <p:cNvCxnSpPr>
            <a:cxnSpLocks/>
            <a:endCxn id="340" idx="1"/>
          </p:cNvCxnSpPr>
          <p:nvPr/>
        </p:nvCxnSpPr>
        <p:spPr>
          <a:xfrm flipV="1">
            <a:off x="3250557" y="2855043"/>
            <a:ext cx="1599493" cy="1037422"/>
          </a:xfrm>
          <a:prstGeom prst="straightConnector1">
            <a:avLst/>
          </a:prstGeom>
          <a:ln w="190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直線單箭頭接點 338">
            <a:extLst>
              <a:ext uri="{FF2B5EF4-FFF2-40B4-BE49-F238E27FC236}">
                <a16:creationId xmlns:a16="http://schemas.microsoft.com/office/drawing/2014/main" id="{F1984911-08C2-4F09-8BC0-4A230F7D3CA7}"/>
              </a:ext>
            </a:extLst>
          </p:cNvPr>
          <p:cNvCxnSpPr>
            <a:cxnSpLocks/>
            <a:endCxn id="341" idx="1"/>
          </p:cNvCxnSpPr>
          <p:nvPr/>
        </p:nvCxnSpPr>
        <p:spPr>
          <a:xfrm flipV="1">
            <a:off x="3250557" y="4053973"/>
            <a:ext cx="1599493" cy="151242"/>
          </a:xfrm>
          <a:prstGeom prst="straightConnector1">
            <a:avLst/>
          </a:prstGeom>
          <a:ln w="190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0" name="圖片 339">
            <a:extLst>
              <a:ext uri="{FF2B5EF4-FFF2-40B4-BE49-F238E27FC236}">
                <a16:creationId xmlns:a16="http://schemas.microsoft.com/office/drawing/2014/main" id="{DB8D51EB-B393-4722-B0A3-03152C82D325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3" b="54314"/>
          <a:stretch/>
        </p:blipFill>
        <p:spPr>
          <a:xfrm>
            <a:off x="4850050" y="2400757"/>
            <a:ext cx="1709005" cy="908572"/>
          </a:xfrm>
          <a:prstGeom prst="rect">
            <a:avLst/>
          </a:prstGeom>
        </p:spPr>
      </p:pic>
      <p:pic>
        <p:nvPicPr>
          <p:cNvPr id="341" name="圖片 340">
            <a:extLst>
              <a:ext uri="{FF2B5EF4-FFF2-40B4-BE49-F238E27FC236}">
                <a16:creationId xmlns:a16="http://schemas.microsoft.com/office/drawing/2014/main" id="{CBA8A33F-ACCD-4AA2-9A6C-9A1F8DCCBFE7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840" b="1"/>
          <a:stretch/>
        </p:blipFill>
        <p:spPr>
          <a:xfrm>
            <a:off x="4850050" y="3506788"/>
            <a:ext cx="1709005" cy="1094369"/>
          </a:xfrm>
          <a:prstGeom prst="rect">
            <a:avLst/>
          </a:prstGeom>
        </p:spPr>
      </p:pic>
      <p:pic>
        <p:nvPicPr>
          <p:cNvPr id="342" name="圖片 341">
            <a:extLst>
              <a:ext uri="{FF2B5EF4-FFF2-40B4-BE49-F238E27FC236}">
                <a16:creationId xmlns:a16="http://schemas.microsoft.com/office/drawing/2014/main" id="{6A8E53DD-228D-4FBA-8467-8F9731CDCCF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7632" y="3553323"/>
            <a:ext cx="185942" cy="185942"/>
          </a:xfrm>
          <a:prstGeom prst="rect">
            <a:avLst/>
          </a:prstGeom>
        </p:spPr>
      </p:pic>
      <p:pic>
        <p:nvPicPr>
          <p:cNvPr id="343" name="圖片 342">
            <a:extLst>
              <a:ext uri="{FF2B5EF4-FFF2-40B4-BE49-F238E27FC236}">
                <a16:creationId xmlns:a16="http://schemas.microsoft.com/office/drawing/2014/main" id="{280CFB84-46FA-4E03-854B-0C1CA27FA00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1359" y="2430358"/>
            <a:ext cx="185942" cy="185942"/>
          </a:xfrm>
          <a:prstGeom prst="rect">
            <a:avLst/>
          </a:prstGeom>
        </p:spPr>
      </p:pic>
      <p:sp>
        <p:nvSpPr>
          <p:cNvPr id="344" name="矩形 343">
            <a:extLst>
              <a:ext uri="{FF2B5EF4-FFF2-40B4-BE49-F238E27FC236}">
                <a16:creationId xmlns:a16="http://schemas.microsoft.com/office/drawing/2014/main" id="{018A6EF2-0EA2-4CE7-AFAA-C016FEC05DBA}"/>
              </a:ext>
            </a:extLst>
          </p:cNvPr>
          <p:cNvSpPr/>
          <p:nvPr/>
        </p:nvSpPr>
        <p:spPr>
          <a:xfrm>
            <a:off x="4845687" y="4377677"/>
            <a:ext cx="1270235" cy="9733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5" name="文字方塊 344">
            <a:extLst>
              <a:ext uri="{FF2B5EF4-FFF2-40B4-BE49-F238E27FC236}">
                <a16:creationId xmlns:a16="http://schemas.microsoft.com/office/drawing/2014/main" id="{D68E2631-EF39-4370-A196-407C5AA2103C}"/>
              </a:ext>
            </a:extLst>
          </p:cNvPr>
          <p:cNvSpPr txBox="1"/>
          <p:nvPr/>
        </p:nvSpPr>
        <p:spPr>
          <a:xfrm>
            <a:off x="10362992" y="424612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000" b="1" dirty="0">
                <a:solidFill>
                  <a:srgbClr val="C00000"/>
                </a:solidFill>
              </a:rPr>
              <a:t>多一條測試用</a:t>
            </a:r>
            <a:endParaRPr lang="en-US" altLang="zh-TW" sz="1000" b="1" dirty="0">
              <a:solidFill>
                <a:srgbClr val="C00000"/>
              </a:solidFill>
            </a:endParaRPr>
          </a:p>
          <a:p>
            <a:pPr algn="ctr"/>
            <a:r>
              <a:rPr lang="zh-TW" altLang="en-US" sz="1000" b="1" dirty="0">
                <a:solidFill>
                  <a:srgbClr val="C00000"/>
                </a:solidFill>
              </a:rPr>
              <a:t>限制式</a:t>
            </a: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4174A253-60F7-484D-9F8D-9D15B8827F24}"/>
              </a:ext>
            </a:extLst>
          </p:cNvPr>
          <p:cNvSpPr txBox="1"/>
          <p:nvPr/>
        </p:nvSpPr>
        <p:spPr>
          <a:xfrm>
            <a:off x="4704874" y="4603482"/>
            <a:ext cx="20697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000" b="1" dirty="0">
                <a:solidFill>
                  <a:srgbClr val="C00000"/>
                </a:solidFill>
              </a:rPr>
              <a:t>比 </a:t>
            </a:r>
            <a:r>
              <a:rPr lang="en-US" altLang="zh-TW" sz="1000" b="1" dirty="0">
                <a:solidFill>
                  <a:srgbClr val="C00000"/>
                </a:solidFill>
              </a:rPr>
              <a:t>Model1 </a:t>
            </a:r>
            <a:r>
              <a:rPr lang="zh-TW" altLang="en-US" sz="1000" b="1" dirty="0">
                <a:solidFill>
                  <a:srgbClr val="C00000"/>
                </a:solidFill>
              </a:rPr>
              <a:t>多一條 不可行限制式</a:t>
            </a:r>
          </a:p>
        </p:txBody>
      </p:sp>
      <p:sp>
        <p:nvSpPr>
          <p:cNvPr id="346" name="文字方塊 345">
            <a:extLst>
              <a:ext uri="{FF2B5EF4-FFF2-40B4-BE49-F238E27FC236}">
                <a16:creationId xmlns:a16="http://schemas.microsoft.com/office/drawing/2014/main" id="{6A1B6004-5F12-42CD-80C3-01AB9FBAE32D}"/>
              </a:ext>
            </a:extLst>
          </p:cNvPr>
          <p:cNvSpPr txBox="1"/>
          <p:nvPr/>
        </p:nvSpPr>
        <p:spPr>
          <a:xfrm>
            <a:off x="6037629" y="2200501"/>
            <a:ext cx="6254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/>
              <a:t>Model1</a:t>
            </a:r>
            <a:endParaRPr lang="zh-TW" altLang="en-US" sz="1000" b="1" dirty="0"/>
          </a:p>
        </p:txBody>
      </p:sp>
      <p:sp>
        <p:nvSpPr>
          <p:cNvPr id="347" name="文字方塊 346">
            <a:extLst>
              <a:ext uri="{FF2B5EF4-FFF2-40B4-BE49-F238E27FC236}">
                <a16:creationId xmlns:a16="http://schemas.microsoft.com/office/drawing/2014/main" id="{95DF0C19-D1D5-4458-9E7F-31E6DDE055F7}"/>
              </a:ext>
            </a:extLst>
          </p:cNvPr>
          <p:cNvSpPr txBox="1"/>
          <p:nvPr/>
        </p:nvSpPr>
        <p:spPr>
          <a:xfrm>
            <a:off x="6037629" y="3315055"/>
            <a:ext cx="6254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1" dirty="0"/>
              <a:t>Model2</a:t>
            </a:r>
            <a:endParaRPr lang="zh-TW" altLang="en-US" sz="1000" b="1" dirty="0"/>
          </a:p>
        </p:txBody>
      </p:sp>
      <p:grpSp>
        <p:nvGrpSpPr>
          <p:cNvPr id="348" name="群組 347">
            <a:extLst>
              <a:ext uri="{FF2B5EF4-FFF2-40B4-BE49-F238E27FC236}">
                <a16:creationId xmlns:a16="http://schemas.microsoft.com/office/drawing/2014/main" id="{A2E8759D-A6B4-41A9-BF63-695130CB1462}"/>
              </a:ext>
            </a:extLst>
          </p:cNvPr>
          <p:cNvGrpSpPr/>
          <p:nvPr/>
        </p:nvGrpSpPr>
        <p:grpSpPr>
          <a:xfrm>
            <a:off x="3782407" y="1008738"/>
            <a:ext cx="1762311" cy="1279719"/>
            <a:chOff x="3675213" y="1009451"/>
            <a:chExt cx="1762311" cy="1279719"/>
          </a:xfrm>
        </p:grpSpPr>
        <p:grpSp>
          <p:nvGrpSpPr>
            <p:cNvPr id="349" name="群組 348">
              <a:extLst>
                <a:ext uri="{FF2B5EF4-FFF2-40B4-BE49-F238E27FC236}">
                  <a16:creationId xmlns:a16="http://schemas.microsoft.com/office/drawing/2014/main" id="{AEEF009F-38CD-4494-BB7E-21C696F2283E}"/>
                </a:ext>
              </a:extLst>
            </p:cNvPr>
            <p:cNvGrpSpPr/>
            <p:nvPr/>
          </p:nvGrpSpPr>
          <p:grpSpPr>
            <a:xfrm>
              <a:off x="4829868" y="1232752"/>
              <a:ext cx="607656" cy="386514"/>
              <a:chOff x="2651997" y="1978705"/>
              <a:chExt cx="820956" cy="522189"/>
            </a:xfrm>
          </p:grpSpPr>
          <p:sp>
            <p:nvSpPr>
              <p:cNvPr id="368" name="矩形: 圓角 367">
                <a:extLst>
                  <a:ext uri="{FF2B5EF4-FFF2-40B4-BE49-F238E27FC236}">
                    <a16:creationId xmlns:a16="http://schemas.microsoft.com/office/drawing/2014/main" id="{BF159D30-1FB1-4E4E-84DE-5AB67F14B2CC}"/>
                  </a:ext>
                </a:extLst>
              </p:cNvPr>
              <p:cNvSpPr/>
              <p:nvPr/>
            </p:nvSpPr>
            <p:spPr>
              <a:xfrm>
                <a:off x="2651997" y="1978705"/>
                <a:ext cx="688950" cy="408067"/>
              </a:xfrm>
              <a:prstGeom prst="roundRect">
                <a:avLst>
                  <a:gd name="adj" fmla="val 9757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Model1</a:t>
                </a:r>
              </a:p>
            </p:txBody>
          </p:sp>
          <p:pic>
            <p:nvPicPr>
              <p:cNvPr id="369" name="圖片 368">
                <a:extLst>
                  <a:ext uri="{FF2B5EF4-FFF2-40B4-BE49-F238E27FC236}">
                    <a16:creationId xmlns:a16="http://schemas.microsoft.com/office/drawing/2014/main" id="{D20B9FB4-5331-47F0-8AA2-4D2FBC22D8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215643" y="2243584"/>
                <a:ext cx="257310" cy="257310"/>
              </a:xfrm>
              <a:prstGeom prst="rect">
                <a:avLst/>
              </a:prstGeom>
            </p:spPr>
          </p:pic>
        </p:grpSp>
        <p:grpSp>
          <p:nvGrpSpPr>
            <p:cNvPr id="350" name="群組 349">
              <a:extLst>
                <a:ext uri="{FF2B5EF4-FFF2-40B4-BE49-F238E27FC236}">
                  <a16:creationId xmlns:a16="http://schemas.microsoft.com/office/drawing/2014/main" id="{69142D92-E4C2-4083-A3E4-ACC31001E97A}"/>
                </a:ext>
              </a:extLst>
            </p:cNvPr>
            <p:cNvGrpSpPr/>
            <p:nvPr/>
          </p:nvGrpSpPr>
          <p:grpSpPr>
            <a:xfrm>
              <a:off x="4829868" y="1679354"/>
              <a:ext cx="607656" cy="386514"/>
              <a:chOff x="2651997" y="1978705"/>
              <a:chExt cx="820956" cy="522189"/>
            </a:xfrm>
          </p:grpSpPr>
          <p:sp>
            <p:nvSpPr>
              <p:cNvPr id="366" name="矩形: 圓角 365">
                <a:extLst>
                  <a:ext uri="{FF2B5EF4-FFF2-40B4-BE49-F238E27FC236}">
                    <a16:creationId xmlns:a16="http://schemas.microsoft.com/office/drawing/2014/main" id="{9387E60F-4205-4860-885F-4BE5FE706072}"/>
                  </a:ext>
                </a:extLst>
              </p:cNvPr>
              <p:cNvSpPr/>
              <p:nvPr/>
            </p:nvSpPr>
            <p:spPr>
              <a:xfrm>
                <a:off x="2651997" y="1978705"/>
                <a:ext cx="688950" cy="408067"/>
              </a:xfrm>
              <a:prstGeom prst="roundRect">
                <a:avLst>
                  <a:gd name="adj" fmla="val 9757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Model2</a:t>
                </a:r>
              </a:p>
            </p:txBody>
          </p:sp>
          <p:pic>
            <p:nvPicPr>
              <p:cNvPr id="367" name="圖片 366">
                <a:extLst>
                  <a:ext uri="{FF2B5EF4-FFF2-40B4-BE49-F238E27FC236}">
                    <a16:creationId xmlns:a16="http://schemas.microsoft.com/office/drawing/2014/main" id="{EFB2623B-5E85-4B1C-9A78-5124441C05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215643" y="2243584"/>
                <a:ext cx="257310" cy="257310"/>
              </a:xfrm>
              <a:prstGeom prst="rect">
                <a:avLst/>
              </a:prstGeom>
            </p:spPr>
          </p:pic>
        </p:grpSp>
        <p:cxnSp>
          <p:nvCxnSpPr>
            <p:cNvPr id="351" name="直線單箭頭接點 350">
              <a:extLst>
                <a:ext uri="{FF2B5EF4-FFF2-40B4-BE49-F238E27FC236}">
                  <a16:creationId xmlns:a16="http://schemas.microsoft.com/office/drawing/2014/main" id="{2F77EC2A-6A39-4720-956A-A01DAAE81925}"/>
                </a:ext>
              </a:extLst>
            </p:cNvPr>
            <p:cNvCxnSpPr>
              <a:stCxn id="360" idx="3"/>
              <a:endCxn id="368" idx="1"/>
            </p:cNvCxnSpPr>
            <p:nvPr/>
          </p:nvCxnSpPr>
          <p:spPr>
            <a:xfrm>
              <a:off x="4185161" y="1160473"/>
              <a:ext cx="644707" cy="22330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2" name="直線單箭頭接點 351">
              <a:extLst>
                <a:ext uri="{FF2B5EF4-FFF2-40B4-BE49-F238E27FC236}">
                  <a16:creationId xmlns:a16="http://schemas.microsoft.com/office/drawing/2014/main" id="{F685B696-46A7-416F-B85F-C888D87340A1}"/>
                </a:ext>
              </a:extLst>
            </p:cNvPr>
            <p:cNvCxnSpPr>
              <a:cxnSpLocks/>
              <a:stCxn id="360" idx="3"/>
              <a:endCxn id="366" idx="1"/>
            </p:cNvCxnSpPr>
            <p:nvPr/>
          </p:nvCxnSpPr>
          <p:spPr>
            <a:xfrm>
              <a:off x="4185161" y="1160473"/>
              <a:ext cx="644707" cy="669903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3" name="直線單箭頭接點 352">
              <a:extLst>
                <a:ext uri="{FF2B5EF4-FFF2-40B4-BE49-F238E27FC236}">
                  <a16:creationId xmlns:a16="http://schemas.microsoft.com/office/drawing/2014/main" id="{A632B533-045A-4C64-85F2-9ABA6BC7018E}"/>
                </a:ext>
              </a:extLst>
            </p:cNvPr>
            <p:cNvCxnSpPr>
              <a:cxnSpLocks/>
              <a:stCxn id="364" idx="3"/>
              <a:endCxn id="368" idx="1"/>
            </p:cNvCxnSpPr>
            <p:nvPr/>
          </p:nvCxnSpPr>
          <p:spPr>
            <a:xfrm flipV="1">
              <a:off x="4185161" y="1383774"/>
              <a:ext cx="644707" cy="22330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4" name="直線單箭頭接點 353">
              <a:extLst>
                <a:ext uri="{FF2B5EF4-FFF2-40B4-BE49-F238E27FC236}">
                  <a16:creationId xmlns:a16="http://schemas.microsoft.com/office/drawing/2014/main" id="{6FDFAC1D-AF24-4B19-989C-9F5B23845FFC}"/>
                </a:ext>
              </a:extLst>
            </p:cNvPr>
            <p:cNvCxnSpPr>
              <a:cxnSpLocks/>
              <a:stCxn id="364" idx="3"/>
              <a:endCxn id="366" idx="1"/>
            </p:cNvCxnSpPr>
            <p:nvPr/>
          </p:nvCxnSpPr>
          <p:spPr>
            <a:xfrm>
              <a:off x="4185161" y="1607075"/>
              <a:ext cx="644707" cy="22330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55" name="群組 354">
              <a:extLst>
                <a:ext uri="{FF2B5EF4-FFF2-40B4-BE49-F238E27FC236}">
                  <a16:creationId xmlns:a16="http://schemas.microsoft.com/office/drawing/2014/main" id="{7A777DC5-E978-4924-B73B-75A97FB87431}"/>
                </a:ext>
              </a:extLst>
            </p:cNvPr>
            <p:cNvGrpSpPr/>
            <p:nvPr/>
          </p:nvGrpSpPr>
          <p:grpSpPr>
            <a:xfrm>
              <a:off x="3675213" y="1456053"/>
              <a:ext cx="607656" cy="386514"/>
              <a:chOff x="2651997" y="1978705"/>
              <a:chExt cx="820956" cy="522189"/>
            </a:xfrm>
          </p:grpSpPr>
          <p:sp>
            <p:nvSpPr>
              <p:cNvPr id="364" name="矩形: 圓角 363">
                <a:extLst>
                  <a:ext uri="{FF2B5EF4-FFF2-40B4-BE49-F238E27FC236}">
                    <a16:creationId xmlns:a16="http://schemas.microsoft.com/office/drawing/2014/main" id="{E4B4AA3A-BA50-4A2B-93C8-A3F94E602DFF}"/>
                  </a:ext>
                </a:extLst>
              </p:cNvPr>
              <p:cNvSpPr/>
              <p:nvPr/>
            </p:nvSpPr>
            <p:spPr>
              <a:xfrm>
                <a:off x="2651997" y="1978705"/>
                <a:ext cx="688950" cy="408067"/>
              </a:xfrm>
              <a:prstGeom prst="roundRect">
                <a:avLst>
                  <a:gd name="adj" fmla="val 9757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emphasis</a:t>
                </a:r>
                <a:endParaRPr lang="zh-TW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365" name="圖片 364">
                <a:extLst>
                  <a:ext uri="{FF2B5EF4-FFF2-40B4-BE49-F238E27FC236}">
                    <a16:creationId xmlns:a16="http://schemas.microsoft.com/office/drawing/2014/main" id="{50258694-A891-41D4-AB0F-6F1040F1F3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215643" y="2243584"/>
                <a:ext cx="257310" cy="257310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</p:pic>
        </p:grpSp>
        <p:grpSp>
          <p:nvGrpSpPr>
            <p:cNvPr id="356" name="群組 355">
              <a:extLst>
                <a:ext uri="{FF2B5EF4-FFF2-40B4-BE49-F238E27FC236}">
                  <a16:creationId xmlns:a16="http://schemas.microsoft.com/office/drawing/2014/main" id="{C442A367-0C7C-424A-90F9-B86BE7FEEEFA}"/>
                </a:ext>
              </a:extLst>
            </p:cNvPr>
            <p:cNvGrpSpPr/>
            <p:nvPr/>
          </p:nvGrpSpPr>
          <p:grpSpPr>
            <a:xfrm>
              <a:off x="3675213" y="1902656"/>
              <a:ext cx="607656" cy="386514"/>
              <a:chOff x="2651997" y="1978705"/>
              <a:chExt cx="820956" cy="522189"/>
            </a:xfrm>
          </p:grpSpPr>
          <p:sp>
            <p:nvSpPr>
              <p:cNvPr id="362" name="矩形: 圓角 361">
                <a:extLst>
                  <a:ext uri="{FF2B5EF4-FFF2-40B4-BE49-F238E27FC236}">
                    <a16:creationId xmlns:a16="http://schemas.microsoft.com/office/drawing/2014/main" id="{506129DD-C7E0-44AD-9F45-95084F0789E9}"/>
                  </a:ext>
                </a:extLst>
              </p:cNvPr>
              <p:cNvSpPr/>
              <p:nvPr/>
            </p:nvSpPr>
            <p:spPr>
              <a:xfrm>
                <a:off x="2651997" y="1978705"/>
                <a:ext cx="688950" cy="408067"/>
              </a:xfrm>
              <a:prstGeom prst="roundRect">
                <a:avLst>
                  <a:gd name="adj" fmla="val 9757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thread</a:t>
                </a:r>
                <a:endParaRPr lang="zh-TW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363" name="圖片 362">
                <a:extLst>
                  <a:ext uri="{FF2B5EF4-FFF2-40B4-BE49-F238E27FC236}">
                    <a16:creationId xmlns:a16="http://schemas.microsoft.com/office/drawing/2014/main" id="{5A77BBA1-B255-4732-B9EA-9477B3A309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215643" y="2243584"/>
                <a:ext cx="257310" cy="257310"/>
              </a:xfrm>
              <a:prstGeom prst="rect">
                <a:avLst/>
              </a:prstGeom>
            </p:spPr>
          </p:pic>
        </p:grpSp>
        <p:grpSp>
          <p:nvGrpSpPr>
            <p:cNvPr id="357" name="群組 356">
              <a:extLst>
                <a:ext uri="{FF2B5EF4-FFF2-40B4-BE49-F238E27FC236}">
                  <a16:creationId xmlns:a16="http://schemas.microsoft.com/office/drawing/2014/main" id="{F29C089E-E22C-4AF2-A702-DDA8429F617E}"/>
                </a:ext>
              </a:extLst>
            </p:cNvPr>
            <p:cNvGrpSpPr/>
            <p:nvPr/>
          </p:nvGrpSpPr>
          <p:grpSpPr>
            <a:xfrm>
              <a:off x="3675213" y="1009451"/>
              <a:ext cx="607656" cy="386514"/>
              <a:chOff x="2651997" y="1978705"/>
              <a:chExt cx="820956" cy="522189"/>
            </a:xfrm>
          </p:grpSpPr>
          <p:sp>
            <p:nvSpPr>
              <p:cNvPr id="360" name="矩形: 圓角 359">
                <a:extLst>
                  <a:ext uri="{FF2B5EF4-FFF2-40B4-BE49-F238E27FC236}">
                    <a16:creationId xmlns:a16="http://schemas.microsoft.com/office/drawing/2014/main" id="{BD393221-6763-463C-BC3B-119EA8D9E7C1}"/>
                  </a:ext>
                </a:extLst>
              </p:cNvPr>
              <p:cNvSpPr/>
              <p:nvPr/>
            </p:nvSpPr>
            <p:spPr>
              <a:xfrm>
                <a:off x="2651997" y="1978705"/>
                <a:ext cx="688950" cy="408067"/>
              </a:xfrm>
              <a:prstGeom prst="roundRect">
                <a:avLst>
                  <a:gd name="adj" fmla="val 9757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baseline</a:t>
                </a:r>
                <a:endParaRPr lang="zh-TW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361" name="圖片 360">
                <a:extLst>
                  <a:ext uri="{FF2B5EF4-FFF2-40B4-BE49-F238E27FC236}">
                    <a16:creationId xmlns:a16="http://schemas.microsoft.com/office/drawing/2014/main" id="{C89C3CC8-9DBF-48B7-AE92-C034F88D2F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215643" y="2243584"/>
                <a:ext cx="257310" cy="257310"/>
              </a:xfrm>
              <a:prstGeom prst="rect">
                <a:avLst/>
              </a:prstGeom>
            </p:spPr>
          </p:pic>
        </p:grpSp>
        <p:cxnSp>
          <p:nvCxnSpPr>
            <p:cNvPr id="358" name="直線單箭頭接點 357">
              <a:extLst>
                <a:ext uri="{FF2B5EF4-FFF2-40B4-BE49-F238E27FC236}">
                  <a16:creationId xmlns:a16="http://schemas.microsoft.com/office/drawing/2014/main" id="{DF22AFCF-89A6-474B-89B2-2E89CBAF8A09}"/>
                </a:ext>
              </a:extLst>
            </p:cNvPr>
            <p:cNvCxnSpPr>
              <a:cxnSpLocks/>
              <a:stCxn id="362" idx="3"/>
              <a:endCxn id="366" idx="1"/>
            </p:cNvCxnSpPr>
            <p:nvPr/>
          </p:nvCxnSpPr>
          <p:spPr>
            <a:xfrm flipV="1">
              <a:off x="4185161" y="1830376"/>
              <a:ext cx="644707" cy="22330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9" name="直線單箭頭接點 358">
              <a:extLst>
                <a:ext uri="{FF2B5EF4-FFF2-40B4-BE49-F238E27FC236}">
                  <a16:creationId xmlns:a16="http://schemas.microsoft.com/office/drawing/2014/main" id="{20831354-425A-407C-89A2-294D0EEE06B5}"/>
                </a:ext>
              </a:extLst>
            </p:cNvPr>
            <p:cNvCxnSpPr>
              <a:cxnSpLocks/>
              <a:stCxn id="362" idx="3"/>
              <a:endCxn id="368" idx="1"/>
            </p:cNvCxnSpPr>
            <p:nvPr/>
          </p:nvCxnSpPr>
          <p:spPr>
            <a:xfrm flipV="1">
              <a:off x="4185161" y="1383774"/>
              <a:ext cx="644707" cy="669904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8" name="文字方塊 97">
            <a:extLst>
              <a:ext uri="{FF2B5EF4-FFF2-40B4-BE49-F238E27FC236}">
                <a16:creationId xmlns:a16="http://schemas.microsoft.com/office/drawing/2014/main" id="{40EDD25F-DD2A-4F80-84D7-DBAFD8E5E448}"/>
              </a:ext>
            </a:extLst>
          </p:cNvPr>
          <p:cNvSpPr txBox="1"/>
          <p:nvPr/>
        </p:nvSpPr>
        <p:spPr>
          <a:xfrm>
            <a:off x="3683856" y="732435"/>
            <a:ext cx="73289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/>
              <a:t>Config</a:t>
            </a:r>
            <a:endParaRPr lang="zh-TW" altLang="en-US" b="1" dirty="0"/>
          </a:p>
        </p:txBody>
      </p:sp>
      <p:sp>
        <p:nvSpPr>
          <p:cNvPr id="370" name="文字方塊 369">
            <a:extLst>
              <a:ext uri="{FF2B5EF4-FFF2-40B4-BE49-F238E27FC236}">
                <a16:creationId xmlns:a16="http://schemas.microsoft.com/office/drawing/2014/main" id="{37420688-2133-46EA-BB31-D7B7C825F9F5}"/>
              </a:ext>
            </a:extLst>
          </p:cNvPr>
          <p:cNvSpPr txBox="1"/>
          <p:nvPr/>
        </p:nvSpPr>
        <p:spPr>
          <a:xfrm>
            <a:off x="4810912" y="732435"/>
            <a:ext cx="78098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/>
              <a:t>Models</a:t>
            </a:r>
            <a:endParaRPr lang="zh-TW" altLang="en-US" b="1" dirty="0"/>
          </a:p>
        </p:txBody>
      </p:sp>
      <p:sp>
        <p:nvSpPr>
          <p:cNvPr id="379" name="文字版面配置區 5">
            <a:extLst>
              <a:ext uri="{FF2B5EF4-FFF2-40B4-BE49-F238E27FC236}">
                <a16:creationId xmlns:a16="http://schemas.microsoft.com/office/drawing/2014/main" id="{F9A9E4F3-D824-407E-BEE0-F9B1DAF805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512" y="4855534"/>
            <a:ext cx="7657256" cy="273600"/>
          </a:xfrm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55829961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BDF0F85A-D8BE-489F-8A26-3F9E8BB6D354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630701" y="426656"/>
                <a:ext cx="7605553" cy="264977"/>
              </a:xfrm>
            </p:spPr>
            <p:txBody>
              <a:bodyPr/>
              <a:lstStyle/>
              <a:p>
                <a:r>
                  <a:rPr lang="zh-TW" altLang="en-US" dirty="0"/>
                  <a:t>框架說明｜</a:t>
                </a:r>
                <a:r>
                  <a:rPr lang="zh-TW" altLang="en-US" b="0" dirty="0"/>
                  <a:t>交叉實驗 </a:t>
                </a:r>
                <a:r>
                  <a:rPr lang="en-US" altLang="zh-TW" b="0" dirty="0"/>
                  <a:t>(3 Configs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b="0" dirty="0"/>
                  <a:t> 2 Models)</a:t>
                </a:r>
                <a:endParaRPr lang="zh-TW" altLang="en-US" b="0" dirty="0"/>
              </a:p>
            </p:txBody>
          </p:sp>
        </mc:Choice>
        <mc:Fallback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BDF0F85A-D8BE-489F-8A26-3F9E8BB6D3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630701" y="426656"/>
                <a:ext cx="7605553" cy="264977"/>
              </a:xfrm>
              <a:blipFill>
                <a:blip r:embed="rId3"/>
                <a:stretch>
                  <a:fillRect l="-401" t="-25581" b="-395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B04F98-C67E-4BB2-A8FC-D45C046C6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Dev. Framework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04602B-3F3A-44D6-8FC7-8D6198579B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/>
              <a:t>02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BDA344-228E-467F-9CAE-213808D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B1EDA-9669-4099-AA83-49C2D8E17945}" type="slidenum">
              <a:rPr lang="zh-TW" altLang="en-US" smtClean="0"/>
              <a:t>24</a:t>
            </a:fld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E2D1FA36-AD5C-4B54-AF63-C797303B27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dirty="0"/>
              <a:t>補充：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Irreducible Infeasible Set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（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IIS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）</a:t>
            </a:r>
            <a:endParaRPr lang="zh-TW" altLang="en-US" dirty="0"/>
          </a:p>
        </p:txBody>
      </p:sp>
      <p:sp>
        <p:nvSpPr>
          <p:cNvPr id="124" name="矩形: 圓角 123">
            <a:extLst>
              <a:ext uri="{FF2B5EF4-FFF2-40B4-BE49-F238E27FC236}">
                <a16:creationId xmlns:a16="http://schemas.microsoft.com/office/drawing/2014/main" id="{94225F73-E188-4F41-8932-84B54281A9A7}"/>
              </a:ext>
            </a:extLst>
          </p:cNvPr>
          <p:cNvSpPr/>
          <p:nvPr/>
        </p:nvSpPr>
        <p:spPr>
          <a:xfrm>
            <a:off x="8394870" y="55476"/>
            <a:ext cx="638640" cy="63052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13500000" algn="br" rotWithShape="0">
              <a:schemeClr val="bg1">
                <a:lumMod val="9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60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25" name="矩形: 圓角 124">
            <a:extLst>
              <a:ext uri="{FF2B5EF4-FFF2-40B4-BE49-F238E27FC236}">
                <a16:creationId xmlns:a16="http://schemas.microsoft.com/office/drawing/2014/main" id="{0549A6C7-A1C0-45C4-81AD-7196B1EAFABA}"/>
              </a:ext>
            </a:extLst>
          </p:cNvPr>
          <p:cNvSpPr/>
          <p:nvPr/>
        </p:nvSpPr>
        <p:spPr>
          <a:xfrm>
            <a:off x="8394870" y="55476"/>
            <a:ext cx="638640" cy="63052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+mn-ea"/>
            </a:endParaRPr>
          </a:p>
        </p:txBody>
      </p:sp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E122916C-C99F-41E1-AD5B-1647BF323485}"/>
              </a:ext>
            </a:extLst>
          </p:cNvPr>
          <p:cNvSpPr txBox="1"/>
          <p:nvPr/>
        </p:nvSpPr>
        <p:spPr>
          <a:xfrm>
            <a:off x="8454985" y="123338"/>
            <a:ext cx="52958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783"/>
            <a:r>
              <a:rPr lang="zh-TW" altLang="en-US" sz="6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實驗管理</a:t>
            </a: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0746CA61-BF0D-419E-8D80-04F5F5156C1F}"/>
              </a:ext>
            </a:extLst>
          </p:cNvPr>
          <p:cNvCxnSpPr>
            <a:cxnSpLocks/>
          </p:cNvCxnSpPr>
          <p:nvPr/>
        </p:nvCxnSpPr>
        <p:spPr>
          <a:xfrm>
            <a:off x="8467751" y="275996"/>
            <a:ext cx="50405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8" name="圖片 127">
            <a:extLst>
              <a:ext uri="{FF2B5EF4-FFF2-40B4-BE49-F238E27FC236}">
                <a16:creationId xmlns:a16="http://schemas.microsoft.com/office/drawing/2014/main" id="{C91E8AAF-30B3-4F56-9159-A425F6B345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79060" y="325745"/>
            <a:ext cx="281434" cy="28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B4E45030-C859-4126-B703-75381DC2F7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102" y="2440890"/>
            <a:ext cx="3050326" cy="1296268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D6C95555-64AA-4102-8C30-36D6C9C091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4314" y="4102316"/>
            <a:ext cx="8440252" cy="543022"/>
          </a:xfrm>
          <a:prstGeom prst="rect">
            <a:avLst/>
          </a:prstGeom>
        </p:spPr>
      </p:pic>
      <p:grpSp>
        <p:nvGrpSpPr>
          <p:cNvPr id="57" name="群組 56">
            <a:extLst>
              <a:ext uri="{FF2B5EF4-FFF2-40B4-BE49-F238E27FC236}">
                <a16:creationId xmlns:a16="http://schemas.microsoft.com/office/drawing/2014/main" id="{445CEC78-D6AC-42CF-8421-EF967F7709CC}"/>
              </a:ext>
            </a:extLst>
          </p:cNvPr>
          <p:cNvGrpSpPr/>
          <p:nvPr/>
        </p:nvGrpSpPr>
        <p:grpSpPr>
          <a:xfrm>
            <a:off x="611188" y="945523"/>
            <a:ext cx="1762311" cy="1279719"/>
            <a:chOff x="3675213" y="1009451"/>
            <a:chExt cx="1762311" cy="1279719"/>
          </a:xfrm>
        </p:grpSpPr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173C8B5A-41DB-4A2A-95EA-72A4CA64AB41}"/>
                </a:ext>
              </a:extLst>
            </p:cNvPr>
            <p:cNvGrpSpPr/>
            <p:nvPr/>
          </p:nvGrpSpPr>
          <p:grpSpPr>
            <a:xfrm>
              <a:off x="4829868" y="1232752"/>
              <a:ext cx="607656" cy="386514"/>
              <a:chOff x="2651997" y="1978705"/>
              <a:chExt cx="820956" cy="522189"/>
            </a:xfrm>
          </p:grpSpPr>
          <p:sp>
            <p:nvSpPr>
              <p:cNvPr id="91" name="矩形: 圓角 90">
                <a:extLst>
                  <a:ext uri="{FF2B5EF4-FFF2-40B4-BE49-F238E27FC236}">
                    <a16:creationId xmlns:a16="http://schemas.microsoft.com/office/drawing/2014/main" id="{548684F4-E72D-4523-A3AF-E682B442D576}"/>
                  </a:ext>
                </a:extLst>
              </p:cNvPr>
              <p:cNvSpPr/>
              <p:nvPr/>
            </p:nvSpPr>
            <p:spPr>
              <a:xfrm>
                <a:off x="2651997" y="1978705"/>
                <a:ext cx="688950" cy="408067"/>
              </a:xfrm>
              <a:prstGeom prst="roundRect">
                <a:avLst>
                  <a:gd name="adj" fmla="val 9757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Model1</a:t>
                </a:r>
              </a:p>
            </p:txBody>
          </p:sp>
          <p:pic>
            <p:nvPicPr>
              <p:cNvPr id="93" name="圖片 92">
                <a:extLst>
                  <a:ext uri="{FF2B5EF4-FFF2-40B4-BE49-F238E27FC236}">
                    <a16:creationId xmlns:a16="http://schemas.microsoft.com/office/drawing/2014/main" id="{F5FB368A-2337-405B-A9A9-221CEE252C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215643" y="2243584"/>
                <a:ext cx="257310" cy="257310"/>
              </a:xfrm>
              <a:prstGeom prst="rect">
                <a:avLst/>
              </a:prstGeom>
            </p:spPr>
          </p:pic>
        </p:grpSp>
        <p:grpSp>
          <p:nvGrpSpPr>
            <p:cNvPr id="59" name="群組 58">
              <a:extLst>
                <a:ext uri="{FF2B5EF4-FFF2-40B4-BE49-F238E27FC236}">
                  <a16:creationId xmlns:a16="http://schemas.microsoft.com/office/drawing/2014/main" id="{B3A93C32-B072-4518-9C49-37046E485B4B}"/>
                </a:ext>
              </a:extLst>
            </p:cNvPr>
            <p:cNvGrpSpPr/>
            <p:nvPr/>
          </p:nvGrpSpPr>
          <p:grpSpPr>
            <a:xfrm>
              <a:off x="4829868" y="1679354"/>
              <a:ext cx="607656" cy="386514"/>
              <a:chOff x="2651997" y="1978705"/>
              <a:chExt cx="820956" cy="522189"/>
            </a:xfrm>
          </p:grpSpPr>
          <p:sp>
            <p:nvSpPr>
              <p:cNvPr id="89" name="矩形: 圓角 88">
                <a:extLst>
                  <a:ext uri="{FF2B5EF4-FFF2-40B4-BE49-F238E27FC236}">
                    <a16:creationId xmlns:a16="http://schemas.microsoft.com/office/drawing/2014/main" id="{9A9F40FB-0EA1-43C9-93DB-469253FE5537}"/>
                  </a:ext>
                </a:extLst>
              </p:cNvPr>
              <p:cNvSpPr/>
              <p:nvPr/>
            </p:nvSpPr>
            <p:spPr>
              <a:xfrm>
                <a:off x="2651997" y="1978705"/>
                <a:ext cx="688950" cy="408067"/>
              </a:xfrm>
              <a:prstGeom prst="roundRect">
                <a:avLst>
                  <a:gd name="adj" fmla="val 9757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Model2</a:t>
                </a:r>
              </a:p>
            </p:txBody>
          </p:sp>
          <p:pic>
            <p:nvPicPr>
              <p:cNvPr id="90" name="圖片 89">
                <a:extLst>
                  <a:ext uri="{FF2B5EF4-FFF2-40B4-BE49-F238E27FC236}">
                    <a16:creationId xmlns:a16="http://schemas.microsoft.com/office/drawing/2014/main" id="{83229CD0-8114-4A53-B452-4300D92793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215643" y="2243584"/>
                <a:ext cx="257310" cy="257310"/>
              </a:xfrm>
              <a:prstGeom prst="rect">
                <a:avLst/>
              </a:prstGeom>
            </p:spPr>
          </p:pic>
        </p:grpSp>
        <p:cxnSp>
          <p:nvCxnSpPr>
            <p:cNvPr id="60" name="直線單箭頭接點 59">
              <a:extLst>
                <a:ext uri="{FF2B5EF4-FFF2-40B4-BE49-F238E27FC236}">
                  <a16:creationId xmlns:a16="http://schemas.microsoft.com/office/drawing/2014/main" id="{34846E06-F93B-4F51-87D9-ADFDFDFBB13B}"/>
                </a:ext>
              </a:extLst>
            </p:cNvPr>
            <p:cNvCxnSpPr>
              <a:stCxn id="71" idx="3"/>
              <a:endCxn id="91" idx="1"/>
            </p:cNvCxnSpPr>
            <p:nvPr/>
          </p:nvCxnSpPr>
          <p:spPr>
            <a:xfrm>
              <a:off x="4185161" y="1160473"/>
              <a:ext cx="644707" cy="22330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線單箭頭接點 60">
              <a:extLst>
                <a:ext uri="{FF2B5EF4-FFF2-40B4-BE49-F238E27FC236}">
                  <a16:creationId xmlns:a16="http://schemas.microsoft.com/office/drawing/2014/main" id="{58CEB607-0D1B-4AF3-9205-5D0C4D1B3C26}"/>
                </a:ext>
              </a:extLst>
            </p:cNvPr>
            <p:cNvCxnSpPr>
              <a:cxnSpLocks/>
              <a:stCxn id="71" idx="3"/>
              <a:endCxn id="89" idx="1"/>
            </p:cNvCxnSpPr>
            <p:nvPr/>
          </p:nvCxnSpPr>
          <p:spPr>
            <a:xfrm>
              <a:off x="4185161" y="1160473"/>
              <a:ext cx="644707" cy="669903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線單箭頭接點 61">
              <a:extLst>
                <a:ext uri="{FF2B5EF4-FFF2-40B4-BE49-F238E27FC236}">
                  <a16:creationId xmlns:a16="http://schemas.microsoft.com/office/drawing/2014/main" id="{DCDFD859-3988-4BE9-82E7-1F57965849B4}"/>
                </a:ext>
              </a:extLst>
            </p:cNvPr>
            <p:cNvCxnSpPr>
              <a:cxnSpLocks/>
              <a:stCxn id="87" idx="3"/>
              <a:endCxn id="91" idx="1"/>
            </p:cNvCxnSpPr>
            <p:nvPr/>
          </p:nvCxnSpPr>
          <p:spPr>
            <a:xfrm flipV="1">
              <a:off x="4185161" y="1383774"/>
              <a:ext cx="644707" cy="22330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線單箭頭接點 62">
              <a:extLst>
                <a:ext uri="{FF2B5EF4-FFF2-40B4-BE49-F238E27FC236}">
                  <a16:creationId xmlns:a16="http://schemas.microsoft.com/office/drawing/2014/main" id="{F202C41A-CDBA-4DAB-B91A-E9B5D090EDA7}"/>
                </a:ext>
              </a:extLst>
            </p:cNvPr>
            <p:cNvCxnSpPr>
              <a:cxnSpLocks/>
              <a:stCxn id="87" idx="3"/>
              <a:endCxn id="89" idx="1"/>
            </p:cNvCxnSpPr>
            <p:nvPr/>
          </p:nvCxnSpPr>
          <p:spPr>
            <a:xfrm>
              <a:off x="4185161" y="1607075"/>
              <a:ext cx="644707" cy="22330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4" name="群組 63">
              <a:extLst>
                <a:ext uri="{FF2B5EF4-FFF2-40B4-BE49-F238E27FC236}">
                  <a16:creationId xmlns:a16="http://schemas.microsoft.com/office/drawing/2014/main" id="{396AC820-0E14-45B2-AC01-00B1F1E3BE21}"/>
                </a:ext>
              </a:extLst>
            </p:cNvPr>
            <p:cNvGrpSpPr/>
            <p:nvPr/>
          </p:nvGrpSpPr>
          <p:grpSpPr>
            <a:xfrm>
              <a:off x="3675213" y="1456053"/>
              <a:ext cx="607656" cy="386514"/>
              <a:chOff x="2651997" y="1978705"/>
              <a:chExt cx="820956" cy="522189"/>
            </a:xfrm>
          </p:grpSpPr>
          <p:sp>
            <p:nvSpPr>
              <p:cNvPr id="87" name="矩形: 圓角 86">
                <a:extLst>
                  <a:ext uri="{FF2B5EF4-FFF2-40B4-BE49-F238E27FC236}">
                    <a16:creationId xmlns:a16="http://schemas.microsoft.com/office/drawing/2014/main" id="{68701A31-B648-4F04-9A9C-65DF10EA5D24}"/>
                  </a:ext>
                </a:extLst>
              </p:cNvPr>
              <p:cNvSpPr/>
              <p:nvPr/>
            </p:nvSpPr>
            <p:spPr>
              <a:xfrm>
                <a:off x="2651997" y="1978705"/>
                <a:ext cx="688950" cy="408067"/>
              </a:xfrm>
              <a:prstGeom prst="roundRect">
                <a:avLst>
                  <a:gd name="adj" fmla="val 9757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emphasis</a:t>
                </a:r>
                <a:endParaRPr lang="zh-TW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88" name="圖片 87">
                <a:extLst>
                  <a:ext uri="{FF2B5EF4-FFF2-40B4-BE49-F238E27FC236}">
                    <a16:creationId xmlns:a16="http://schemas.microsoft.com/office/drawing/2014/main" id="{CAEE15AC-A145-4B01-9334-A29BD63F8E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215643" y="2243584"/>
                <a:ext cx="257310" cy="257310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</p:pic>
        </p:grpSp>
        <p:grpSp>
          <p:nvGrpSpPr>
            <p:cNvPr id="65" name="群組 64">
              <a:extLst>
                <a:ext uri="{FF2B5EF4-FFF2-40B4-BE49-F238E27FC236}">
                  <a16:creationId xmlns:a16="http://schemas.microsoft.com/office/drawing/2014/main" id="{A03B96B6-0BEE-4D3A-9A92-85615AAE464F}"/>
                </a:ext>
              </a:extLst>
            </p:cNvPr>
            <p:cNvGrpSpPr/>
            <p:nvPr/>
          </p:nvGrpSpPr>
          <p:grpSpPr>
            <a:xfrm>
              <a:off x="3675213" y="1902656"/>
              <a:ext cx="607656" cy="386514"/>
              <a:chOff x="2651997" y="1978705"/>
              <a:chExt cx="820956" cy="522189"/>
            </a:xfrm>
          </p:grpSpPr>
          <p:sp>
            <p:nvSpPr>
              <p:cNvPr id="81" name="矩形: 圓角 80">
                <a:extLst>
                  <a:ext uri="{FF2B5EF4-FFF2-40B4-BE49-F238E27FC236}">
                    <a16:creationId xmlns:a16="http://schemas.microsoft.com/office/drawing/2014/main" id="{713BC1C1-E216-400D-87F7-10A942584BD5}"/>
                  </a:ext>
                </a:extLst>
              </p:cNvPr>
              <p:cNvSpPr/>
              <p:nvPr/>
            </p:nvSpPr>
            <p:spPr>
              <a:xfrm>
                <a:off x="2651997" y="1978705"/>
                <a:ext cx="688950" cy="408067"/>
              </a:xfrm>
              <a:prstGeom prst="roundRect">
                <a:avLst>
                  <a:gd name="adj" fmla="val 9757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thread</a:t>
                </a:r>
                <a:endParaRPr lang="zh-TW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84" name="圖片 83">
                <a:extLst>
                  <a:ext uri="{FF2B5EF4-FFF2-40B4-BE49-F238E27FC236}">
                    <a16:creationId xmlns:a16="http://schemas.microsoft.com/office/drawing/2014/main" id="{DF8FDC0F-C21B-4361-9997-5A2A4B7B57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215643" y="2243584"/>
                <a:ext cx="257310" cy="257310"/>
              </a:xfrm>
              <a:prstGeom prst="rect">
                <a:avLst/>
              </a:prstGeom>
            </p:spPr>
          </p:pic>
        </p:grpSp>
        <p:grpSp>
          <p:nvGrpSpPr>
            <p:cNvPr id="66" name="群組 65">
              <a:extLst>
                <a:ext uri="{FF2B5EF4-FFF2-40B4-BE49-F238E27FC236}">
                  <a16:creationId xmlns:a16="http://schemas.microsoft.com/office/drawing/2014/main" id="{8B775F08-A31F-4ECD-A8DD-7FB88D7825C6}"/>
                </a:ext>
              </a:extLst>
            </p:cNvPr>
            <p:cNvGrpSpPr/>
            <p:nvPr/>
          </p:nvGrpSpPr>
          <p:grpSpPr>
            <a:xfrm>
              <a:off x="3675213" y="1009451"/>
              <a:ext cx="607656" cy="386514"/>
              <a:chOff x="2651997" y="1978705"/>
              <a:chExt cx="820956" cy="522189"/>
            </a:xfrm>
          </p:grpSpPr>
          <p:sp>
            <p:nvSpPr>
              <p:cNvPr id="71" name="矩形: 圓角 70">
                <a:extLst>
                  <a:ext uri="{FF2B5EF4-FFF2-40B4-BE49-F238E27FC236}">
                    <a16:creationId xmlns:a16="http://schemas.microsoft.com/office/drawing/2014/main" id="{38B48A96-1C5A-49CB-9406-DE180F7812BA}"/>
                  </a:ext>
                </a:extLst>
              </p:cNvPr>
              <p:cNvSpPr/>
              <p:nvPr/>
            </p:nvSpPr>
            <p:spPr>
              <a:xfrm>
                <a:off x="2651997" y="1978705"/>
                <a:ext cx="688950" cy="408067"/>
              </a:xfrm>
              <a:prstGeom prst="roundRect">
                <a:avLst>
                  <a:gd name="adj" fmla="val 9757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baseline</a:t>
                </a:r>
                <a:endParaRPr lang="zh-TW" altLang="en-US" sz="5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pic>
            <p:nvPicPr>
              <p:cNvPr id="72" name="圖片 71">
                <a:extLst>
                  <a:ext uri="{FF2B5EF4-FFF2-40B4-BE49-F238E27FC236}">
                    <a16:creationId xmlns:a16="http://schemas.microsoft.com/office/drawing/2014/main" id="{9D127CEA-0DFF-4D8B-92EC-A7016A6CD4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215643" y="2243584"/>
                <a:ext cx="257310" cy="257310"/>
              </a:xfrm>
              <a:prstGeom prst="rect">
                <a:avLst/>
              </a:prstGeom>
            </p:spPr>
          </p:pic>
        </p:grpSp>
        <p:cxnSp>
          <p:nvCxnSpPr>
            <p:cNvPr id="67" name="直線單箭頭接點 66">
              <a:extLst>
                <a:ext uri="{FF2B5EF4-FFF2-40B4-BE49-F238E27FC236}">
                  <a16:creationId xmlns:a16="http://schemas.microsoft.com/office/drawing/2014/main" id="{82CDBF74-D9C0-4E3C-90C6-F6B2B3F1379B}"/>
                </a:ext>
              </a:extLst>
            </p:cNvPr>
            <p:cNvCxnSpPr>
              <a:cxnSpLocks/>
              <a:stCxn id="81" idx="3"/>
              <a:endCxn id="89" idx="1"/>
            </p:cNvCxnSpPr>
            <p:nvPr/>
          </p:nvCxnSpPr>
          <p:spPr>
            <a:xfrm flipV="1">
              <a:off x="4185161" y="1830376"/>
              <a:ext cx="644707" cy="22330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線單箭頭接點 69">
              <a:extLst>
                <a:ext uri="{FF2B5EF4-FFF2-40B4-BE49-F238E27FC236}">
                  <a16:creationId xmlns:a16="http://schemas.microsoft.com/office/drawing/2014/main" id="{5BF49560-4F20-4468-A5CF-AC8CB7E95B2D}"/>
                </a:ext>
              </a:extLst>
            </p:cNvPr>
            <p:cNvCxnSpPr>
              <a:cxnSpLocks/>
              <a:stCxn id="81" idx="3"/>
              <a:endCxn id="91" idx="1"/>
            </p:cNvCxnSpPr>
            <p:nvPr/>
          </p:nvCxnSpPr>
          <p:spPr>
            <a:xfrm flipV="1">
              <a:off x="4185161" y="1383774"/>
              <a:ext cx="644707" cy="669904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94" name="圖片 93">
            <a:extLst>
              <a:ext uri="{FF2B5EF4-FFF2-40B4-BE49-F238E27FC236}">
                <a16:creationId xmlns:a16="http://schemas.microsoft.com/office/drawing/2014/main" id="{8A8482B3-3B9E-4F1F-92F7-F82ABDC018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13091" y="2814663"/>
            <a:ext cx="3050326" cy="904272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62F49ABD-A0C2-4610-B84B-ADCAEED3D2F9}"/>
              </a:ext>
            </a:extLst>
          </p:cNvPr>
          <p:cNvSpPr txBox="1"/>
          <p:nvPr/>
        </p:nvSpPr>
        <p:spPr>
          <a:xfrm>
            <a:off x="3846956" y="2449007"/>
            <a:ext cx="271420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如果 </a:t>
            </a:r>
            <a:r>
              <a:rPr lang="en-US" altLang="zh-TW" dirty="0"/>
              <a:t>Infeasible </a:t>
            </a:r>
            <a:r>
              <a:rPr lang="zh-TW" altLang="en-US" dirty="0"/>
              <a:t>也能生成 </a:t>
            </a:r>
            <a:r>
              <a:rPr lang="en-US" altLang="zh-TW" dirty="0"/>
              <a:t>IIS </a:t>
            </a:r>
            <a:r>
              <a:rPr lang="zh-TW" altLang="en-US" dirty="0"/>
              <a:t>檔案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452730C4-728C-4212-8F8D-2F624ED14C9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8016" y="1626545"/>
            <a:ext cx="2009696" cy="2130200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27F0144C-0988-4E67-8FC2-0B9C75546CBF}"/>
              </a:ext>
            </a:extLst>
          </p:cNvPr>
          <p:cNvSpPr/>
          <p:nvPr/>
        </p:nvSpPr>
        <p:spPr>
          <a:xfrm>
            <a:off x="8748464" y="3610829"/>
            <a:ext cx="349153" cy="18551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75598FDC-523B-4C42-B0EE-061CC42992E1}"/>
              </a:ext>
            </a:extLst>
          </p:cNvPr>
          <p:cNvSpPr txBox="1"/>
          <p:nvPr/>
        </p:nvSpPr>
        <p:spPr>
          <a:xfrm>
            <a:off x="540102" y="3756745"/>
            <a:ext cx="170431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Rostering-cross.csv</a:t>
            </a:r>
            <a:endParaRPr lang="zh-TW" altLang="en-US" dirty="0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B0C0634F-693C-4551-994F-93894658DD4D}"/>
              </a:ext>
            </a:extLst>
          </p:cNvPr>
          <p:cNvSpPr/>
          <p:nvPr/>
        </p:nvSpPr>
        <p:spPr>
          <a:xfrm>
            <a:off x="5478214" y="4410929"/>
            <a:ext cx="749970" cy="23440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EA870385-4AB5-4E81-9D2F-340B200AFF3B}"/>
              </a:ext>
            </a:extLst>
          </p:cNvPr>
          <p:cNvSpPr txBox="1"/>
          <p:nvPr/>
        </p:nvSpPr>
        <p:spPr>
          <a:xfrm>
            <a:off x="2351111" y="1795315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000" b="1" dirty="0">
                <a:solidFill>
                  <a:srgbClr val="C00000"/>
                </a:solidFill>
              </a:rPr>
              <a:t>不可行</a:t>
            </a:r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5D34E0AE-CF7A-44A1-8F09-C87B2339E477}"/>
              </a:ext>
            </a:extLst>
          </p:cNvPr>
          <p:cNvSpPr txBox="1"/>
          <p:nvPr/>
        </p:nvSpPr>
        <p:spPr>
          <a:xfrm>
            <a:off x="2373499" y="1345788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1000" b="1" dirty="0">
                <a:solidFill>
                  <a:srgbClr val="C00000"/>
                </a:solidFill>
              </a:rPr>
              <a:t>可行</a:t>
            </a:r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DB2756FA-50D1-4F76-A86B-5A8854839C0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7064" y="1101261"/>
            <a:ext cx="2602380" cy="1282864"/>
          </a:xfrm>
          <a:prstGeom prst="rect">
            <a:avLst/>
          </a:prstGeom>
        </p:spPr>
      </p:pic>
      <p:sp>
        <p:nvSpPr>
          <p:cNvPr id="27" name="箭號: 向右 26">
            <a:extLst>
              <a:ext uri="{FF2B5EF4-FFF2-40B4-BE49-F238E27FC236}">
                <a16:creationId xmlns:a16="http://schemas.microsoft.com/office/drawing/2014/main" id="{5331C4AC-FB1A-4B2D-B1DF-AB4D7629D91E}"/>
              </a:ext>
            </a:extLst>
          </p:cNvPr>
          <p:cNvSpPr/>
          <p:nvPr/>
        </p:nvSpPr>
        <p:spPr>
          <a:xfrm>
            <a:off x="6763417" y="3435846"/>
            <a:ext cx="328863" cy="6596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61A002B9-9AC3-44D0-96B3-D187C1D4B158}"/>
              </a:ext>
            </a:extLst>
          </p:cNvPr>
          <p:cNvSpPr txBox="1"/>
          <p:nvPr/>
        </p:nvSpPr>
        <p:spPr>
          <a:xfrm>
            <a:off x="3931453" y="757207"/>
            <a:ext cx="245451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API</a:t>
            </a:r>
            <a:r>
              <a:rPr lang="zh-TW" altLang="en-US" dirty="0"/>
              <a:t> 支援各類檔案輸出 </a:t>
            </a:r>
            <a:r>
              <a:rPr lang="en-US" altLang="zh-TW" dirty="0"/>
              <a:t>&amp;</a:t>
            </a:r>
            <a:r>
              <a:rPr lang="zh-TW" altLang="en-US" dirty="0"/>
              <a:t> 讀取</a:t>
            </a:r>
          </a:p>
        </p:txBody>
      </p:sp>
    </p:spTree>
    <p:extLst>
      <p:ext uri="{BB962C8B-B14F-4D97-AF65-F5344CB8AC3E}">
        <p14:creationId xmlns:p14="http://schemas.microsoft.com/office/powerpoint/2010/main" val="35721153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454AC9D5-29AB-4746-9770-5797D3510B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83968" y="1380952"/>
            <a:ext cx="4668270" cy="1153194"/>
          </a:xfrm>
        </p:spPr>
        <p:txBody>
          <a:bodyPr/>
          <a:lstStyle/>
          <a:p>
            <a:r>
              <a:rPr lang="en-US" altLang="zh-TW" dirty="0"/>
              <a:t>Claude</a:t>
            </a:r>
            <a:r>
              <a:rPr lang="zh-TW" altLang="en-US" dirty="0"/>
              <a:t> </a:t>
            </a:r>
            <a:r>
              <a:rPr lang="en-US" altLang="zh-TW" dirty="0"/>
              <a:t>Code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9F662CC-0787-4474-A1D2-5F7B8CD75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83968" y="3075807"/>
            <a:ext cx="4668270" cy="990314"/>
          </a:xfrm>
        </p:spPr>
        <p:txBody>
          <a:bodyPr/>
          <a:lstStyle/>
          <a:p>
            <a:r>
              <a:rPr lang="en-US" altLang="zh-TW" dirty="0"/>
              <a:t>LLM Reasoning Module</a:t>
            </a:r>
          </a:p>
          <a:p>
            <a:r>
              <a:rPr lang="en-US" altLang="zh-TW" dirty="0"/>
              <a:t>AI</a:t>
            </a:r>
            <a:r>
              <a:rPr lang="zh-TW" altLang="en-US" dirty="0"/>
              <a:t> </a:t>
            </a:r>
            <a:r>
              <a:rPr lang="en-US" altLang="zh-TW" dirty="0"/>
              <a:t>Modeling </a:t>
            </a:r>
            <a:r>
              <a:rPr lang="zh-TW" altLang="en-US" dirty="0"/>
              <a:t>開發架構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138594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F0F85A-D8BE-489F-8A26-3F9E8BB6D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54" y="427411"/>
            <a:ext cx="7605553" cy="264977"/>
          </a:xfrm>
        </p:spPr>
        <p:txBody>
          <a:bodyPr/>
          <a:lstStyle/>
          <a:p>
            <a:r>
              <a:rPr lang="zh-TW" altLang="en-US" dirty="0"/>
              <a:t>框架說明｜</a:t>
            </a:r>
            <a:r>
              <a:rPr lang="zh-TW" altLang="en-US" b="0" dirty="0"/>
              <a:t>大型語言模型輔助數學規劃開發流程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B04F98-C67E-4BB2-A8FC-D45C046C6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175" y="212009"/>
            <a:ext cx="5904507" cy="168954"/>
          </a:xfrm>
        </p:spPr>
        <p:txBody>
          <a:bodyPr/>
          <a:lstStyle/>
          <a:p>
            <a:r>
              <a:rPr lang="en-US" altLang="zh-TW" dirty="0"/>
              <a:t>Claude Code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04602B-3F3A-44D6-8FC7-8D6198579B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512" y="415908"/>
            <a:ext cx="504800" cy="287982"/>
          </a:xfrm>
        </p:spPr>
        <p:txBody>
          <a:bodyPr/>
          <a:lstStyle/>
          <a:p>
            <a:r>
              <a:rPr lang="en-US" altLang="zh-TW" dirty="0"/>
              <a:t>04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BDA344-228E-467F-9CAE-213808D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855534"/>
            <a:ext cx="717094" cy="274637"/>
          </a:xfrm>
        </p:spPr>
        <p:txBody>
          <a:bodyPr/>
          <a:lstStyle/>
          <a:p>
            <a:fld id="{16BB1EDA-9669-4099-AA83-49C2D8E17945}" type="slidenum">
              <a:rPr lang="zh-TW" altLang="en-US" smtClean="0"/>
              <a:pPr/>
              <a:t>26</a:t>
            </a:fld>
            <a:endParaRPr lang="zh-TW" altLang="en-US" dirty="0"/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BA1E51BF-537D-4DF2-8BAA-2DD8ED4118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D0CEC80E-E084-4FA5-88B6-FDE456721D42}"/>
              </a:ext>
            </a:extLst>
          </p:cNvPr>
          <p:cNvSpPr txBox="1"/>
          <p:nvPr/>
        </p:nvSpPr>
        <p:spPr>
          <a:xfrm>
            <a:off x="3405014" y="878294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800" b="1" dirty="0">
                <a:solidFill>
                  <a:srgbClr val="364F81"/>
                </a:solidFill>
              </a:rPr>
              <a:t>LLM Reasoning Module</a:t>
            </a:r>
            <a:endParaRPr lang="zh-TW" altLang="en-US" sz="1800" b="1" dirty="0">
              <a:solidFill>
                <a:srgbClr val="364F81"/>
              </a:solidFill>
            </a:endParaRPr>
          </a:p>
        </p:txBody>
      </p:sp>
      <p:pic>
        <p:nvPicPr>
          <p:cNvPr id="89" name="圖片 88">
            <a:extLst>
              <a:ext uri="{FF2B5EF4-FFF2-40B4-BE49-F238E27FC236}">
                <a16:creationId xmlns:a16="http://schemas.microsoft.com/office/drawing/2014/main" id="{0764B046-C660-40F1-A2B3-3EB58E7F0B3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64964" y="878294"/>
            <a:ext cx="360001" cy="360001"/>
          </a:xfrm>
          <a:prstGeom prst="rect">
            <a:avLst/>
          </a:prstGeom>
        </p:spPr>
      </p:pic>
      <p:grpSp>
        <p:nvGrpSpPr>
          <p:cNvPr id="13" name="群組 12">
            <a:extLst>
              <a:ext uri="{FF2B5EF4-FFF2-40B4-BE49-F238E27FC236}">
                <a16:creationId xmlns:a16="http://schemas.microsoft.com/office/drawing/2014/main" id="{B3C35009-4290-405B-AD96-B018F6027DF3}"/>
              </a:ext>
            </a:extLst>
          </p:cNvPr>
          <p:cNvGrpSpPr/>
          <p:nvPr/>
        </p:nvGrpSpPr>
        <p:grpSpPr>
          <a:xfrm>
            <a:off x="6071257" y="1434880"/>
            <a:ext cx="1620000" cy="2385879"/>
            <a:chOff x="6060024" y="1378810"/>
            <a:chExt cx="1620000" cy="2385879"/>
          </a:xfrm>
        </p:grpSpPr>
        <p:sp>
          <p:nvSpPr>
            <p:cNvPr id="227" name="矩形: 圓角 226">
              <a:extLst>
                <a:ext uri="{FF2B5EF4-FFF2-40B4-BE49-F238E27FC236}">
                  <a16:creationId xmlns:a16="http://schemas.microsoft.com/office/drawing/2014/main" id="{9FFFA616-E36E-430E-BE84-9CE00C066A34}"/>
                </a:ext>
              </a:extLst>
            </p:cNvPr>
            <p:cNvSpPr/>
            <p:nvPr/>
          </p:nvSpPr>
          <p:spPr>
            <a:xfrm>
              <a:off x="6060024" y="1378810"/>
              <a:ext cx="1620000" cy="2385879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13500000" algn="br" rotWithShape="0">
                <a:schemeClr val="bg1">
                  <a:lumMod val="9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228" name="矩形: 圓角 227">
              <a:extLst>
                <a:ext uri="{FF2B5EF4-FFF2-40B4-BE49-F238E27FC236}">
                  <a16:creationId xmlns:a16="http://schemas.microsoft.com/office/drawing/2014/main" id="{E3868BCF-FAD4-4E7C-8C12-7BE7EAF04285}"/>
                </a:ext>
              </a:extLst>
            </p:cNvPr>
            <p:cNvSpPr/>
            <p:nvPr/>
          </p:nvSpPr>
          <p:spPr>
            <a:xfrm>
              <a:off x="6060024" y="1378810"/>
              <a:ext cx="1620000" cy="2385879"/>
            </a:xfrm>
            <a:prstGeom prst="roundRect">
              <a:avLst/>
            </a:prstGeom>
            <a:solidFill>
              <a:srgbClr val="F2F7F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229" name="文字方塊 228">
              <a:extLst>
                <a:ext uri="{FF2B5EF4-FFF2-40B4-BE49-F238E27FC236}">
                  <a16:creationId xmlns:a16="http://schemas.microsoft.com/office/drawing/2014/main" id="{6C99D808-F27E-4D5D-957F-C5250D6E0BEC}"/>
                </a:ext>
              </a:extLst>
            </p:cNvPr>
            <p:cNvSpPr txBox="1"/>
            <p:nvPr/>
          </p:nvSpPr>
          <p:spPr>
            <a:xfrm>
              <a:off x="6208526" y="2116152"/>
              <a:ext cx="134335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 defTabSz="685783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參考現有開發專案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  <a:p>
              <a:pPr algn="dist" defTabSz="685783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提升輸出的問定性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sp>
          <p:nvSpPr>
            <p:cNvPr id="230" name="文字方塊 229">
              <a:extLst>
                <a:ext uri="{FF2B5EF4-FFF2-40B4-BE49-F238E27FC236}">
                  <a16:creationId xmlns:a16="http://schemas.microsoft.com/office/drawing/2014/main" id="{2CE1C21C-9BDB-4D3C-9647-DAB920969322}"/>
                </a:ext>
              </a:extLst>
            </p:cNvPr>
            <p:cNvSpPr txBox="1"/>
            <p:nvPr/>
          </p:nvSpPr>
          <p:spPr>
            <a:xfrm>
              <a:off x="6198345" y="1614326"/>
              <a:ext cx="134335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zh-TW" altLang="en-US" sz="1400" b="1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參考範例程式</a:t>
              </a:r>
            </a:p>
          </p:txBody>
        </p:sp>
        <p:sp>
          <p:nvSpPr>
            <p:cNvPr id="231" name="文字方塊 230">
              <a:extLst>
                <a:ext uri="{FF2B5EF4-FFF2-40B4-BE49-F238E27FC236}">
                  <a16:creationId xmlns:a16="http://schemas.microsoft.com/office/drawing/2014/main" id="{3ED361C0-E5D7-49C6-A2B5-6FD1D18FF87A}"/>
                </a:ext>
              </a:extLst>
            </p:cNvPr>
            <p:cNvSpPr txBox="1"/>
            <p:nvPr/>
          </p:nvSpPr>
          <p:spPr>
            <a:xfrm>
              <a:off x="6151170" y="1820496"/>
              <a:ext cx="143770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en-US" altLang="zh-TW" sz="11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Refer Templates</a:t>
              </a:r>
            </a:p>
          </p:txBody>
        </p:sp>
        <p:cxnSp>
          <p:nvCxnSpPr>
            <p:cNvPr id="232" name="直線接點 231">
              <a:extLst>
                <a:ext uri="{FF2B5EF4-FFF2-40B4-BE49-F238E27FC236}">
                  <a16:creationId xmlns:a16="http://schemas.microsoft.com/office/drawing/2014/main" id="{594C036D-28D7-4C1A-8E93-EDE555273D0F}"/>
                </a:ext>
              </a:extLst>
            </p:cNvPr>
            <p:cNvCxnSpPr>
              <a:cxnSpLocks/>
            </p:cNvCxnSpPr>
            <p:nvPr/>
          </p:nvCxnSpPr>
          <p:spPr>
            <a:xfrm>
              <a:off x="6230724" y="2719701"/>
              <a:ext cx="1278600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3" name="圖片 232">
              <a:extLst>
                <a:ext uri="{FF2B5EF4-FFF2-40B4-BE49-F238E27FC236}">
                  <a16:creationId xmlns:a16="http://schemas.microsoft.com/office/drawing/2014/main" id="{8A751E50-F645-45E5-BDC9-87F9C77F5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13075" y="2842847"/>
              <a:ext cx="713898" cy="720000"/>
            </a:xfrm>
            <a:prstGeom prst="rect">
              <a:avLst/>
            </a:prstGeom>
          </p:spPr>
        </p:pic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5E00DE70-0D28-4752-9BAC-37ADA0C9F285}"/>
              </a:ext>
            </a:extLst>
          </p:cNvPr>
          <p:cNvGrpSpPr/>
          <p:nvPr/>
        </p:nvGrpSpPr>
        <p:grpSpPr>
          <a:xfrm>
            <a:off x="3773233" y="1434880"/>
            <a:ext cx="1620000" cy="2385879"/>
            <a:chOff x="3777137" y="1378810"/>
            <a:chExt cx="1620000" cy="2385879"/>
          </a:xfrm>
        </p:grpSpPr>
        <p:sp>
          <p:nvSpPr>
            <p:cNvPr id="234" name="矩形: 圓角 233">
              <a:extLst>
                <a:ext uri="{FF2B5EF4-FFF2-40B4-BE49-F238E27FC236}">
                  <a16:creationId xmlns:a16="http://schemas.microsoft.com/office/drawing/2014/main" id="{C940DDA5-C09D-4487-8F4F-0D4B8628AD4D}"/>
                </a:ext>
              </a:extLst>
            </p:cNvPr>
            <p:cNvSpPr/>
            <p:nvPr/>
          </p:nvSpPr>
          <p:spPr>
            <a:xfrm>
              <a:off x="3777137" y="1378810"/>
              <a:ext cx="1620000" cy="2385879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13500000" algn="br" rotWithShape="0">
                <a:schemeClr val="bg1">
                  <a:lumMod val="9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235" name="矩形: 圓角 234">
              <a:extLst>
                <a:ext uri="{FF2B5EF4-FFF2-40B4-BE49-F238E27FC236}">
                  <a16:creationId xmlns:a16="http://schemas.microsoft.com/office/drawing/2014/main" id="{DDD8D18F-FAEB-47BB-A824-3AEF60E18E49}"/>
                </a:ext>
              </a:extLst>
            </p:cNvPr>
            <p:cNvSpPr/>
            <p:nvPr/>
          </p:nvSpPr>
          <p:spPr>
            <a:xfrm>
              <a:off x="3777137" y="1378810"/>
              <a:ext cx="1620000" cy="2385879"/>
            </a:xfrm>
            <a:prstGeom prst="roundRect">
              <a:avLst/>
            </a:prstGeom>
            <a:solidFill>
              <a:srgbClr val="F2F7F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236" name="文字方塊 235">
              <a:extLst>
                <a:ext uri="{FF2B5EF4-FFF2-40B4-BE49-F238E27FC236}">
                  <a16:creationId xmlns:a16="http://schemas.microsoft.com/office/drawing/2014/main" id="{E6680575-B770-4928-A3D2-4B2E0C34E643}"/>
                </a:ext>
              </a:extLst>
            </p:cNvPr>
            <p:cNvSpPr txBox="1"/>
            <p:nvPr/>
          </p:nvSpPr>
          <p:spPr>
            <a:xfrm>
              <a:off x="3925639" y="2116152"/>
              <a:ext cx="134335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 defTabSz="685783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引導模型進行具邏輯性的建模推理</a:t>
              </a:r>
            </a:p>
          </p:txBody>
        </p:sp>
        <p:sp>
          <p:nvSpPr>
            <p:cNvPr id="237" name="文字方塊 236">
              <a:extLst>
                <a:ext uri="{FF2B5EF4-FFF2-40B4-BE49-F238E27FC236}">
                  <a16:creationId xmlns:a16="http://schemas.microsoft.com/office/drawing/2014/main" id="{BAF20695-FE7D-499C-8A75-D060BA36BC67}"/>
                </a:ext>
              </a:extLst>
            </p:cNvPr>
            <p:cNvSpPr txBox="1"/>
            <p:nvPr/>
          </p:nvSpPr>
          <p:spPr>
            <a:xfrm>
              <a:off x="3915458" y="1614326"/>
              <a:ext cx="134335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zh-TW" altLang="en-US" sz="1400" b="1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規範生成結果</a:t>
              </a:r>
              <a:endParaRPr lang="en-US" altLang="zh-TW" sz="1400" b="1" dirty="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238" name="文字方塊 237">
              <a:extLst>
                <a:ext uri="{FF2B5EF4-FFF2-40B4-BE49-F238E27FC236}">
                  <a16:creationId xmlns:a16="http://schemas.microsoft.com/office/drawing/2014/main" id="{0F06A22E-5987-4FF9-8ADE-22FA983ACEC0}"/>
                </a:ext>
              </a:extLst>
            </p:cNvPr>
            <p:cNvSpPr txBox="1"/>
            <p:nvPr/>
          </p:nvSpPr>
          <p:spPr>
            <a:xfrm>
              <a:off x="3868283" y="1820496"/>
              <a:ext cx="143770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en-US" altLang="zh-TW" sz="11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Claud.md</a:t>
              </a:r>
            </a:p>
            <a:p>
              <a:pPr algn="ctr" defTabSz="685783"/>
              <a:endPara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cxnSp>
          <p:nvCxnSpPr>
            <p:cNvPr id="239" name="直線接點 238">
              <a:extLst>
                <a:ext uri="{FF2B5EF4-FFF2-40B4-BE49-F238E27FC236}">
                  <a16:creationId xmlns:a16="http://schemas.microsoft.com/office/drawing/2014/main" id="{E41D746D-406B-4D64-A52F-D5D74CEB4D1B}"/>
                </a:ext>
              </a:extLst>
            </p:cNvPr>
            <p:cNvCxnSpPr>
              <a:cxnSpLocks/>
            </p:cNvCxnSpPr>
            <p:nvPr/>
          </p:nvCxnSpPr>
          <p:spPr>
            <a:xfrm>
              <a:off x="3947837" y="2719701"/>
              <a:ext cx="1278600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0" name="圖片 239">
              <a:extLst>
                <a:ext uri="{FF2B5EF4-FFF2-40B4-BE49-F238E27FC236}">
                  <a16:creationId xmlns:a16="http://schemas.microsoft.com/office/drawing/2014/main" id="{0F8B9D47-1B86-4F7D-B237-D5150F5C8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230188" y="2842847"/>
              <a:ext cx="713898" cy="719999"/>
            </a:xfrm>
            <a:prstGeom prst="rect">
              <a:avLst/>
            </a:prstGeom>
          </p:spPr>
        </p:pic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2A6F00D6-3A3C-4B4D-A821-D8BC3589FF3D}"/>
              </a:ext>
            </a:extLst>
          </p:cNvPr>
          <p:cNvGrpSpPr/>
          <p:nvPr/>
        </p:nvGrpSpPr>
        <p:grpSpPr>
          <a:xfrm>
            <a:off x="1473104" y="1434880"/>
            <a:ext cx="1620000" cy="2385879"/>
            <a:chOff x="1478611" y="1378810"/>
            <a:chExt cx="1620000" cy="2385879"/>
          </a:xfrm>
        </p:grpSpPr>
        <p:sp>
          <p:nvSpPr>
            <p:cNvPr id="241" name="矩形: 圓角 240">
              <a:extLst>
                <a:ext uri="{FF2B5EF4-FFF2-40B4-BE49-F238E27FC236}">
                  <a16:creationId xmlns:a16="http://schemas.microsoft.com/office/drawing/2014/main" id="{C08ED1D3-20D6-43C0-B29F-01F500B51DBD}"/>
                </a:ext>
              </a:extLst>
            </p:cNvPr>
            <p:cNvSpPr/>
            <p:nvPr/>
          </p:nvSpPr>
          <p:spPr>
            <a:xfrm>
              <a:off x="1478611" y="1378810"/>
              <a:ext cx="1620000" cy="2385879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13500000" algn="br" rotWithShape="0">
                <a:schemeClr val="bg1">
                  <a:lumMod val="9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242" name="矩形: 圓角 241">
              <a:extLst>
                <a:ext uri="{FF2B5EF4-FFF2-40B4-BE49-F238E27FC236}">
                  <a16:creationId xmlns:a16="http://schemas.microsoft.com/office/drawing/2014/main" id="{0C4E5F69-0AAF-47D0-B583-C98DBC423A02}"/>
                </a:ext>
              </a:extLst>
            </p:cNvPr>
            <p:cNvSpPr/>
            <p:nvPr/>
          </p:nvSpPr>
          <p:spPr>
            <a:xfrm>
              <a:off x="1478611" y="1378810"/>
              <a:ext cx="1620000" cy="2385879"/>
            </a:xfrm>
            <a:prstGeom prst="roundRect">
              <a:avLst/>
            </a:prstGeom>
            <a:solidFill>
              <a:srgbClr val="F2F7F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243" name="文字方塊 242">
              <a:extLst>
                <a:ext uri="{FF2B5EF4-FFF2-40B4-BE49-F238E27FC236}">
                  <a16:creationId xmlns:a16="http://schemas.microsoft.com/office/drawing/2014/main" id="{0A42A2F3-E9D3-407A-AD84-6A2C8FC8EE0C}"/>
                </a:ext>
              </a:extLst>
            </p:cNvPr>
            <p:cNvSpPr txBox="1"/>
            <p:nvPr/>
          </p:nvSpPr>
          <p:spPr>
            <a:xfrm>
              <a:off x="1627113" y="2116152"/>
              <a:ext cx="134335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 defTabSz="685783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完成自然語言到模型程式的轉換流程</a:t>
              </a:r>
            </a:p>
          </p:txBody>
        </p:sp>
        <p:sp>
          <p:nvSpPr>
            <p:cNvPr id="244" name="文字方塊 243">
              <a:extLst>
                <a:ext uri="{FF2B5EF4-FFF2-40B4-BE49-F238E27FC236}">
                  <a16:creationId xmlns:a16="http://schemas.microsoft.com/office/drawing/2014/main" id="{2B8BCB76-D653-4DAC-83C7-A3A23D42A77D}"/>
                </a:ext>
              </a:extLst>
            </p:cNvPr>
            <p:cNvSpPr txBox="1"/>
            <p:nvPr/>
          </p:nvSpPr>
          <p:spPr>
            <a:xfrm>
              <a:off x="1616932" y="1614326"/>
              <a:ext cx="134335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zh-TW" altLang="en-US" sz="1400" b="1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大型語言模型</a:t>
              </a:r>
              <a:endParaRPr lang="en-US" altLang="zh-TW" sz="1400" b="1" dirty="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245" name="文字方塊 244">
              <a:extLst>
                <a:ext uri="{FF2B5EF4-FFF2-40B4-BE49-F238E27FC236}">
                  <a16:creationId xmlns:a16="http://schemas.microsoft.com/office/drawing/2014/main" id="{8B5285EA-F9C9-411E-A920-1C6D18558C76}"/>
                </a:ext>
              </a:extLst>
            </p:cNvPr>
            <p:cNvSpPr txBox="1"/>
            <p:nvPr/>
          </p:nvSpPr>
          <p:spPr>
            <a:xfrm>
              <a:off x="1569757" y="1820496"/>
              <a:ext cx="143770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en-US" altLang="zh-TW" sz="11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LLMs</a:t>
              </a:r>
              <a:endParaRPr lang="zh-TW" altLang="en-US" sz="1100" b="1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cxnSp>
          <p:nvCxnSpPr>
            <p:cNvPr id="246" name="直線接點 245">
              <a:extLst>
                <a:ext uri="{FF2B5EF4-FFF2-40B4-BE49-F238E27FC236}">
                  <a16:creationId xmlns:a16="http://schemas.microsoft.com/office/drawing/2014/main" id="{67589A93-CA36-4AC5-B008-8E9348ECBCEA}"/>
                </a:ext>
              </a:extLst>
            </p:cNvPr>
            <p:cNvCxnSpPr>
              <a:cxnSpLocks/>
            </p:cNvCxnSpPr>
            <p:nvPr/>
          </p:nvCxnSpPr>
          <p:spPr>
            <a:xfrm>
              <a:off x="1649311" y="2719701"/>
              <a:ext cx="1278600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7" name="圖片 246">
              <a:extLst>
                <a:ext uri="{FF2B5EF4-FFF2-40B4-BE49-F238E27FC236}">
                  <a16:creationId xmlns:a16="http://schemas.microsoft.com/office/drawing/2014/main" id="{0FCC533A-D870-4D17-B8C9-98710E83A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931662" y="2848898"/>
              <a:ext cx="713898" cy="707898"/>
            </a:xfrm>
            <a:prstGeom prst="rect">
              <a:avLst/>
            </a:prstGeom>
          </p:spPr>
        </p:pic>
      </p:grpSp>
      <p:grpSp>
        <p:nvGrpSpPr>
          <p:cNvPr id="137" name="群組 136">
            <a:extLst>
              <a:ext uri="{FF2B5EF4-FFF2-40B4-BE49-F238E27FC236}">
                <a16:creationId xmlns:a16="http://schemas.microsoft.com/office/drawing/2014/main" id="{D59ABA96-E940-4B0A-A5CF-85E4F6C3876A}"/>
              </a:ext>
            </a:extLst>
          </p:cNvPr>
          <p:cNvGrpSpPr/>
          <p:nvPr/>
        </p:nvGrpSpPr>
        <p:grpSpPr>
          <a:xfrm>
            <a:off x="4718282" y="-3757587"/>
            <a:ext cx="1620000" cy="2385879"/>
            <a:chOff x="4990504" y="1488081"/>
            <a:chExt cx="1620000" cy="2385879"/>
          </a:xfrm>
        </p:grpSpPr>
        <p:sp>
          <p:nvSpPr>
            <p:cNvPr id="138" name="矩形: 圓角 137">
              <a:extLst>
                <a:ext uri="{FF2B5EF4-FFF2-40B4-BE49-F238E27FC236}">
                  <a16:creationId xmlns:a16="http://schemas.microsoft.com/office/drawing/2014/main" id="{64C5B4B0-A220-492D-A296-7725BC790E87}"/>
                </a:ext>
              </a:extLst>
            </p:cNvPr>
            <p:cNvSpPr/>
            <p:nvPr/>
          </p:nvSpPr>
          <p:spPr>
            <a:xfrm>
              <a:off x="4990504" y="1488081"/>
              <a:ext cx="1620000" cy="2385879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13500000" algn="br" rotWithShape="0">
                <a:schemeClr val="bg1">
                  <a:lumMod val="9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139" name="矩形: 圓角 138">
              <a:extLst>
                <a:ext uri="{FF2B5EF4-FFF2-40B4-BE49-F238E27FC236}">
                  <a16:creationId xmlns:a16="http://schemas.microsoft.com/office/drawing/2014/main" id="{D4314CFE-46BA-4DC3-99D1-ACB9EC9CBC31}"/>
                </a:ext>
              </a:extLst>
            </p:cNvPr>
            <p:cNvSpPr/>
            <p:nvPr/>
          </p:nvSpPr>
          <p:spPr>
            <a:xfrm>
              <a:off x="4990504" y="1488081"/>
              <a:ext cx="1620000" cy="2385879"/>
            </a:xfrm>
            <a:prstGeom prst="roundRect">
              <a:avLst/>
            </a:prstGeom>
            <a:solidFill>
              <a:srgbClr val="F5F5F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140" name="文字方塊 139">
              <a:extLst>
                <a:ext uri="{FF2B5EF4-FFF2-40B4-BE49-F238E27FC236}">
                  <a16:creationId xmlns:a16="http://schemas.microsoft.com/office/drawing/2014/main" id="{BB661135-6245-4EC1-AA0A-73E67D1B0121}"/>
                </a:ext>
              </a:extLst>
            </p:cNvPr>
            <p:cNvSpPr txBox="1"/>
            <p:nvPr/>
          </p:nvSpPr>
          <p:spPr>
            <a:xfrm>
              <a:off x="5139006" y="2225423"/>
              <a:ext cx="134335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支援</a:t>
              </a:r>
              <a:r>
                <a:rPr lang="en-US" altLang="zh-TW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CSV </a:t>
              </a:r>
            </a:p>
            <a:p>
              <a:pPr algn="ctr" defTabSz="685783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輸入輸出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sp>
          <p:nvSpPr>
            <p:cNvPr id="141" name="文字方塊 140">
              <a:extLst>
                <a:ext uri="{FF2B5EF4-FFF2-40B4-BE49-F238E27FC236}">
                  <a16:creationId xmlns:a16="http://schemas.microsoft.com/office/drawing/2014/main" id="{AA4F93CD-A3F6-45A3-9DF2-0657300EA1D4}"/>
                </a:ext>
              </a:extLst>
            </p:cNvPr>
            <p:cNvSpPr txBox="1"/>
            <p:nvPr/>
          </p:nvSpPr>
          <p:spPr>
            <a:xfrm>
              <a:off x="5128825" y="1723597"/>
              <a:ext cx="134335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en-US" altLang="zh-TW" sz="1400" b="1" dirty="0">
                  <a:solidFill>
                    <a:srgbClr val="7030A0"/>
                  </a:solidFill>
                  <a:latin typeface="+mn-ea"/>
                </a:rPr>
                <a:t>CSV</a:t>
              </a:r>
              <a:r>
                <a:rPr lang="zh-TW" altLang="en-US" sz="1400" b="1" dirty="0">
                  <a:solidFill>
                    <a:srgbClr val="7030A0"/>
                  </a:solidFill>
                  <a:latin typeface="+mn-ea"/>
                </a:rPr>
                <a:t> 管理</a:t>
              </a:r>
              <a:endParaRPr lang="en-US" altLang="zh-TW" sz="1400" b="1" dirty="0">
                <a:solidFill>
                  <a:srgbClr val="7030A0"/>
                </a:solidFill>
                <a:latin typeface="+mn-ea"/>
              </a:endParaRPr>
            </a:p>
          </p:txBody>
        </p:sp>
        <p:sp>
          <p:nvSpPr>
            <p:cNvPr id="142" name="文字方塊 141">
              <a:extLst>
                <a:ext uri="{FF2B5EF4-FFF2-40B4-BE49-F238E27FC236}">
                  <a16:creationId xmlns:a16="http://schemas.microsoft.com/office/drawing/2014/main" id="{C9338AE2-8744-4EF4-8176-4EC2446969E0}"/>
                </a:ext>
              </a:extLst>
            </p:cNvPr>
            <p:cNvSpPr txBox="1"/>
            <p:nvPr/>
          </p:nvSpPr>
          <p:spPr>
            <a:xfrm>
              <a:off x="5081650" y="1929767"/>
              <a:ext cx="143770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en-US" altLang="zh-TW" sz="11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CSV Manager</a:t>
              </a:r>
            </a:p>
          </p:txBody>
        </p:sp>
        <p:cxnSp>
          <p:nvCxnSpPr>
            <p:cNvPr id="143" name="直線接點 142">
              <a:extLst>
                <a:ext uri="{FF2B5EF4-FFF2-40B4-BE49-F238E27FC236}">
                  <a16:creationId xmlns:a16="http://schemas.microsoft.com/office/drawing/2014/main" id="{0AA46653-9B47-4482-A7FF-348685093F46}"/>
                </a:ext>
              </a:extLst>
            </p:cNvPr>
            <p:cNvCxnSpPr>
              <a:cxnSpLocks/>
            </p:cNvCxnSpPr>
            <p:nvPr/>
          </p:nvCxnSpPr>
          <p:spPr>
            <a:xfrm>
              <a:off x="5161204" y="2828972"/>
              <a:ext cx="1278600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4" name="圖片 143">
              <a:extLst>
                <a:ext uri="{FF2B5EF4-FFF2-40B4-BE49-F238E27FC236}">
                  <a16:creationId xmlns:a16="http://schemas.microsoft.com/office/drawing/2014/main" id="{F70F6451-A526-4F7A-A77D-B39E2D1CE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443555" y="2955169"/>
              <a:ext cx="713898" cy="713898"/>
            </a:xfrm>
            <a:prstGeom prst="rect">
              <a:avLst/>
            </a:prstGeom>
          </p:spPr>
        </p:pic>
      </p:grpSp>
      <p:grpSp>
        <p:nvGrpSpPr>
          <p:cNvPr id="145" name="群組 144">
            <a:extLst>
              <a:ext uri="{FF2B5EF4-FFF2-40B4-BE49-F238E27FC236}">
                <a16:creationId xmlns:a16="http://schemas.microsoft.com/office/drawing/2014/main" id="{84BE48BD-8E06-411C-BA59-B6EC938CC055}"/>
              </a:ext>
            </a:extLst>
          </p:cNvPr>
          <p:cNvGrpSpPr/>
          <p:nvPr/>
        </p:nvGrpSpPr>
        <p:grpSpPr>
          <a:xfrm>
            <a:off x="2805717" y="-5011078"/>
            <a:ext cx="1620000" cy="2385879"/>
            <a:chOff x="2692480" y="1488081"/>
            <a:chExt cx="1620000" cy="2385879"/>
          </a:xfrm>
        </p:grpSpPr>
        <p:sp>
          <p:nvSpPr>
            <p:cNvPr id="146" name="矩形: 圓角 145">
              <a:extLst>
                <a:ext uri="{FF2B5EF4-FFF2-40B4-BE49-F238E27FC236}">
                  <a16:creationId xmlns:a16="http://schemas.microsoft.com/office/drawing/2014/main" id="{477CF26C-82A7-4DD3-AF45-BA848588CA39}"/>
                </a:ext>
              </a:extLst>
            </p:cNvPr>
            <p:cNvSpPr/>
            <p:nvPr/>
          </p:nvSpPr>
          <p:spPr>
            <a:xfrm>
              <a:off x="2692480" y="1488081"/>
              <a:ext cx="1620000" cy="2385879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13500000" algn="br" rotWithShape="0">
                <a:schemeClr val="bg1">
                  <a:lumMod val="9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147" name="矩形: 圓角 146">
              <a:extLst>
                <a:ext uri="{FF2B5EF4-FFF2-40B4-BE49-F238E27FC236}">
                  <a16:creationId xmlns:a16="http://schemas.microsoft.com/office/drawing/2014/main" id="{CB6D3A3E-458E-4AD5-BDAA-8DB3182DD0B8}"/>
                </a:ext>
              </a:extLst>
            </p:cNvPr>
            <p:cNvSpPr/>
            <p:nvPr/>
          </p:nvSpPr>
          <p:spPr>
            <a:xfrm>
              <a:off x="2692480" y="1488081"/>
              <a:ext cx="1620000" cy="2385879"/>
            </a:xfrm>
            <a:prstGeom prst="roundRect">
              <a:avLst/>
            </a:prstGeom>
            <a:solidFill>
              <a:srgbClr val="F5F5F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148" name="文字方塊 147">
              <a:extLst>
                <a:ext uri="{FF2B5EF4-FFF2-40B4-BE49-F238E27FC236}">
                  <a16:creationId xmlns:a16="http://schemas.microsoft.com/office/drawing/2014/main" id="{5A457090-08C2-449F-93F7-5D94F5BEB3D7}"/>
                </a:ext>
              </a:extLst>
            </p:cNvPr>
            <p:cNvSpPr txBox="1"/>
            <p:nvPr/>
          </p:nvSpPr>
          <p:spPr>
            <a:xfrm>
              <a:off x="2840982" y="2225423"/>
              <a:ext cx="134335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支援資料庫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  <a:p>
              <a:pPr algn="ctr" defTabSz="685783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連接輸入輸出</a:t>
              </a:r>
            </a:p>
          </p:txBody>
        </p:sp>
        <p:sp>
          <p:nvSpPr>
            <p:cNvPr id="149" name="文字方塊 148">
              <a:extLst>
                <a:ext uri="{FF2B5EF4-FFF2-40B4-BE49-F238E27FC236}">
                  <a16:creationId xmlns:a16="http://schemas.microsoft.com/office/drawing/2014/main" id="{DAFBA57B-6235-41D6-AF6D-7508F6B4EC84}"/>
                </a:ext>
              </a:extLst>
            </p:cNvPr>
            <p:cNvSpPr txBox="1"/>
            <p:nvPr/>
          </p:nvSpPr>
          <p:spPr>
            <a:xfrm>
              <a:off x="2830801" y="1723597"/>
              <a:ext cx="134335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zh-TW" altLang="en-US" sz="1400" b="1" dirty="0">
                  <a:solidFill>
                    <a:srgbClr val="7030A0"/>
                  </a:solidFill>
                  <a:latin typeface="+mn-ea"/>
                </a:rPr>
                <a:t>資料庫管理</a:t>
              </a:r>
              <a:endParaRPr lang="en-US" altLang="zh-TW" sz="1400" b="1" dirty="0">
                <a:solidFill>
                  <a:srgbClr val="7030A0"/>
                </a:solidFill>
                <a:latin typeface="+mn-ea"/>
              </a:endParaRPr>
            </a:p>
          </p:txBody>
        </p:sp>
        <p:sp>
          <p:nvSpPr>
            <p:cNvPr id="150" name="文字方塊 149">
              <a:extLst>
                <a:ext uri="{FF2B5EF4-FFF2-40B4-BE49-F238E27FC236}">
                  <a16:creationId xmlns:a16="http://schemas.microsoft.com/office/drawing/2014/main" id="{F1AFFB81-74DD-42DA-A2A4-22E398A4458D}"/>
                </a:ext>
              </a:extLst>
            </p:cNvPr>
            <p:cNvSpPr txBox="1"/>
            <p:nvPr/>
          </p:nvSpPr>
          <p:spPr>
            <a:xfrm>
              <a:off x="2692481" y="1929767"/>
              <a:ext cx="161999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en-US" altLang="zh-TW" sz="11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Database Manager</a:t>
              </a:r>
            </a:p>
          </p:txBody>
        </p:sp>
        <p:cxnSp>
          <p:nvCxnSpPr>
            <p:cNvPr id="151" name="直線接點 150">
              <a:extLst>
                <a:ext uri="{FF2B5EF4-FFF2-40B4-BE49-F238E27FC236}">
                  <a16:creationId xmlns:a16="http://schemas.microsoft.com/office/drawing/2014/main" id="{A38BDA85-BA00-4824-9788-A50674BBDBE4}"/>
                </a:ext>
              </a:extLst>
            </p:cNvPr>
            <p:cNvCxnSpPr>
              <a:cxnSpLocks/>
            </p:cNvCxnSpPr>
            <p:nvPr/>
          </p:nvCxnSpPr>
          <p:spPr>
            <a:xfrm>
              <a:off x="2863180" y="2828972"/>
              <a:ext cx="1278600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2" name="圖片 151">
              <a:extLst>
                <a:ext uri="{FF2B5EF4-FFF2-40B4-BE49-F238E27FC236}">
                  <a16:creationId xmlns:a16="http://schemas.microsoft.com/office/drawing/2014/main" id="{E16965D7-6EB6-43DA-A7BC-EDF193DC6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147853" y="2952118"/>
              <a:ext cx="709253" cy="719999"/>
            </a:xfrm>
            <a:prstGeom prst="rect">
              <a:avLst/>
            </a:prstGeom>
          </p:spPr>
        </p:pic>
      </p:grpSp>
      <p:grpSp>
        <p:nvGrpSpPr>
          <p:cNvPr id="153" name="群組 152">
            <a:extLst>
              <a:ext uri="{FF2B5EF4-FFF2-40B4-BE49-F238E27FC236}">
                <a16:creationId xmlns:a16="http://schemas.microsoft.com/office/drawing/2014/main" id="{1D2E9C14-EF06-4977-B5FB-E8DFAE758E73}"/>
              </a:ext>
            </a:extLst>
          </p:cNvPr>
          <p:cNvGrpSpPr/>
          <p:nvPr/>
        </p:nvGrpSpPr>
        <p:grpSpPr>
          <a:xfrm>
            <a:off x="893152" y="-6429250"/>
            <a:ext cx="1620000" cy="2385879"/>
            <a:chOff x="392351" y="1488081"/>
            <a:chExt cx="1620000" cy="2385879"/>
          </a:xfrm>
        </p:grpSpPr>
        <p:sp>
          <p:nvSpPr>
            <p:cNvPr id="154" name="矩形: 圓角 153">
              <a:extLst>
                <a:ext uri="{FF2B5EF4-FFF2-40B4-BE49-F238E27FC236}">
                  <a16:creationId xmlns:a16="http://schemas.microsoft.com/office/drawing/2014/main" id="{5E76BA57-3243-439C-9C58-D71D85872F29}"/>
                </a:ext>
              </a:extLst>
            </p:cNvPr>
            <p:cNvSpPr/>
            <p:nvPr/>
          </p:nvSpPr>
          <p:spPr>
            <a:xfrm>
              <a:off x="392351" y="1488081"/>
              <a:ext cx="1620000" cy="2385879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13500000" algn="br" rotWithShape="0">
                <a:schemeClr val="bg1">
                  <a:lumMod val="9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155" name="矩形: 圓角 154">
              <a:extLst>
                <a:ext uri="{FF2B5EF4-FFF2-40B4-BE49-F238E27FC236}">
                  <a16:creationId xmlns:a16="http://schemas.microsoft.com/office/drawing/2014/main" id="{1CF45455-59B5-480F-8887-2C6D7087F51B}"/>
                </a:ext>
              </a:extLst>
            </p:cNvPr>
            <p:cNvSpPr/>
            <p:nvPr/>
          </p:nvSpPr>
          <p:spPr>
            <a:xfrm>
              <a:off x="392351" y="1488081"/>
              <a:ext cx="1620000" cy="2385879"/>
            </a:xfrm>
            <a:prstGeom prst="roundRect">
              <a:avLst/>
            </a:prstGeom>
            <a:solidFill>
              <a:srgbClr val="F5F5F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156" name="文字方塊 155">
              <a:extLst>
                <a:ext uri="{FF2B5EF4-FFF2-40B4-BE49-F238E27FC236}">
                  <a16:creationId xmlns:a16="http://schemas.microsoft.com/office/drawing/2014/main" id="{2E4A672E-5B47-41DA-A9E8-814783988F8D}"/>
                </a:ext>
              </a:extLst>
            </p:cNvPr>
            <p:cNvSpPr txBox="1"/>
            <p:nvPr/>
          </p:nvSpPr>
          <p:spPr>
            <a:xfrm>
              <a:off x="540853" y="2225423"/>
              <a:ext cx="134335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標準化開發流程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  <a:p>
              <a:pPr algn="ctr" defTabSz="685783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設計模組化 </a:t>
              </a:r>
              <a:r>
                <a:rPr lang="en-US" altLang="zh-TW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APIs</a:t>
              </a:r>
              <a:endParaRPr lang="zh-TW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sp>
          <p:nvSpPr>
            <p:cNvPr id="157" name="文字方塊 156">
              <a:extLst>
                <a:ext uri="{FF2B5EF4-FFF2-40B4-BE49-F238E27FC236}">
                  <a16:creationId xmlns:a16="http://schemas.microsoft.com/office/drawing/2014/main" id="{B95F3C60-373B-44F7-847A-4AA4D3761EA1}"/>
                </a:ext>
              </a:extLst>
            </p:cNvPr>
            <p:cNvSpPr txBox="1"/>
            <p:nvPr/>
          </p:nvSpPr>
          <p:spPr>
            <a:xfrm>
              <a:off x="530672" y="1723597"/>
              <a:ext cx="134335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zh-TW" altLang="en-US" sz="1400" b="1" dirty="0">
                  <a:solidFill>
                    <a:srgbClr val="7030A0"/>
                  </a:solidFill>
                  <a:latin typeface="+mn-ea"/>
                </a:rPr>
                <a:t>求解器引擎</a:t>
              </a:r>
              <a:endParaRPr lang="en-US" altLang="zh-TW" sz="1400" b="1" dirty="0">
                <a:solidFill>
                  <a:srgbClr val="7030A0"/>
                </a:solidFill>
                <a:latin typeface="+mn-ea"/>
              </a:endParaRPr>
            </a:p>
          </p:txBody>
        </p:sp>
        <p:sp>
          <p:nvSpPr>
            <p:cNvPr id="158" name="文字方塊 157">
              <a:extLst>
                <a:ext uri="{FF2B5EF4-FFF2-40B4-BE49-F238E27FC236}">
                  <a16:creationId xmlns:a16="http://schemas.microsoft.com/office/drawing/2014/main" id="{B1E18178-1151-4FFF-8F9C-1749DDBAFF2A}"/>
                </a:ext>
              </a:extLst>
            </p:cNvPr>
            <p:cNvSpPr txBox="1"/>
            <p:nvPr/>
          </p:nvSpPr>
          <p:spPr>
            <a:xfrm>
              <a:off x="483497" y="1929767"/>
              <a:ext cx="143770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en-US" altLang="zh-TW" sz="11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OptEngine</a:t>
              </a:r>
            </a:p>
          </p:txBody>
        </p:sp>
        <p:cxnSp>
          <p:nvCxnSpPr>
            <p:cNvPr id="159" name="直線接點 158">
              <a:extLst>
                <a:ext uri="{FF2B5EF4-FFF2-40B4-BE49-F238E27FC236}">
                  <a16:creationId xmlns:a16="http://schemas.microsoft.com/office/drawing/2014/main" id="{5FF33B0A-5D40-4D0F-8101-AF3ABA9054C4}"/>
                </a:ext>
              </a:extLst>
            </p:cNvPr>
            <p:cNvCxnSpPr>
              <a:cxnSpLocks/>
            </p:cNvCxnSpPr>
            <p:nvPr/>
          </p:nvCxnSpPr>
          <p:spPr>
            <a:xfrm>
              <a:off x="563051" y="2828972"/>
              <a:ext cx="1278600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0" name="圖片 159">
              <a:extLst>
                <a:ext uri="{FF2B5EF4-FFF2-40B4-BE49-F238E27FC236}">
                  <a16:creationId xmlns:a16="http://schemas.microsoft.com/office/drawing/2014/main" id="{536CC98D-55D8-44BE-A325-A39DEEE7EA6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8402" y="2958169"/>
              <a:ext cx="707898" cy="707898"/>
            </a:xfrm>
            <a:prstGeom prst="rect">
              <a:avLst/>
            </a:prstGeom>
          </p:spPr>
        </p:pic>
      </p:grpSp>
      <p:grpSp>
        <p:nvGrpSpPr>
          <p:cNvPr id="161" name="群組 160">
            <a:extLst>
              <a:ext uri="{FF2B5EF4-FFF2-40B4-BE49-F238E27FC236}">
                <a16:creationId xmlns:a16="http://schemas.microsoft.com/office/drawing/2014/main" id="{311BF918-0A1C-406C-B326-45E12D5A7FA0}"/>
              </a:ext>
            </a:extLst>
          </p:cNvPr>
          <p:cNvGrpSpPr/>
          <p:nvPr/>
        </p:nvGrpSpPr>
        <p:grpSpPr>
          <a:xfrm>
            <a:off x="6630848" y="-2769541"/>
            <a:ext cx="1620000" cy="2385879"/>
            <a:chOff x="6888894" y="1488081"/>
            <a:chExt cx="1620000" cy="2385879"/>
          </a:xfrm>
        </p:grpSpPr>
        <p:sp>
          <p:nvSpPr>
            <p:cNvPr id="162" name="矩形: 圓角 161">
              <a:extLst>
                <a:ext uri="{FF2B5EF4-FFF2-40B4-BE49-F238E27FC236}">
                  <a16:creationId xmlns:a16="http://schemas.microsoft.com/office/drawing/2014/main" id="{FBD2D6E3-284D-4A2E-B935-38CD9CC3150C}"/>
                </a:ext>
              </a:extLst>
            </p:cNvPr>
            <p:cNvSpPr/>
            <p:nvPr/>
          </p:nvSpPr>
          <p:spPr>
            <a:xfrm>
              <a:off x="6888894" y="1488081"/>
              <a:ext cx="1620000" cy="2385879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13500000" algn="br" rotWithShape="0">
                <a:schemeClr val="bg1">
                  <a:lumMod val="9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163" name="矩形: 圓角 162">
              <a:extLst>
                <a:ext uri="{FF2B5EF4-FFF2-40B4-BE49-F238E27FC236}">
                  <a16:creationId xmlns:a16="http://schemas.microsoft.com/office/drawing/2014/main" id="{313D98AE-F0A3-4000-BBEB-982D08342158}"/>
                </a:ext>
              </a:extLst>
            </p:cNvPr>
            <p:cNvSpPr/>
            <p:nvPr/>
          </p:nvSpPr>
          <p:spPr>
            <a:xfrm>
              <a:off x="6888894" y="1488081"/>
              <a:ext cx="1620000" cy="2385879"/>
            </a:xfrm>
            <a:prstGeom prst="roundRect">
              <a:avLst/>
            </a:prstGeom>
            <a:solidFill>
              <a:srgbClr val="F5F5F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b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+mn-ea"/>
              </a:endParaRPr>
            </a:p>
          </p:txBody>
        </p:sp>
        <p:sp>
          <p:nvSpPr>
            <p:cNvPr id="164" name="文字方塊 163">
              <a:extLst>
                <a:ext uri="{FF2B5EF4-FFF2-40B4-BE49-F238E27FC236}">
                  <a16:creationId xmlns:a16="http://schemas.microsoft.com/office/drawing/2014/main" id="{08911B54-8A11-439A-96E8-D898CCFA2CF7}"/>
                </a:ext>
              </a:extLst>
            </p:cNvPr>
            <p:cNvSpPr txBox="1"/>
            <p:nvPr/>
          </p:nvSpPr>
          <p:spPr>
            <a:xfrm>
              <a:off x="7037396" y="2225423"/>
              <a:ext cx="134335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追蹤程式執行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  <a:p>
              <a:pPr algn="ctr" defTabSz="685783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錯誤資訊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sp>
          <p:nvSpPr>
            <p:cNvPr id="165" name="文字方塊 164">
              <a:extLst>
                <a:ext uri="{FF2B5EF4-FFF2-40B4-BE49-F238E27FC236}">
                  <a16:creationId xmlns:a16="http://schemas.microsoft.com/office/drawing/2014/main" id="{29709BBD-6B2E-4CC1-A9E2-F06DF9A1E96C}"/>
                </a:ext>
              </a:extLst>
            </p:cNvPr>
            <p:cNvSpPr txBox="1"/>
            <p:nvPr/>
          </p:nvSpPr>
          <p:spPr>
            <a:xfrm>
              <a:off x="7027215" y="1723597"/>
              <a:ext cx="134335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zh-TW" altLang="en-US" sz="1400" b="1">
                  <a:solidFill>
                    <a:srgbClr val="7030A0"/>
                  </a:solidFill>
                  <a:latin typeface="+mn-ea"/>
                </a:rPr>
                <a:t>執行日誌管理</a:t>
              </a:r>
              <a:endParaRPr lang="en-US" altLang="zh-TW" sz="1400" b="1" dirty="0">
                <a:solidFill>
                  <a:srgbClr val="7030A0"/>
                </a:solidFill>
                <a:latin typeface="+mn-ea"/>
              </a:endParaRPr>
            </a:p>
          </p:txBody>
        </p:sp>
        <p:sp>
          <p:nvSpPr>
            <p:cNvPr id="166" name="文字方塊 165">
              <a:extLst>
                <a:ext uri="{FF2B5EF4-FFF2-40B4-BE49-F238E27FC236}">
                  <a16:creationId xmlns:a16="http://schemas.microsoft.com/office/drawing/2014/main" id="{C67DA85A-1D71-4F7A-B3AF-90CF5A8E415B}"/>
                </a:ext>
              </a:extLst>
            </p:cNvPr>
            <p:cNvSpPr txBox="1"/>
            <p:nvPr/>
          </p:nvSpPr>
          <p:spPr>
            <a:xfrm>
              <a:off x="6980040" y="1929767"/>
              <a:ext cx="143770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en-US" altLang="zh-TW" sz="1100" b="1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Log Manager</a:t>
              </a:r>
            </a:p>
          </p:txBody>
        </p:sp>
        <p:cxnSp>
          <p:nvCxnSpPr>
            <p:cNvPr id="167" name="直線接點 166">
              <a:extLst>
                <a:ext uri="{FF2B5EF4-FFF2-40B4-BE49-F238E27FC236}">
                  <a16:creationId xmlns:a16="http://schemas.microsoft.com/office/drawing/2014/main" id="{82B18DD4-1CAE-42DA-9AF9-CFB91C2C7B57}"/>
                </a:ext>
              </a:extLst>
            </p:cNvPr>
            <p:cNvCxnSpPr>
              <a:cxnSpLocks/>
            </p:cNvCxnSpPr>
            <p:nvPr/>
          </p:nvCxnSpPr>
          <p:spPr>
            <a:xfrm>
              <a:off x="7059594" y="2828972"/>
              <a:ext cx="1278600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8" name="圖片 167">
              <a:extLst>
                <a:ext uri="{FF2B5EF4-FFF2-40B4-BE49-F238E27FC236}">
                  <a16:creationId xmlns:a16="http://schemas.microsoft.com/office/drawing/2014/main" id="{78922AA0-2C2C-4130-A696-F382B96529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344349" y="2952118"/>
              <a:ext cx="709090" cy="720000"/>
            </a:xfrm>
            <a:prstGeom prst="rect">
              <a:avLst/>
            </a:prstGeom>
          </p:spPr>
        </p:pic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B4300A29-B79B-499C-BE0B-E788C175450F}"/>
              </a:ext>
            </a:extLst>
          </p:cNvPr>
          <p:cNvGrpSpPr/>
          <p:nvPr/>
        </p:nvGrpSpPr>
        <p:grpSpPr>
          <a:xfrm>
            <a:off x="1564250" y="4052080"/>
            <a:ext cx="6011234" cy="630489"/>
            <a:chOff x="1535984" y="4052080"/>
            <a:chExt cx="6011234" cy="630489"/>
          </a:xfrm>
        </p:grpSpPr>
        <p:grpSp>
          <p:nvGrpSpPr>
            <p:cNvPr id="248" name="群組 247">
              <a:extLst>
                <a:ext uri="{FF2B5EF4-FFF2-40B4-BE49-F238E27FC236}">
                  <a16:creationId xmlns:a16="http://schemas.microsoft.com/office/drawing/2014/main" id="{11C3C6F5-1941-4E5F-9F95-4287C0A16F1C}"/>
                </a:ext>
              </a:extLst>
            </p:cNvPr>
            <p:cNvGrpSpPr/>
            <p:nvPr/>
          </p:nvGrpSpPr>
          <p:grpSpPr>
            <a:xfrm>
              <a:off x="4232862" y="4052332"/>
              <a:ext cx="601448" cy="630236"/>
              <a:chOff x="8988228" y="2634376"/>
              <a:chExt cx="801932" cy="840315"/>
            </a:xfrm>
          </p:grpSpPr>
          <p:pic>
            <p:nvPicPr>
              <p:cNvPr id="249" name="圖片 248">
                <a:extLst>
                  <a:ext uri="{FF2B5EF4-FFF2-40B4-BE49-F238E27FC236}">
                    <a16:creationId xmlns:a16="http://schemas.microsoft.com/office/drawing/2014/main" id="{CEE00EA4-0BA2-4BD6-B738-9D2C3240EB3F}"/>
                  </a:ext>
                </a:extLst>
              </p:cNvPr>
              <p:cNvPicPr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119526" y="2634376"/>
                <a:ext cx="539325" cy="539324"/>
              </a:xfrm>
              <a:prstGeom prst="rect">
                <a:avLst/>
              </a:prstGeom>
            </p:spPr>
          </p:pic>
          <p:sp>
            <p:nvSpPr>
              <p:cNvPr id="250" name="文字方塊 249">
                <a:extLst>
                  <a:ext uri="{FF2B5EF4-FFF2-40B4-BE49-F238E27FC236}">
                    <a16:creationId xmlns:a16="http://schemas.microsoft.com/office/drawing/2014/main" id="{D03AFCF1-B629-403C-A14C-95A3F7BEF45A}"/>
                  </a:ext>
                </a:extLst>
              </p:cNvPr>
              <p:cNvSpPr txBox="1"/>
              <p:nvPr/>
            </p:nvSpPr>
            <p:spPr>
              <a:xfrm>
                <a:off x="8988228" y="3182303"/>
                <a:ext cx="801932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825" dirty="0" err="1"/>
                  <a:t>md.</a:t>
                </a:r>
                <a:r>
                  <a:rPr lang="en-US" altLang="zh-TW" sz="825" dirty="0"/>
                  <a:t> </a:t>
                </a:r>
                <a:r>
                  <a:rPr lang="zh-TW" altLang="en-US" sz="825" dirty="0"/>
                  <a:t>模型</a:t>
                </a:r>
              </a:p>
            </p:txBody>
          </p:sp>
        </p:grpSp>
        <p:grpSp>
          <p:nvGrpSpPr>
            <p:cNvPr id="251" name="群組 250">
              <a:extLst>
                <a:ext uri="{FF2B5EF4-FFF2-40B4-BE49-F238E27FC236}">
                  <a16:creationId xmlns:a16="http://schemas.microsoft.com/office/drawing/2014/main" id="{7C091BF6-C0D6-4657-87DB-B1C829234BB9}"/>
                </a:ext>
              </a:extLst>
            </p:cNvPr>
            <p:cNvGrpSpPr/>
            <p:nvPr/>
          </p:nvGrpSpPr>
          <p:grpSpPr>
            <a:xfrm>
              <a:off x="2778625" y="4052080"/>
              <a:ext cx="819455" cy="630489"/>
              <a:chOff x="8842890" y="2634039"/>
              <a:chExt cx="1092606" cy="840652"/>
            </a:xfrm>
          </p:grpSpPr>
          <p:pic>
            <p:nvPicPr>
              <p:cNvPr id="252" name="圖片 251">
                <a:extLst>
                  <a:ext uri="{FF2B5EF4-FFF2-40B4-BE49-F238E27FC236}">
                    <a16:creationId xmlns:a16="http://schemas.microsoft.com/office/drawing/2014/main" id="{8D772F67-8D8C-4ED0-BBB0-B77E191C5732}"/>
                  </a:ext>
                </a:extLst>
              </p:cNvPr>
              <p:cNvPicPr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119526" y="2634039"/>
                <a:ext cx="539325" cy="540000"/>
              </a:xfrm>
              <a:prstGeom prst="rect">
                <a:avLst/>
              </a:prstGeom>
            </p:spPr>
          </p:pic>
          <p:sp>
            <p:nvSpPr>
              <p:cNvPr id="253" name="文字方塊 252">
                <a:extLst>
                  <a:ext uri="{FF2B5EF4-FFF2-40B4-BE49-F238E27FC236}">
                    <a16:creationId xmlns:a16="http://schemas.microsoft.com/office/drawing/2014/main" id="{C7281C57-D26F-4685-9B87-4609889BA26F}"/>
                  </a:ext>
                </a:extLst>
              </p:cNvPr>
              <p:cNvSpPr txBox="1"/>
              <p:nvPr/>
            </p:nvSpPr>
            <p:spPr>
              <a:xfrm>
                <a:off x="8842890" y="3182303"/>
                <a:ext cx="1092606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sz="825" dirty="0"/>
                  <a:t>關鍵資訊分析</a:t>
                </a:r>
                <a:endParaRPr lang="en-US" altLang="zh-TW" sz="825" dirty="0"/>
              </a:p>
            </p:txBody>
          </p:sp>
        </p:grpSp>
        <p:grpSp>
          <p:nvGrpSpPr>
            <p:cNvPr id="260" name="群組 259">
              <a:extLst>
                <a:ext uri="{FF2B5EF4-FFF2-40B4-BE49-F238E27FC236}">
                  <a16:creationId xmlns:a16="http://schemas.microsoft.com/office/drawing/2014/main" id="{BBA5DDE8-AC1B-4802-BBEE-480ED0FD9601}"/>
                </a:ext>
              </a:extLst>
            </p:cNvPr>
            <p:cNvGrpSpPr/>
            <p:nvPr/>
          </p:nvGrpSpPr>
          <p:grpSpPr>
            <a:xfrm>
              <a:off x="5469092" y="4054351"/>
              <a:ext cx="835485" cy="627964"/>
              <a:chOff x="8737566" y="2637406"/>
              <a:chExt cx="1113976" cy="837286"/>
            </a:xfrm>
          </p:grpSpPr>
          <p:pic>
            <p:nvPicPr>
              <p:cNvPr id="261" name="圖片 260">
                <a:extLst>
                  <a:ext uri="{FF2B5EF4-FFF2-40B4-BE49-F238E27FC236}">
                    <a16:creationId xmlns:a16="http://schemas.microsoft.com/office/drawing/2014/main" id="{DF91AE77-D560-4A5D-9D48-B48BDE86D194}"/>
                  </a:ext>
                </a:extLst>
              </p:cNvPr>
              <p:cNvPicPr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024888" y="2637406"/>
                <a:ext cx="539323" cy="533264"/>
              </a:xfrm>
              <a:prstGeom prst="rect">
                <a:avLst/>
              </a:prstGeom>
            </p:spPr>
          </p:pic>
          <p:sp>
            <p:nvSpPr>
              <p:cNvPr id="262" name="文字方塊 261">
                <a:extLst>
                  <a:ext uri="{FF2B5EF4-FFF2-40B4-BE49-F238E27FC236}">
                    <a16:creationId xmlns:a16="http://schemas.microsoft.com/office/drawing/2014/main" id="{16AA5E3A-FA00-4F42-BB01-1F60AAC8A3FA}"/>
                  </a:ext>
                </a:extLst>
              </p:cNvPr>
              <p:cNvSpPr txBox="1"/>
              <p:nvPr/>
            </p:nvSpPr>
            <p:spPr>
              <a:xfrm>
                <a:off x="8737566" y="3182304"/>
                <a:ext cx="1113976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sz="825" dirty="0"/>
                  <a:t>轉譯 </a:t>
                </a:r>
                <a:r>
                  <a:rPr lang="en-US" altLang="zh-TW" sz="825" dirty="0"/>
                  <a:t>API </a:t>
                </a:r>
                <a:r>
                  <a:rPr lang="zh-TW" altLang="en-US" sz="825" dirty="0"/>
                  <a:t>程式</a:t>
                </a:r>
                <a:endParaRPr lang="en-US" altLang="zh-TW" sz="825" dirty="0"/>
              </a:p>
            </p:txBody>
          </p:sp>
        </p:grpSp>
        <p:grpSp>
          <p:nvGrpSpPr>
            <p:cNvPr id="263" name="群組 262">
              <a:extLst>
                <a:ext uri="{FF2B5EF4-FFF2-40B4-BE49-F238E27FC236}">
                  <a16:creationId xmlns:a16="http://schemas.microsoft.com/office/drawing/2014/main" id="{E47FACE7-CE7B-4860-A123-63264C26F5D9}"/>
                </a:ext>
              </a:extLst>
            </p:cNvPr>
            <p:cNvGrpSpPr/>
            <p:nvPr/>
          </p:nvGrpSpPr>
          <p:grpSpPr>
            <a:xfrm>
              <a:off x="1535984" y="4052081"/>
              <a:ext cx="607859" cy="604960"/>
              <a:chOff x="3686756" y="2257278"/>
              <a:chExt cx="810480" cy="806613"/>
            </a:xfrm>
          </p:grpSpPr>
          <p:pic>
            <p:nvPicPr>
              <p:cNvPr id="264" name="圖片 263">
                <a:extLst>
                  <a:ext uri="{FF2B5EF4-FFF2-40B4-BE49-F238E27FC236}">
                    <a16:creationId xmlns:a16="http://schemas.microsoft.com/office/drawing/2014/main" id="{29C552DE-384E-4B5D-B8C8-2C8FF3CDC3DF}"/>
                  </a:ext>
                </a:extLst>
              </p:cNvPr>
              <p:cNvPicPr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821994" y="2257278"/>
                <a:ext cx="540000" cy="540000"/>
              </a:xfrm>
              <a:prstGeom prst="rect">
                <a:avLst/>
              </a:prstGeom>
            </p:spPr>
          </p:pic>
          <p:sp>
            <p:nvSpPr>
              <p:cNvPr id="265" name="文字方塊 264">
                <a:extLst>
                  <a:ext uri="{FF2B5EF4-FFF2-40B4-BE49-F238E27FC236}">
                    <a16:creationId xmlns:a16="http://schemas.microsoft.com/office/drawing/2014/main" id="{5AAAA3F6-59AE-437B-9F07-6D50E2A209B5}"/>
                  </a:ext>
                </a:extLst>
              </p:cNvPr>
              <p:cNvSpPr txBox="1"/>
              <p:nvPr/>
            </p:nvSpPr>
            <p:spPr>
              <a:xfrm>
                <a:off x="3686756" y="2771503"/>
                <a:ext cx="810480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sz="825" dirty="0"/>
                  <a:t>解析問題</a:t>
                </a:r>
                <a:endParaRPr lang="en-US" altLang="zh-TW" sz="825" dirty="0"/>
              </a:p>
            </p:txBody>
          </p:sp>
        </p:grpSp>
        <p:grpSp>
          <p:nvGrpSpPr>
            <p:cNvPr id="266" name="群組 265">
              <a:extLst>
                <a:ext uri="{FF2B5EF4-FFF2-40B4-BE49-F238E27FC236}">
                  <a16:creationId xmlns:a16="http://schemas.microsoft.com/office/drawing/2014/main" id="{77386DC7-E795-4A8D-9551-11F1BF6E500B}"/>
                </a:ext>
              </a:extLst>
            </p:cNvPr>
            <p:cNvGrpSpPr/>
            <p:nvPr/>
          </p:nvGrpSpPr>
          <p:grpSpPr>
            <a:xfrm>
              <a:off x="2425645" y="4202658"/>
              <a:ext cx="71178" cy="126482"/>
              <a:chOff x="3707904" y="1269426"/>
              <a:chExt cx="271311" cy="482115"/>
            </a:xfrm>
          </p:grpSpPr>
          <p:grpSp>
            <p:nvGrpSpPr>
              <p:cNvPr id="267" name="群組 266">
                <a:extLst>
                  <a:ext uri="{FF2B5EF4-FFF2-40B4-BE49-F238E27FC236}">
                    <a16:creationId xmlns:a16="http://schemas.microsoft.com/office/drawing/2014/main" id="{0D84E61C-126C-4817-8277-1BA6B1CDE59C}"/>
                  </a:ext>
                </a:extLst>
              </p:cNvPr>
              <p:cNvGrpSpPr/>
              <p:nvPr/>
            </p:nvGrpSpPr>
            <p:grpSpPr>
              <a:xfrm>
                <a:off x="3979215" y="1269426"/>
                <a:ext cx="0" cy="482115"/>
                <a:chOff x="3979215" y="1269426"/>
                <a:chExt cx="0" cy="482115"/>
              </a:xfrm>
            </p:grpSpPr>
            <p:cxnSp>
              <p:nvCxnSpPr>
                <p:cNvPr id="271" name="直線單箭頭接點 270">
                  <a:extLst>
                    <a:ext uri="{FF2B5EF4-FFF2-40B4-BE49-F238E27FC236}">
                      <a16:creationId xmlns:a16="http://schemas.microsoft.com/office/drawing/2014/main" id="{99263980-6DB4-4978-A717-6AB2979901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000000">
                  <a:off x="3844215" y="1404426"/>
                  <a:ext cx="270000" cy="0"/>
                </a:xfrm>
                <a:prstGeom prst="straightConnector1">
                  <a:avLst/>
                </a:prstGeom>
                <a:ln w="19050" cap="rnd">
                  <a:solidFill>
                    <a:srgbClr val="2F528F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直線單箭頭接點 271">
                  <a:extLst>
                    <a:ext uri="{FF2B5EF4-FFF2-40B4-BE49-F238E27FC236}">
                      <a16:creationId xmlns:a16="http://schemas.microsoft.com/office/drawing/2014/main" id="{0D266C0B-DA95-4658-9301-888B8DF4DB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600000">
                  <a:off x="3844215" y="1616541"/>
                  <a:ext cx="270000" cy="0"/>
                </a:xfrm>
                <a:prstGeom prst="straightConnector1">
                  <a:avLst/>
                </a:prstGeom>
                <a:ln w="19050" cap="rnd">
                  <a:solidFill>
                    <a:srgbClr val="2F528F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8" name="群組 267">
                <a:extLst>
                  <a:ext uri="{FF2B5EF4-FFF2-40B4-BE49-F238E27FC236}">
                    <a16:creationId xmlns:a16="http://schemas.microsoft.com/office/drawing/2014/main" id="{30C7449C-D92B-4B9C-8371-540903575BE2}"/>
                  </a:ext>
                </a:extLst>
              </p:cNvPr>
              <p:cNvGrpSpPr/>
              <p:nvPr/>
            </p:nvGrpSpPr>
            <p:grpSpPr>
              <a:xfrm>
                <a:off x="3707904" y="1269426"/>
                <a:ext cx="0" cy="482115"/>
                <a:chOff x="3979215" y="1269426"/>
                <a:chExt cx="0" cy="482115"/>
              </a:xfrm>
            </p:grpSpPr>
            <p:cxnSp>
              <p:nvCxnSpPr>
                <p:cNvPr id="269" name="直線單箭頭接點 268">
                  <a:extLst>
                    <a:ext uri="{FF2B5EF4-FFF2-40B4-BE49-F238E27FC236}">
                      <a16:creationId xmlns:a16="http://schemas.microsoft.com/office/drawing/2014/main" id="{DD861519-0390-406D-9681-CE6B45A7DC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000000">
                  <a:off x="3844215" y="1404426"/>
                  <a:ext cx="270000" cy="0"/>
                </a:xfrm>
                <a:prstGeom prst="straightConnector1">
                  <a:avLst/>
                </a:prstGeom>
                <a:ln w="19050" cap="rnd">
                  <a:solidFill>
                    <a:srgbClr val="2F528F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直線單箭頭接點 269">
                  <a:extLst>
                    <a:ext uri="{FF2B5EF4-FFF2-40B4-BE49-F238E27FC236}">
                      <a16:creationId xmlns:a16="http://schemas.microsoft.com/office/drawing/2014/main" id="{93D39BB7-2A82-4A52-995C-182F7565B8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600000">
                  <a:off x="3844215" y="1616541"/>
                  <a:ext cx="270000" cy="0"/>
                </a:xfrm>
                <a:prstGeom prst="straightConnector1">
                  <a:avLst/>
                </a:prstGeom>
                <a:ln w="19050" cap="rnd">
                  <a:solidFill>
                    <a:srgbClr val="2F528F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99" name="群組 298">
              <a:extLst>
                <a:ext uri="{FF2B5EF4-FFF2-40B4-BE49-F238E27FC236}">
                  <a16:creationId xmlns:a16="http://schemas.microsoft.com/office/drawing/2014/main" id="{970DE7C9-84C0-4335-A18A-4D76A419CC20}"/>
                </a:ext>
              </a:extLst>
            </p:cNvPr>
            <p:cNvGrpSpPr/>
            <p:nvPr/>
          </p:nvGrpSpPr>
          <p:grpSpPr>
            <a:xfrm>
              <a:off x="3879882" y="4202658"/>
              <a:ext cx="71178" cy="126482"/>
              <a:chOff x="3707904" y="1269426"/>
              <a:chExt cx="271311" cy="482115"/>
            </a:xfrm>
          </p:grpSpPr>
          <p:grpSp>
            <p:nvGrpSpPr>
              <p:cNvPr id="301" name="群組 300">
                <a:extLst>
                  <a:ext uri="{FF2B5EF4-FFF2-40B4-BE49-F238E27FC236}">
                    <a16:creationId xmlns:a16="http://schemas.microsoft.com/office/drawing/2014/main" id="{1AE68038-73A6-44B0-B978-DA36512CD743}"/>
                  </a:ext>
                </a:extLst>
              </p:cNvPr>
              <p:cNvGrpSpPr/>
              <p:nvPr/>
            </p:nvGrpSpPr>
            <p:grpSpPr>
              <a:xfrm>
                <a:off x="3979215" y="1269426"/>
                <a:ext cx="0" cy="482115"/>
                <a:chOff x="3979215" y="1269426"/>
                <a:chExt cx="0" cy="482115"/>
              </a:xfrm>
            </p:grpSpPr>
            <p:cxnSp>
              <p:nvCxnSpPr>
                <p:cNvPr id="305" name="直線單箭頭接點 304">
                  <a:extLst>
                    <a:ext uri="{FF2B5EF4-FFF2-40B4-BE49-F238E27FC236}">
                      <a16:creationId xmlns:a16="http://schemas.microsoft.com/office/drawing/2014/main" id="{AB38517B-D480-43C9-9D52-9A63E00587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000000">
                  <a:off x="3844215" y="1404426"/>
                  <a:ext cx="270000" cy="0"/>
                </a:xfrm>
                <a:prstGeom prst="straightConnector1">
                  <a:avLst/>
                </a:prstGeom>
                <a:ln w="19050" cap="rnd">
                  <a:solidFill>
                    <a:srgbClr val="2F528F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直線單箭頭接點 305">
                  <a:extLst>
                    <a:ext uri="{FF2B5EF4-FFF2-40B4-BE49-F238E27FC236}">
                      <a16:creationId xmlns:a16="http://schemas.microsoft.com/office/drawing/2014/main" id="{02C59B32-AC4D-4473-88AB-87A449FA1A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600000">
                  <a:off x="3844215" y="1616541"/>
                  <a:ext cx="270000" cy="0"/>
                </a:xfrm>
                <a:prstGeom prst="straightConnector1">
                  <a:avLst/>
                </a:prstGeom>
                <a:ln w="19050" cap="rnd">
                  <a:solidFill>
                    <a:srgbClr val="2F528F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2" name="群組 301">
                <a:extLst>
                  <a:ext uri="{FF2B5EF4-FFF2-40B4-BE49-F238E27FC236}">
                    <a16:creationId xmlns:a16="http://schemas.microsoft.com/office/drawing/2014/main" id="{28EE4B9E-E926-4F8C-9729-C5A0A2136CE6}"/>
                  </a:ext>
                </a:extLst>
              </p:cNvPr>
              <p:cNvGrpSpPr/>
              <p:nvPr/>
            </p:nvGrpSpPr>
            <p:grpSpPr>
              <a:xfrm>
                <a:off x="3707904" y="1269426"/>
                <a:ext cx="0" cy="482115"/>
                <a:chOff x="3979215" y="1269426"/>
                <a:chExt cx="0" cy="482115"/>
              </a:xfrm>
            </p:grpSpPr>
            <p:cxnSp>
              <p:nvCxnSpPr>
                <p:cNvPr id="303" name="直線單箭頭接點 302">
                  <a:extLst>
                    <a:ext uri="{FF2B5EF4-FFF2-40B4-BE49-F238E27FC236}">
                      <a16:creationId xmlns:a16="http://schemas.microsoft.com/office/drawing/2014/main" id="{B906888E-ECAD-4C6D-9ABF-76A33F6C40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000000">
                  <a:off x="3844215" y="1404426"/>
                  <a:ext cx="270000" cy="0"/>
                </a:xfrm>
                <a:prstGeom prst="straightConnector1">
                  <a:avLst/>
                </a:prstGeom>
                <a:ln w="19050" cap="rnd">
                  <a:solidFill>
                    <a:srgbClr val="2F528F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直線單箭頭接點 303">
                  <a:extLst>
                    <a:ext uri="{FF2B5EF4-FFF2-40B4-BE49-F238E27FC236}">
                      <a16:creationId xmlns:a16="http://schemas.microsoft.com/office/drawing/2014/main" id="{00995DA3-F60A-48D6-800C-CCC60A4065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600000">
                  <a:off x="3844215" y="1616541"/>
                  <a:ext cx="270000" cy="0"/>
                </a:xfrm>
                <a:prstGeom prst="straightConnector1">
                  <a:avLst/>
                </a:prstGeom>
                <a:ln w="19050" cap="rnd">
                  <a:solidFill>
                    <a:srgbClr val="2F528F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08" name="群組 307">
              <a:extLst>
                <a:ext uri="{FF2B5EF4-FFF2-40B4-BE49-F238E27FC236}">
                  <a16:creationId xmlns:a16="http://schemas.microsoft.com/office/drawing/2014/main" id="{67A118EF-35EC-4FB4-8627-06F09AC8BE78}"/>
                </a:ext>
              </a:extLst>
            </p:cNvPr>
            <p:cNvGrpSpPr/>
            <p:nvPr/>
          </p:nvGrpSpPr>
          <p:grpSpPr>
            <a:xfrm>
              <a:off x="5116112" y="4202658"/>
              <a:ext cx="71178" cy="126482"/>
              <a:chOff x="3707904" y="1269426"/>
              <a:chExt cx="271311" cy="482115"/>
            </a:xfrm>
          </p:grpSpPr>
          <p:grpSp>
            <p:nvGrpSpPr>
              <p:cNvPr id="310" name="群組 309">
                <a:extLst>
                  <a:ext uri="{FF2B5EF4-FFF2-40B4-BE49-F238E27FC236}">
                    <a16:creationId xmlns:a16="http://schemas.microsoft.com/office/drawing/2014/main" id="{C91CEA60-E1E1-48A3-B0C1-341E5593895F}"/>
                  </a:ext>
                </a:extLst>
              </p:cNvPr>
              <p:cNvGrpSpPr/>
              <p:nvPr/>
            </p:nvGrpSpPr>
            <p:grpSpPr>
              <a:xfrm>
                <a:off x="3979215" y="1269426"/>
                <a:ext cx="0" cy="482115"/>
                <a:chOff x="3979215" y="1269426"/>
                <a:chExt cx="0" cy="482115"/>
              </a:xfrm>
            </p:grpSpPr>
            <p:cxnSp>
              <p:nvCxnSpPr>
                <p:cNvPr id="314" name="直線單箭頭接點 313">
                  <a:extLst>
                    <a:ext uri="{FF2B5EF4-FFF2-40B4-BE49-F238E27FC236}">
                      <a16:creationId xmlns:a16="http://schemas.microsoft.com/office/drawing/2014/main" id="{FCD478C3-14BF-41AF-97C9-F34497646D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000000">
                  <a:off x="3844215" y="1404426"/>
                  <a:ext cx="270000" cy="0"/>
                </a:xfrm>
                <a:prstGeom prst="straightConnector1">
                  <a:avLst/>
                </a:prstGeom>
                <a:ln w="19050" cap="rnd">
                  <a:solidFill>
                    <a:srgbClr val="2F528F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直線單箭頭接點 314">
                  <a:extLst>
                    <a:ext uri="{FF2B5EF4-FFF2-40B4-BE49-F238E27FC236}">
                      <a16:creationId xmlns:a16="http://schemas.microsoft.com/office/drawing/2014/main" id="{DE50FEA8-31AE-4E0A-AA42-4344508DB7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600000">
                  <a:off x="3844215" y="1616541"/>
                  <a:ext cx="270000" cy="0"/>
                </a:xfrm>
                <a:prstGeom prst="straightConnector1">
                  <a:avLst/>
                </a:prstGeom>
                <a:ln w="19050" cap="rnd">
                  <a:solidFill>
                    <a:srgbClr val="2F528F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1" name="群組 310">
                <a:extLst>
                  <a:ext uri="{FF2B5EF4-FFF2-40B4-BE49-F238E27FC236}">
                    <a16:creationId xmlns:a16="http://schemas.microsoft.com/office/drawing/2014/main" id="{E2549058-0008-4577-ADE0-011CB1B84FF0}"/>
                  </a:ext>
                </a:extLst>
              </p:cNvPr>
              <p:cNvGrpSpPr/>
              <p:nvPr/>
            </p:nvGrpSpPr>
            <p:grpSpPr>
              <a:xfrm>
                <a:off x="3707904" y="1269426"/>
                <a:ext cx="0" cy="482115"/>
                <a:chOff x="3979215" y="1269426"/>
                <a:chExt cx="0" cy="482115"/>
              </a:xfrm>
            </p:grpSpPr>
            <p:cxnSp>
              <p:nvCxnSpPr>
                <p:cNvPr id="312" name="直線單箭頭接點 311">
                  <a:extLst>
                    <a:ext uri="{FF2B5EF4-FFF2-40B4-BE49-F238E27FC236}">
                      <a16:creationId xmlns:a16="http://schemas.microsoft.com/office/drawing/2014/main" id="{95F2D8DF-8190-49E6-A2E7-E14331C322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000000">
                  <a:off x="3844215" y="1404426"/>
                  <a:ext cx="270000" cy="0"/>
                </a:xfrm>
                <a:prstGeom prst="straightConnector1">
                  <a:avLst/>
                </a:prstGeom>
                <a:ln w="19050" cap="rnd">
                  <a:solidFill>
                    <a:srgbClr val="2F528F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直線單箭頭接點 312">
                  <a:extLst>
                    <a:ext uri="{FF2B5EF4-FFF2-40B4-BE49-F238E27FC236}">
                      <a16:creationId xmlns:a16="http://schemas.microsoft.com/office/drawing/2014/main" id="{6E9DAD14-C843-4134-B2ED-64A5742B86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600000">
                  <a:off x="3844215" y="1616541"/>
                  <a:ext cx="270000" cy="0"/>
                </a:xfrm>
                <a:prstGeom prst="straightConnector1">
                  <a:avLst/>
                </a:prstGeom>
                <a:ln w="19050" cap="rnd">
                  <a:solidFill>
                    <a:srgbClr val="2F528F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7" name="群組 176">
              <a:extLst>
                <a:ext uri="{FF2B5EF4-FFF2-40B4-BE49-F238E27FC236}">
                  <a16:creationId xmlns:a16="http://schemas.microsoft.com/office/drawing/2014/main" id="{D062FD5F-0E7A-443E-BED5-E57765629CEF}"/>
                </a:ext>
              </a:extLst>
            </p:cNvPr>
            <p:cNvGrpSpPr/>
            <p:nvPr/>
          </p:nvGrpSpPr>
          <p:grpSpPr>
            <a:xfrm>
              <a:off x="6939358" y="4052080"/>
              <a:ext cx="607860" cy="630236"/>
              <a:chOff x="8889316" y="2634377"/>
              <a:chExt cx="810480" cy="840315"/>
            </a:xfrm>
          </p:grpSpPr>
          <p:pic>
            <p:nvPicPr>
              <p:cNvPr id="178" name="圖片 177">
                <a:extLst>
                  <a:ext uri="{FF2B5EF4-FFF2-40B4-BE49-F238E27FC236}">
                    <a16:creationId xmlns:a16="http://schemas.microsoft.com/office/drawing/2014/main" id="{D32E5E1C-2D52-4053-81CC-7332072665D3}"/>
                  </a:ext>
                </a:extLst>
              </p:cNvPr>
              <p:cNvPicPr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024887" y="2634377"/>
                <a:ext cx="539324" cy="539324"/>
              </a:xfrm>
              <a:prstGeom prst="rect">
                <a:avLst/>
              </a:prstGeom>
            </p:spPr>
          </p:pic>
          <p:sp>
            <p:nvSpPr>
              <p:cNvPr id="179" name="文字方塊 178">
                <a:extLst>
                  <a:ext uri="{FF2B5EF4-FFF2-40B4-BE49-F238E27FC236}">
                    <a16:creationId xmlns:a16="http://schemas.microsoft.com/office/drawing/2014/main" id="{39797628-12F0-48E3-8706-9B192F80B0D1}"/>
                  </a:ext>
                </a:extLst>
              </p:cNvPr>
              <p:cNvSpPr txBox="1"/>
              <p:nvPr/>
            </p:nvSpPr>
            <p:spPr>
              <a:xfrm>
                <a:off x="8889316" y="3182304"/>
                <a:ext cx="810480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sz="825" dirty="0"/>
                  <a:t>調參測試</a:t>
                </a:r>
                <a:endParaRPr lang="en-US" altLang="zh-TW" sz="825" dirty="0"/>
              </a:p>
            </p:txBody>
          </p:sp>
        </p:grpSp>
        <p:grpSp>
          <p:nvGrpSpPr>
            <p:cNvPr id="181" name="群組 180">
              <a:extLst>
                <a:ext uri="{FF2B5EF4-FFF2-40B4-BE49-F238E27FC236}">
                  <a16:creationId xmlns:a16="http://schemas.microsoft.com/office/drawing/2014/main" id="{8A5F0F27-5FD0-4ADC-86BD-34E55B72B826}"/>
                </a:ext>
              </a:extLst>
            </p:cNvPr>
            <p:cNvGrpSpPr/>
            <p:nvPr/>
          </p:nvGrpSpPr>
          <p:grpSpPr>
            <a:xfrm>
              <a:off x="6586379" y="4202658"/>
              <a:ext cx="71178" cy="126482"/>
              <a:chOff x="3707904" y="1269426"/>
              <a:chExt cx="271311" cy="482115"/>
            </a:xfrm>
          </p:grpSpPr>
          <p:grpSp>
            <p:nvGrpSpPr>
              <p:cNvPr id="183" name="群組 182">
                <a:extLst>
                  <a:ext uri="{FF2B5EF4-FFF2-40B4-BE49-F238E27FC236}">
                    <a16:creationId xmlns:a16="http://schemas.microsoft.com/office/drawing/2014/main" id="{D1B87127-CBCA-41B8-B003-145B69C61A65}"/>
                  </a:ext>
                </a:extLst>
              </p:cNvPr>
              <p:cNvGrpSpPr/>
              <p:nvPr/>
            </p:nvGrpSpPr>
            <p:grpSpPr>
              <a:xfrm>
                <a:off x="3979215" y="1269426"/>
                <a:ext cx="0" cy="482115"/>
                <a:chOff x="3979215" y="1269426"/>
                <a:chExt cx="0" cy="482115"/>
              </a:xfrm>
            </p:grpSpPr>
            <p:cxnSp>
              <p:nvCxnSpPr>
                <p:cNvPr id="187" name="直線單箭頭接點 186">
                  <a:extLst>
                    <a:ext uri="{FF2B5EF4-FFF2-40B4-BE49-F238E27FC236}">
                      <a16:creationId xmlns:a16="http://schemas.microsoft.com/office/drawing/2014/main" id="{13CC9F98-8C80-4F25-8AEE-1CD5E1EE0C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000000">
                  <a:off x="3844215" y="1404426"/>
                  <a:ext cx="270000" cy="0"/>
                </a:xfrm>
                <a:prstGeom prst="straightConnector1">
                  <a:avLst/>
                </a:prstGeom>
                <a:ln w="19050" cap="rnd">
                  <a:solidFill>
                    <a:srgbClr val="2F528F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直線單箭頭接點 187">
                  <a:extLst>
                    <a:ext uri="{FF2B5EF4-FFF2-40B4-BE49-F238E27FC236}">
                      <a16:creationId xmlns:a16="http://schemas.microsoft.com/office/drawing/2014/main" id="{B09D3C8A-0A5F-4F03-9EC4-8A92495E0D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600000">
                  <a:off x="3844215" y="1616541"/>
                  <a:ext cx="270000" cy="0"/>
                </a:xfrm>
                <a:prstGeom prst="straightConnector1">
                  <a:avLst/>
                </a:prstGeom>
                <a:ln w="19050" cap="rnd">
                  <a:solidFill>
                    <a:srgbClr val="2F528F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4" name="群組 183">
                <a:extLst>
                  <a:ext uri="{FF2B5EF4-FFF2-40B4-BE49-F238E27FC236}">
                    <a16:creationId xmlns:a16="http://schemas.microsoft.com/office/drawing/2014/main" id="{1796BFBF-7C09-4097-B18C-E1C262E2B41C}"/>
                  </a:ext>
                </a:extLst>
              </p:cNvPr>
              <p:cNvGrpSpPr/>
              <p:nvPr/>
            </p:nvGrpSpPr>
            <p:grpSpPr>
              <a:xfrm>
                <a:off x="3707904" y="1269426"/>
                <a:ext cx="0" cy="482115"/>
                <a:chOff x="3979215" y="1269426"/>
                <a:chExt cx="0" cy="482115"/>
              </a:xfrm>
            </p:grpSpPr>
            <p:cxnSp>
              <p:nvCxnSpPr>
                <p:cNvPr id="185" name="直線單箭頭接點 184">
                  <a:extLst>
                    <a:ext uri="{FF2B5EF4-FFF2-40B4-BE49-F238E27FC236}">
                      <a16:creationId xmlns:a16="http://schemas.microsoft.com/office/drawing/2014/main" id="{5D887E1E-23C9-4BCC-97A1-2C0BC80914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000000">
                  <a:off x="3844215" y="1404426"/>
                  <a:ext cx="270000" cy="0"/>
                </a:xfrm>
                <a:prstGeom prst="straightConnector1">
                  <a:avLst/>
                </a:prstGeom>
                <a:ln w="19050" cap="rnd">
                  <a:solidFill>
                    <a:srgbClr val="2F528F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直線單箭頭接點 185">
                  <a:extLst>
                    <a:ext uri="{FF2B5EF4-FFF2-40B4-BE49-F238E27FC236}">
                      <a16:creationId xmlns:a16="http://schemas.microsoft.com/office/drawing/2014/main" id="{33EA8161-F0C5-4AAA-8B89-1CE1288035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600000">
                  <a:off x="3844215" y="1616541"/>
                  <a:ext cx="270000" cy="0"/>
                </a:xfrm>
                <a:prstGeom prst="straightConnector1">
                  <a:avLst/>
                </a:prstGeom>
                <a:ln w="19050" cap="rnd">
                  <a:solidFill>
                    <a:srgbClr val="2F528F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246215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D72665-AD31-4778-8A61-EB399BD1D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AI</a:t>
            </a:r>
            <a:r>
              <a:rPr lang="zh-TW" altLang="en-US" dirty="0"/>
              <a:t> </a:t>
            </a:r>
            <a:r>
              <a:rPr lang="en-US" altLang="zh-TW" dirty="0"/>
              <a:t>Modeling </a:t>
            </a:r>
            <a:r>
              <a:rPr lang="zh-TW" altLang="en-US" dirty="0"/>
              <a:t>開發架構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79CDCF2-5E13-4EAF-95FD-A0623C2E7B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Claude Code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1E027C7-70D0-4C30-AA22-105BA7EA27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/>
              <a:t>04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E6F7E6D-DA5A-4593-BF53-A392E7205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B1EDA-9669-4099-AA83-49C2D8E17945}" type="slidenum">
              <a:rPr lang="zh-TW" altLang="en-US" smtClean="0"/>
              <a:t>27</a:t>
            </a:fld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8812E6F0-DDDA-42C7-8060-3D38FDB1A0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819A54BC-4967-44B9-84AE-8764B64CA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75" y="1103681"/>
            <a:ext cx="1975954" cy="2979226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3896B79D-F0A6-40C3-A9C8-4C38A5C7C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862" y="1101357"/>
            <a:ext cx="1975954" cy="159988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6E0C56A1-4CEC-4CA4-A46B-D24C611211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0641" y="1062793"/>
            <a:ext cx="1975954" cy="2364873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70C5244C-A06A-42E8-BAA1-BDE3AC2D79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0641" y="3851540"/>
            <a:ext cx="1975954" cy="279493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F39A72A6-82DF-4135-8743-D6D7C9BF93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3862" y="3019584"/>
            <a:ext cx="1975954" cy="1109526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64C0D0CE-4BD7-493F-8E21-E731330AAFC4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69823" y="3054553"/>
            <a:ext cx="471222" cy="471222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AB92613E-ADBD-4FE3-9059-0F095996D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1671" y="1104844"/>
            <a:ext cx="1955490" cy="1570803"/>
          </a:xfrm>
          <a:prstGeom prst="rect">
            <a:avLst/>
          </a:prstGeom>
        </p:spPr>
      </p:pic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0B927574-7A5C-41BC-B064-5321E8325CA9}"/>
              </a:ext>
            </a:extLst>
          </p:cNvPr>
          <p:cNvCxnSpPr>
            <a:cxnSpLocks/>
          </p:cNvCxnSpPr>
          <p:nvPr/>
        </p:nvCxnSpPr>
        <p:spPr>
          <a:xfrm flipV="1">
            <a:off x="2612544" y="1035113"/>
            <a:ext cx="0" cy="3264829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6DFD1D23-A85D-4E99-8110-83E2CA6F7A82}"/>
              </a:ext>
            </a:extLst>
          </p:cNvPr>
          <p:cNvSpPr txBox="1"/>
          <p:nvPr/>
        </p:nvSpPr>
        <p:spPr>
          <a:xfrm>
            <a:off x="250825" y="780754"/>
            <a:ext cx="122341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整體開發架構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37206571-DC54-4367-9477-FAC37D8E35D5}"/>
              </a:ext>
            </a:extLst>
          </p:cNvPr>
          <p:cNvSpPr txBox="1"/>
          <p:nvPr/>
        </p:nvSpPr>
        <p:spPr>
          <a:xfrm>
            <a:off x="3669511" y="782584"/>
            <a:ext cx="121379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API </a:t>
            </a:r>
            <a:r>
              <a:rPr lang="zh-TW" altLang="en-US" b="1" dirty="0"/>
              <a:t>開發規範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21602EF1-D641-4394-89CE-37926F912937}"/>
              </a:ext>
            </a:extLst>
          </p:cNvPr>
          <p:cNvSpPr txBox="1"/>
          <p:nvPr/>
        </p:nvSpPr>
        <p:spPr>
          <a:xfrm>
            <a:off x="3983326" y="3550110"/>
            <a:ext cx="87716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調參策略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3F845FC-32B7-467C-8489-615AFB7106F7}"/>
              </a:ext>
            </a:extLst>
          </p:cNvPr>
          <p:cNvSpPr txBox="1"/>
          <p:nvPr/>
        </p:nvSpPr>
        <p:spPr>
          <a:xfrm>
            <a:off x="5400156" y="782584"/>
            <a:ext cx="156966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其他模型開發參考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372667AF-5D89-4063-903F-CD3976919D62}"/>
              </a:ext>
            </a:extLst>
          </p:cNvPr>
          <p:cNvSpPr txBox="1"/>
          <p:nvPr/>
        </p:nvSpPr>
        <p:spPr>
          <a:xfrm>
            <a:off x="7836768" y="804762"/>
            <a:ext cx="122341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相關教學文件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F3C317D4-E849-4D44-B7F2-1F0B230297E5}"/>
              </a:ext>
            </a:extLst>
          </p:cNvPr>
          <p:cNvSpPr txBox="1"/>
          <p:nvPr/>
        </p:nvSpPr>
        <p:spPr>
          <a:xfrm>
            <a:off x="5614976" y="2756188"/>
            <a:ext cx="132606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MILP Dev. API</a:t>
            </a:r>
            <a:endParaRPr lang="zh-TW" altLang="en-US" b="1" dirty="0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8A3EB342-88AB-4A8D-AFAB-7BA5379B79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57557" y="3332561"/>
            <a:ext cx="1975954" cy="780875"/>
          </a:xfrm>
          <a:prstGeom prst="rect">
            <a:avLst/>
          </a:prstGeom>
        </p:spPr>
      </p:pic>
      <p:sp>
        <p:nvSpPr>
          <p:cNvPr id="37" name="文字方塊 36">
            <a:extLst>
              <a:ext uri="{FF2B5EF4-FFF2-40B4-BE49-F238E27FC236}">
                <a16:creationId xmlns:a16="http://schemas.microsoft.com/office/drawing/2014/main" id="{99C28385-D767-4C03-8ADD-B3E3DF3F0B42}"/>
              </a:ext>
            </a:extLst>
          </p:cNvPr>
          <p:cNvSpPr txBox="1"/>
          <p:nvPr/>
        </p:nvSpPr>
        <p:spPr>
          <a:xfrm>
            <a:off x="7298285" y="3058621"/>
            <a:ext cx="17427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方便</a:t>
            </a:r>
            <a:r>
              <a:rPr lang="en-US" altLang="zh-TW" b="1" dirty="0"/>
              <a:t>AI</a:t>
            </a:r>
            <a:r>
              <a:rPr lang="zh-TW" altLang="en-US" b="1" dirty="0"/>
              <a:t>理解整體框架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7054253B-9641-4AE6-82A9-FE4357FAA0BC}"/>
              </a:ext>
            </a:extLst>
          </p:cNvPr>
          <p:cNvSpPr txBox="1"/>
          <p:nvPr/>
        </p:nvSpPr>
        <p:spPr>
          <a:xfrm>
            <a:off x="235295" y="4392399"/>
            <a:ext cx="8712968" cy="3000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透過分層設計的 </a:t>
            </a:r>
            <a:r>
              <a:rPr lang="en-US" altLang="zh-TW" b="1" dirty="0">
                <a:solidFill>
                  <a:schemeClr val="accent1">
                    <a:lumMod val="50000"/>
                  </a:schemeClr>
                </a:solidFill>
              </a:rPr>
              <a:t>claude.md </a:t>
            </a:r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規範，讓 </a:t>
            </a:r>
            <a:r>
              <a:rPr lang="en-US" altLang="zh-TW" b="1" dirty="0">
                <a:solidFill>
                  <a:schemeClr val="accent1">
                    <a:lumMod val="50000"/>
                  </a:schemeClr>
                </a:solidFill>
              </a:rPr>
              <a:t>Claude </a:t>
            </a:r>
            <a:r>
              <a:rPr lang="zh-TW" altLang="en-US" b="1" dirty="0">
                <a:solidFill>
                  <a:schemeClr val="accent1">
                    <a:lumMod val="50000"/>
                  </a:schemeClr>
                </a:solidFill>
              </a:rPr>
              <a:t>理解工作目標並依檔執行</a:t>
            </a:r>
          </a:p>
        </p:txBody>
      </p:sp>
    </p:spTree>
    <p:extLst>
      <p:ext uri="{BB962C8B-B14F-4D97-AF65-F5344CB8AC3E}">
        <p14:creationId xmlns:p14="http://schemas.microsoft.com/office/powerpoint/2010/main" val="29985684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F0F85A-D8BE-489F-8A26-3F9E8BB6D3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0" dirty="0"/>
              <a:t>透過 </a:t>
            </a:r>
            <a:r>
              <a:rPr lang="en-US" altLang="zh-TW" b="0" dirty="0"/>
              <a:t>Prompt</a:t>
            </a:r>
            <a:r>
              <a:rPr lang="zh-TW" altLang="en-US" b="0" dirty="0"/>
              <a:t> 引導模型建置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B04F98-C67E-4BB2-A8FC-D45C046C6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Claude Code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04602B-3F3A-44D6-8FC7-8D6198579B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/>
              <a:t>04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BDA344-228E-467F-9CAE-213808D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B1EDA-9669-4099-AA83-49C2D8E17945}" type="slidenum">
              <a:rPr lang="zh-TW" altLang="en-US" smtClean="0"/>
              <a:t>28</a:t>
            </a:fld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E2D1FA36-AD5C-4B54-AF63-C797303B27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 dirty="0"/>
          </a:p>
        </p:txBody>
      </p:sp>
      <p:cxnSp>
        <p:nvCxnSpPr>
          <p:cNvPr id="224" name="直線單箭頭接點 223">
            <a:extLst>
              <a:ext uri="{FF2B5EF4-FFF2-40B4-BE49-F238E27FC236}">
                <a16:creationId xmlns:a16="http://schemas.microsoft.com/office/drawing/2014/main" id="{7F1672F7-7841-43A0-8B57-7B2795260A7B}"/>
              </a:ext>
            </a:extLst>
          </p:cNvPr>
          <p:cNvCxnSpPr>
            <a:cxnSpLocks/>
          </p:cNvCxnSpPr>
          <p:nvPr/>
        </p:nvCxnSpPr>
        <p:spPr>
          <a:xfrm flipH="1" flipV="1">
            <a:off x="-1925699" y="3749338"/>
            <a:ext cx="1" cy="168228"/>
          </a:xfrm>
          <a:prstGeom prst="straightConnector1">
            <a:avLst/>
          </a:prstGeom>
          <a:noFill/>
          <a:ln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1" name="群組 420">
            <a:extLst>
              <a:ext uri="{FF2B5EF4-FFF2-40B4-BE49-F238E27FC236}">
                <a16:creationId xmlns:a16="http://schemas.microsoft.com/office/drawing/2014/main" id="{E11F2DF2-E99B-4590-AEA6-0759BE1661C3}"/>
              </a:ext>
            </a:extLst>
          </p:cNvPr>
          <p:cNvGrpSpPr/>
          <p:nvPr/>
        </p:nvGrpSpPr>
        <p:grpSpPr>
          <a:xfrm>
            <a:off x="5724128" y="2028218"/>
            <a:ext cx="1824251" cy="955198"/>
            <a:chOff x="2604900" y="1732907"/>
            <a:chExt cx="1824251" cy="955198"/>
          </a:xfrm>
        </p:grpSpPr>
        <p:sp>
          <p:nvSpPr>
            <p:cNvPr id="218" name="矩形: 圓角 217">
              <a:extLst>
                <a:ext uri="{FF2B5EF4-FFF2-40B4-BE49-F238E27FC236}">
                  <a16:creationId xmlns:a16="http://schemas.microsoft.com/office/drawing/2014/main" id="{D11E825E-16AC-4532-875E-0952A2B26391}"/>
                </a:ext>
              </a:extLst>
            </p:cNvPr>
            <p:cNvSpPr/>
            <p:nvPr/>
          </p:nvSpPr>
          <p:spPr>
            <a:xfrm>
              <a:off x="2616200" y="1732907"/>
              <a:ext cx="1812951" cy="955198"/>
            </a:xfrm>
            <a:prstGeom prst="roundRect">
              <a:avLst>
                <a:gd name="adj" fmla="val 418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9" name="文字方塊 218">
              <a:extLst>
                <a:ext uri="{FF2B5EF4-FFF2-40B4-BE49-F238E27FC236}">
                  <a16:creationId xmlns:a16="http://schemas.microsoft.com/office/drawing/2014/main" id="{DCEF9252-C742-478B-84DF-EFFCE29EA725}"/>
                </a:ext>
              </a:extLst>
            </p:cNvPr>
            <p:cNvSpPr txBox="1"/>
            <p:nvPr/>
          </p:nvSpPr>
          <p:spPr>
            <a:xfrm>
              <a:off x="2604900" y="1776793"/>
              <a:ext cx="1824251" cy="861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arenBoth"/>
              </a:pPr>
              <a:r>
                <a:rPr lang="zh-TW" altLang="en-US" sz="1000" b="1" dirty="0"/>
                <a:t>術語對應表</a:t>
              </a:r>
              <a:endParaRPr lang="en-US" altLang="zh-TW" sz="1000" b="1" dirty="0"/>
            </a:p>
            <a:p>
              <a:pPr marL="228600" indent="-228600">
                <a:buFontTx/>
                <a:buAutoNum type="arabicParenBoth"/>
              </a:pPr>
              <a:r>
                <a:rPr lang="zh-TW" altLang="en-US" sz="1000" b="1" dirty="0"/>
                <a:t>標準模型描述</a:t>
              </a:r>
              <a:endParaRPr lang="en-US" altLang="zh-TW" sz="1000" b="1" dirty="0"/>
            </a:p>
            <a:p>
              <a:pPr marL="252000" lvl="1" indent="-108000">
                <a:buFont typeface="Arial" panose="020B0604020202020204" pitchFamily="34" charset="0"/>
                <a:buChar char="−"/>
              </a:pPr>
              <a:r>
                <a:rPr lang="zh-TW" altLang="en-US" sz="1000" dirty="0"/>
                <a:t>目標描述（</a:t>
              </a:r>
              <a:r>
                <a:rPr lang="en-US" altLang="zh-TW" sz="1000" dirty="0"/>
                <a:t>Objective</a:t>
              </a:r>
              <a:r>
                <a:rPr lang="zh-TW" altLang="en-US" sz="1000" dirty="0"/>
                <a:t>）</a:t>
              </a:r>
              <a:endParaRPr lang="en-US" altLang="zh-TW" sz="1000" dirty="0"/>
            </a:p>
            <a:p>
              <a:pPr marL="252000" lvl="1" indent="-108000">
                <a:buFont typeface="Arial" panose="020B0604020202020204" pitchFamily="34" charset="0"/>
                <a:buChar char="−"/>
              </a:pPr>
              <a:r>
                <a:rPr lang="zh-TW" altLang="en-US" sz="1000" dirty="0"/>
                <a:t>元件描述（</a:t>
              </a:r>
              <a:r>
                <a:rPr lang="en-US" altLang="zh-TW" sz="1000" dirty="0"/>
                <a:t>Elements</a:t>
              </a:r>
              <a:r>
                <a:rPr lang="zh-TW" altLang="en-US" sz="1000" dirty="0"/>
                <a:t>）</a:t>
              </a:r>
              <a:endParaRPr lang="en-US" altLang="zh-TW" sz="1000" dirty="0"/>
            </a:p>
            <a:p>
              <a:pPr marL="252000" lvl="1" indent="-108000">
                <a:buFont typeface="Arial" panose="020B0604020202020204" pitchFamily="34" charset="0"/>
                <a:buChar char="−"/>
              </a:pPr>
              <a:r>
                <a:rPr lang="zh-TW" altLang="en-US" sz="1000" dirty="0"/>
                <a:t>限制描述（</a:t>
              </a:r>
              <a:r>
                <a:rPr lang="en-US" altLang="zh-TW" sz="1000" dirty="0"/>
                <a:t>Constraints</a:t>
              </a:r>
              <a:r>
                <a:rPr lang="zh-TW" altLang="en-US" sz="1000" dirty="0"/>
                <a:t>）</a:t>
              </a:r>
              <a:endParaRPr lang="en-US" altLang="zh-TW" sz="1000" dirty="0"/>
            </a:p>
          </p:txBody>
        </p:sp>
      </p:grpSp>
      <p:grpSp>
        <p:nvGrpSpPr>
          <p:cNvPr id="434" name="群組 433">
            <a:extLst>
              <a:ext uri="{FF2B5EF4-FFF2-40B4-BE49-F238E27FC236}">
                <a16:creationId xmlns:a16="http://schemas.microsoft.com/office/drawing/2014/main" id="{8063B766-70E8-4B0F-BCA7-629DA515451E}"/>
              </a:ext>
            </a:extLst>
          </p:cNvPr>
          <p:cNvGrpSpPr/>
          <p:nvPr/>
        </p:nvGrpSpPr>
        <p:grpSpPr>
          <a:xfrm>
            <a:off x="2309333" y="1997422"/>
            <a:ext cx="1415489" cy="1038774"/>
            <a:chOff x="138201" y="1700839"/>
            <a:chExt cx="1415489" cy="1038774"/>
          </a:xfrm>
        </p:grpSpPr>
        <p:sp>
          <p:nvSpPr>
            <p:cNvPr id="424" name="矩形: 剪去單一角落 423">
              <a:extLst>
                <a:ext uri="{FF2B5EF4-FFF2-40B4-BE49-F238E27FC236}">
                  <a16:creationId xmlns:a16="http://schemas.microsoft.com/office/drawing/2014/main" id="{63C82865-77BC-41EA-8D65-030255E3659F}"/>
                </a:ext>
              </a:extLst>
            </p:cNvPr>
            <p:cNvSpPr/>
            <p:nvPr/>
          </p:nvSpPr>
          <p:spPr>
            <a:xfrm>
              <a:off x="138202" y="1700839"/>
              <a:ext cx="1355011" cy="1038774"/>
            </a:xfrm>
            <a:prstGeom prst="snip1Rect">
              <a:avLst>
                <a:gd name="adj" fmla="val 1422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zh-TW" altLang="en-US" sz="900" dirty="0">
                  <a:solidFill>
                    <a:schemeClr val="tx1"/>
                  </a:solidFill>
                </a:rPr>
                <a:t>使用者的描述應包含：</a:t>
              </a:r>
              <a:endParaRPr lang="en-US" altLang="zh-TW" sz="900" dirty="0">
                <a:solidFill>
                  <a:schemeClr val="tx1"/>
                </a:solidFill>
              </a:endParaRPr>
            </a:p>
            <a:p>
              <a:pPr marL="252000" indent="-108000">
                <a:buFont typeface="Arial" panose="020B0604020202020204" pitchFamily="34" charset="0"/>
                <a:buChar char="−"/>
              </a:pPr>
              <a:r>
                <a:rPr lang="zh-TW" altLang="en-US" sz="900" dirty="0">
                  <a:solidFill>
                    <a:schemeClr val="tx1"/>
                  </a:solidFill>
                </a:rPr>
                <a:t>決策</a:t>
              </a:r>
              <a:endParaRPr lang="en-US" altLang="zh-TW" sz="900" dirty="0">
                <a:solidFill>
                  <a:schemeClr val="tx1"/>
                </a:solidFill>
              </a:endParaRPr>
            </a:p>
            <a:p>
              <a:pPr marL="252000" indent="-108000">
                <a:buFont typeface="Arial" panose="020B0604020202020204" pitchFamily="34" charset="0"/>
                <a:buChar char="−"/>
              </a:pPr>
              <a:r>
                <a:rPr lang="zh-TW" altLang="en-US" sz="900" dirty="0">
                  <a:solidFill>
                    <a:schemeClr val="tx1"/>
                  </a:solidFill>
                </a:rPr>
                <a:t>資訊</a:t>
              </a:r>
              <a:endParaRPr lang="en-US" altLang="zh-TW" sz="900" dirty="0">
                <a:solidFill>
                  <a:schemeClr val="tx1"/>
                </a:solidFill>
              </a:endParaRPr>
            </a:p>
            <a:p>
              <a:pPr marL="252000" indent="-108000">
                <a:buFont typeface="Arial" panose="020B0604020202020204" pitchFamily="34" charset="0"/>
                <a:buChar char="−"/>
              </a:pPr>
              <a:r>
                <a:rPr lang="zh-TW" altLang="en-US" sz="900" dirty="0">
                  <a:solidFill>
                    <a:schemeClr val="tx1"/>
                  </a:solidFill>
                </a:rPr>
                <a:t>目標</a:t>
              </a:r>
              <a:endParaRPr lang="en-US" altLang="zh-TW" sz="900" dirty="0">
                <a:solidFill>
                  <a:schemeClr val="tx1"/>
                </a:solidFill>
              </a:endParaRPr>
            </a:p>
            <a:p>
              <a:pPr marL="252000" indent="-108000">
                <a:buFont typeface="Arial" panose="020B0604020202020204" pitchFamily="34" charset="0"/>
                <a:buChar char="−"/>
              </a:pPr>
              <a:r>
                <a:rPr lang="zh-TW" altLang="en-US" sz="900" dirty="0">
                  <a:solidFill>
                    <a:schemeClr val="tx1"/>
                  </a:solidFill>
                </a:rPr>
                <a:t>規則</a:t>
              </a:r>
              <a:endParaRPr lang="en-US" altLang="zh-TW" sz="900" dirty="0">
                <a:solidFill>
                  <a:schemeClr val="tx1"/>
                </a:solidFill>
              </a:endParaRPr>
            </a:p>
            <a:p>
              <a:pPr marL="252000" indent="-108000">
                <a:buFont typeface="Arial" panose="020B0604020202020204" pitchFamily="34" charset="0"/>
                <a:buChar char="−"/>
              </a:pPr>
              <a:r>
                <a:rPr lang="zh-TW" altLang="en-US" sz="900" dirty="0">
                  <a:solidFill>
                    <a:schemeClr val="tx1"/>
                  </a:solidFill>
                </a:rPr>
                <a:t>等等</a:t>
              </a:r>
              <a:endParaRPr lang="en-US" altLang="zh-TW" sz="900" dirty="0">
                <a:solidFill>
                  <a:schemeClr val="tx1"/>
                </a:solidFill>
              </a:endParaRPr>
            </a:p>
          </p:txBody>
        </p:sp>
        <p:sp>
          <p:nvSpPr>
            <p:cNvPr id="223" name="矩形: 剪去單一角落 222">
              <a:extLst>
                <a:ext uri="{FF2B5EF4-FFF2-40B4-BE49-F238E27FC236}">
                  <a16:creationId xmlns:a16="http://schemas.microsoft.com/office/drawing/2014/main" id="{994FE7F3-6D8B-41EB-A8E7-8C25523B1699}"/>
                </a:ext>
              </a:extLst>
            </p:cNvPr>
            <p:cNvSpPr/>
            <p:nvPr/>
          </p:nvSpPr>
          <p:spPr>
            <a:xfrm>
              <a:off x="138201" y="1739161"/>
              <a:ext cx="1415489" cy="936754"/>
            </a:xfrm>
            <a:prstGeom prst="snip1Rect">
              <a:avLst>
                <a:gd name="adj" fmla="val 1422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altLang="zh-TW" sz="900" dirty="0">
                <a:solidFill>
                  <a:schemeClr val="tx1"/>
                </a:solidFill>
              </a:endParaRPr>
            </a:p>
          </p:txBody>
        </p:sp>
        <p:pic>
          <p:nvPicPr>
            <p:cNvPr id="225" name="圖片 224">
              <a:extLst>
                <a:ext uri="{FF2B5EF4-FFF2-40B4-BE49-F238E27FC236}">
                  <a16:creationId xmlns:a16="http://schemas.microsoft.com/office/drawing/2014/main" id="{097A5F87-7E77-4E39-BF07-34D6CE46A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32298" y="2091431"/>
              <a:ext cx="457928" cy="457928"/>
            </a:xfrm>
            <a:prstGeom prst="rect">
              <a:avLst/>
            </a:prstGeom>
            <a:noFill/>
          </p:spPr>
        </p:pic>
      </p:grpSp>
      <p:grpSp>
        <p:nvGrpSpPr>
          <p:cNvPr id="391" name="群組 390">
            <a:extLst>
              <a:ext uri="{FF2B5EF4-FFF2-40B4-BE49-F238E27FC236}">
                <a16:creationId xmlns:a16="http://schemas.microsoft.com/office/drawing/2014/main" id="{9D926955-D4FC-403A-AE71-FCA98DF02D9D}"/>
              </a:ext>
            </a:extLst>
          </p:cNvPr>
          <p:cNvGrpSpPr/>
          <p:nvPr/>
        </p:nvGrpSpPr>
        <p:grpSpPr>
          <a:xfrm>
            <a:off x="7760712" y="2028218"/>
            <a:ext cx="1067998" cy="2231660"/>
            <a:chOff x="4467963" y="2132289"/>
            <a:chExt cx="1678442" cy="2231660"/>
          </a:xfrm>
        </p:grpSpPr>
        <p:sp>
          <p:nvSpPr>
            <p:cNvPr id="378" name="矩形: 圓角 377">
              <a:extLst>
                <a:ext uri="{FF2B5EF4-FFF2-40B4-BE49-F238E27FC236}">
                  <a16:creationId xmlns:a16="http://schemas.microsoft.com/office/drawing/2014/main" id="{5859E6B6-1CB9-48F1-86F7-CB565BCF21C1}"/>
                </a:ext>
              </a:extLst>
            </p:cNvPr>
            <p:cNvSpPr/>
            <p:nvPr/>
          </p:nvSpPr>
          <p:spPr>
            <a:xfrm>
              <a:off x="4467963" y="2132289"/>
              <a:ext cx="1678442" cy="2231660"/>
            </a:xfrm>
            <a:prstGeom prst="roundRect">
              <a:avLst>
                <a:gd name="adj" fmla="val 418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390" name="群組 389">
              <a:extLst>
                <a:ext uri="{FF2B5EF4-FFF2-40B4-BE49-F238E27FC236}">
                  <a16:creationId xmlns:a16="http://schemas.microsoft.com/office/drawing/2014/main" id="{CE8EC6C8-C71E-49E0-BACE-BBEDF193C1E0}"/>
                </a:ext>
              </a:extLst>
            </p:cNvPr>
            <p:cNvGrpSpPr/>
            <p:nvPr/>
          </p:nvGrpSpPr>
          <p:grpSpPr>
            <a:xfrm>
              <a:off x="4673835" y="2273321"/>
              <a:ext cx="1266693" cy="1949596"/>
              <a:chOff x="4673836" y="2276066"/>
              <a:chExt cx="1266692" cy="1949596"/>
            </a:xfrm>
          </p:grpSpPr>
          <p:sp>
            <p:nvSpPr>
              <p:cNvPr id="379" name="文字方塊 378">
                <a:extLst>
                  <a:ext uri="{FF2B5EF4-FFF2-40B4-BE49-F238E27FC236}">
                    <a16:creationId xmlns:a16="http://schemas.microsoft.com/office/drawing/2014/main" id="{6F82A398-E3D1-4F65-A5EC-A522551BC820}"/>
                  </a:ext>
                </a:extLst>
              </p:cNvPr>
              <p:cNvSpPr txBox="1"/>
              <p:nvPr/>
            </p:nvSpPr>
            <p:spPr>
              <a:xfrm>
                <a:off x="4673836" y="2276066"/>
                <a:ext cx="1266692" cy="27241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zh-TW" altLang="en-US" sz="1000" b="1" dirty="0"/>
                  <a:t>集合</a:t>
                </a:r>
                <a:endParaRPr lang="en-US" altLang="zh-TW" sz="1000" b="1" dirty="0"/>
              </a:p>
            </p:txBody>
          </p:sp>
          <p:sp>
            <p:nvSpPr>
              <p:cNvPr id="380" name="文字方塊 379">
                <a:extLst>
                  <a:ext uri="{FF2B5EF4-FFF2-40B4-BE49-F238E27FC236}">
                    <a16:creationId xmlns:a16="http://schemas.microsoft.com/office/drawing/2014/main" id="{726E1541-4C63-4837-A626-527CC4929220}"/>
                  </a:ext>
                </a:extLst>
              </p:cNvPr>
              <p:cNvSpPr txBox="1"/>
              <p:nvPr/>
            </p:nvSpPr>
            <p:spPr>
              <a:xfrm>
                <a:off x="4673836" y="2695361"/>
                <a:ext cx="1266692" cy="27241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zh-TW" altLang="en-US" sz="1000" b="1" dirty="0"/>
                  <a:t>參數</a:t>
                </a:r>
                <a:endParaRPr lang="en-US" altLang="zh-TW" sz="1000" b="1" dirty="0"/>
              </a:p>
            </p:txBody>
          </p:sp>
          <p:sp>
            <p:nvSpPr>
              <p:cNvPr id="381" name="文字方塊 380">
                <a:extLst>
                  <a:ext uri="{FF2B5EF4-FFF2-40B4-BE49-F238E27FC236}">
                    <a16:creationId xmlns:a16="http://schemas.microsoft.com/office/drawing/2014/main" id="{E856C262-254A-43AD-8B70-314179F02765}"/>
                  </a:ext>
                </a:extLst>
              </p:cNvPr>
              <p:cNvSpPr txBox="1"/>
              <p:nvPr/>
            </p:nvSpPr>
            <p:spPr>
              <a:xfrm>
                <a:off x="4673836" y="3114656"/>
                <a:ext cx="1266692" cy="27241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zh-TW" altLang="en-US" sz="1000" b="1" dirty="0"/>
                  <a:t>決策變數</a:t>
                </a:r>
                <a:endParaRPr lang="en-US" altLang="zh-TW" sz="1000" b="1" dirty="0"/>
              </a:p>
            </p:txBody>
          </p:sp>
          <p:sp>
            <p:nvSpPr>
              <p:cNvPr id="382" name="文字方塊 381">
                <a:extLst>
                  <a:ext uri="{FF2B5EF4-FFF2-40B4-BE49-F238E27FC236}">
                    <a16:creationId xmlns:a16="http://schemas.microsoft.com/office/drawing/2014/main" id="{AD834865-2FAA-4ADF-AB20-92E9A26D8AA1}"/>
                  </a:ext>
                </a:extLst>
              </p:cNvPr>
              <p:cNvSpPr txBox="1"/>
              <p:nvPr/>
            </p:nvSpPr>
            <p:spPr>
              <a:xfrm>
                <a:off x="4673836" y="3533951"/>
                <a:ext cx="1266692" cy="27241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zh-TW" altLang="en-US" sz="1000" b="1" dirty="0"/>
                  <a:t>限制式</a:t>
                </a:r>
                <a:endParaRPr lang="en-US" altLang="zh-TW" sz="1000" b="1" dirty="0"/>
              </a:p>
            </p:txBody>
          </p:sp>
          <p:sp>
            <p:nvSpPr>
              <p:cNvPr id="383" name="文字方塊 382">
                <a:extLst>
                  <a:ext uri="{FF2B5EF4-FFF2-40B4-BE49-F238E27FC236}">
                    <a16:creationId xmlns:a16="http://schemas.microsoft.com/office/drawing/2014/main" id="{3056DAAA-3D0E-478E-AED6-6B7D845C6845}"/>
                  </a:ext>
                </a:extLst>
              </p:cNvPr>
              <p:cNvSpPr txBox="1"/>
              <p:nvPr/>
            </p:nvSpPr>
            <p:spPr>
              <a:xfrm>
                <a:off x="4673836" y="3953247"/>
                <a:ext cx="1266692" cy="27241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zh-TW" altLang="en-US" sz="1000" b="1" dirty="0"/>
                  <a:t>目標式</a:t>
                </a:r>
                <a:endParaRPr lang="en-US" altLang="zh-TW" sz="1000" b="1" dirty="0"/>
              </a:p>
            </p:txBody>
          </p:sp>
        </p:grpSp>
      </p:grpSp>
      <p:grpSp>
        <p:nvGrpSpPr>
          <p:cNvPr id="418" name="群組 417">
            <a:extLst>
              <a:ext uri="{FF2B5EF4-FFF2-40B4-BE49-F238E27FC236}">
                <a16:creationId xmlns:a16="http://schemas.microsoft.com/office/drawing/2014/main" id="{09BA7332-ADD7-4869-B6DC-585C52B50FE0}"/>
              </a:ext>
            </a:extLst>
          </p:cNvPr>
          <p:cNvGrpSpPr/>
          <p:nvPr/>
        </p:nvGrpSpPr>
        <p:grpSpPr>
          <a:xfrm>
            <a:off x="3937156" y="2028218"/>
            <a:ext cx="1574638" cy="954000"/>
            <a:chOff x="868615" y="1729220"/>
            <a:chExt cx="1574638" cy="954000"/>
          </a:xfrm>
        </p:grpSpPr>
        <p:sp>
          <p:nvSpPr>
            <p:cNvPr id="415" name="矩形: 圓角 414">
              <a:extLst>
                <a:ext uri="{FF2B5EF4-FFF2-40B4-BE49-F238E27FC236}">
                  <a16:creationId xmlns:a16="http://schemas.microsoft.com/office/drawing/2014/main" id="{64DB3348-40B8-4C7B-96FB-673324BC6750}"/>
                </a:ext>
              </a:extLst>
            </p:cNvPr>
            <p:cNvSpPr/>
            <p:nvPr/>
          </p:nvSpPr>
          <p:spPr>
            <a:xfrm>
              <a:off x="868615" y="1729220"/>
              <a:ext cx="1574638" cy="954000"/>
            </a:xfrm>
            <a:prstGeom prst="roundRect">
              <a:avLst>
                <a:gd name="adj" fmla="val 418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6" name="文字方塊 415">
              <a:extLst>
                <a:ext uri="{FF2B5EF4-FFF2-40B4-BE49-F238E27FC236}">
                  <a16:creationId xmlns:a16="http://schemas.microsoft.com/office/drawing/2014/main" id="{B89CBD7B-EE94-4A90-AE23-5B28683E9566}"/>
                </a:ext>
              </a:extLst>
            </p:cNvPr>
            <p:cNvSpPr txBox="1"/>
            <p:nvPr/>
          </p:nvSpPr>
          <p:spPr>
            <a:xfrm>
              <a:off x="902378" y="1782262"/>
              <a:ext cx="1487530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arenBoth"/>
              </a:pPr>
              <a:r>
                <a:rPr lang="zh-TW" altLang="en-US" sz="1000" dirty="0"/>
                <a:t>辨識模型要素</a:t>
              </a:r>
              <a:endParaRPr lang="en-US" altLang="zh-TW" sz="1000" dirty="0"/>
            </a:p>
            <a:p>
              <a:pPr marL="228600" indent="-228600">
                <a:buAutoNum type="arabicParenBoth"/>
              </a:pPr>
              <a:r>
                <a:rPr lang="zh-TW" altLang="en-US" sz="1000" dirty="0"/>
                <a:t>辨識量化資料</a:t>
              </a:r>
              <a:endParaRPr lang="en-US" altLang="zh-TW" sz="1000" dirty="0"/>
            </a:p>
            <a:p>
              <a:pPr marL="228600" indent="-228600">
                <a:buAutoNum type="arabicParenBoth"/>
              </a:pPr>
              <a:r>
                <a:rPr lang="zh-TW" altLang="en-US" sz="1000" dirty="0"/>
                <a:t>將表格轉換為語句</a:t>
              </a:r>
              <a:endParaRPr lang="en-US" altLang="zh-TW" sz="1000" dirty="0"/>
            </a:p>
            <a:p>
              <a:pPr marL="228600" indent="-228600">
                <a:buAutoNum type="arabicParenBoth"/>
              </a:pPr>
              <a:r>
                <a:rPr lang="zh-TW" altLang="en-US" sz="1000" dirty="0"/>
                <a:t>描述限制式</a:t>
              </a:r>
              <a:endParaRPr lang="en-US" altLang="zh-TW" sz="1000" dirty="0"/>
            </a:p>
            <a:p>
              <a:pPr marL="228600" indent="-228600">
                <a:buAutoNum type="arabicParenBoth"/>
              </a:pPr>
              <a:r>
                <a:rPr lang="zh-TW" altLang="en-US" sz="1000" dirty="0"/>
                <a:t>摘要目標函數</a:t>
              </a:r>
              <a:endParaRPr lang="en-US" altLang="zh-TW" sz="1000" dirty="0"/>
            </a:p>
          </p:txBody>
        </p:sp>
      </p:grpSp>
      <p:grpSp>
        <p:nvGrpSpPr>
          <p:cNvPr id="304" name="群組 303">
            <a:extLst>
              <a:ext uri="{FF2B5EF4-FFF2-40B4-BE49-F238E27FC236}">
                <a16:creationId xmlns:a16="http://schemas.microsoft.com/office/drawing/2014/main" id="{77E7A3D6-12DF-45B4-B0E9-7A46E265A93B}"/>
              </a:ext>
            </a:extLst>
          </p:cNvPr>
          <p:cNvGrpSpPr/>
          <p:nvPr/>
        </p:nvGrpSpPr>
        <p:grpSpPr>
          <a:xfrm>
            <a:off x="7984848" y="1316856"/>
            <a:ext cx="607859" cy="630489"/>
            <a:chOff x="8983954" y="2634039"/>
            <a:chExt cx="810478" cy="840652"/>
          </a:xfrm>
        </p:grpSpPr>
        <p:pic>
          <p:nvPicPr>
            <p:cNvPr id="305" name="圖片 304">
              <a:extLst>
                <a:ext uri="{FF2B5EF4-FFF2-40B4-BE49-F238E27FC236}">
                  <a16:creationId xmlns:a16="http://schemas.microsoft.com/office/drawing/2014/main" id="{2BF41CCA-2048-49B3-98D9-6D4592D0361A}"/>
                </a:ext>
              </a:extLst>
            </p:cNvPr>
            <p:cNvPicPr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119526" y="2634039"/>
              <a:ext cx="539325" cy="540000"/>
            </a:xfrm>
            <a:prstGeom prst="rect">
              <a:avLst/>
            </a:prstGeom>
          </p:spPr>
        </p:pic>
        <p:sp>
          <p:nvSpPr>
            <p:cNvPr id="306" name="文字方塊 305">
              <a:extLst>
                <a:ext uri="{FF2B5EF4-FFF2-40B4-BE49-F238E27FC236}">
                  <a16:creationId xmlns:a16="http://schemas.microsoft.com/office/drawing/2014/main" id="{460FD684-5C01-4299-BAAE-AB23F91E77C2}"/>
                </a:ext>
              </a:extLst>
            </p:cNvPr>
            <p:cNvSpPr txBox="1"/>
            <p:nvPr/>
          </p:nvSpPr>
          <p:spPr>
            <a:xfrm>
              <a:off x="8983954" y="3182303"/>
              <a:ext cx="810478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825" dirty="0"/>
                <a:t>關鍵資訊</a:t>
              </a:r>
              <a:endParaRPr lang="en-US" altLang="zh-TW" sz="825" dirty="0"/>
            </a:p>
          </p:txBody>
        </p:sp>
      </p:grpSp>
      <p:grpSp>
        <p:nvGrpSpPr>
          <p:cNvPr id="307" name="群組 306">
            <a:extLst>
              <a:ext uri="{FF2B5EF4-FFF2-40B4-BE49-F238E27FC236}">
                <a16:creationId xmlns:a16="http://schemas.microsoft.com/office/drawing/2014/main" id="{87C4BA3E-FA28-4FD4-919F-4D7BD25D8741}"/>
              </a:ext>
            </a:extLst>
          </p:cNvPr>
          <p:cNvGrpSpPr/>
          <p:nvPr/>
        </p:nvGrpSpPr>
        <p:grpSpPr>
          <a:xfrm>
            <a:off x="6340245" y="1316856"/>
            <a:ext cx="607859" cy="629983"/>
            <a:chOff x="8983951" y="2634714"/>
            <a:chExt cx="810480" cy="839977"/>
          </a:xfrm>
        </p:grpSpPr>
        <p:pic>
          <p:nvPicPr>
            <p:cNvPr id="308" name="圖片 307">
              <a:extLst>
                <a:ext uri="{FF2B5EF4-FFF2-40B4-BE49-F238E27FC236}">
                  <a16:creationId xmlns:a16="http://schemas.microsoft.com/office/drawing/2014/main" id="{ADFB13F9-6CFF-4B8D-9FA0-236EE55F02D1}"/>
                </a:ext>
              </a:extLst>
            </p:cNvPr>
            <p:cNvPicPr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119526" y="2634714"/>
              <a:ext cx="539325" cy="538650"/>
            </a:xfrm>
            <a:prstGeom prst="rect">
              <a:avLst/>
            </a:prstGeom>
          </p:spPr>
        </p:pic>
        <p:sp>
          <p:nvSpPr>
            <p:cNvPr id="309" name="文字方塊 308">
              <a:extLst>
                <a:ext uri="{FF2B5EF4-FFF2-40B4-BE49-F238E27FC236}">
                  <a16:creationId xmlns:a16="http://schemas.microsoft.com/office/drawing/2014/main" id="{403F9818-47D8-4C1E-B99C-F20E6ED018A9}"/>
                </a:ext>
              </a:extLst>
            </p:cNvPr>
            <p:cNvSpPr txBox="1"/>
            <p:nvPr/>
          </p:nvSpPr>
          <p:spPr>
            <a:xfrm>
              <a:off x="8983951" y="3182303"/>
              <a:ext cx="810480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825" dirty="0"/>
                <a:t>標準敘述</a:t>
              </a:r>
              <a:endParaRPr lang="en-US" altLang="zh-TW" sz="825" dirty="0"/>
            </a:p>
          </p:txBody>
        </p:sp>
      </p:grpSp>
      <p:grpSp>
        <p:nvGrpSpPr>
          <p:cNvPr id="310" name="群組 309">
            <a:extLst>
              <a:ext uri="{FF2B5EF4-FFF2-40B4-BE49-F238E27FC236}">
                <a16:creationId xmlns:a16="http://schemas.microsoft.com/office/drawing/2014/main" id="{29ED2100-2F61-49BE-AF65-878B5974E2BC}"/>
              </a:ext>
            </a:extLst>
          </p:cNvPr>
          <p:cNvGrpSpPr/>
          <p:nvPr/>
        </p:nvGrpSpPr>
        <p:grpSpPr>
          <a:xfrm>
            <a:off x="4413755" y="1316856"/>
            <a:ext cx="607859" cy="627938"/>
            <a:chOff x="8983950" y="2637441"/>
            <a:chExt cx="810480" cy="837251"/>
          </a:xfrm>
        </p:grpSpPr>
        <p:pic>
          <p:nvPicPr>
            <p:cNvPr id="311" name="圖片 310">
              <a:extLst>
                <a:ext uri="{FF2B5EF4-FFF2-40B4-BE49-F238E27FC236}">
                  <a16:creationId xmlns:a16="http://schemas.microsoft.com/office/drawing/2014/main" id="{B4CC0CB6-BC18-449F-A4D2-C482571D6A07}"/>
                </a:ext>
              </a:extLst>
            </p:cNvPr>
            <p:cNvPicPr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119526" y="2637441"/>
              <a:ext cx="539325" cy="533196"/>
            </a:xfrm>
            <a:prstGeom prst="rect">
              <a:avLst/>
            </a:prstGeom>
          </p:spPr>
        </p:pic>
        <p:sp>
          <p:nvSpPr>
            <p:cNvPr id="312" name="文字方塊 311">
              <a:extLst>
                <a:ext uri="{FF2B5EF4-FFF2-40B4-BE49-F238E27FC236}">
                  <a16:creationId xmlns:a16="http://schemas.microsoft.com/office/drawing/2014/main" id="{0C767149-4CEA-4C95-9EA1-EB49739D6405}"/>
                </a:ext>
              </a:extLst>
            </p:cNvPr>
            <p:cNvSpPr txBox="1"/>
            <p:nvPr/>
          </p:nvSpPr>
          <p:spPr>
            <a:xfrm>
              <a:off x="8983950" y="3182304"/>
              <a:ext cx="810480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825" dirty="0"/>
                <a:t>簡化敘述</a:t>
              </a:r>
              <a:endParaRPr lang="en-US" altLang="zh-TW" sz="825" dirty="0"/>
            </a:p>
          </p:txBody>
        </p:sp>
      </p:grpSp>
      <p:grpSp>
        <p:nvGrpSpPr>
          <p:cNvPr id="316" name="群組 315">
            <a:extLst>
              <a:ext uri="{FF2B5EF4-FFF2-40B4-BE49-F238E27FC236}">
                <a16:creationId xmlns:a16="http://schemas.microsoft.com/office/drawing/2014/main" id="{4CB404E1-181E-4996-A269-E4E9260C72F3}"/>
              </a:ext>
            </a:extLst>
          </p:cNvPr>
          <p:cNvGrpSpPr/>
          <p:nvPr/>
        </p:nvGrpSpPr>
        <p:grpSpPr>
          <a:xfrm>
            <a:off x="2711282" y="1316856"/>
            <a:ext cx="607859" cy="604960"/>
            <a:chOff x="3686755" y="2257278"/>
            <a:chExt cx="810479" cy="806613"/>
          </a:xfrm>
        </p:grpSpPr>
        <p:pic>
          <p:nvPicPr>
            <p:cNvPr id="317" name="圖片 316">
              <a:extLst>
                <a:ext uri="{FF2B5EF4-FFF2-40B4-BE49-F238E27FC236}">
                  <a16:creationId xmlns:a16="http://schemas.microsoft.com/office/drawing/2014/main" id="{4EEE4043-EA68-4FCE-A871-D0AF97EAEBFF}"/>
                </a:ext>
              </a:extLst>
            </p:cNvPr>
            <p:cNvPicPr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821994" y="2257278"/>
              <a:ext cx="540000" cy="540000"/>
            </a:xfrm>
            <a:prstGeom prst="rect">
              <a:avLst/>
            </a:prstGeom>
          </p:spPr>
        </p:pic>
        <p:sp>
          <p:nvSpPr>
            <p:cNvPr id="318" name="文字方塊 317">
              <a:extLst>
                <a:ext uri="{FF2B5EF4-FFF2-40B4-BE49-F238E27FC236}">
                  <a16:creationId xmlns:a16="http://schemas.microsoft.com/office/drawing/2014/main" id="{DBBA3A81-F836-4B21-BA85-6901B0AFDE46}"/>
                </a:ext>
              </a:extLst>
            </p:cNvPr>
            <p:cNvSpPr txBox="1"/>
            <p:nvPr/>
          </p:nvSpPr>
          <p:spPr>
            <a:xfrm>
              <a:off x="3686755" y="2771503"/>
              <a:ext cx="810479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825" dirty="0"/>
                <a:t>問題敘述</a:t>
              </a:r>
              <a:endParaRPr lang="en-US" altLang="zh-TW" sz="825" dirty="0"/>
            </a:p>
          </p:txBody>
        </p:sp>
      </p:grpSp>
      <p:grpSp>
        <p:nvGrpSpPr>
          <p:cNvPr id="338" name="群組 337">
            <a:extLst>
              <a:ext uri="{FF2B5EF4-FFF2-40B4-BE49-F238E27FC236}">
                <a16:creationId xmlns:a16="http://schemas.microsoft.com/office/drawing/2014/main" id="{606B645B-1179-4FF2-BA9A-80AEF9467C79}"/>
              </a:ext>
            </a:extLst>
          </p:cNvPr>
          <p:cNvGrpSpPr/>
          <p:nvPr/>
        </p:nvGrpSpPr>
        <p:grpSpPr>
          <a:xfrm>
            <a:off x="7458318" y="1568859"/>
            <a:ext cx="71178" cy="126482"/>
            <a:chOff x="3707904" y="1269426"/>
            <a:chExt cx="271311" cy="482115"/>
          </a:xfrm>
        </p:grpSpPr>
        <p:grpSp>
          <p:nvGrpSpPr>
            <p:cNvPr id="340" name="群組 339">
              <a:extLst>
                <a:ext uri="{FF2B5EF4-FFF2-40B4-BE49-F238E27FC236}">
                  <a16:creationId xmlns:a16="http://schemas.microsoft.com/office/drawing/2014/main" id="{E8F0E3FD-9069-46E1-85BD-8F5872FCE12F}"/>
                </a:ext>
              </a:extLst>
            </p:cNvPr>
            <p:cNvGrpSpPr/>
            <p:nvPr/>
          </p:nvGrpSpPr>
          <p:grpSpPr>
            <a:xfrm>
              <a:off x="3979215" y="1269426"/>
              <a:ext cx="0" cy="482115"/>
              <a:chOff x="3979215" y="1269426"/>
              <a:chExt cx="0" cy="482115"/>
            </a:xfrm>
          </p:grpSpPr>
          <p:cxnSp>
            <p:nvCxnSpPr>
              <p:cNvPr id="344" name="直線單箭頭接點 343">
                <a:extLst>
                  <a:ext uri="{FF2B5EF4-FFF2-40B4-BE49-F238E27FC236}">
                    <a16:creationId xmlns:a16="http://schemas.microsoft.com/office/drawing/2014/main" id="{1EFED801-99A8-48E2-801F-AE3713A02285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1905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直線單箭頭接點 344">
                <a:extLst>
                  <a:ext uri="{FF2B5EF4-FFF2-40B4-BE49-F238E27FC236}">
                    <a16:creationId xmlns:a16="http://schemas.microsoft.com/office/drawing/2014/main" id="{006F637F-0007-42B4-84EB-C8C712B5D0EA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1905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1" name="群組 340">
              <a:extLst>
                <a:ext uri="{FF2B5EF4-FFF2-40B4-BE49-F238E27FC236}">
                  <a16:creationId xmlns:a16="http://schemas.microsoft.com/office/drawing/2014/main" id="{6A569558-41D0-4804-B812-E125FD543843}"/>
                </a:ext>
              </a:extLst>
            </p:cNvPr>
            <p:cNvGrpSpPr/>
            <p:nvPr/>
          </p:nvGrpSpPr>
          <p:grpSpPr>
            <a:xfrm>
              <a:off x="3707904" y="1269426"/>
              <a:ext cx="0" cy="482115"/>
              <a:chOff x="3979215" y="1269426"/>
              <a:chExt cx="0" cy="482115"/>
            </a:xfrm>
          </p:grpSpPr>
          <p:cxnSp>
            <p:nvCxnSpPr>
              <p:cNvPr id="342" name="直線單箭頭接點 341">
                <a:extLst>
                  <a:ext uri="{FF2B5EF4-FFF2-40B4-BE49-F238E27FC236}">
                    <a16:creationId xmlns:a16="http://schemas.microsoft.com/office/drawing/2014/main" id="{894D75D0-CEF5-400F-9D67-7D2B677B718D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1905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直線單箭頭接點 342">
                <a:extLst>
                  <a:ext uri="{FF2B5EF4-FFF2-40B4-BE49-F238E27FC236}">
                    <a16:creationId xmlns:a16="http://schemas.microsoft.com/office/drawing/2014/main" id="{F03F6212-0B38-4A33-B327-FDB5208E5CA6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1905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04" name="群組 403">
            <a:extLst>
              <a:ext uri="{FF2B5EF4-FFF2-40B4-BE49-F238E27FC236}">
                <a16:creationId xmlns:a16="http://schemas.microsoft.com/office/drawing/2014/main" id="{271B95C5-45FF-4182-9CC6-83A94E528EA2}"/>
              </a:ext>
            </a:extLst>
          </p:cNvPr>
          <p:cNvGrpSpPr/>
          <p:nvPr/>
        </p:nvGrpSpPr>
        <p:grpSpPr>
          <a:xfrm>
            <a:off x="5646323" y="1568859"/>
            <a:ext cx="71178" cy="126482"/>
            <a:chOff x="3707904" y="1269426"/>
            <a:chExt cx="271311" cy="482115"/>
          </a:xfrm>
        </p:grpSpPr>
        <p:grpSp>
          <p:nvGrpSpPr>
            <p:cNvPr id="406" name="群組 405">
              <a:extLst>
                <a:ext uri="{FF2B5EF4-FFF2-40B4-BE49-F238E27FC236}">
                  <a16:creationId xmlns:a16="http://schemas.microsoft.com/office/drawing/2014/main" id="{F100472C-AE92-456A-B22B-8F63B4966850}"/>
                </a:ext>
              </a:extLst>
            </p:cNvPr>
            <p:cNvGrpSpPr/>
            <p:nvPr/>
          </p:nvGrpSpPr>
          <p:grpSpPr>
            <a:xfrm>
              <a:off x="3979215" y="1269426"/>
              <a:ext cx="0" cy="482115"/>
              <a:chOff x="3979215" y="1269426"/>
              <a:chExt cx="0" cy="482115"/>
            </a:xfrm>
          </p:grpSpPr>
          <p:cxnSp>
            <p:nvCxnSpPr>
              <p:cNvPr id="410" name="直線單箭頭接點 409">
                <a:extLst>
                  <a:ext uri="{FF2B5EF4-FFF2-40B4-BE49-F238E27FC236}">
                    <a16:creationId xmlns:a16="http://schemas.microsoft.com/office/drawing/2014/main" id="{831C70A9-DDA4-4A01-BC0C-7E31C94FD3F7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1905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直線單箭頭接點 410">
                <a:extLst>
                  <a:ext uri="{FF2B5EF4-FFF2-40B4-BE49-F238E27FC236}">
                    <a16:creationId xmlns:a16="http://schemas.microsoft.com/office/drawing/2014/main" id="{34B518CD-8A4D-49B9-B24F-4967A260D596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1905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7" name="群組 406">
              <a:extLst>
                <a:ext uri="{FF2B5EF4-FFF2-40B4-BE49-F238E27FC236}">
                  <a16:creationId xmlns:a16="http://schemas.microsoft.com/office/drawing/2014/main" id="{47B05C33-C5CB-4D74-8A41-1874EF09CAED}"/>
                </a:ext>
              </a:extLst>
            </p:cNvPr>
            <p:cNvGrpSpPr/>
            <p:nvPr/>
          </p:nvGrpSpPr>
          <p:grpSpPr>
            <a:xfrm>
              <a:off x="3707904" y="1269426"/>
              <a:ext cx="0" cy="482115"/>
              <a:chOff x="3979215" y="1269426"/>
              <a:chExt cx="0" cy="482115"/>
            </a:xfrm>
          </p:grpSpPr>
          <p:cxnSp>
            <p:nvCxnSpPr>
              <p:cNvPr id="408" name="直線單箭頭接點 407">
                <a:extLst>
                  <a:ext uri="{FF2B5EF4-FFF2-40B4-BE49-F238E27FC236}">
                    <a16:creationId xmlns:a16="http://schemas.microsoft.com/office/drawing/2014/main" id="{2DD694EA-4E1D-473C-8186-435FB9638AED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1905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" name="直線單箭頭接點 408">
                <a:extLst>
                  <a:ext uri="{FF2B5EF4-FFF2-40B4-BE49-F238E27FC236}">
                    <a16:creationId xmlns:a16="http://schemas.microsoft.com/office/drawing/2014/main" id="{5B715D8D-0C38-4B37-BB75-9A0E46D73A78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1905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6" name="群組 425">
            <a:extLst>
              <a:ext uri="{FF2B5EF4-FFF2-40B4-BE49-F238E27FC236}">
                <a16:creationId xmlns:a16="http://schemas.microsoft.com/office/drawing/2014/main" id="{8F5BBB35-AF12-4CCD-B3F2-A65BA4AAB34C}"/>
              </a:ext>
            </a:extLst>
          </p:cNvPr>
          <p:cNvGrpSpPr/>
          <p:nvPr/>
        </p:nvGrpSpPr>
        <p:grpSpPr>
          <a:xfrm>
            <a:off x="3805391" y="1568859"/>
            <a:ext cx="71178" cy="126482"/>
            <a:chOff x="3707904" y="1269426"/>
            <a:chExt cx="271311" cy="482115"/>
          </a:xfrm>
        </p:grpSpPr>
        <p:grpSp>
          <p:nvGrpSpPr>
            <p:cNvPr id="428" name="群組 427">
              <a:extLst>
                <a:ext uri="{FF2B5EF4-FFF2-40B4-BE49-F238E27FC236}">
                  <a16:creationId xmlns:a16="http://schemas.microsoft.com/office/drawing/2014/main" id="{09FBACF4-AA57-4009-828E-D8458B43CDC2}"/>
                </a:ext>
              </a:extLst>
            </p:cNvPr>
            <p:cNvGrpSpPr/>
            <p:nvPr/>
          </p:nvGrpSpPr>
          <p:grpSpPr>
            <a:xfrm>
              <a:off x="3979215" y="1269426"/>
              <a:ext cx="0" cy="482115"/>
              <a:chOff x="3979215" y="1269426"/>
              <a:chExt cx="0" cy="482115"/>
            </a:xfrm>
          </p:grpSpPr>
          <p:cxnSp>
            <p:nvCxnSpPr>
              <p:cNvPr id="432" name="直線單箭頭接點 431">
                <a:extLst>
                  <a:ext uri="{FF2B5EF4-FFF2-40B4-BE49-F238E27FC236}">
                    <a16:creationId xmlns:a16="http://schemas.microsoft.com/office/drawing/2014/main" id="{57F6B3C0-B62A-4DCC-A391-196AAA3A22EA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1905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3" name="直線單箭頭接點 432">
                <a:extLst>
                  <a:ext uri="{FF2B5EF4-FFF2-40B4-BE49-F238E27FC236}">
                    <a16:creationId xmlns:a16="http://schemas.microsoft.com/office/drawing/2014/main" id="{BF847175-81AF-4F76-A226-BA26222385B3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1905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9" name="群組 428">
              <a:extLst>
                <a:ext uri="{FF2B5EF4-FFF2-40B4-BE49-F238E27FC236}">
                  <a16:creationId xmlns:a16="http://schemas.microsoft.com/office/drawing/2014/main" id="{BF789BC8-4123-44BA-ABE1-F9BA4080E261}"/>
                </a:ext>
              </a:extLst>
            </p:cNvPr>
            <p:cNvGrpSpPr/>
            <p:nvPr/>
          </p:nvGrpSpPr>
          <p:grpSpPr>
            <a:xfrm>
              <a:off x="3707904" y="1269426"/>
              <a:ext cx="0" cy="482115"/>
              <a:chOff x="3979215" y="1269426"/>
              <a:chExt cx="0" cy="482115"/>
            </a:xfrm>
          </p:grpSpPr>
          <p:cxnSp>
            <p:nvCxnSpPr>
              <p:cNvPr id="430" name="直線單箭頭接點 429">
                <a:extLst>
                  <a:ext uri="{FF2B5EF4-FFF2-40B4-BE49-F238E27FC236}">
                    <a16:creationId xmlns:a16="http://schemas.microsoft.com/office/drawing/2014/main" id="{97EC6F7A-0625-4C6A-9713-180D76729AF8}"/>
                  </a:ext>
                </a:extLst>
              </p:cNvPr>
              <p:cNvCxnSpPr>
                <a:cxnSpLocks/>
              </p:cNvCxnSpPr>
              <p:nvPr/>
            </p:nvCxnSpPr>
            <p:spPr>
              <a:xfrm rot="3000000">
                <a:off x="3844215" y="1404426"/>
                <a:ext cx="270000" cy="0"/>
              </a:xfrm>
              <a:prstGeom prst="straightConnector1">
                <a:avLst/>
              </a:prstGeom>
              <a:ln w="1905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1" name="直線單箭頭接點 430">
                <a:extLst>
                  <a:ext uri="{FF2B5EF4-FFF2-40B4-BE49-F238E27FC236}">
                    <a16:creationId xmlns:a16="http://schemas.microsoft.com/office/drawing/2014/main" id="{51033407-5C26-4CBE-B3E4-2959A56B7230}"/>
                  </a:ext>
                </a:extLst>
              </p:cNvPr>
              <p:cNvCxnSpPr>
                <a:cxnSpLocks/>
              </p:cNvCxnSpPr>
              <p:nvPr/>
            </p:nvCxnSpPr>
            <p:spPr>
              <a:xfrm rot="18600000">
                <a:off x="3844215" y="1616541"/>
                <a:ext cx="270000" cy="0"/>
              </a:xfrm>
              <a:prstGeom prst="straightConnector1">
                <a:avLst/>
              </a:prstGeom>
              <a:ln w="19050" cap="rnd">
                <a:solidFill>
                  <a:srgbClr val="2F528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1A5AC3AA-A4FF-450D-9B8F-015B82351D90}"/>
              </a:ext>
            </a:extLst>
          </p:cNvPr>
          <p:cNvSpPr txBox="1"/>
          <p:nvPr/>
        </p:nvSpPr>
        <p:spPr>
          <a:xfrm>
            <a:off x="3870226" y="845860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3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600" b="1" kern="0" dirty="0">
                <a:solidFill>
                  <a:srgbClr val="002060"/>
                </a:solidFill>
                <a:ea typeface="微軟正黑體"/>
              </a:rPr>
              <a:t>模型建置流程</a:t>
            </a:r>
            <a:endParaRPr kumimoji="0" lang="zh-TW" altLang="en-US" sz="16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微軟正黑體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989D3B-68CE-46A3-A801-CDA0A0854F64}"/>
              </a:ext>
            </a:extLst>
          </p:cNvPr>
          <p:cNvSpPr/>
          <p:nvPr/>
        </p:nvSpPr>
        <p:spPr>
          <a:xfrm>
            <a:off x="2309333" y="3909599"/>
            <a:ext cx="5239044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TW" altLang="en-US" sz="1600" dirty="0">
                <a:solidFill>
                  <a:srgbClr val="005087"/>
                </a:solidFill>
              </a:rPr>
              <a:t>參考其他現有專案程式 </a:t>
            </a:r>
            <a:r>
              <a:rPr lang="en-US" altLang="zh-TW" sz="1600" dirty="0">
                <a:solidFill>
                  <a:srgbClr val="005087"/>
                </a:solidFill>
              </a:rPr>
              <a:t>+</a:t>
            </a:r>
            <a:r>
              <a:rPr lang="zh-TW" altLang="en-US" sz="1600" dirty="0">
                <a:solidFill>
                  <a:srgbClr val="005087"/>
                </a:solidFill>
              </a:rPr>
              <a:t> 多步驟推理引導 </a:t>
            </a:r>
            <a:r>
              <a:rPr lang="en-US" altLang="zh-TW" sz="1600" dirty="0">
                <a:solidFill>
                  <a:srgbClr val="005087"/>
                </a:solidFill>
              </a:rPr>
              <a:t>(CoT)</a:t>
            </a:r>
            <a:endParaRPr lang="zh-TW" altLang="en-US" sz="1600" dirty="0">
              <a:solidFill>
                <a:srgbClr val="005087"/>
              </a:solidFill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3CB4E756-67CE-489C-AE21-1F337DF144E1}"/>
              </a:ext>
            </a:extLst>
          </p:cNvPr>
          <p:cNvSpPr/>
          <p:nvPr/>
        </p:nvSpPr>
        <p:spPr>
          <a:xfrm>
            <a:off x="2309333" y="3523184"/>
            <a:ext cx="52390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005087"/>
                </a:solidFill>
              </a:rPr>
              <a:t>Prompt</a:t>
            </a:r>
            <a:r>
              <a:rPr lang="zh-TW" altLang="en-US" sz="1600" b="1" dirty="0">
                <a:solidFill>
                  <a:srgbClr val="005087"/>
                </a:solidFill>
              </a:rPr>
              <a:t> 設計概念</a:t>
            </a:r>
          </a:p>
        </p:txBody>
      </p:sp>
      <p:pic>
        <p:nvPicPr>
          <p:cNvPr id="107" name="圖片 106">
            <a:extLst>
              <a:ext uri="{FF2B5EF4-FFF2-40B4-BE49-F238E27FC236}">
                <a16:creationId xmlns:a16="http://schemas.microsoft.com/office/drawing/2014/main" id="{68973929-A20A-42A6-B01B-BB15F363AF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471" y="1184414"/>
            <a:ext cx="1975954" cy="326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065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0F6406D1-5D94-4AFF-8FBE-D8068F37E4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/>
              <a:t>結論與討論 </a:t>
            </a:r>
            <a:endParaRPr lang="en-US" altLang="zh-TW" dirty="0"/>
          </a:p>
          <a:p>
            <a:r>
              <a:rPr lang="en-US" altLang="zh-TW" dirty="0"/>
              <a:t>Conclusion</a:t>
            </a:r>
            <a:r>
              <a:rPr lang="zh-TW" altLang="en-US" dirty="0"/>
              <a:t> </a:t>
            </a:r>
            <a:r>
              <a:rPr lang="en-US" altLang="zh-TW" dirty="0"/>
              <a:t>&amp;</a:t>
            </a:r>
            <a:r>
              <a:rPr lang="zh-TW" altLang="en-US" dirty="0"/>
              <a:t> </a:t>
            </a:r>
            <a:r>
              <a:rPr lang="en-US" altLang="zh-TW" dirty="0"/>
              <a:t>Discussion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8C26A36-38EC-405C-802D-04D64A5FA0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6339370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F0F85A-D8BE-489F-8A26-3F9E8BB6D3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專案進度 </a:t>
            </a:r>
            <a:r>
              <a:rPr lang="en-US" altLang="zh-TW" dirty="0"/>
              <a:t>|</a:t>
            </a:r>
            <a:r>
              <a:rPr lang="zh-TW" altLang="en-US" dirty="0"/>
              <a:t> </a:t>
            </a:r>
            <a:r>
              <a:rPr lang="zh-TW" altLang="en-US" b="0" dirty="0"/>
              <a:t>完成整體框架設計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B04F98-C67E-4BB2-A8FC-D45C046C6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Conclusion</a:t>
            </a:r>
            <a:r>
              <a:rPr lang="zh-TW" altLang="en-US" dirty="0"/>
              <a:t> </a:t>
            </a:r>
            <a:r>
              <a:rPr lang="en-US" altLang="zh-TW" dirty="0"/>
              <a:t>&amp;</a:t>
            </a:r>
            <a:r>
              <a:rPr lang="zh-TW" altLang="en-US" dirty="0"/>
              <a:t> </a:t>
            </a:r>
            <a:r>
              <a:rPr lang="en-US" altLang="zh-TW" dirty="0"/>
              <a:t>Discussion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04602B-3F3A-44D6-8FC7-8D6198579B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/>
              <a:t>05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BDA344-228E-467F-9CAE-213808D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B1EDA-9669-4099-AA83-49C2D8E17945}" type="slidenum">
              <a:rPr lang="zh-TW" altLang="en-US" smtClean="0"/>
              <a:t>30</a:t>
            </a:fld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E2D1FA36-AD5C-4B54-AF63-C797303B27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 dirty="0"/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C93C414D-0D71-43B1-8730-63AE69FCA5D1}"/>
              </a:ext>
            </a:extLst>
          </p:cNvPr>
          <p:cNvCxnSpPr>
            <a:cxnSpLocks/>
            <a:stCxn id="29" idx="6"/>
            <a:endCxn id="14" idx="2"/>
          </p:cNvCxnSpPr>
          <p:nvPr/>
        </p:nvCxnSpPr>
        <p:spPr>
          <a:xfrm flipV="1">
            <a:off x="2320485" y="1540438"/>
            <a:ext cx="345958" cy="1089919"/>
          </a:xfrm>
          <a:prstGeom prst="line">
            <a:avLst/>
          </a:prstGeom>
          <a:ln>
            <a:solidFill>
              <a:srgbClr val="2F528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EE6419AD-C98D-4E87-AFF5-74803354CFA4}"/>
              </a:ext>
            </a:extLst>
          </p:cNvPr>
          <p:cNvCxnSpPr>
            <a:cxnSpLocks/>
            <a:stCxn id="29" idx="6"/>
            <a:endCxn id="18" idx="2"/>
          </p:cNvCxnSpPr>
          <p:nvPr/>
        </p:nvCxnSpPr>
        <p:spPr>
          <a:xfrm flipV="1">
            <a:off x="2320485" y="2628514"/>
            <a:ext cx="719338" cy="1843"/>
          </a:xfrm>
          <a:prstGeom prst="line">
            <a:avLst/>
          </a:prstGeom>
          <a:ln>
            <a:solidFill>
              <a:srgbClr val="2F528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79D52100-6AD6-4814-96DB-6DD83F862A0A}"/>
              </a:ext>
            </a:extLst>
          </p:cNvPr>
          <p:cNvCxnSpPr>
            <a:cxnSpLocks/>
          </p:cNvCxnSpPr>
          <p:nvPr/>
        </p:nvCxnSpPr>
        <p:spPr>
          <a:xfrm>
            <a:off x="2320485" y="2628514"/>
            <a:ext cx="345958" cy="1097021"/>
          </a:xfrm>
          <a:prstGeom prst="line">
            <a:avLst/>
          </a:prstGeom>
          <a:ln>
            <a:solidFill>
              <a:srgbClr val="2F528F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98B44875-FFE0-4317-96E6-2A646EEC163C}"/>
              </a:ext>
            </a:extLst>
          </p:cNvPr>
          <p:cNvGrpSpPr/>
          <p:nvPr/>
        </p:nvGrpSpPr>
        <p:grpSpPr>
          <a:xfrm>
            <a:off x="856057" y="1898144"/>
            <a:ext cx="1464428" cy="1464426"/>
            <a:chOff x="1113431" y="2042160"/>
            <a:chExt cx="1464428" cy="1464426"/>
          </a:xfrm>
        </p:grpSpPr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BEE2CAFF-3816-4692-89F4-B938B2DCA1E0}"/>
                </a:ext>
              </a:extLst>
            </p:cNvPr>
            <p:cNvSpPr/>
            <p:nvPr/>
          </p:nvSpPr>
          <p:spPr>
            <a:xfrm>
              <a:off x="1113431" y="2042160"/>
              <a:ext cx="1464428" cy="1464426"/>
            </a:xfrm>
            <a:prstGeom prst="ellipse">
              <a:avLst/>
            </a:prstGeom>
            <a:noFill/>
            <a:ln>
              <a:solidFill>
                <a:srgbClr val="00508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AC80C760-1C06-4CB8-9BF7-4060AD459FC2}"/>
                </a:ext>
              </a:extLst>
            </p:cNvPr>
            <p:cNvSpPr txBox="1"/>
            <p:nvPr/>
          </p:nvSpPr>
          <p:spPr>
            <a:xfrm>
              <a:off x="1342946" y="2955233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1600" b="1" dirty="0">
                  <a:solidFill>
                    <a:srgbClr val="005087"/>
                  </a:solidFill>
                </a:rPr>
                <a:t>專案進度</a:t>
              </a:r>
            </a:p>
          </p:txBody>
        </p:sp>
        <p:pic>
          <p:nvPicPr>
            <p:cNvPr id="32" name="圖形 31" descr="靶心 以實心填滿">
              <a:extLst>
                <a:ext uri="{FF2B5EF4-FFF2-40B4-BE49-F238E27FC236}">
                  <a16:creationId xmlns:a16="http://schemas.microsoft.com/office/drawing/2014/main" id="{A0EF97DC-1F3E-4BB0-B8C0-6881ED492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10764" y="2254957"/>
              <a:ext cx="700276" cy="700276"/>
            </a:xfrm>
            <a:prstGeom prst="rect">
              <a:avLst/>
            </a:prstGeom>
          </p:spPr>
        </p:pic>
      </p:grp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BF046F89-9FDF-4531-A52A-7232A8E2192C}"/>
              </a:ext>
            </a:extLst>
          </p:cNvPr>
          <p:cNvGrpSpPr/>
          <p:nvPr/>
        </p:nvGrpSpPr>
        <p:grpSpPr>
          <a:xfrm>
            <a:off x="2666443" y="1203598"/>
            <a:ext cx="5356896" cy="906988"/>
            <a:chOff x="3402000" y="1347614"/>
            <a:chExt cx="5356896" cy="906988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4CF27792-6BEF-40D7-9914-6D33FF0C8974}"/>
                </a:ext>
              </a:extLst>
            </p:cNvPr>
            <p:cNvSpPr/>
            <p:nvPr/>
          </p:nvSpPr>
          <p:spPr>
            <a:xfrm>
              <a:off x="3402000" y="1387100"/>
              <a:ext cx="594707" cy="594707"/>
            </a:xfrm>
            <a:prstGeom prst="ellipse">
              <a:avLst/>
            </a:prstGeom>
            <a:noFill/>
            <a:ln>
              <a:solidFill>
                <a:srgbClr val="00508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EB125CAA-CAE3-4645-BC50-C4600A54D432}"/>
                </a:ext>
              </a:extLst>
            </p:cNvPr>
            <p:cNvSpPr txBox="1"/>
            <p:nvPr/>
          </p:nvSpPr>
          <p:spPr>
            <a:xfrm>
              <a:off x="4092234" y="1347614"/>
              <a:ext cx="3550972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/>
                <a:t>大型語言模型驅動之數學規劃模型開發框架</a:t>
              </a:r>
              <a:endParaRPr lang="en-US" altLang="zh-TW" b="1" dirty="0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D3191EA6-1D75-45D8-87D6-C2B0C5C8B294}"/>
                </a:ext>
              </a:extLst>
            </p:cNvPr>
            <p:cNvSpPr txBox="1"/>
            <p:nvPr/>
          </p:nvSpPr>
          <p:spPr>
            <a:xfrm>
              <a:off x="4092234" y="1600577"/>
              <a:ext cx="4666662" cy="6540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spcBef>
                  <a:spcPts val="300"/>
                </a:spcBef>
                <a:buFont typeface="Arial" panose="020B0604020202020204" pitchFamily="34" charset="0"/>
                <a:buChar char="−"/>
              </a:pPr>
              <a:r>
                <a:rPr lang="zh-TW" altLang="en-US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自動數學建模：</a:t>
              </a:r>
              <a:r>
                <a:rPr lang="zh-TW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逐步將自然語言描述轉換為數學模型與可執行程式碼</a:t>
              </a:r>
              <a:endParaRPr lang="en-US" altLang="zh-TW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  <a:p>
              <a:pPr marL="171450" indent="-171450">
                <a:spcBef>
                  <a:spcPts val="300"/>
                </a:spcBef>
                <a:buFont typeface="Arial" panose="020B0604020202020204" pitchFamily="34" charset="0"/>
                <a:buChar char="−"/>
              </a:pPr>
              <a:r>
                <a:rPr lang="zh-TW" altLang="en-US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提示策略強化：</a:t>
              </a:r>
              <a:r>
                <a:rPr lang="en-US" altLang="zh-TW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Claude.md </a:t>
              </a:r>
              <a:r>
                <a:rPr lang="zh-TW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引導模型產出語意正確、格式合規的結果</a:t>
              </a:r>
              <a:endParaRPr lang="en-US" altLang="zh-TW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  <a:p>
              <a:pPr marL="171450" indent="-171450">
                <a:spcBef>
                  <a:spcPts val="300"/>
                </a:spcBef>
                <a:buFont typeface="Arial" panose="020B0604020202020204" pitchFamily="34" charset="0"/>
                <a:buChar char="−"/>
              </a:pPr>
              <a:r>
                <a:rPr lang="zh-TW" altLang="en-US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擴展性知識庫：</a:t>
              </a:r>
              <a:r>
                <a:rPr lang="zh-TW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參考現有其他專案開發，提升模型適應各類問題的能力</a:t>
              </a:r>
            </a:p>
          </p:txBody>
        </p:sp>
        <p:pic>
          <p:nvPicPr>
            <p:cNvPr id="33" name="圖形 32">
              <a:extLst>
                <a:ext uri="{FF2B5EF4-FFF2-40B4-BE49-F238E27FC236}">
                  <a16:creationId xmlns:a16="http://schemas.microsoft.com/office/drawing/2014/main" id="{15B1F2D4-DFD8-47B8-A611-964065787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04383" y="1478455"/>
              <a:ext cx="392076" cy="392076"/>
            </a:xfrm>
            <a:prstGeom prst="rect">
              <a:avLst/>
            </a:prstGeom>
          </p:spPr>
        </p:pic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BD962995-D431-4039-943F-1A6D6C84A013}"/>
              </a:ext>
            </a:extLst>
          </p:cNvPr>
          <p:cNvGrpSpPr/>
          <p:nvPr/>
        </p:nvGrpSpPr>
        <p:grpSpPr>
          <a:xfrm>
            <a:off x="3039823" y="2306914"/>
            <a:ext cx="4587331" cy="906988"/>
            <a:chOff x="3775380" y="2450930"/>
            <a:chExt cx="4587331" cy="906988"/>
          </a:xfrm>
        </p:grpSpPr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F54074F5-75D8-4FD7-B18B-B638173B63D5}"/>
                </a:ext>
              </a:extLst>
            </p:cNvPr>
            <p:cNvSpPr/>
            <p:nvPr/>
          </p:nvSpPr>
          <p:spPr>
            <a:xfrm>
              <a:off x="3775380" y="2475176"/>
              <a:ext cx="594707" cy="594707"/>
            </a:xfrm>
            <a:prstGeom prst="ellipse">
              <a:avLst/>
            </a:prstGeom>
            <a:noFill/>
            <a:ln>
              <a:solidFill>
                <a:srgbClr val="00508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lt1"/>
                </a:solidFill>
              </a:endParaRPr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0A7CA031-1F68-43F9-A962-0D0450C86BD6}"/>
                </a:ext>
              </a:extLst>
            </p:cNvPr>
            <p:cNvSpPr txBox="1"/>
            <p:nvPr/>
          </p:nvSpPr>
          <p:spPr>
            <a:xfrm>
              <a:off x="4465490" y="2450930"/>
              <a:ext cx="2371162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/>
                <a:t>混整數規劃模型開發用</a:t>
              </a:r>
              <a:r>
                <a:rPr lang="en-US" altLang="zh-TW" b="1" dirty="0"/>
                <a:t> APIs</a:t>
              </a: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1AE2529D-A9A2-404D-A309-7B289A46A6C6}"/>
                </a:ext>
              </a:extLst>
            </p:cNvPr>
            <p:cNvSpPr txBox="1"/>
            <p:nvPr/>
          </p:nvSpPr>
          <p:spPr>
            <a:xfrm>
              <a:off x="4465490" y="2703893"/>
              <a:ext cx="3897221" cy="6540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spcBef>
                  <a:spcPts val="300"/>
                </a:spcBef>
                <a:buFont typeface="Arial" panose="020B0604020202020204" pitchFamily="34" charset="0"/>
                <a:buChar char="−"/>
              </a:pPr>
              <a:r>
                <a:rPr lang="zh-TW" altLang="en-US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模組化設計：</a:t>
              </a:r>
              <a:r>
                <a:rPr lang="zh-TW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支援模型元件重用與獨立建構，提升開發效率</a:t>
              </a:r>
              <a:endParaRPr lang="en-US" altLang="zh-TW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  <a:p>
              <a:pPr marL="171450" indent="-171450">
                <a:spcBef>
                  <a:spcPts val="300"/>
                </a:spcBef>
                <a:buFont typeface="Arial" panose="020B0604020202020204" pitchFamily="34" charset="0"/>
                <a:buChar char="−"/>
              </a:pPr>
              <a:r>
                <a:rPr lang="zh-TW" altLang="en-US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標準化結構：</a:t>
              </a:r>
              <a:r>
                <a:rPr lang="zh-TW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標準化建模語法與程式碼格式，強化可擴展性</a:t>
              </a:r>
              <a:endParaRPr lang="en-US" altLang="zh-TW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  <a:p>
              <a:pPr marL="171450" indent="-171450">
                <a:spcBef>
                  <a:spcPts val="300"/>
                </a:spcBef>
                <a:buFont typeface="Arial" panose="020B0604020202020204" pitchFamily="34" charset="0"/>
                <a:buChar char="−"/>
              </a:pPr>
              <a:r>
                <a:rPr lang="zh-TW" altLang="en-US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求解器整合：</a:t>
              </a:r>
              <a:r>
                <a:rPr lang="zh-TW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統一參數設定介面，簡化求解器的呼叫與使用</a:t>
              </a:r>
            </a:p>
          </p:txBody>
        </p:sp>
        <p:pic>
          <p:nvPicPr>
            <p:cNvPr id="34" name="圖形 33">
              <a:extLst>
                <a:ext uri="{FF2B5EF4-FFF2-40B4-BE49-F238E27FC236}">
                  <a16:creationId xmlns:a16="http://schemas.microsoft.com/office/drawing/2014/main" id="{327F86F3-7E6C-4B25-B458-732CDAECF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876695" y="2573764"/>
              <a:ext cx="392076" cy="392076"/>
            </a:xfrm>
            <a:prstGeom prst="rect">
              <a:avLst/>
            </a:prstGeom>
          </p:spPr>
        </p:pic>
      </p:grp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4C524C41-F82B-413C-B083-4B3B9987ADB8}"/>
              </a:ext>
            </a:extLst>
          </p:cNvPr>
          <p:cNvGrpSpPr/>
          <p:nvPr/>
        </p:nvGrpSpPr>
        <p:grpSpPr>
          <a:xfrm>
            <a:off x="2666443" y="3394991"/>
            <a:ext cx="5631511" cy="706933"/>
            <a:chOff x="3402000" y="3539007"/>
            <a:chExt cx="5631511" cy="706933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AF414BDA-0682-47E3-A6A6-7E3CA2E74FA4}"/>
                </a:ext>
              </a:extLst>
            </p:cNvPr>
            <p:cNvSpPr/>
            <p:nvPr/>
          </p:nvSpPr>
          <p:spPr>
            <a:xfrm>
              <a:off x="3402000" y="3574040"/>
              <a:ext cx="594707" cy="594707"/>
            </a:xfrm>
            <a:prstGeom prst="ellipse">
              <a:avLst/>
            </a:prstGeom>
            <a:noFill/>
            <a:ln>
              <a:solidFill>
                <a:srgbClr val="00508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0AC0872C-50BB-4D7C-AEA9-7644689E1225}"/>
                </a:ext>
              </a:extLst>
            </p:cNvPr>
            <p:cNvSpPr txBox="1"/>
            <p:nvPr/>
          </p:nvSpPr>
          <p:spPr>
            <a:xfrm>
              <a:off x="4092234" y="3539007"/>
              <a:ext cx="2585964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/>
                <a:t>撰寫開發教學與 </a:t>
              </a:r>
              <a:r>
                <a:rPr lang="en-US" altLang="zh-TW" b="1" dirty="0"/>
                <a:t>Template </a:t>
              </a:r>
              <a:r>
                <a:rPr lang="zh-TW" altLang="en-US" b="1" dirty="0"/>
                <a:t>實作</a:t>
              </a: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3030513C-3DD2-4D24-8B36-4DC7B29F2F58}"/>
                </a:ext>
              </a:extLst>
            </p:cNvPr>
            <p:cNvSpPr txBox="1"/>
            <p:nvPr/>
          </p:nvSpPr>
          <p:spPr>
            <a:xfrm>
              <a:off x="4092235" y="3791970"/>
              <a:ext cx="4941276" cy="453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300"/>
                </a:spcBef>
              </a:pPr>
              <a:r>
                <a:rPr lang="zh-TW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目前已經將</a:t>
              </a:r>
              <a:r>
                <a:rPr lang="en-US" altLang="zh-TW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API</a:t>
              </a:r>
              <a:r>
                <a:rPr lang="zh-TW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與</a:t>
              </a:r>
              <a:r>
                <a:rPr lang="en-US" altLang="zh-TW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AI Modeling</a:t>
              </a:r>
              <a:r>
                <a:rPr lang="zh-TW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兩專案程式存放於 </a:t>
              </a:r>
              <a:r>
                <a:rPr lang="en-US" altLang="zh-TW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Azure Reop</a:t>
              </a:r>
              <a:r>
                <a:rPr lang="zh-TW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 </a:t>
              </a:r>
              <a:endParaRPr lang="en-US" altLang="zh-TW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  <a:p>
              <a:pPr>
                <a:spcBef>
                  <a:spcPts val="300"/>
                </a:spcBef>
              </a:pPr>
              <a:r>
                <a:rPr lang="zh-TW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rPr>
                <a:t>若有興趣歡迎嘗試開發使用，也很歡迎提供底層優化回饋</a:t>
              </a:r>
            </a:p>
          </p:txBody>
        </p:sp>
        <p:pic>
          <p:nvPicPr>
            <p:cNvPr id="35" name="圖形 34">
              <a:hlinkClick r:id="rId7"/>
              <a:extLst>
                <a:ext uri="{FF2B5EF4-FFF2-40B4-BE49-F238E27FC236}">
                  <a16:creationId xmlns:a16="http://schemas.microsoft.com/office/drawing/2014/main" id="{A62D260A-4091-4DA9-8160-23B9B653D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00657" y="3673512"/>
              <a:ext cx="392076" cy="392076"/>
            </a:xfrm>
            <a:prstGeom prst="rect">
              <a:avLst/>
            </a:prstGeom>
          </p:spPr>
        </p:pic>
      </p:grp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41065DE-0735-4395-8DD9-9EF3C4F0C046}"/>
              </a:ext>
            </a:extLst>
          </p:cNvPr>
          <p:cNvSpPr txBox="1"/>
          <p:nvPr/>
        </p:nvSpPr>
        <p:spPr>
          <a:xfrm>
            <a:off x="1691680" y="4376142"/>
            <a:ext cx="5760640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dist"/>
            <a:r>
              <a:rPr lang="zh-TW" altLang="en-US" sz="1400" dirty="0">
                <a:solidFill>
                  <a:srgbClr val="005087"/>
                </a:solidFill>
              </a:rPr>
              <a:t>建立 </a:t>
            </a:r>
            <a:r>
              <a:rPr lang="zh-TW" altLang="en-US" sz="1600" b="1" dirty="0">
                <a:solidFill>
                  <a:srgbClr val="005087"/>
                </a:solidFill>
              </a:rPr>
              <a:t>數學建模自動化 </a:t>
            </a:r>
            <a:r>
              <a:rPr lang="zh-TW" altLang="en-US" sz="1400" dirty="0">
                <a:solidFill>
                  <a:srgbClr val="005087"/>
                </a:solidFill>
              </a:rPr>
              <a:t>與 </a:t>
            </a:r>
            <a:r>
              <a:rPr lang="zh-TW" altLang="en-US" sz="1600" b="1" dirty="0">
                <a:solidFill>
                  <a:srgbClr val="005087"/>
                </a:solidFill>
              </a:rPr>
              <a:t>模組化程式框架 </a:t>
            </a:r>
            <a:r>
              <a:rPr lang="zh-TW" altLang="en-US" sz="1400" dirty="0">
                <a:solidFill>
                  <a:srgbClr val="005087"/>
                </a:solidFill>
              </a:rPr>
              <a:t>以提升開發效率</a:t>
            </a:r>
          </a:p>
        </p:txBody>
      </p:sp>
    </p:spTree>
    <p:extLst>
      <p:ext uri="{BB962C8B-B14F-4D97-AF65-F5344CB8AC3E}">
        <p14:creationId xmlns:p14="http://schemas.microsoft.com/office/powerpoint/2010/main" val="3391305156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F0F85A-D8BE-489F-8A26-3F9E8BB6D3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未來發展 </a:t>
            </a:r>
            <a:r>
              <a:rPr lang="en-US" altLang="zh-TW" dirty="0"/>
              <a:t>|</a:t>
            </a:r>
            <a:r>
              <a:rPr lang="zh-TW" altLang="en-US" dirty="0"/>
              <a:t> </a:t>
            </a:r>
            <a:r>
              <a:rPr lang="zh-TW" altLang="en-US" b="0" dirty="0"/>
              <a:t>提升模型生成表現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B04F98-C67E-4BB2-A8FC-D45C046C6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Conclusion</a:t>
            </a:r>
            <a:r>
              <a:rPr lang="zh-TW" altLang="en-US" dirty="0"/>
              <a:t> </a:t>
            </a:r>
            <a:r>
              <a:rPr lang="en-US" altLang="zh-TW" dirty="0"/>
              <a:t>&amp;</a:t>
            </a:r>
            <a:r>
              <a:rPr lang="zh-TW" altLang="en-US" dirty="0"/>
              <a:t> </a:t>
            </a:r>
            <a:r>
              <a:rPr lang="en-US" altLang="zh-TW" dirty="0"/>
              <a:t>Discussion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04602B-3F3A-44D6-8FC7-8D6198579B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/>
              <a:t>05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DBDA344-228E-467F-9CAE-213808D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B1EDA-9669-4099-AA83-49C2D8E17945}" type="slidenum">
              <a:rPr lang="zh-TW" altLang="en-US" smtClean="0"/>
              <a:t>31</a:t>
            </a:fld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E2D1FA36-AD5C-4B54-AF63-C797303B27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10DFCEA4-369A-42F5-8254-D0D4D9246358}"/>
              </a:ext>
            </a:extLst>
          </p:cNvPr>
          <p:cNvGrpSpPr/>
          <p:nvPr/>
        </p:nvGrpSpPr>
        <p:grpSpPr>
          <a:xfrm>
            <a:off x="6011366" y="1940431"/>
            <a:ext cx="1728192" cy="2161868"/>
            <a:chOff x="6392380" y="1766960"/>
            <a:chExt cx="1728192" cy="2161868"/>
          </a:xfrm>
        </p:grpSpPr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A489B05E-010D-4EC3-A630-F7C21D814AA0}"/>
                </a:ext>
              </a:extLst>
            </p:cNvPr>
            <p:cNvGrpSpPr/>
            <p:nvPr/>
          </p:nvGrpSpPr>
          <p:grpSpPr>
            <a:xfrm>
              <a:off x="6392380" y="1766960"/>
              <a:ext cx="1728192" cy="2161868"/>
              <a:chOff x="5724128" y="1505133"/>
              <a:chExt cx="1728192" cy="2161868"/>
            </a:xfrm>
          </p:grpSpPr>
          <p:sp>
            <p:nvSpPr>
              <p:cNvPr id="19" name="矩形: 圓角 18">
                <a:extLst>
                  <a:ext uri="{FF2B5EF4-FFF2-40B4-BE49-F238E27FC236}">
                    <a16:creationId xmlns:a16="http://schemas.microsoft.com/office/drawing/2014/main" id="{83FA2B30-48BB-481C-8E21-F8391A168E06}"/>
                  </a:ext>
                </a:extLst>
              </p:cNvPr>
              <p:cNvSpPr/>
              <p:nvPr/>
            </p:nvSpPr>
            <p:spPr>
              <a:xfrm>
                <a:off x="5724128" y="1505133"/>
                <a:ext cx="1728192" cy="2161868"/>
              </a:xfrm>
              <a:prstGeom prst="roundRect">
                <a:avLst/>
              </a:prstGeom>
              <a:solidFill>
                <a:srgbClr val="FBFBFB"/>
              </a:solidFill>
              <a:ln>
                <a:solidFill>
                  <a:schemeClr val="bg1">
                    <a:lumMod val="95000"/>
                    <a:alpha val="52941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b="1">
                  <a:ln/>
                  <a:pattFill prst="dkUpDiag">
                    <a:fgClr>
                      <a:schemeClr val="bg1">
                        <a:lumMod val="50000"/>
                      </a:schemeClr>
                    </a:fgClr>
                    <a:bgClr>
                      <a:schemeClr val="tx1">
                        <a:lumMod val="75000"/>
                        <a:lumOff val="25000"/>
                      </a:schemeClr>
                    </a:bgClr>
                  </a:pattFill>
                  <a:effectLst>
                    <a:outerShdw blurRad="38100" dist="19050" dir="2700000" algn="tl" rotWithShape="0">
                      <a:schemeClr val="dk1">
                        <a:lumMod val="50000"/>
                        <a:alpha val="40000"/>
                      </a:schemeClr>
                    </a:outerShdw>
                  </a:effectLst>
                  <a:latin typeface="+mn-ea"/>
                </a:endParaRPr>
              </a:p>
            </p:txBody>
          </p:sp>
          <p:sp>
            <p:nvSpPr>
              <p:cNvPr id="20" name="矩形: 圓角 19">
                <a:extLst>
                  <a:ext uri="{FF2B5EF4-FFF2-40B4-BE49-F238E27FC236}">
                    <a16:creationId xmlns:a16="http://schemas.microsoft.com/office/drawing/2014/main" id="{09D5CF5A-DD41-487E-95DB-CFE5BF1F07F3}"/>
                  </a:ext>
                </a:extLst>
              </p:cNvPr>
              <p:cNvSpPr/>
              <p:nvPr/>
            </p:nvSpPr>
            <p:spPr>
              <a:xfrm>
                <a:off x="5724128" y="1505133"/>
                <a:ext cx="1728192" cy="2161868"/>
              </a:xfrm>
              <a:prstGeom prst="roundRect">
                <a:avLst/>
              </a:prstGeom>
              <a:solidFill>
                <a:srgbClr val="FBFBFB"/>
              </a:solidFill>
              <a:ln>
                <a:solidFill>
                  <a:schemeClr val="bg1">
                    <a:lumMod val="95000"/>
                    <a:alpha val="52941"/>
                  </a:schemeClr>
                </a:solidFill>
              </a:ln>
              <a:effectLst>
                <a:outerShdw blurRad="50800" dist="38100" dir="13500000" algn="br" rotWithShape="0">
                  <a:schemeClr val="bg1">
                    <a:lumMod val="9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b="1" dirty="0">
                  <a:ln/>
                  <a:pattFill prst="dkUpDiag">
                    <a:fgClr>
                      <a:schemeClr val="bg1">
                        <a:lumMod val="50000"/>
                      </a:schemeClr>
                    </a:fgClr>
                    <a:bgClr>
                      <a:schemeClr val="tx1">
                        <a:lumMod val="75000"/>
                        <a:lumOff val="25000"/>
                      </a:schemeClr>
                    </a:bgClr>
                  </a:pattFill>
                  <a:effectLst>
                    <a:outerShdw blurRad="38100" dist="19050" dir="2700000" algn="tl" rotWithShape="0">
                      <a:schemeClr val="dk1">
                        <a:lumMod val="50000"/>
                        <a:alpha val="40000"/>
                      </a:schemeClr>
                    </a:outerShdw>
                  </a:effectLst>
                  <a:latin typeface="+mn-ea"/>
                </a:endParaRPr>
              </a:p>
            </p:txBody>
          </p:sp>
        </p:grp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774A6D84-59FB-48FE-8327-6F97AB196213}"/>
                </a:ext>
              </a:extLst>
            </p:cNvPr>
            <p:cNvSpPr txBox="1"/>
            <p:nvPr/>
          </p:nvSpPr>
          <p:spPr>
            <a:xfrm>
              <a:off x="6584797" y="1910976"/>
              <a:ext cx="134335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zh-TW" altLang="en-US" sz="1400" b="1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模型修復機制</a:t>
              </a:r>
              <a:endParaRPr lang="en-US" altLang="zh-TW" sz="1400" b="1" dirty="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8B954AB9-C439-44B9-8D77-02DCD1EEAD99}"/>
                </a:ext>
              </a:extLst>
            </p:cNvPr>
            <p:cNvSpPr txBox="1"/>
            <p:nvPr/>
          </p:nvSpPr>
          <p:spPr>
            <a:xfrm>
              <a:off x="6437512" y="2330173"/>
              <a:ext cx="163792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讀取 </a:t>
              </a:r>
              <a:r>
                <a:rPr lang="en-US" altLang="zh-TW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IIS</a:t>
              </a:r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 檔案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  <a:p>
              <a:pPr algn="ctr" defTabSz="685783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設計模型修復機制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2700A3C1-1F39-467C-A3DE-9DD65750DFFC}"/>
                </a:ext>
              </a:extLst>
            </p:cNvPr>
            <p:cNvCxnSpPr>
              <a:cxnSpLocks/>
            </p:cNvCxnSpPr>
            <p:nvPr/>
          </p:nvCxnSpPr>
          <p:spPr>
            <a:xfrm>
              <a:off x="6607182" y="2977593"/>
              <a:ext cx="1278600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17100052-C032-47C9-BF4E-15D6255DCB64}"/>
                </a:ext>
              </a:extLst>
            </p:cNvPr>
            <p:cNvSpPr txBox="1"/>
            <p:nvPr/>
          </p:nvSpPr>
          <p:spPr>
            <a:xfrm>
              <a:off x="6393174" y="3201871"/>
              <a:ext cx="1726604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100" dirty="0">
                  <a:solidFill>
                    <a:srgbClr val="559BDB"/>
                  </a:solidFill>
                  <a:latin typeface="+mn-ea"/>
                </a:rPr>
                <a:t>發展 </a:t>
              </a:r>
              <a:r>
                <a:rPr lang="en-US" altLang="zh-TW" sz="1100" dirty="0">
                  <a:solidFill>
                    <a:srgbClr val="559BDB"/>
                  </a:solidFill>
                  <a:latin typeface="+mn-ea"/>
                </a:rPr>
                <a:t>LLM </a:t>
              </a:r>
              <a:r>
                <a:rPr lang="zh-TW" altLang="en-US" sz="1100" dirty="0">
                  <a:solidFill>
                    <a:srgbClr val="559BDB"/>
                  </a:solidFill>
                  <a:latin typeface="+mn-ea"/>
                </a:rPr>
                <a:t>在程式開發的</a:t>
              </a:r>
              <a:endParaRPr lang="en-US" altLang="zh-TW" sz="1100" dirty="0">
                <a:solidFill>
                  <a:srgbClr val="559BDB"/>
                </a:solidFill>
                <a:latin typeface="+mn-ea"/>
              </a:endParaRPr>
            </a:p>
            <a:p>
              <a:pPr algn="ctr"/>
              <a:r>
                <a:rPr lang="zh-TW" altLang="en-US" sz="1100" dirty="0">
                  <a:solidFill>
                    <a:srgbClr val="559BDB"/>
                  </a:solidFill>
                  <a:latin typeface="+mn-ea"/>
                </a:rPr>
                <a:t>自我修復模型機制</a:t>
              </a:r>
              <a:endParaRPr lang="en-US" altLang="zh-TW" sz="1100" dirty="0">
                <a:solidFill>
                  <a:srgbClr val="559BDB"/>
                </a:solidFill>
                <a:latin typeface="+mn-ea"/>
              </a:endParaRPr>
            </a:p>
          </p:txBody>
        </p:sp>
      </p:grp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8A9EDFF1-F5B5-4D3E-A8CE-9666035E5852}"/>
              </a:ext>
            </a:extLst>
          </p:cNvPr>
          <p:cNvSpPr txBox="1"/>
          <p:nvPr/>
        </p:nvSpPr>
        <p:spPr>
          <a:xfrm>
            <a:off x="1187624" y="4376142"/>
            <a:ext cx="6768752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dist"/>
            <a:r>
              <a:rPr lang="zh-TW" altLang="en-US" sz="1400" dirty="0">
                <a:solidFill>
                  <a:srgbClr val="005087"/>
                </a:solidFill>
              </a:rPr>
              <a:t>未來研究可對于 </a:t>
            </a:r>
            <a:r>
              <a:rPr lang="zh-TW" altLang="en-US" sz="1600" b="1" dirty="0">
                <a:solidFill>
                  <a:srgbClr val="005087"/>
                </a:solidFill>
              </a:rPr>
              <a:t>大型語言理解</a:t>
            </a:r>
            <a:r>
              <a:rPr lang="zh-TW" altLang="en-US" sz="1400" dirty="0">
                <a:solidFill>
                  <a:srgbClr val="005087"/>
                </a:solidFill>
              </a:rPr>
              <a:t>、</a:t>
            </a:r>
            <a:r>
              <a:rPr lang="zh-TW" altLang="en-US" sz="1600" b="1" dirty="0">
                <a:solidFill>
                  <a:srgbClr val="005087"/>
                </a:solidFill>
              </a:rPr>
              <a:t>限制邏輯生成</a:t>
            </a:r>
            <a:r>
              <a:rPr lang="zh-TW" altLang="en-US" sz="1600" dirty="0">
                <a:solidFill>
                  <a:srgbClr val="005087"/>
                </a:solidFill>
              </a:rPr>
              <a:t> </a:t>
            </a:r>
            <a:r>
              <a:rPr lang="zh-TW" altLang="en-US" sz="1400" dirty="0">
                <a:solidFill>
                  <a:srgbClr val="005087"/>
                </a:solidFill>
              </a:rPr>
              <a:t>與 </a:t>
            </a:r>
            <a:r>
              <a:rPr lang="zh-TW" altLang="en-US" sz="1600" b="1" dirty="0">
                <a:solidFill>
                  <a:srgbClr val="005087"/>
                </a:solidFill>
              </a:rPr>
              <a:t>模型修復能力</a:t>
            </a:r>
            <a:r>
              <a:rPr lang="zh-TW" altLang="en-US" sz="1600" dirty="0">
                <a:solidFill>
                  <a:srgbClr val="005087"/>
                </a:solidFill>
              </a:rPr>
              <a:t> </a:t>
            </a:r>
            <a:r>
              <a:rPr lang="zh-TW" altLang="en-US" sz="1400" dirty="0">
                <a:solidFill>
                  <a:srgbClr val="005087"/>
                </a:solidFill>
              </a:rPr>
              <a:t>方面持續精進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0C26AF8D-D24A-4D4A-BDAE-0F639B598A3F}"/>
              </a:ext>
            </a:extLst>
          </p:cNvPr>
          <p:cNvSpPr txBox="1"/>
          <p:nvPr/>
        </p:nvSpPr>
        <p:spPr>
          <a:xfrm>
            <a:off x="3516252" y="938125"/>
            <a:ext cx="2111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開發框架限制</a:t>
            </a:r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57DAB9AC-B909-4229-B175-6A4D89821CF9}"/>
              </a:ext>
            </a:extLst>
          </p:cNvPr>
          <p:cNvGrpSpPr/>
          <p:nvPr/>
        </p:nvGrpSpPr>
        <p:grpSpPr>
          <a:xfrm>
            <a:off x="2897905" y="1318323"/>
            <a:ext cx="3317174" cy="369332"/>
            <a:chOff x="3321130" y="992331"/>
            <a:chExt cx="2426106" cy="369332"/>
          </a:xfrm>
        </p:grpSpPr>
        <p:sp>
          <p:nvSpPr>
            <p:cNvPr id="30" name="矩形: 圓角 29">
              <a:extLst>
                <a:ext uri="{FF2B5EF4-FFF2-40B4-BE49-F238E27FC236}">
                  <a16:creationId xmlns:a16="http://schemas.microsoft.com/office/drawing/2014/main" id="{1D5AC2A3-6B1C-4E70-9228-580DC0B5617D}"/>
                </a:ext>
              </a:extLst>
            </p:cNvPr>
            <p:cNvSpPr/>
            <p:nvPr/>
          </p:nvSpPr>
          <p:spPr>
            <a:xfrm>
              <a:off x="3321130" y="992331"/>
              <a:ext cx="806803" cy="355283"/>
            </a:xfrm>
            <a:prstGeom prst="roundRect">
              <a:avLst/>
            </a:prstGeom>
            <a:solidFill>
              <a:srgbClr val="0050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6B9DD06D-2804-4202-9E57-51B10593256D}"/>
                </a:ext>
              </a:extLst>
            </p:cNvPr>
            <p:cNvSpPr txBox="1"/>
            <p:nvPr/>
          </p:nvSpPr>
          <p:spPr>
            <a:xfrm>
              <a:off x="3363337" y="992331"/>
              <a:ext cx="23838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TW" altLang="en-US" sz="1800" b="1" dirty="0">
                  <a:solidFill>
                    <a:schemeClr val="bg1"/>
                  </a:solidFill>
                </a:rPr>
                <a:t>未來</a:t>
              </a:r>
              <a:r>
                <a:rPr lang="zh-TW" altLang="en-US" sz="1800" b="1" dirty="0">
                  <a:solidFill>
                    <a:schemeClr val="accent1">
                      <a:lumMod val="50000"/>
                    </a:schemeClr>
                  </a:solidFill>
                </a:rPr>
                <a:t>開發方向</a:t>
              </a:r>
            </a:p>
          </p:txBody>
        </p: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063CB9F3-AFC3-4FF0-8806-EC04CFF60E66}"/>
              </a:ext>
            </a:extLst>
          </p:cNvPr>
          <p:cNvGrpSpPr/>
          <p:nvPr/>
        </p:nvGrpSpPr>
        <p:grpSpPr>
          <a:xfrm>
            <a:off x="3707904" y="1940431"/>
            <a:ext cx="1728192" cy="2161868"/>
            <a:chOff x="6392380" y="1766960"/>
            <a:chExt cx="1728192" cy="2161868"/>
          </a:xfrm>
        </p:grpSpPr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507689B2-5674-4299-8B30-F1092FDF78B3}"/>
                </a:ext>
              </a:extLst>
            </p:cNvPr>
            <p:cNvGrpSpPr/>
            <p:nvPr/>
          </p:nvGrpSpPr>
          <p:grpSpPr>
            <a:xfrm>
              <a:off x="6392380" y="1766960"/>
              <a:ext cx="1728192" cy="2161868"/>
              <a:chOff x="5724128" y="1505133"/>
              <a:chExt cx="1728192" cy="2161868"/>
            </a:xfrm>
          </p:grpSpPr>
          <p:sp>
            <p:nvSpPr>
              <p:cNvPr id="42" name="矩形: 圓角 41">
                <a:extLst>
                  <a:ext uri="{FF2B5EF4-FFF2-40B4-BE49-F238E27FC236}">
                    <a16:creationId xmlns:a16="http://schemas.microsoft.com/office/drawing/2014/main" id="{F8FF9ACB-D2C9-4CD8-8CD6-F05A99F4D85B}"/>
                  </a:ext>
                </a:extLst>
              </p:cNvPr>
              <p:cNvSpPr/>
              <p:nvPr/>
            </p:nvSpPr>
            <p:spPr>
              <a:xfrm>
                <a:off x="5724128" y="1505133"/>
                <a:ext cx="1728192" cy="2161868"/>
              </a:xfrm>
              <a:prstGeom prst="roundRect">
                <a:avLst/>
              </a:prstGeom>
              <a:solidFill>
                <a:srgbClr val="FBFBFB"/>
              </a:solidFill>
              <a:ln>
                <a:solidFill>
                  <a:schemeClr val="bg1">
                    <a:lumMod val="95000"/>
                    <a:alpha val="52941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b="1">
                  <a:ln/>
                  <a:pattFill prst="dkUpDiag">
                    <a:fgClr>
                      <a:schemeClr val="bg1">
                        <a:lumMod val="50000"/>
                      </a:schemeClr>
                    </a:fgClr>
                    <a:bgClr>
                      <a:schemeClr val="tx1">
                        <a:lumMod val="75000"/>
                        <a:lumOff val="25000"/>
                      </a:schemeClr>
                    </a:bgClr>
                  </a:pattFill>
                  <a:effectLst>
                    <a:outerShdw blurRad="38100" dist="19050" dir="2700000" algn="tl" rotWithShape="0">
                      <a:schemeClr val="dk1">
                        <a:lumMod val="50000"/>
                        <a:alpha val="40000"/>
                      </a:schemeClr>
                    </a:outerShdw>
                  </a:effectLst>
                  <a:latin typeface="+mn-ea"/>
                </a:endParaRPr>
              </a:p>
            </p:txBody>
          </p:sp>
          <p:sp>
            <p:nvSpPr>
              <p:cNvPr id="43" name="矩形: 圓角 42">
                <a:extLst>
                  <a:ext uri="{FF2B5EF4-FFF2-40B4-BE49-F238E27FC236}">
                    <a16:creationId xmlns:a16="http://schemas.microsoft.com/office/drawing/2014/main" id="{0863409B-5430-46C0-92B4-A65BC7257B7B}"/>
                  </a:ext>
                </a:extLst>
              </p:cNvPr>
              <p:cNvSpPr/>
              <p:nvPr/>
            </p:nvSpPr>
            <p:spPr>
              <a:xfrm>
                <a:off x="5724128" y="1505133"/>
                <a:ext cx="1728192" cy="2161868"/>
              </a:xfrm>
              <a:prstGeom prst="roundRect">
                <a:avLst/>
              </a:prstGeom>
              <a:solidFill>
                <a:srgbClr val="FBFBFB"/>
              </a:solidFill>
              <a:ln>
                <a:solidFill>
                  <a:schemeClr val="bg1">
                    <a:lumMod val="95000"/>
                    <a:alpha val="52941"/>
                  </a:schemeClr>
                </a:solidFill>
              </a:ln>
              <a:effectLst>
                <a:outerShdw blurRad="50800" dist="38100" dir="13500000" algn="br" rotWithShape="0">
                  <a:schemeClr val="bg1">
                    <a:lumMod val="9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b="1" dirty="0">
                  <a:ln/>
                  <a:pattFill prst="dkUpDiag">
                    <a:fgClr>
                      <a:schemeClr val="bg1">
                        <a:lumMod val="50000"/>
                      </a:schemeClr>
                    </a:fgClr>
                    <a:bgClr>
                      <a:schemeClr val="tx1">
                        <a:lumMod val="75000"/>
                        <a:lumOff val="25000"/>
                      </a:schemeClr>
                    </a:bgClr>
                  </a:pattFill>
                  <a:effectLst>
                    <a:outerShdw blurRad="38100" dist="19050" dir="2700000" algn="tl" rotWithShape="0">
                      <a:schemeClr val="dk1">
                        <a:lumMod val="50000"/>
                        <a:alpha val="40000"/>
                      </a:schemeClr>
                    </a:outerShdw>
                  </a:effectLst>
                  <a:latin typeface="+mn-ea"/>
                </a:endParaRPr>
              </a:p>
            </p:txBody>
          </p:sp>
        </p:grp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8030DA1E-A8D0-4257-A114-B776806FE95C}"/>
                </a:ext>
              </a:extLst>
            </p:cNvPr>
            <p:cNvSpPr txBox="1"/>
            <p:nvPr/>
          </p:nvSpPr>
          <p:spPr>
            <a:xfrm>
              <a:off x="6436708" y="1910976"/>
              <a:ext cx="164705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zh-TW" altLang="en-US" sz="1400" b="1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擴充限制類型</a:t>
              </a:r>
              <a:endParaRPr lang="en-US" altLang="zh-TW" sz="1400" b="1" dirty="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D342D36F-8DB0-497A-89E9-2E29D9FEE30D}"/>
                </a:ext>
              </a:extLst>
            </p:cNvPr>
            <p:cNvSpPr txBox="1"/>
            <p:nvPr/>
          </p:nvSpPr>
          <p:spPr>
            <a:xfrm>
              <a:off x="6437512" y="2255941"/>
              <a:ext cx="168306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強化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  <a:p>
              <a:pPr algn="ctr" defTabSz="685783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邏輯限制式處理能力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  <a:p>
              <a:pPr algn="ctr" defTabSz="685783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與問題類型的泛用性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  <a:p>
              <a:pPr algn="ctr" defTabSz="685783"/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480D52F8-8274-4AF1-B9EC-71C05F842B05}"/>
                </a:ext>
              </a:extLst>
            </p:cNvPr>
            <p:cNvCxnSpPr>
              <a:cxnSpLocks/>
            </p:cNvCxnSpPr>
            <p:nvPr/>
          </p:nvCxnSpPr>
          <p:spPr>
            <a:xfrm>
              <a:off x="6607182" y="2977593"/>
              <a:ext cx="1278600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229E0AF2-A366-49A3-B122-FCDF793F8ABE}"/>
                </a:ext>
              </a:extLst>
            </p:cNvPr>
            <p:cNvSpPr txBox="1"/>
            <p:nvPr/>
          </p:nvSpPr>
          <p:spPr>
            <a:xfrm>
              <a:off x="6473516" y="3204692"/>
              <a:ext cx="156592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100" dirty="0">
                  <a:solidFill>
                    <a:srgbClr val="559BDB"/>
                  </a:solidFill>
                  <a:latin typeface="+mn-ea"/>
                </a:rPr>
                <a:t>從表面敘述推理出</a:t>
              </a:r>
              <a:endParaRPr lang="en-US" altLang="zh-TW" sz="1100" dirty="0">
                <a:solidFill>
                  <a:srgbClr val="559BDB"/>
                </a:solidFill>
                <a:latin typeface="+mn-ea"/>
              </a:endParaRPr>
            </a:p>
            <a:p>
              <a:pPr algn="ctr"/>
              <a:r>
                <a:rPr lang="zh-TW" altLang="en-US" sz="1100" dirty="0">
                  <a:solidFill>
                    <a:srgbClr val="559BDB"/>
                  </a:solidFill>
                  <a:latin typeface="+mn-ea"/>
                </a:rPr>
                <a:t>深層語意與邏輯結構</a:t>
              </a:r>
            </a:p>
          </p:txBody>
        </p:sp>
      </p:grp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AC060AB2-C688-4EAE-9710-9B5751C2AA09}"/>
              </a:ext>
            </a:extLst>
          </p:cNvPr>
          <p:cNvGrpSpPr/>
          <p:nvPr/>
        </p:nvGrpSpPr>
        <p:grpSpPr>
          <a:xfrm>
            <a:off x="1403648" y="1940431"/>
            <a:ext cx="1728986" cy="2161868"/>
            <a:chOff x="6391586" y="1766960"/>
            <a:chExt cx="1728986" cy="2161868"/>
          </a:xfrm>
        </p:grpSpPr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936C7DB7-0483-4D37-9C40-53F6EFDF5C68}"/>
                </a:ext>
              </a:extLst>
            </p:cNvPr>
            <p:cNvGrpSpPr/>
            <p:nvPr/>
          </p:nvGrpSpPr>
          <p:grpSpPr>
            <a:xfrm>
              <a:off x="6392380" y="1766960"/>
              <a:ext cx="1728192" cy="2161868"/>
              <a:chOff x="5724128" y="1505133"/>
              <a:chExt cx="1728192" cy="2161868"/>
            </a:xfrm>
          </p:grpSpPr>
          <p:sp>
            <p:nvSpPr>
              <p:cNvPr id="50" name="矩形: 圓角 49">
                <a:extLst>
                  <a:ext uri="{FF2B5EF4-FFF2-40B4-BE49-F238E27FC236}">
                    <a16:creationId xmlns:a16="http://schemas.microsoft.com/office/drawing/2014/main" id="{F0CE0491-FA13-43DD-8851-3F15E816AA1B}"/>
                  </a:ext>
                </a:extLst>
              </p:cNvPr>
              <p:cNvSpPr/>
              <p:nvPr/>
            </p:nvSpPr>
            <p:spPr>
              <a:xfrm>
                <a:off x="5724128" y="1505133"/>
                <a:ext cx="1728192" cy="2161868"/>
              </a:xfrm>
              <a:prstGeom prst="roundRect">
                <a:avLst/>
              </a:prstGeom>
              <a:solidFill>
                <a:srgbClr val="FBFBFB"/>
              </a:solidFill>
              <a:ln>
                <a:solidFill>
                  <a:schemeClr val="bg1">
                    <a:lumMod val="95000"/>
                    <a:alpha val="52941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b="1">
                  <a:ln/>
                  <a:pattFill prst="dkUpDiag">
                    <a:fgClr>
                      <a:schemeClr val="bg1">
                        <a:lumMod val="50000"/>
                      </a:schemeClr>
                    </a:fgClr>
                    <a:bgClr>
                      <a:schemeClr val="tx1">
                        <a:lumMod val="75000"/>
                        <a:lumOff val="25000"/>
                      </a:schemeClr>
                    </a:bgClr>
                  </a:pattFill>
                  <a:effectLst>
                    <a:outerShdw blurRad="38100" dist="19050" dir="2700000" algn="tl" rotWithShape="0">
                      <a:schemeClr val="dk1">
                        <a:lumMod val="50000"/>
                        <a:alpha val="40000"/>
                      </a:schemeClr>
                    </a:outerShdw>
                  </a:effectLst>
                  <a:latin typeface="+mn-ea"/>
                </a:endParaRPr>
              </a:p>
            </p:txBody>
          </p:sp>
          <p:sp>
            <p:nvSpPr>
              <p:cNvPr id="51" name="矩形: 圓角 50">
                <a:extLst>
                  <a:ext uri="{FF2B5EF4-FFF2-40B4-BE49-F238E27FC236}">
                    <a16:creationId xmlns:a16="http://schemas.microsoft.com/office/drawing/2014/main" id="{E770C4AB-BBA8-4813-874B-1D8E0CBA6419}"/>
                  </a:ext>
                </a:extLst>
              </p:cNvPr>
              <p:cNvSpPr/>
              <p:nvPr/>
            </p:nvSpPr>
            <p:spPr>
              <a:xfrm>
                <a:off x="5724128" y="1505133"/>
                <a:ext cx="1728192" cy="2161868"/>
              </a:xfrm>
              <a:prstGeom prst="roundRect">
                <a:avLst/>
              </a:prstGeom>
              <a:solidFill>
                <a:srgbClr val="FBFBFB"/>
              </a:solidFill>
              <a:ln>
                <a:solidFill>
                  <a:schemeClr val="bg1">
                    <a:lumMod val="95000"/>
                    <a:alpha val="52941"/>
                  </a:schemeClr>
                </a:solidFill>
              </a:ln>
              <a:effectLst>
                <a:outerShdw blurRad="50800" dist="38100" dir="13500000" algn="br" rotWithShape="0">
                  <a:schemeClr val="bg1">
                    <a:lumMod val="9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b="1" dirty="0">
                  <a:ln/>
                  <a:pattFill prst="dkUpDiag">
                    <a:fgClr>
                      <a:schemeClr val="bg1">
                        <a:lumMod val="50000"/>
                      </a:schemeClr>
                    </a:fgClr>
                    <a:bgClr>
                      <a:schemeClr val="tx1">
                        <a:lumMod val="75000"/>
                        <a:lumOff val="25000"/>
                      </a:schemeClr>
                    </a:bgClr>
                  </a:pattFill>
                  <a:effectLst>
                    <a:outerShdw blurRad="38100" dist="19050" dir="2700000" algn="tl" rotWithShape="0">
                      <a:schemeClr val="dk1">
                        <a:lumMod val="50000"/>
                        <a:alpha val="40000"/>
                      </a:schemeClr>
                    </a:outerShdw>
                  </a:effectLst>
                  <a:latin typeface="+mn-ea"/>
                </a:endParaRPr>
              </a:p>
            </p:txBody>
          </p:sp>
        </p:grp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32D2F38B-6AA5-4FB5-B6F2-5CE941E983A8}"/>
                </a:ext>
              </a:extLst>
            </p:cNvPr>
            <p:cNvSpPr txBox="1"/>
            <p:nvPr/>
          </p:nvSpPr>
          <p:spPr>
            <a:xfrm>
              <a:off x="6424321" y="1910976"/>
              <a:ext cx="166024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zh-TW" altLang="en-US" sz="1400" b="1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強化模型生成能力</a:t>
              </a:r>
              <a:endParaRPr lang="en-US" altLang="zh-TW" sz="1400" b="1" dirty="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E2556C97-C8EC-4A79-80A5-1BC176D6D3CC}"/>
                </a:ext>
              </a:extLst>
            </p:cNvPr>
            <p:cNvSpPr txBox="1"/>
            <p:nvPr/>
          </p:nvSpPr>
          <p:spPr>
            <a:xfrm>
              <a:off x="6392380" y="2326997"/>
              <a:ext cx="1728192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85783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提升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  <a:p>
              <a:pPr algn="ctr" defTabSz="685783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模型生成任務表現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  <a:p>
              <a:pPr algn="ctr" defTabSz="685783"/>
              <a:r>
                <a:rPr lang="zh-TW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rPr>
                <a:t>開發規範與參考資料</a:t>
              </a:r>
              <a:endParaRPr lang="en-US" altLang="zh-TW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cxnSp>
          <p:nvCxnSpPr>
            <p:cNvPr id="48" name="直線接點 47">
              <a:extLst>
                <a:ext uri="{FF2B5EF4-FFF2-40B4-BE49-F238E27FC236}">
                  <a16:creationId xmlns:a16="http://schemas.microsoft.com/office/drawing/2014/main" id="{52D3FF95-F61E-49FB-AAF1-38E85B7AE3D4}"/>
                </a:ext>
              </a:extLst>
            </p:cNvPr>
            <p:cNvCxnSpPr>
              <a:cxnSpLocks/>
            </p:cNvCxnSpPr>
            <p:nvPr/>
          </p:nvCxnSpPr>
          <p:spPr>
            <a:xfrm>
              <a:off x="6607182" y="2977593"/>
              <a:ext cx="1278600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FFF81270-A179-40BD-99BB-02DF790F5D98}"/>
                </a:ext>
              </a:extLst>
            </p:cNvPr>
            <p:cNvSpPr txBox="1"/>
            <p:nvPr/>
          </p:nvSpPr>
          <p:spPr>
            <a:xfrm>
              <a:off x="6391586" y="3197303"/>
              <a:ext cx="1692982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1100" dirty="0">
                  <a:solidFill>
                    <a:srgbClr val="559BDB"/>
                  </a:solidFill>
                  <a:latin typeface="+mn-ea"/>
                </a:rPr>
                <a:t>提升大型語言模型</a:t>
              </a:r>
              <a:endParaRPr lang="en-US" altLang="zh-TW" sz="1100" dirty="0">
                <a:solidFill>
                  <a:srgbClr val="559BDB"/>
                </a:solidFill>
                <a:latin typeface="+mn-ea"/>
              </a:endParaRPr>
            </a:p>
            <a:p>
              <a:pPr algn="ctr"/>
              <a:r>
                <a:rPr lang="zh-TW" altLang="en-US" sz="1100" dirty="0">
                  <a:solidFill>
                    <a:srgbClr val="559BDB"/>
                  </a:solidFill>
                  <a:latin typeface="+mn-ea"/>
                </a:rPr>
                <a:t>在數學建模的理解能力</a:t>
              </a:r>
              <a:endParaRPr lang="en-US" altLang="zh-TW" sz="1100" dirty="0">
                <a:solidFill>
                  <a:srgbClr val="559BDB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1077745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BE0EA8-DDBB-4B17-903B-3B4BC41511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設定專案 </a:t>
            </a:r>
            <a:r>
              <a:rPr lang="en-US" altLang="zh-TW" dirty="0" err="1"/>
              <a:t>dll</a:t>
            </a:r>
            <a:r>
              <a:rPr lang="zh-TW" altLang="en-US" dirty="0"/>
              <a:t> </a:t>
            </a:r>
            <a:r>
              <a:rPr lang="en-US" altLang="zh-TW" dirty="0"/>
              <a:t>+ </a:t>
            </a:r>
            <a:r>
              <a:rPr lang="zh-TW" altLang="en-US" dirty="0"/>
              <a:t>範本開發流程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EB4F96-0C08-4611-9D54-A8A89C2614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Backup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1CE64F4-DC14-49D6-82EF-EBCB265744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4E46EF1-F7F6-4190-A612-22D9FCEDC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B1EDA-9669-4099-AA83-49C2D8E17945}" type="slidenum">
              <a:rPr lang="zh-TW" altLang="en-US" smtClean="0"/>
              <a:t>32</a:t>
            </a:fld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BBBABC17-4A39-4A08-9B60-FB7D0362DC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dirty="0"/>
              <a:t>補充：</a:t>
            </a:r>
            <a:r>
              <a:rPr lang="zh-TW" altLang="en-US" b="0" dirty="0"/>
              <a:t>此框架與 </a:t>
            </a:r>
            <a:r>
              <a:rPr lang="en-US" altLang="zh-TW" b="0" dirty="0" err="1"/>
              <a:t>Parameter_Manager</a:t>
            </a:r>
            <a:r>
              <a:rPr lang="zh-TW" altLang="en-US" b="0" dirty="0"/>
              <a:t>、</a:t>
            </a:r>
            <a:r>
              <a:rPr lang="en-US" altLang="zh-TW" b="0" dirty="0" err="1"/>
              <a:t>BrucePackage</a:t>
            </a:r>
            <a:r>
              <a:rPr lang="zh-TW" altLang="en-US" b="0" dirty="0"/>
              <a:t> 理念相似，但額外對開發規範與模組化做功能擴充</a:t>
            </a:r>
          </a:p>
          <a:p>
            <a:endParaRPr lang="zh-TW" altLang="en-US" dirty="0"/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8C1DEA99-B41A-449F-B638-CE396A5F076C}"/>
              </a:ext>
            </a:extLst>
          </p:cNvPr>
          <p:cNvGrpSpPr/>
          <p:nvPr/>
        </p:nvGrpSpPr>
        <p:grpSpPr>
          <a:xfrm>
            <a:off x="362173" y="2257599"/>
            <a:ext cx="2216277" cy="1794519"/>
            <a:chOff x="362174" y="2257600"/>
            <a:chExt cx="2082162" cy="1685926"/>
          </a:xfrm>
        </p:grpSpPr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50254FA1-D92B-4982-A3AA-80C97DB400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555" r="65312" b="41192"/>
            <a:stretch/>
          </p:blipFill>
          <p:spPr>
            <a:xfrm>
              <a:off x="362174" y="2257600"/>
              <a:ext cx="2082162" cy="1685926"/>
            </a:xfrm>
            <a:prstGeom prst="rect">
              <a:avLst/>
            </a:prstGeom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07BA666-CC8B-47E6-A271-BF133213DCAA}"/>
                </a:ext>
              </a:extLst>
            </p:cNvPr>
            <p:cNvSpPr/>
            <p:nvPr/>
          </p:nvSpPr>
          <p:spPr>
            <a:xfrm>
              <a:off x="819927" y="3016527"/>
              <a:ext cx="1578108" cy="911188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19" name="圖片 18">
            <a:extLst>
              <a:ext uri="{FF2B5EF4-FFF2-40B4-BE49-F238E27FC236}">
                <a16:creationId xmlns:a16="http://schemas.microsoft.com/office/drawing/2014/main" id="{F4328F91-46A3-4260-9C12-39A7705B43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" r="40646" b="38486"/>
          <a:stretch/>
        </p:blipFill>
        <p:spPr>
          <a:xfrm>
            <a:off x="370662" y="877253"/>
            <a:ext cx="2185114" cy="1132309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5A6B3D70-3A07-429C-8084-7E65C74DE067}"/>
              </a:ext>
            </a:extLst>
          </p:cNvPr>
          <p:cNvSpPr txBox="1"/>
          <p:nvPr/>
        </p:nvSpPr>
        <p:spPr>
          <a:xfrm>
            <a:off x="250825" y="4485257"/>
            <a:ext cx="81823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900" dirty="0">
                <a:solidFill>
                  <a:srgbClr val="0000FF"/>
                </a:solidFill>
                <a:latin typeface="Consolas" panose="020B0609020204030204" pitchFamily="49" charset="0"/>
                <a:ea typeface="細明體" panose="02020509000000000000" pitchFamily="49" charset="-120"/>
              </a:rPr>
              <a:t>&lt;</a:t>
            </a:r>
            <a:r>
              <a:rPr lang="en-US" altLang="zh-TW" sz="900" dirty="0">
                <a:solidFill>
                  <a:srgbClr val="A31515"/>
                </a:solidFill>
                <a:latin typeface="Consolas" panose="020B0609020204030204" pitchFamily="49" charset="0"/>
                <a:ea typeface="細明體" panose="02020509000000000000" pitchFamily="49" charset="-120"/>
              </a:rPr>
              <a:t>Analyzer</a:t>
            </a:r>
            <a:r>
              <a:rPr lang="en-US" altLang="zh-TW" sz="900" dirty="0">
                <a:solidFill>
                  <a:srgbClr val="0000FF"/>
                </a:solidFill>
                <a:latin typeface="Consolas" panose="020B060902020403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z="900" dirty="0">
                <a:solidFill>
                  <a:srgbClr val="FF0000"/>
                </a:solidFill>
                <a:latin typeface="Consolas" panose="020B0609020204030204" pitchFamily="49" charset="0"/>
                <a:ea typeface="細明體" panose="02020509000000000000" pitchFamily="49" charset="-120"/>
              </a:rPr>
              <a:t>Include</a:t>
            </a:r>
            <a:r>
              <a:rPr lang="en-US" altLang="zh-TW" sz="900" dirty="0">
                <a:solidFill>
                  <a:srgbClr val="0000FF"/>
                </a:solidFill>
                <a:latin typeface="Consolas" panose="020B0609020204030204" pitchFamily="49" charset="0"/>
                <a:ea typeface="細明體" panose="02020509000000000000" pitchFamily="49" charset="-120"/>
              </a:rPr>
              <a:t>=</a:t>
            </a:r>
            <a:r>
              <a:rPr lang="en-US" altLang="zh-TW" sz="900" dirty="0">
                <a:solidFill>
                  <a:srgbClr val="000000"/>
                </a:solidFill>
                <a:latin typeface="Consolas" panose="020B0609020204030204" pitchFamily="49" charset="0"/>
                <a:ea typeface="細明體" panose="02020509000000000000" pitchFamily="49" charset="-120"/>
              </a:rPr>
              <a:t>"</a:t>
            </a:r>
            <a:r>
              <a:rPr lang="en-US" altLang="zh-TW" sz="900" dirty="0">
                <a:solidFill>
                  <a:srgbClr val="0000FF"/>
                </a:solidFill>
                <a:latin typeface="Consolas" panose="020B0609020204030204" pitchFamily="49" charset="0"/>
                <a:ea typeface="細明體" panose="02020509000000000000" pitchFamily="49" charset="-120"/>
              </a:rPr>
              <a:t>..\</a:t>
            </a:r>
            <a:r>
              <a:rPr lang="en-US" altLang="zh-TW" sz="900" dirty="0" err="1">
                <a:solidFill>
                  <a:srgbClr val="0000FF"/>
                </a:solidFill>
                <a:latin typeface="Consolas" panose="020B0609020204030204" pitchFamily="49" charset="0"/>
                <a:ea typeface="細明體" panose="02020509000000000000" pitchFamily="49" charset="-120"/>
              </a:rPr>
              <a:t>dlls</a:t>
            </a:r>
            <a:r>
              <a:rPr lang="en-US" altLang="zh-TW" sz="900" dirty="0">
                <a:solidFill>
                  <a:srgbClr val="0000FF"/>
                </a:solidFill>
                <a:latin typeface="Consolas" panose="020B0609020204030204" pitchFamily="49" charset="0"/>
                <a:ea typeface="細明體" panose="02020509000000000000" pitchFamily="49" charset="-120"/>
              </a:rPr>
              <a:t>\OptimFoundation.Generators.dll</a:t>
            </a:r>
            <a:r>
              <a:rPr lang="en-US" altLang="zh-TW" sz="900" dirty="0">
                <a:solidFill>
                  <a:srgbClr val="000000"/>
                </a:solidFill>
                <a:latin typeface="Consolas" panose="020B0609020204030204" pitchFamily="49" charset="0"/>
                <a:ea typeface="細明體" panose="02020509000000000000" pitchFamily="49" charset="-120"/>
              </a:rPr>
              <a:t>"</a:t>
            </a:r>
            <a:r>
              <a:rPr lang="en-US" altLang="zh-TW" sz="900" dirty="0">
                <a:solidFill>
                  <a:srgbClr val="0000FF"/>
                </a:solidFill>
                <a:latin typeface="Consolas" panose="020B0609020204030204" pitchFamily="49" charset="0"/>
                <a:ea typeface="細明體" panose="02020509000000000000" pitchFamily="49" charset="-120"/>
              </a:rPr>
              <a:t> /&gt;</a:t>
            </a:r>
            <a:endParaRPr lang="en-US" altLang="zh-TW" sz="900" dirty="0">
              <a:solidFill>
                <a:srgbClr val="000000"/>
              </a:solidFill>
              <a:latin typeface="Consolas" panose="020B0609020204030204" pitchFamily="49" charset="0"/>
              <a:ea typeface="細明體" panose="02020509000000000000" pitchFamily="49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91B9348-CEA8-4536-B064-5120EBB0B74A}"/>
              </a:ext>
            </a:extLst>
          </p:cNvPr>
          <p:cNvSpPr txBox="1"/>
          <p:nvPr/>
        </p:nvSpPr>
        <p:spPr>
          <a:xfrm>
            <a:off x="271465" y="4191564"/>
            <a:ext cx="663792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/>
              <a:t>需要手動修改將 </a:t>
            </a:r>
            <a:r>
              <a:rPr lang="en-US" altLang="zh-TW" b="1" dirty="0"/>
              <a:t>OptimFoundation.Generators.dll </a:t>
            </a:r>
            <a:r>
              <a:rPr lang="zh-TW" altLang="en-US" b="1" dirty="0"/>
              <a:t>以專案分析器引用</a:t>
            </a:r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96EC32C6-EA7E-4515-879C-D17A29BFF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808" y="877253"/>
            <a:ext cx="3108433" cy="3158036"/>
          </a:xfrm>
          <a:prstGeom prst="rect">
            <a:avLst/>
          </a:prstGeom>
        </p:spPr>
      </p:pic>
      <p:sp>
        <p:nvSpPr>
          <p:cNvPr id="40" name="文字方塊 39">
            <a:extLst>
              <a:ext uri="{FF2B5EF4-FFF2-40B4-BE49-F238E27FC236}">
                <a16:creationId xmlns:a16="http://schemas.microsoft.com/office/drawing/2014/main" id="{D95607E0-6670-4B0C-841F-84E23DC5EA07}"/>
              </a:ext>
            </a:extLst>
          </p:cNvPr>
          <p:cNvSpPr txBox="1"/>
          <p:nvPr/>
        </p:nvSpPr>
        <p:spPr>
          <a:xfrm>
            <a:off x="6194266" y="2624917"/>
            <a:ext cx="1623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b="1" dirty="0"/>
              <a:t>[Reference]</a:t>
            </a:r>
          </a:p>
          <a:p>
            <a:pPr algn="ctr"/>
            <a:r>
              <a:rPr lang="en-US" altLang="zh-TW" sz="800" dirty="0"/>
              <a:t>OptimFoundation.Core.dll</a:t>
            </a:r>
          </a:p>
          <a:p>
            <a:pPr algn="ctr"/>
            <a:r>
              <a:rPr lang="en-US" altLang="zh-TW" sz="800" dirty="0"/>
              <a:t>OptimFoundation.CPLEX.dll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AEC7A77A-E74F-400F-8278-455DC46C161E}"/>
              </a:ext>
            </a:extLst>
          </p:cNvPr>
          <p:cNvSpPr txBox="1"/>
          <p:nvPr/>
        </p:nvSpPr>
        <p:spPr>
          <a:xfrm>
            <a:off x="6194266" y="2009562"/>
            <a:ext cx="1623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b="1" dirty="0"/>
              <a:t>[Analyzer]</a:t>
            </a:r>
          </a:p>
          <a:p>
            <a:pPr algn="ctr"/>
            <a:r>
              <a:rPr lang="en-US" altLang="zh-TW" sz="800" dirty="0"/>
              <a:t>OptimFoundation.Generator.dll</a:t>
            </a:r>
          </a:p>
        </p:txBody>
      </p:sp>
    </p:spTree>
    <p:extLst>
      <p:ext uri="{BB962C8B-B14F-4D97-AF65-F5344CB8AC3E}">
        <p14:creationId xmlns:p14="http://schemas.microsoft.com/office/powerpoint/2010/main" val="664028811"/>
      </p:ext>
    </p:extLst>
  </p:cSld>
  <p:clrMapOvr>
    <a:masterClrMapping/>
  </p:clrMapOvr>
</p:sld>
</file>

<file path=ppt/theme/theme1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1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C00000"/>
          </a:solidFill>
          <a:headEnd type="oval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訂設計">
  <a:themeElements>
    <a:clrScheme name="自訂 1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0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43817</TotalTime>
  <Words>2896</Words>
  <Application>Microsoft Office PowerPoint</Application>
  <PresentationFormat>如螢幕大小 (16:9)</PresentationFormat>
  <Paragraphs>796</Paragraphs>
  <Slides>32</Slides>
  <Notes>27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32</vt:i4>
      </vt:variant>
    </vt:vector>
  </HeadingPairs>
  <TitlesOfParts>
    <vt:vector size="46" baseType="lpstr">
      <vt:lpstr>Inter</vt:lpstr>
      <vt:lpstr>Microsoft YaHei</vt:lpstr>
      <vt:lpstr>Microsoft YaHei Light</vt:lpstr>
      <vt:lpstr>Arial</vt:lpstr>
      <vt:lpstr>Arial Black</vt:lpstr>
      <vt:lpstr>Arial Narrow</vt:lpstr>
      <vt:lpstr>Calibri</vt:lpstr>
      <vt:lpstr>Cambria Math</vt:lpstr>
      <vt:lpstr>Consolas</vt:lpstr>
      <vt:lpstr>Times New Roman</vt:lpstr>
      <vt:lpstr>Verdana</vt:lpstr>
      <vt:lpstr>自訂設計</vt:lpstr>
      <vt:lpstr>2_自訂設計</vt:lpstr>
      <vt:lpstr>1_自訂設計</vt:lpstr>
      <vt:lpstr>PowerPoint 簡報</vt:lpstr>
      <vt:lpstr>PowerPoint 簡報</vt:lpstr>
      <vt:lpstr>PowerPoint 簡報</vt:lpstr>
      <vt:lpstr>專案背景｜決策制定 – 數學規劃建模循環</vt:lpstr>
      <vt:lpstr>專案背景｜決策制定 – 數學規劃建模循環</vt:lpstr>
      <vt:lpstr>專案動機｜數學規劃模型之軟體開發生命週期</vt:lpstr>
      <vt:lpstr>專案動機｜模型開發瓶頸</vt:lpstr>
      <vt:lpstr>專案動機｜程式開發瓶頸</vt:lpstr>
      <vt:lpstr>專案動機｜提升數規模型開發效率</vt:lpstr>
      <vt:lpstr>PowerPoint 簡報</vt:lpstr>
      <vt:lpstr>開發環境</vt:lpstr>
      <vt:lpstr>兩大主軸｜由大型語言模型驅動之數學規劃模型輔助開發框架</vt:lpstr>
      <vt:lpstr>框架定位 ｜ 雙層架構、三階段任務</vt:lpstr>
      <vt:lpstr>PowerPoint 簡報</vt:lpstr>
      <vt:lpstr>框架說明｜數規模型開發流程</vt:lpstr>
      <vt:lpstr>框架說明｜模型開發流程</vt:lpstr>
      <vt:lpstr>框架說明｜模型建構流程</vt:lpstr>
      <vt:lpstr>框架說明｜參數設計 &amp; 讀取</vt:lpstr>
      <vt:lpstr>框架說明｜變數設計</vt:lpstr>
      <vt:lpstr>框架說明｜限制式設計</vt:lpstr>
      <vt:lpstr>框架說明｜目標式設計</vt:lpstr>
      <vt:lpstr>框架說明｜模型建立</vt:lpstr>
      <vt:lpstr>框架說明｜實驗環境</vt:lpstr>
      <vt:lpstr>框架說明｜交叉實驗 (3 Configs × 2 Models)</vt:lpstr>
      <vt:lpstr>PowerPoint 簡報</vt:lpstr>
      <vt:lpstr>框架說明｜大型語言模型輔助數學規劃開發流程</vt:lpstr>
      <vt:lpstr>AI Modeling 開發架構</vt:lpstr>
      <vt:lpstr>透過 Prompt 引導模型建置</vt:lpstr>
      <vt:lpstr>PowerPoint 簡報</vt:lpstr>
      <vt:lpstr>專案進度 | 完成整體框架設計</vt:lpstr>
      <vt:lpstr>未來發展 | 提升模型生成表現</vt:lpstr>
      <vt:lpstr>設定專案 dll + 範本開發流程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zxc big7</cp:lastModifiedBy>
  <cp:revision>4307</cp:revision>
  <cp:lastPrinted>2025-06-12T23:35:08Z</cp:lastPrinted>
  <dcterms:created xsi:type="dcterms:W3CDTF">2021-12-10T03:08:47Z</dcterms:created>
  <dcterms:modified xsi:type="dcterms:W3CDTF">2026-07-12T17:08:46Z</dcterms:modified>
</cp:coreProperties>
</file>